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Joueurs simultanés, moyenne mensuelle (milliers)</a:t>
            </a:r>
          </a:p>
        </c:rich>
      </c:tx>
      <c:layout/>
      <c:overlay val="0"/>
    </c:title>
    <c:autoTitleDeleted val="0"/>
    <c:plotArea>
      <c:layout/>
      <c:lineChart>
        <c:varyColors val="0"/>
        <c:ser>
          <c:idx val="0"/>
          <c:order val="0"/>
          <c:tx>
            <c:strRef>
              <c:f>Sheet1!$B$1</c:f>
              <c:strCache>
                <c:ptCount val="1"/>
                <c:pt idx="0">
                  <c:v>Joueurs simultanés (milliers)</c:v>
                </c:pt>
              </c:strCache>
            </c:strRef>
          </c:tx>
          <c:spPr>
            <a:solidFill>
              <a:srgbClr val="E23636"/>
            </a:solidFill>
            <a:ln w="31750" cap="flat">
              <a:solidFill>
                <a:srgbClr val="E236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E23636"/>
              </a:solidFill>
              <a:ln w="9525" cap="flat">
                <a:solidFill>
                  <a:srgbClr val="E23636"/>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279</c:v>
                </c:pt>
                <c:pt idx="1">
                  <c:v>306</c:v>
                </c:pt>
                <c:pt idx="2">
                  <c:v>228</c:v>
                </c:pt>
                <c:pt idx="3">
                  <c:v>144</c:v>
                </c:pt>
                <c:pt idx="4">
                  <c:v>134</c:v>
                </c:pt>
                <c:pt idx="5">
                  <c:v>102</c:v>
                </c:pt>
                <c:pt idx="6">
                  <c:v>80</c:v>
                </c:pt>
                <c:pt idx="7">
                  <c:v>83</c:v>
                </c:pt>
                <c:pt idx="8">
                  <c:v>78</c:v>
                </c:pt>
                <c:pt idx="9">
                  <c:v>64</c:v>
                </c:pt>
                <c:pt idx="10">
                  <c:v>64</c:v>
                </c:pt>
                <c:pt idx="11">
                  <c:v>65</c:v>
                </c:pt>
                <c:pt idx="12">
                  <c:v>75</c:v>
                </c:pt>
                <c:pt idx="13">
                  <c:v>89</c:v>
                </c:pt>
                <c:pt idx="14">
                  <c:v>81</c:v>
                </c:pt>
                <c:pt idx="15">
                  <c:v>65</c:v>
                </c:pt>
                <c:pt idx="16">
                  <c:v>70</c:v>
                </c:pt>
                <c:pt idx="17">
                  <c:v>68</c:v>
                </c:pt>
                <c:pt idx="18">
                  <c:v>70</c:v>
                </c:pt>
                <c:pt idx="19">
                  <c:v>84</c:v>
                </c:pt>
                <c:pt idx="20">
                  <c:v>80</c:v>
                </c:pt>
                <c:pt idx="21">
                  <c:v>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5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 des avis Steam négatifs qui citent le matchmaking</a:t>
            </a:r>
          </a:p>
        </c:rich>
      </c:tx>
      <c:layout/>
      <c:overlay val="0"/>
    </c:title>
    <c:autoTitleDeleted val="0"/>
    <c:plotArea>
      <c:layout/>
      <c:lineChart>
        <c:varyColors val="0"/>
        <c:ser>
          <c:idx val="0"/>
          <c:order val="0"/>
          <c:tx>
            <c:strRef>
              <c:f>Sheet1!$B$1</c:f>
              <c:strCache>
                <c:ptCount val="1"/>
                <c:pt idx="0">
                  <c:v>% des avis négatifs citant le matchmaking</c:v>
                </c:pt>
              </c:strCache>
            </c:strRef>
          </c:tx>
          <c:spPr>
            <a:solidFill>
              <a:srgbClr val="161A33"/>
            </a:solidFill>
            <a:ln w="31750" cap="flat">
              <a:solidFill>
                <a:srgbClr val="161A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161A33"/>
              </a:solidFill>
              <a:ln w="9525" cap="flat">
                <a:solidFill>
                  <a:srgbClr val="161A33"/>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7.4</c:v>
                </c:pt>
                <c:pt idx="1">
                  <c:v>10.9</c:v>
                </c:pt>
                <c:pt idx="2">
                  <c:v>12.1</c:v>
                </c:pt>
                <c:pt idx="3">
                  <c:v>20.3</c:v>
                </c:pt>
                <c:pt idx="4">
                  <c:v>21.1</c:v>
                </c:pt>
                <c:pt idx="5">
                  <c:v>29.1</c:v>
                </c:pt>
                <c:pt idx="6">
                  <c:v>27.6</c:v>
                </c:pt>
                <c:pt idx="7">
                  <c:v>37</c:v>
                </c:pt>
                <c:pt idx="8">
                  <c:v>41</c:v>
                </c:pt>
                <c:pt idx="9">
                  <c:v>33.9</c:v>
                </c:pt>
                <c:pt idx="10">
                  <c:v>25.9</c:v>
                </c:pt>
                <c:pt idx="11">
                  <c:v>17.3</c:v>
                </c:pt>
                <c:pt idx="12">
                  <c:v>18.2</c:v>
                </c:pt>
                <c:pt idx="13">
                  <c:v>15.4</c:v>
                </c:pt>
                <c:pt idx="14">
                  <c:v>15.6</c:v>
                </c:pt>
                <c:pt idx="15">
                  <c:v>13.4</c:v>
                </c:pt>
                <c:pt idx="16">
                  <c:v>14.4</c:v>
                </c:pt>
                <c:pt idx="17">
                  <c:v>14.7</c:v>
                </c:pt>
                <c:pt idx="18">
                  <c:v>14.2</c:v>
                </c:pt>
                <c:pt idx="19">
                  <c:v>8.8</c:v>
                </c:pt>
                <c:pt idx="20">
                  <c:v>13.4</c:v>
                </c:pt>
                <c:pt idx="21">
                  <c:v>10.5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E3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644 000 joueurs en janvier 2025, 98 000 dix mois plus tard. Votre comité m'a demandé pourquoi les joueurs ne restent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Le problème, prouvé par les données. Moins 85 % de pic à pic. Chaque saison ramène des joueurs, repartis en deux mois. Et ceux qui partent accusent le matchmaking : de 7 à 41 % des avis négatifs, au point que NetEase a dû démentir un matchmaking truqué.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Pourquoi ? Notre hypothèse, testable : nouveaux et revenants subissent des écarts de niveau que le matchmaking ne compense pas, et partent. Deux mécanismes peuvent les produire. En partie rapide, faute de joueurs, le matchmaking accepte des écarts plus grands, NetEase l'a reconnu : le nouveau tombe sur des vétérans et part. En classé, un joueur qui revient après des mois retrouve un rang à peine abaissé, perd, et repart. Tout cela se mesure dans vos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D'où viennent probablement ces écarts ? Au lancement, des vétérans du genre, 45 % des joueurs qui ont quitté Overwatch 2 ont essayé Marvel Rivals, et un grand public venu pour Marvel. Sans calibrage, ils se sont croisés. C'est un contexte plausible, mais invérifiable : vos données ne disent pas pourquoi un joueur vient. Nous ne le testons pas, et aucune décision n'en dépend.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D'abord mesurer. L'objectif : d'ici fin mars 2027, un joueur qui perd au début ne doit pas partir plus de 1,2 fois plus souvent que les autres, nouveau ou de retour. Six données d'abord : la première mesure l'objectif, la deuxième dit où jouent les nouveaux, trois testent chacune une cause, la dernière exploite une expérience déjà faite en saison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La matrice complète : treize données indispensables, toutes déjà dans votre télémétrie. Aucune nouvelle collecte pour l'audit.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 ne teste que si l'audit confirme le problème, et seulement le levier de la cause trouvée. Démarrage à froid : niveau de départ plus prudent. Manque de joueurs : écart resserré aux heures creuses, arrêté si l'attente dépasse 5 minutes. Rang périmé : matchs de recalibrage au retour. Toujours avec un groupe témoin.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Nous avons volontairement écarté les données personnelles qu'aucune décision n'exige, le benchmark Newzoo, trop biaisé, et les rôles imposés, contraires à l'identité du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Quand, qui, combien. Trente jours d'audit : un data analyst et un data engineer à mi-temps, environ 33 jours-homme, sans licence nouvelle, sur votre stack existante. Si le ratio est déjà sous 1,2, on s'arrête : plan B. Sinon, soixante jours de tests avec votre équipe matchmaking, puis généralisation jusqu'au 31 mars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Chaque KPI dit comment il se calcule et ce qu'il déclenche. Le principal : la part des nouveaux qui perdent au début et ne reviennent pas sous 7 jours, comparée aux autres ; au-delà de 1,2, on teste. Même calcul pour les revenants. 5 minutes d'attente arrêtent le resserrement. Base légale : contrat et intérêt légitime documenté. Pour démarrer : signer l'accord de sous-traitance et lancer l'audit.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montrer seulement si on vous demande une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Pour « Où avez-vous utilisé l'IA ? », ajoutez à l'oral un élément critique que vous avez fait sans IA (par exemple le choix final de l'hypothèse ou la vérification des chiffres), si c'est le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forbes.com/sites/paultassi/2025/10/12/marvel-rivals-has-lost-85-of-its-players-in-10-months/"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www.forbes.com/sites/paultassi/2025/10/12/marvel-rivals-has-lost-85-of-its-players-in-10-months/" TargetMode="External"/><Relationship Id="rId4" Type="http://schemas.openxmlformats.org/officeDocument/2006/relationships/hyperlink" Target="https://steamcharts.com/app/2767030" TargetMode="External"/><Relationship Id="rId5" Type="http://schemas.openxmlformats.org/officeDocument/2006/relationships/hyperlink" Target="https://store.steampowered.com/appreviews/2767030?json=1" TargetMode="External"/><Relationship Id="rId6" Type="http://schemas.openxmlformats.org/officeDocument/2006/relationships/hyperlink" Target="https://x.com/MarvelRivals/status/1955117077561593877" TargetMode="External"/><Relationship Id="rId1" Type="http://schemas.openxmlformats.org/officeDocument/2006/relationships/chart" Target="/ppt/charts/chart1.xml"/><Relationship Id="rId2" Type="http://schemas.openxmlformats.org/officeDocument/2006/relationships/chart" Target="/ppt/charts/chart2.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x.com/MarvelRivals/status/1958627668536311945" TargetMode="External"/><Relationship Id="rId4" Type="http://schemas.openxmlformats.org/officeDocument/2006/relationships/hyperlink" Target="https://www.marvelrivals.com/devdiaries/20250210/40954_1210988.html" TargetMode="External"/><Relationship Id="rId5" Type="http://schemas.openxmlformats.org/officeDocument/2006/relationships/hyperlink" Target="https://timesaver.gg/blog/marvel-rivals-season-10-rank-reset" TargetMode="External"/><Relationship Id="rId6" Type="http://schemas.openxmlformats.org/officeDocument/2006/relationships/hyperlink" Target="https://steamcharts.com/app/2767030" TargetMode="External"/><Relationship Id="rId1" Type="http://schemas.openxmlformats.org/officeDocument/2006/relationships/image" Target="../media/image-3-1.png"/><Relationship Id="rId2" Type="http://schemas.openxmlformats.org/officeDocument/2006/relationships/image" Target="../media/image-3-2.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insider-gaming.com/almost-half-of-players-who-quit-overwatch-jumped-to-marvel-rivals/" TargetMode="External"/><Relationship Id="rId4" Type="http://schemas.openxmlformats.org/officeDocument/2006/relationships/hyperlink" Target="https://www.videogameschronicle.com/news/overwatch-2s-average-pc-player-count-has-dropped-39-since-marvel-rivals-was-released/" TargetMode="External"/><Relationship Id="rId5" Type="http://schemas.openxmlformats.org/officeDocument/2006/relationships/hyperlink" Target="https://gameworldobserver.com/2025/02/20/marvel-rivals-40-million-players-netease-fy24-report" TargetMode="External"/><Relationship Id="rId6" Type="http://schemas.openxmlformats.org/officeDocument/2006/relationships/hyperlink" Target="https://www.pcgamesn.com/marvel-rivals/ranks-competitive" TargetMode="External"/><Relationship Id="rId7" Type="http://schemas.openxmlformats.org/officeDocument/2006/relationships/hyperlink" Target="https://store.steampowered.com/appreviews/2767030?json=1" TargetMode="External"/><Relationship Id="rId8" Type="http://schemas.openxmlformats.org/officeDocument/2006/relationships/hyperlink" Target="https://www.thegamer.com/marvel-rivals-no-longer-casual-friendly-black-panther-matchmaking/" TargetMode="External"/><Relationship Id="rId1" Type="http://schemas.openxmlformats.org/officeDocument/2006/relationships/image" Target="../media/image-4-1.png"/><Relationship Id="rId2" Type="http://schemas.openxmlformats.org/officeDocument/2006/relationships/image" Target="../media/image-4-2.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hyperlink" Target="https://www.marvelrivals.com/20251114/41525_1270590.htm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x.com/MarvelRivals/status/1958627668536311945" TargetMode="External"/><Relationship Id="rId5" Type="http://schemas.openxmlformats.org/officeDocument/2006/relationships/hyperlink" Target="https://www.marvelrivals.com/devdiaries/20250210/40954_1210988.html"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hyperlink" Target="https://eur-lex.europa.eu/eli/reg/2016/679/oj" TargetMode="External"/><Relationship Id="rId7" Type="http://schemas.openxmlformats.org/officeDocument/2006/relationships/hyperlink" Target="https://docs.google.com/document/d/1nOhcAL2wfeAHOK6x6UZH-Hg5yh9Ofxxko7FY47r5Vzc/edit"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loud.google.com/bigquery/pricing" TargetMode="External"/><Relationship Id="rId2" Type="http://schemas.openxmlformats.org/officeDocument/2006/relationships/hyperlink" Target="https://docs.google.com/document/d/1nOhcAL2wfeAHOK6x6UZH-Hg5yh9Ofxxko7FY47r5Vzc/edit"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eur-lex.europa.eu/eli/reg/2016/679/oj" TargetMode="External"/><Relationship Id="rId2" Type="http://schemas.openxmlformats.org/officeDocument/2006/relationships/hyperlink" Target="https://eur-lex.europa.eu/eli/reg/2024/1689/oj" TargetMode="External"/><Relationship Id="rId3" Type="http://schemas.openxmlformats.org/officeDocument/2006/relationships/hyperlink" Target="https://docs.google.com/document/d/1nOhcAL2wfeAHOK6x6UZH-Hg5yh9Ofxxko7FY47r5Vzc/edit" TargetMode="Externa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forbes.com/sites/paultassi/2025/10/12/marvel-rivals-has-lost-85-of-its-players-in-10-months/" TargetMode="External"/><Relationship Id="rId2" Type="http://schemas.openxmlformats.org/officeDocument/2006/relationships/hyperlink" Target="https://steamcharts.com/app/2767030" TargetMode="External"/><Relationship Id="rId3" Type="http://schemas.openxmlformats.org/officeDocument/2006/relationships/hyperlink" Target="https://gameworldobserver.com/2025/02/20/marvel-rivals-40-million-players-netease-fy24-report" TargetMode="External"/><Relationship Id="rId4" Type="http://schemas.openxmlformats.org/officeDocument/2006/relationships/hyperlink" Target="https://store.steampowered.com/appreviews/2767030?json=1" TargetMode="External"/><Relationship Id="rId5" Type="http://schemas.openxmlformats.org/officeDocument/2006/relationships/hyperlink" Target="https://x.com/MarvelRivals/status/1955117077561593877" TargetMode="External"/><Relationship Id="rId6" Type="http://schemas.openxmlformats.org/officeDocument/2006/relationships/hyperlink" Target="https://x.com/MarvelRivals/status/1958627668536311945" TargetMode="External"/><Relationship Id="rId7" Type="http://schemas.openxmlformats.org/officeDocument/2006/relationships/hyperlink" Target="https://www.marvelrivals.com/20251114/41525_1270590.html" TargetMode="External"/><Relationship Id="rId8" Type="http://schemas.openxmlformats.org/officeDocument/2006/relationships/hyperlink" Target="https://www.pcgamesn.com/marvel-rivals/ranks-competitive" TargetMode="External"/><Relationship Id="rId9" Type="http://schemas.openxmlformats.org/officeDocument/2006/relationships/hyperlink" Target="https://www.marvelrivals.com/devdiaries/20250210/40954_1210988.html" TargetMode="External"/><Relationship Id="rId10" Type="http://schemas.openxmlformats.org/officeDocument/2006/relationships/hyperlink" Target="https://timesaver.gg/blog/marvel-rivals-season-10-rank-reset" TargetMode="External"/><Relationship Id="rId11" Type="http://schemas.openxmlformats.org/officeDocument/2006/relationships/hyperlink" Target="https://insider-gaming.com/almost-half-of-players-who-quit-overwatch-jumped-to-marvel-rivals/" TargetMode="External"/><Relationship Id="rId12" Type="http://schemas.openxmlformats.org/officeDocument/2006/relationships/hyperlink" Target="https://www.videogameschronicle.com/news/overwatch-2s-average-pc-player-count-has-dropped-39-since-marvel-rivals-was-released/" TargetMode="External"/><Relationship Id="rId13" Type="http://schemas.openxmlformats.org/officeDocument/2006/relationships/hyperlink" Target="https://www.thegamer.com/marvel-rivals-no-longer-casual-friendly-black-panther-matchmaking/" TargetMode="External"/><Relationship Id="rId14" Type="http://schemas.openxmlformats.org/officeDocument/2006/relationships/hyperlink" Target="https://cloud.google.com/bigquery/pricing" TargetMode="External"/><Relationship Id="rId15" Type="http://schemas.openxmlformats.org/officeDocument/2006/relationships/hyperlink" Target="https://eur-lex.europa.eu/eli/reg/2016/679/oj" TargetMode="External"/><Relationship Id="rId16" Type="http://schemas.openxmlformats.org/officeDocument/2006/relationships/hyperlink" Target="https://eur-lex.europa.eu/eli/reg/2024/1689/oj" TargetMode="External"/><Relationship Id="rId17" Type="http://schemas.openxmlformats.org/officeDocument/2006/relationships/hyperlink" Target="https://docs.google.com/document/d/1nOhcAL2wfeAHOK6x6UZH-Hg5yh9Ofxxko7FY47r5Vzc/edit" TargetMode="External"/><Relationship Id="rId18" Type="http://schemas.openxmlformats.org/officeDocument/2006/relationships/slideLayout" Target="../slideLayouts/slideLayout1.xml"/><Relationship Id="rId1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A33"/>
        </a:solidFill>
      </p:bgPr>
    </p:bg>
    <p:spTree>
      <p:nvGrpSpPr>
        <p:cNvPr id="1" name=""/>
        <p:cNvGrpSpPr/>
        <p:nvPr/>
      </p:nvGrpSpPr>
      <p:grpSpPr>
        <a:xfrm>
          <a:off x="0" y="0"/>
          <a:ext cx="0" cy="0"/>
          <a:chOff x="0" y="0"/>
          <a:chExt cx="0" cy="0"/>
        </a:xfrm>
      </p:grpSpPr>
      <p:sp>
        <p:nvSpPr>
          <p:cNvPr id="2" name="Shape 0"/>
          <p:cNvSpPr/>
          <p:nvPr/>
        </p:nvSpPr>
        <p:spPr>
          <a:xfrm>
            <a:off x="457200" y="457200"/>
            <a:ext cx="548640" cy="548640"/>
          </a:xfrm>
          <a:prstGeom prst="ellipse">
            <a:avLst/>
          </a:prstGeom>
          <a:solidFill>
            <a:srgbClr val="E23636"/>
          </a:solidFill>
          <a:ln w="12700">
            <a:solidFill>
              <a:srgbClr val="E23636"/>
            </a:solidFill>
            <a:prstDash val="solid"/>
          </a:ln>
        </p:spPr>
      </p:sp>
      <p:pic>
        <p:nvPicPr>
          <p:cNvPr id="3" name="Image 0" descr="preencoded.png">    </p:cNvPr>
          <p:cNvPicPr>
            <a:picLocks noChangeAspect="1"/>
          </p:cNvPicPr>
          <p:nvPr/>
        </p:nvPicPr>
        <p:blipFill>
          <a:blip r:embed="rId1"/>
          <a:stretch>
            <a:fillRect/>
          </a:stretch>
        </p:blipFill>
        <p:spPr>
          <a:xfrm>
            <a:off x="594360" y="594360"/>
            <a:ext cx="274320" cy="274320"/>
          </a:xfrm>
          <a:prstGeom prst="rect">
            <a:avLst/>
          </a:prstGeom>
        </p:spPr>
      </p:pic>
      <p:sp>
        <p:nvSpPr>
          <p:cNvPr id="4" name="Text 1"/>
          <p:cNvSpPr txBox="1"/>
          <p:nvPr/>
        </p:nvSpPr>
        <p:spPr>
          <a:xfrm>
            <a:off x="457200" y="1188720"/>
            <a:ext cx="8229600" cy="822960"/>
          </a:xfrm>
          <a:prstGeom prst="rect">
            <a:avLst/>
          </a:prstGeom>
          <a:noFill/>
          <a:ln/>
        </p:spPr>
        <p:txBody>
          <a:bodyPr wrap="square" lIns="0" tIns="0" rIns="0" bIns="0" rtlCol="0" anchor="ctr"/>
          <a:lstStyle/>
          <a:p>
            <a:pPr indent="0" marL="0">
              <a:buNone/>
            </a:pPr>
            <a:r>
              <a:rPr lang="en-US" sz="5400" b="1" dirty="0">
                <a:solidFill>
                  <a:srgbClr val="E23636"/>
                </a:solidFill>
                <a:latin typeface="Arial" pitchFamily="34" charset="0"/>
                <a:ea typeface="Arial" pitchFamily="34" charset="-122"/>
                <a:cs typeface="Arial" pitchFamily="34" charset="-120"/>
              </a:rPr>
              <a:t>644 000 → 98 000</a:t>
            </a:r>
            <a:endParaRPr lang="en-US" sz="5400" dirty="0"/>
          </a:p>
        </p:txBody>
      </p:sp>
      <p:sp>
        <p:nvSpPr>
          <p:cNvPr id="5" name="Text 2"/>
          <p:cNvSpPr txBox="1"/>
          <p:nvPr/>
        </p:nvSpPr>
        <p:spPr>
          <a:xfrm>
            <a:off x="457200" y="2011680"/>
            <a:ext cx="8229600" cy="365760"/>
          </a:xfrm>
          <a:prstGeom prst="rect">
            <a:avLst/>
          </a:prstGeom>
          <a:noFill/>
          <a:ln/>
        </p:spPr>
        <p:txBody>
          <a:bodyPr wrap="square" lIns="0" tIns="0" rIns="0" bIns="0" rtlCol="0" anchor="ctr"/>
          <a:lstStyle/>
          <a:p>
            <a:pPr indent="0" marL="0">
              <a:buNone/>
            </a:pPr>
            <a:r>
              <a:rPr lang="en-US" sz="1800" dirty="0">
                <a:solidFill>
                  <a:srgbClr val="C9CCDA"/>
                </a:solidFill>
                <a:latin typeface="Calibri" pitchFamily="34" charset="0"/>
                <a:ea typeface="Calibri" pitchFamily="34" charset="-122"/>
                <a:cs typeface="Calibri" pitchFamily="34" charset="-120"/>
              </a:rPr>
              <a:t>joueurs simultanés sur Steam, en dix mois</a:t>
            </a:r>
            <a:endParaRPr lang="en-US" sz="1800" dirty="0"/>
          </a:p>
        </p:txBody>
      </p:sp>
      <p:sp>
        <p:nvSpPr>
          <p:cNvPr id="6" name="Text 3"/>
          <p:cNvSpPr txBox="1"/>
          <p:nvPr/>
        </p:nvSpPr>
        <p:spPr>
          <a:xfrm>
            <a:off x="457200" y="274320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Marvel Rivals : pourquoi les joueurs ne restent pas</a:t>
            </a:r>
            <a:endParaRPr lang="en-US" sz="2800" dirty="0"/>
          </a:p>
        </p:txBody>
      </p:sp>
      <p:sp>
        <p:nvSpPr>
          <p:cNvPr id="7" name="Text 4"/>
          <p:cNvSpPr txBox="1"/>
          <p:nvPr/>
        </p:nvSpPr>
        <p:spPr>
          <a:xfrm>
            <a:off x="457200" y="3291840"/>
            <a:ext cx="8229600" cy="365760"/>
          </a:xfrm>
          <a:prstGeom prst="rect">
            <a:avLst/>
          </a:prstGeom>
          <a:noFill/>
          <a:ln/>
        </p:spPr>
        <p:txBody>
          <a:bodyPr wrap="square" lIns="0" tIns="0" rIns="0" bIns="0" rtlCol="0" anchor="ctr"/>
          <a:lstStyle/>
          <a:p>
            <a:pPr indent="0" marL="0">
              <a:buNone/>
            </a:pPr>
            <a:r>
              <a:rPr lang="en-US" sz="1500" dirty="0">
                <a:solidFill>
                  <a:srgbClr val="C9CCDA"/>
                </a:solidFill>
                <a:latin typeface="Calibri" pitchFamily="34" charset="0"/>
                <a:ea typeface="Calibri" pitchFamily="34" charset="-122"/>
                <a:cs typeface="Calibri" pitchFamily="34" charset="-120"/>
              </a:rPr>
              <a:t>Plan de collecte data pour le comité de direction de NetEase Games</a:t>
            </a:r>
            <a:endParaRPr lang="en-US" sz="1500" dirty="0"/>
          </a:p>
        </p:txBody>
      </p:sp>
      <p:sp>
        <p:nvSpPr>
          <p:cNvPr id="8" name="Text 5"/>
          <p:cNvSpPr txBox="1"/>
          <p:nvPr/>
        </p:nvSpPr>
        <p:spPr>
          <a:xfrm>
            <a:off x="457200" y="4297680"/>
            <a:ext cx="5486400" cy="274320"/>
          </a:xfrm>
          <a:prstGeom prst="rect">
            <a:avLst/>
          </a:prstGeom>
          <a:noFill/>
          <a:ln/>
        </p:spPr>
        <p:txBody>
          <a:bodyPr wrap="square" lIns="0" tIns="0" rIns="0" bIns="0" rtlCol="0" anchor="ctr"/>
          <a:lstStyle/>
          <a:p>
            <a:pPr indent="0" marL="0">
              <a:buNone/>
            </a:pPr>
            <a:r>
              <a:rPr lang="en-US" sz="1200" dirty="0">
                <a:solidFill>
                  <a:srgbClr val="C9CCDA"/>
                </a:solidFill>
                <a:latin typeface="Calibri" pitchFamily="34" charset="0"/>
                <a:ea typeface="Calibri" pitchFamily="34" charset="-122"/>
                <a:cs typeface="Calibri" pitchFamily="34" charset="-120"/>
              </a:rPr>
              <a:t>Noé, consultant · 2 octobre 2026</a:t>
            </a:r>
            <a:endParaRPr lang="en-US" sz="1200" dirty="0"/>
          </a:p>
        </p:txBody>
      </p:sp>
      <p:sp>
        <p:nvSpPr>
          <p:cNvPr id="9" name="Text 6"/>
          <p:cNvSpPr txBox="1"/>
          <p:nvPr/>
        </p:nvSpPr>
        <p:spPr>
          <a:xfrm>
            <a:off x="5943600" y="4297680"/>
            <a:ext cx="2743200" cy="274320"/>
          </a:xfrm>
          <a:prstGeom prst="rect">
            <a:avLst/>
          </a:prstGeom>
          <a:noFill/>
          <a:ln/>
        </p:spPr>
        <p:txBody>
          <a:bodyPr wrap="square" lIns="0" tIns="0" rIns="0" bIns="0" rtlCol="0" anchor="ctr"/>
          <a:lstStyle/>
          <a:p>
            <a:pPr algn="r" indent="0" marL="0">
              <a:buNone/>
            </a:pPr>
            <a:r>
              <a:rPr lang="en-US" sz="1000" u="sng" dirty="0">
                <a:solidFill>
                  <a:srgbClr val="9FB4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Forbes, 12/10/2025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Le jeu perd ses joueurs et ne les regagne pas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Contexte · le B du BODAK, prouvé par les données (Steam = PC uniquement)</a:t>
            </a:r>
            <a:endParaRPr lang="en-US" sz="1200" dirty="0"/>
          </a:p>
        </p:txBody>
      </p:sp>
      <p:graphicFrame>
        <p:nvGraphicFramePr>
          <p:cNvPr id="4" name="Chart 0" descr=""/>
          <p:cNvGraphicFramePr/>
          <p:nvPr/>
        </p:nvGraphicFramePr>
        <p:xfrm>
          <a:off x="320040" y="1143000"/>
          <a:ext cx="425196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572000" y="1143000"/>
          <a:ext cx="425196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457200" y="3749040"/>
            <a:ext cx="2651760" cy="411480"/>
          </a:xfrm>
          <a:prstGeom prst="rect">
            <a:avLst/>
          </a:prstGeom>
          <a:noFill/>
          <a:ln/>
        </p:spPr>
        <p:txBody>
          <a:bodyPr wrap="square" lIns="0" tIns="0" rIns="0" bIns="0" rtlCol="0" anchor="ctr"/>
          <a:lstStyle/>
          <a:p>
            <a:pPr indent="0" marL="0">
              <a:buNone/>
            </a:pPr>
            <a:r>
              <a:rPr lang="en-US" sz="2200" b="1" dirty="0">
                <a:solidFill>
                  <a:srgbClr val="E23636"/>
                </a:solidFill>
                <a:latin typeface="Arial" pitchFamily="34" charset="0"/>
                <a:ea typeface="Arial" pitchFamily="34" charset="-122"/>
                <a:cs typeface="Arial" pitchFamily="34" charset="-120"/>
              </a:rPr>
              <a:t>−85 %</a:t>
            </a:r>
            <a:endParaRPr lang="en-US" sz="2200" dirty="0"/>
          </a:p>
        </p:txBody>
      </p:sp>
      <p:sp>
        <p:nvSpPr>
          <p:cNvPr id="7" name="Text 3"/>
          <p:cNvSpPr txBox="1"/>
          <p:nvPr/>
        </p:nvSpPr>
        <p:spPr>
          <a:xfrm>
            <a:off x="457200" y="4160520"/>
            <a:ext cx="2651760" cy="54864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de pic à pic (644 K → 98 K) ; −76 % en moyenne depuis la sortie</a:t>
            </a:r>
            <a:endParaRPr lang="en-US" sz="1000" dirty="0"/>
          </a:p>
        </p:txBody>
      </p:sp>
      <p:sp>
        <p:nvSpPr>
          <p:cNvPr id="8" name="Text 4"/>
          <p:cNvSpPr txBox="1"/>
          <p:nvPr/>
        </p:nvSpPr>
        <p:spPr>
          <a:xfrm>
            <a:off x="3246120" y="3749040"/>
            <a:ext cx="2651760" cy="411480"/>
          </a:xfrm>
          <a:prstGeom prst="rect">
            <a:avLst/>
          </a:prstGeom>
          <a:noFill/>
          <a:ln/>
        </p:spPr>
        <p:txBody>
          <a:bodyPr wrap="square" lIns="0" tIns="0" rIns="0" bIns="0" rtlCol="0" anchor="ctr"/>
          <a:lstStyle/>
          <a:p>
            <a:pPr indent="0" marL="0">
              <a:buNone/>
            </a:pPr>
            <a:r>
              <a:rPr lang="en-US" sz="2200" b="1" dirty="0">
                <a:solidFill>
                  <a:srgbClr val="E23636"/>
                </a:solidFill>
                <a:latin typeface="Arial" pitchFamily="34" charset="0"/>
                <a:ea typeface="Arial" pitchFamily="34" charset="-122"/>
                <a:cs typeface="Arial" pitchFamily="34" charset="-120"/>
              </a:rPr>
              <a:t>2 mois</a:t>
            </a:r>
            <a:endParaRPr lang="en-US" sz="2200" dirty="0"/>
          </a:p>
        </p:txBody>
      </p:sp>
      <p:sp>
        <p:nvSpPr>
          <p:cNvPr id="9" name="Text 5"/>
          <p:cNvSpPr txBox="1"/>
          <p:nvPr/>
        </p:nvSpPr>
        <p:spPr>
          <a:xfrm>
            <a:off x="3246120" y="4160520"/>
            <a:ext cx="2651760" cy="54864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pour perdre les joueurs ramenés par une saison (+18 % en janv. 2026, +21 % en juil.)</a:t>
            </a:r>
            <a:endParaRPr lang="en-US" sz="1000" dirty="0"/>
          </a:p>
        </p:txBody>
      </p:sp>
      <p:sp>
        <p:nvSpPr>
          <p:cNvPr id="10" name="Text 6"/>
          <p:cNvSpPr txBox="1"/>
          <p:nvPr/>
        </p:nvSpPr>
        <p:spPr>
          <a:xfrm>
            <a:off x="6035040" y="3749040"/>
            <a:ext cx="2651760" cy="411480"/>
          </a:xfrm>
          <a:prstGeom prst="rect">
            <a:avLst/>
          </a:prstGeom>
          <a:noFill/>
          <a:ln/>
        </p:spPr>
        <p:txBody>
          <a:bodyPr wrap="square" lIns="0" tIns="0" rIns="0" bIns="0" rtlCol="0" anchor="ctr"/>
          <a:lstStyle/>
          <a:p>
            <a:pPr indent="0" marL="0">
              <a:buNone/>
            </a:pPr>
            <a:r>
              <a:rPr lang="en-US" sz="2200" b="1" dirty="0">
                <a:solidFill>
                  <a:srgbClr val="161A33"/>
                </a:solidFill>
                <a:latin typeface="Arial" pitchFamily="34" charset="0"/>
                <a:ea typeface="Arial" pitchFamily="34" charset="-122"/>
                <a:cs typeface="Arial" pitchFamily="34" charset="-120"/>
              </a:rPr>
              <a:t>7 → 41 %</a:t>
            </a:r>
            <a:endParaRPr lang="en-US" sz="2200" dirty="0"/>
          </a:p>
        </p:txBody>
      </p:sp>
      <p:sp>
        <p:nvSpPr>
          <p:cNvPr id="11" name="Text 7"/>
          <p:cNvSpPr txBox="1"/>
          <p:nvPr/>
        </p:nvSpPr>
        <p:spPr>
          <a:xfrm>
            <a:off x="6035040" y="4160520"/>
            <a:ext cx="2651760" cy="54864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des avis négatifs accusent le matchmaking ; NetEase a dû démentir un matchmaking truqué</a:t>
            </a:r>
            <a:endParaRPr lang="en-US" sz="1000" dirty="0"/>
          </a:p>
        </p:txBody>
      </p:sp>
      <p:sp>
        <p:nvSpPr>
          <p:cNvPr id="12" name="Text 8"/>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Forbes (12/10/2025)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Steam Charts (30/09/2026 ; * = 30 derniers jours)</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avis Steam, notre collecte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démenti EOMM</a:t>
            </a:r>
            <a:endParaRPr lang="en-US" sz="850" dirty="0"/>
          </a:p>
        </p:txBody>
      </p:sp>
      <p:sp>
        <p:nvSpPr>
          <p:cNvPr id="13" name="Text 9"/>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Hypothèse : un écart de niveau qui fait partir</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Diagnostic · H5 : nouveaux et revenants subissent des écarts non compensés (testable)</a:t>
            </a:r>
            <a:endParaRPr lang="en-US" sz="1200" dirty="0"/>
          </a:p>
        </p:txBody>
      </p:sp>
      <p:sp>
        <p:nvSpPr>
          <p:cNvPr id="4" name="Shape 2"/>
          <p:cNvSpPr/>
          <p:nvPr/>
        </p:nvSpPr>
        <p:spPr>
          <a:xfrm>
            <a:off x="457200" y="1188720"/>
            <a:ext cx="4023360" cy="2926080"/>
          </a:xfrm>
          <a:prstGeom prst="roundRect">
            <a:avLst>
              <a:gd name="adj" fmla="val 2500"/>
            </a:avLst>
          </a:prstGeom>
          <a:solidFill>
            <a:srgbClr val="F4F5F9"/>
          </a:solidFill>
          <a:ln w="12700">
            <a:solidFill>
              <a:srgbClr val="F4F5F9"/>
            </a:solidFill>
            <a:prstDash val="solid"/>
          </a:ln>
        </p:spPr>
      </p:sp>
      <p:sp>
        <p:nvSpPr>
          <p:cNvPr id="5" name="Shape 3"/>
          <p:cNvSpPr/>
          <p:nvPr/>
        </p:nvSpPr>
        <p:spPr>
          <a:xfrm>
            <a:off x="640080" y="1298448"/>
            <a:ext cx="384048" cy="384048"/>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736092" y="1394460"/>
            <a:ext cx="192024" cy="192024"/>
          </a:xfrm>
          <a:prstGeom prst="rect">
            <a:avLst/>
          </a:prstGeom>
        </p:spPr>
      </p:pic>
      <p:sp>
        <p:nvSpPr>
          <p:cNvPr id="7" name="Text 4"/>
          <p:cNvSpPr txBox="1"/>
          <p:nvPr/>
        </p:nvSpPr>
        <p:spPr>
          <a:xfrm>
            <a:off x="114300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H5b · Les nouveaux, en partie rapide</a:t>
            </a:r>
            <a:endParaRPr lang="en-US" sz="1300" dirty="0"/>
          </a:p>
        </p:txBody>
      </p:sp>
      <p:sp>
        <p:nvSpPr>
          <p:cNvPr id="8" name="Text 5"/>
          <p:cNvSpPr txBox="1"/>
          <p:nvPr/>
        </p:nvSpPr>
        <p:spPr>
          <a:xfrm>
            <a:off x="640080" y="1783080"/>
            <a:ext cx="3657600" cy="2286000"/>
          </a:xfrm>
          <a:prstGeom prst="rect">
            <a:avLst/>
          </a:prstGeom>
          <a:noFill/>
          <a:ln/>
        </p:spPr>
        <p:txBody>
          <a:bodyPr wrap="square" lIns="0" tIns="0" rIns="0" bIns="0" rtlCol="0" anchor="t"/>
          <a:lstStyle/>
          <a:p>
            <a:pPr indent="0" marL="0">
              <a:buNone/>
            </a:pPr>
            <a:r>
              <a:rPr lang="en-US" sz="1050" b="1" dirty="0">
                <a:solidFill>
                  <a:srgbClr val="E23636"/>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Faute de joueurs en file, le matchmaking accepte des écarts de niveau plus grands pour lancer la partie : NetEase le reconnaît (vidéo du 21/08/2025).</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Le nouveau tombe sur les vétérans restants, perd et part : la base ne se renouvelle pas.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Aucune correction publiée pour la partie rapide, où passe chaque nouveau avant le niveau 15.</a:t>
            </a:r>
            <a:endParaRPr lang="en-US" sz="1050" dirty="0"/>
          </a:p>
        </p:txBody>
      </p:sp>
      <p:sp>
        <p:nvSpPr>
          <p:cNvPr id="9" name="Shape 6"/>
          <p:cNvSpPr/>
          <p:nvPr/>
        </p:nvSpPr>
        <p:spPr>
          <a:xfrm>
            <a:off x="4663440" y="1188720"/>
            <a:ext cx="4023360" cy="2926080"/>
          </a:xfrm>
          <a:prstGeom prst="roundRect">
            <a:avLst>
              <a:gd name="adj" fmla="val 2500"/>
            </a:avLst>
          </a:prstGeom>
          <a:solidFill>
            <a:srgbClr val="F4F5F9"/>
          </a:solidFill>
          <a:ln w="12700">
            <a:solidFill>
              <a:srgbClr val="F4F5F9"/>
            </a:solidFill>
            <a:prstDash val="solid"/>
          </a:ln>
        </p:spPr>
      </p:sp>
      <p:sp>
        <p:nvSpPr>
          <p:cNvPr id="10" name="Shape 7"/>
          <p:cNvSpPr/>
          <p:nvPr/>
        </p:nvSpPr>
        <p:spPr>
          <a:xfrm>
            <a:off x="4846320" y="1298448"/>
            <a:ext cx="384048" cy="384048"/>
          </a:xfrm>
          <a:prstGeom prst="ellipse">
            <a:avLst/>
          </a:prstGeom>
          <a:solidFill>
            <a:srgbClr val="161A33"/>
          </a:solidFill>
          <a:ln w="12700">
            <a:solidFill>
              <a:srgbClr val="161A33"/>
            </a:solidFill>
            <a:prstDash val="solid"/>
          </a:ln>
        </p:spPr>
      </p:sp>
      <p:pic>
        <p:nvPicPr>
          <p:cNvPr id="11" name="Image 1" descr="preencoded.png">    </p:cNvPr>
          <p:cNvPicPr>
            <a:picLocks noChangeAspect="1"/>
          </p:cNvPicPr>
          <p:nvPr/>
        </p:nvPicPr>
        <p:blipFill>
          <a:blip r:embed="rId2"/>
          <a:stretch>
            <a:fillRect/>
          </a:stretch>
        </p:blipFill>
        <p:spPr>
          <a:xfrm>
            <a:off x="4942332" y="1394460"/>
            <a:ext cx="192024" cy="192024"/>
          </a:xfrm>
          <a:prstGeom prst="rect">
            <a:avLst/>
          </a:prstGeom>
        </p:spPr>
      </p:pic>
      <p:sp>
        <p:nvSpPr>
          <p:cNvPr id="12" name="Text 8"/>
          <p:cNvSpPr txBox="1"/>
          <p:nvPr/>
        </p:nvSpPr>
        <p:spPr>
          <a:xfrm>
            <a:off x="534924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H5c · Les joueurs de retour, en classé</a:t>
            </a:r>
            <a:endParaRPr lang="en-US" sz="1300" dirty="0"/>
          </a:p>
        </p:txBody>
      </p:sp>
      <p:sp>
        <p:nvSpPr>
          <p:cNvPr id="13" name="Text 9"/>
          <p:cNvSpPr txBox="1"/>
          <p:nvPr/>
        </p:nvSpPr>
        <p:spPr>
          <a:xfrm>
            <a:off x="4846320" y="1783080"/>
            <a:ext cx="3657600" cy="2286000"/>
          </a:xfrm>
          <a:prstGeom prst="rect">
            <a:avLst/>
          </a:prstGeom>
          <a:noFill/>
          <a:ln/>
        </p:spPr>
        <p:txBody>
          <a:bodyPr wrap="square" lIns="0" tIns="0" rIns="0" bIns="0" rtlCol="0" anchor="t"/>
          <a:lstStyle/>
          <a:p>
            <a:pPr indent="0" marL="0">
              <a:buNone/>
            </a:pPr>
            <a:r>
              <a:rPr lang="en-US" sz="1050" b="1" dirty="0">
                <a:solidFill>
                  <a:srgbClr val="161A33"/>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À chaque saison, le rang n'est abaissé que de 6 divisions, quelle que soit la durée de l'absence (Dev Talk Vol.10).</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Un joueur absent plusieurs mois affronte des joueurs restés actifs, plus en forme : il perd et repart.</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Les saisons ramènent des joueurs (+18 %, +21 %), qui repartent en deux mois.</a:t>
            </a:r>
            <a:endParaRPr lang="en-US" sz="1050" dirty="0"/>
          </a:p>
        </p:txBody>
      </p:sp>
      <p:sp>
        <p:nvSpPr>
          <p:cNvPr id="14" name="Text 1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100" b="1" dirty="0">
                <a:solidFill>
                  <a:srgbClr val="E23636"/>
                </a:solidFill>
                <a:latin typeface="Calibri" pitchFamily="34" charset="0"/>
                <a:ea typeface="Calibri" pitchFamily="34" charset="-122"/>
                <a:cs typeface="Calibri" pitchFamily="34" charset="-120"/>
              </a:rPr>
              <a:t>Ce qu'on teste : </a:t>
            </a:r>
            <a:pPr indent="0" marL="0">
              <a:buNone/>
            </a:pPr>
            <a:r>
              <a:rPr lang="en-US" sz="1100" dirty="0">
                <a:solidFill>
                  <a:srgbClr val="1F2233"/>
                </a:solidFill>
                <a:latin typeface="Calibri" pitchFamily="34" charset="0"/>
                <a:ea typeface="Calibri" pitchFamily="34" charset="-122"/>
                <a:cs typeface="Calibri" pitchFamily="34" charset="-120"/>
              </a:rPr>
              <a:t>l'écart de niveau subi par les nouveaux et les revenants, et s'il les fait partir dans les 7 jours. Tout se mesure dans votre télémétrie, sans savoir d'où viennent les joueurs.</a:t>
            </a:r>
            <a:endParaRPr lang="en-US" sz="11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Dev Talk Vol.10</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inactivité (source tierce)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Steam Charts</a:t>
            </a:r>
            <a:endParaRPr lang="en-US" sz="850" dirty="0"/>
          </a:p>
        </p:txBody>
      </p:sp>
      <p:sp>
        <p:nvSpPr>
          <p:cNvPr id="16" name="Text 1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Contexte probable : deux publics opposés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Diagnostic · hypothèse de contexte : plausible, mais invérifiable</a:t>
            </a:r>
            <a:endParaRPr lang="en-US" sz="1200" dirty="0"/>
          </a:p>
        </p:txBody>
      </p:sp>
      <p:sp>
        <p:nvSpPr>
          <p:cNvPr id="4" name="Shape 2"/>
          <p:cNvSpPr/>
          <p:nvPr/>
        </p:nvSpPr>
        <p:spPr>
          <a:xfrm>
            <a:off x="457200" y="1188720"/>
            <a:ext cx="4023360" cy="1874520"/>
          </a:xfrm>
          <a:prstGeom prst="roundRect">
            <a:avLst>
              <a:gd name="adj" fmla="val 3902"/>
            </a:avLst>
          </a:prstGeom>
          <a:solidFill>
            <a:srgbClr val="FFFFFF"/>
          </a:solidFill>
          <a:ln w="12700">
            <a:solidFill>
              <a:srgbClr val="E3E5EE"/>
            </a:solidFill>
            <a:prstDash val="solid"/>
          </a:ln>
        </p:spPr>
      </p:sp>
      <p:sp>
        <p:nvSpPr>
          <p:cNvPr id="5" name="Shape 3"/>
          <p:cNvSpPr/>
          <p:nvPr/>
        </p:nvSpPr>
        <p:spPr>
          <a:xfrm>
            <a:off x="640080" y="1307592"/>
            <a:ext cx="384048" cy="384048"/>
          </a:xfrm>
          <a:prstGeom prst="ellipse">
            <a:avLst/>
          </a:prstGeom>
          <a:solidFill>
            <a:srgbClr val="161A33"/>
          </a:solidFill>
          <a:ln w="12700">
            <a:solidFill>
              <a:srgbClr val="161A33"/>
            </a:solidFill>
            <a:prstDash val="solid"/>
          </a:ln>
        </p:spPr>
      </p:sp>
      <p:pic>
        <p:nvPicPr>
          <p:cNvPr id="6" name="Image 0" descr="preencoded.png">    </p:cNvPr>
          <p:cNvPicPr>
            <a:picLocks noChangeAspect="1"/>
          </p:cNvPicPr>
          <p:nvPr/>
        </p:nvPicPr>
        <p:blipFill>
          <a:blip r:embed="rId1"/>
          <a:stretch>
            <a:fillRect/>
          </a:stretch>
        </p:blipFill>
        <p:spPr>
          <a:xfrm>
            <a:off x="736092" y="1403604"/>
            <a:ext cx="192024" cy="192024"/>
          </a:xfrm>
          <a:prstGeom prst="rect">
            <a:avLst/>
          </a:prstGeom>
        </p:spPr>
      </p:pic>
      <p:sp>
        <p:nvSpPr>
          <p:cNvPr id="7" name="Text 4"/>
          <p:cNvSpPr txBox="1"/>
          <p:nvPr/>
        </p:nvSpPr>
        <p:spPr>
          <a:xfrm>
            <a:off x="1143000" y="1307592"/>
            <a:ext cx="3200400" cy="384048"/>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Les vétérans du genre</a:t>
            </a:r>
            <a:endParaRPr lang="en-US" sz="1400" dirty="0"/>
          </a:p>
        </p:txBody>
      </p:sp>
      <p:sp>
        <p:nvSpPr>
          <p:cNvPr id="8" name="Text 5"/>
          <p:cNvSpPr txBox="1"/>
          <p:nvPr/>
        </p:nvSpPr>
        <p:spPr>
          <a:xfrm>
            <a:off x="640080" y="1810512"/>
            <a:ext cx="3657600" cy="1188720"/>
          </a:xfrm>
          <a:prstGeom prst="rect">
            <a:avLst/>
          </a:prstGeom>
          <a:noFill/>
          <a:ln/>
        </p:spPr>
        <p:txBody>
          <a:bodyPr wrap="square" lIns="0" tIns="0" rIns="0" bIns="0" rtlCol="0" anchor="t"/>
          <a:lstStyle/>
          <a:p>
            <a:pPr indent="0" marL="0">
              <a:buNone/>
            </a:pPr>
            <a:r>
              <a:rPr lang="en-US" sz="1500" b="1" dirty="0">
                <a:solidFill>
                  <a:srgbClr val="161A33"/>
                </a:solidFill>
                <a:latin typeface="Calibri" pitchFamily="34" charset="0"/>
                <a:ea typeface="Calibri" pitchFamily="34" charset="-122"/>
                <a:cs typeface="Calibri" pitchFamily="34" charset="-120"/>
              </a:rPr>
              <a:t>45 %</a:t>
            </a:r>
            <a:pPr indent="0" marL="0">
              <a:buNone/>
            </a:pPr>
            <a:r>
              <a:rPr lang="en-US" sz="1050" dirty="0">
                <a:solidFill>
                  <a:srgbClr val="1F2233"/>
                </a:solidFill>
                <a:latin typeface="Calibri" pitchFamily="34" charset="0"/>
                <a:ea typeface="Calibri" pitchFamily="34" charset="-122"/>
                <a:cs typeface="Calibri" pitchFamily="34" charset="-120"/>
              </a:rPr>
              <a:t> des joueurs qui ont arrêté Overwatch 2 en décembre 2024 ont joué à Marvel Rivals (Newzoo)</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500" b="1" dirty="0">
                <a:solidFill>
                  <a:srgbClr val="161A33"/>
                </a:solidFill>
                <a:latin typeface="Calibri" pitchFamily="34" charset="0"/>
                <a:ea typeface="Calibri" pitchFamily="34" charset="-122"/>
                <a:cs typeface="Calibri" pitchFamily="34" charset="-120"/>
              </a:rPr>
              <a:t>−22 %</a:t>
            </a:r>
            <a:pPr indent="0" marL="0">
              <a:buNone/>
            </a:pPr>
            <a:r>
              <a:rPr lang="en-US" sz="1050" dirty="0">
                <a:solidFill>
                  <a:srgbClr val="1F2233"/>
                </a:solidFill>
                <a:latin typeface="Calibri" pitchFamily="34" charset="0"/>
                <a:ea typeface="Calibri" pitchFamily="34" charset="-122"/>
                <a:cs typeface="Calibri" pitchFamily="34" charset="-120"/>
              </a:rPr>
              <a:t> de joueurs moyens sur Overwatch 2 (PC) ce mois-là</a:t>
            </a:r>
            <a:endParaRPr lang="en-US" sz="1050" dirty="0"/>
          </a:p>
        </p:txBody>
      </p:sp>
      <p:sp>
        <p:nvSpPr>
          <p:cNvPr id="9" name="Shape 6"/>
          <p:cNvSpPr/>
          <p:nvPr/>
        </p:nvSpPr>
        <p:spPr>
          <a:xfrm>
            <a:off x="4663440" y="1188720"/>
            <a:ext cx="4023360" cy="1874520"/>
          </a:xfrm>
          <a:prstGeom prst="roundRect">
            <a:avLst>
              <a:gd name="adj" fmla="val 3902"/>
            </a:avLst>
          </a:prstGeom>
          <a:solidFill>
            <a:srgbClr val="FFFFFF"/>
          </a:solidFill>
          <a:ln w="12700">
            <a:solidFill>
              <a:srgbClr val="E3E5EE"/>
            </a:solidFill>
            <a:prstDash val="solid"/>
          </a:ln>
        </p:spPr>
      </p:sp>
      <p:sp>
        <p:nvSpPr>
          <p:cNvPr id="10" name="Shape 7"/>
          <p:cNvSpPr/>
          <p:nvPr/>
        </p:nvSpPr>
        <p:spPr>
          <a:xfrm>
            <a:off x="4846320" y="1307592"/>
            <a:ext cx="384048" cy="384048"/>
          </a:xfrm>
          <a:prstGeom prst="ellipse">
            <a:avLst/>
          </a:prstGeom>
          <a:solidFill>
            <a:srgbClr val="E23636"/>
          </a:solidFill>
          <a:ln w="12700">
            <a:solidFill>
              <a:srgbClr val="E23636"/>
            </a:solidFill>
            <a:prstDash val="solid"/>
          </a:ln>
        </p:spPr>
      </p:sp>
      <p:pic>
        <p:nvPicPr>
          <p:cNvPr id="11" name="Image 1" descr="preencoded.png">    </p:cNvPr>
          <p:cNvPicPr>
            <a:picLocks noChangeAspect="1"/>
          </p:cNvPicPr>
          <p:nvPr/>
        </p:nvPicPr>
        <p:blipFill>
          <a:blip r:embed="rId2"/>
          <a:stretch>
            <a:fillRect/>
          </a:stretch>
        </p:blipFill>
        <p:spPr>
          <a:xfrm>
            <a:off x="4942332" y="1403604"/>
            <a:ext cx="192024" cy="192024"/>
          </a:xfrm>
          <a:prstGeom prst="rect">
            <a:avLst/>
          </a:prstGeom>
        </p:spPr>
      </p:pic>
      <p:sp>
        <p:nvSpPr>
          <p:cNvPr id="12" name="Text 8"/>
          <p:cNvSpPr txBox="1"/>
          <p:nvPr/>
        </p:nvSpPr>
        <p:spPr>
          <a:xfrm>
            <a:off x="5349240" y="1307592"/>
            <a:ext cx="3200400" cy="384048"/>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Le grand public venu pour Marvel</a:t>
            </a:r>
            <a:endParaRPr lang="en-US" sz="1400" dirty="0"/>
          </a:p>
        </p:txBody>
      </p:sp>
      <p:sp>
        <p:nvSpPr>
          <p:cNvPr id="13" name="Text 9"/>
          <p:cNvSpPr txBox="1"/>
          <p:nvPr/>
        </p:nvSpPr>
        <p:spPr>
          <a:xfrm>
            <a:off x="4846320" y="1810512"/>
            <a:ext cx="3657600" cy="1188720"/>
          </a:xfrm>
          <a:prstGeom prst="rect">
            <a:avLst/>
          </a:prstGeom>
          <a:noFill/>
          <a:ln/>
        </p:spPr>
        <p:txBody>
          <a:bodyPr wrap="square" lIns="0" tIns="0" rIns="0" bIns="0" rtlCol="0" anchor="t"/>
          <a:lstStyle/>
          <a:p>
            <a:pPr indent="0" marL="0">
              <a:buNone/>
            </a:pPr>
            <a:r>
              <a:rPr lang="en-US" sz="1500" b="1" dirty="0">
                <a:solidFill>
                  <a:srgbClr val="E23636"/>
                </a:solidFill>
                <a:latin typeface="Calibri" pitchFamily="34" charset="0"/>
                <a:ea typeface="Calibri" pitchFamily="34" charset="-122"/>
                <a:cs typeface="Calibri" pitchFamily="34" charset="-120"/>
              </a:rPr>
              <a:t>10 M</a:t>
            </a:r>
            <a:pPr indent="0" marL="0">
              <a:buNone/>
            </a:pPr>
            <a:r>
              <a:rPr lang="en-US" sz="1050" dirty="0">
                <a:solidFill>
                  <a:srgbClr val="1F2233"/>
                </a:solidFill>
                <a:latin typeface="Calibri" pitchFamily="34" charset="0"/>
                <a:ea typeface="Calibri" pitchFamily="34" charset="-122"/>
                <a:cs typeface="Calibri" pitchFamily="34" charset="-120"/>
              </a:rPr>
              <a:t> de joueurs en 3 jours, 40 M en 3 mois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500" b="1" dirty="0">
                <a:solidFill>
                  <a:srgbClr val="E23636"/>
                </a:solidFill>
                <a:latin typeface="Calibri" pitchFamily="34" charset="0"/>
                <a:ea typeface="Calibri" pitchFamily="34" charset="-122"/>
                <a:cs typeface="Calibri" pitchFamily="34" charset="-120"/>
              </a:rPr>
              <a:t>Gratuit</a:t>
            </a:r>
            <a:pPr indent="0" marL="0">
              <a:buNone/>
            </a:pPr>
            <a:r>
              <a:rPr lang="en-US" sz="1050" dirty="0">
                <a:solidFill>
                  <a:srgbClr val="1F2233"/>
                </a:solidFill>
                <a:latin typeface="Calibri" pitchFamily="34" charset="0"/>
                <a:ea typeface="Calibri" pitchFamily="34" charset="-122"/>
                <a:cs typeface="Calibri" pitchFamily="34" charset="-120"/>
              </a:rPr>
              <a:t> et porté par une licence grand public : beaucoup découvrent le genre</a:t>
            </a:r>
            <a:endParaRPr lang="en-US" sz="1050" dirty="0"/>
          </a:p>
        </p:txBody>
      </p:sp>
      <p:sp>
        <p:nvSpPr>
          <p:cNvPr id="14" name="Shape 10"/>
          <p:cNvSpPr/>
          <p:nvPr/>
        </p:nvSpPr>
        <p:spPr>
          <a:xfrm>
            <a:off x="457200" y="3200400"/>
            <a:ext cx="8229600" cy="1463040"/>
          </a:xfrm>
          <a:prstGeom prst="roundRect">
            <a:avLst>
              <a:gd name="adj" fmla="val 5000"/>
            </a:avLst>
          </a:prstGeom>
          <a:solidFill>
            <a:srgbClr val="161A33"/>
          </a:solidFill>
          <a:ln w="12700">
            <a:solidFill>
              <a:srgbClr val="161A33"/>
            </a:solidFill>
            <a:prstDash val="solid"/>
          </a:ln>
        </p:spPr>
      </p:sp>
      <p:sp>
        <p:nvSpPr>
          <p:cNvPr id="15" name="Text 11"/>
          <p:cNvSpPr txBox="1"/>
          <p:nvPr/>
        </p:nvSpPr>
        <p:spPr>
          <a:xfrm>
            <a:off x="685800" y="3246120"/>
            <a:ext cx="7772400" cy="1371600"/>
          </a:xfrm>
          <a:prstGeom prst="rect">
            <a:avLst/>
          </a:prstGeom>
          <a:noFill/>
          <a:ln/>
        </p:spPr>
        <p:txBody>
          <a:bodyPr wrap="square" lIns="0" tIns="0" rIns="0" bIns="0" rtlCol="0" anchor="ctr"/>
          <a:lstStyle/>
          <a:p>
            <a:pPr indent="0" marL="0">
              <a:buNone/>
            </a:pPr>
            <a:r>
              <a:rPr lang="en-US" sz="1150" b="1" dirty="0">
                <a:solidFill>
                  <a:srgbClr val="E23636"/>
                </a:solidFill>
                <a:latin typeface="Calibri" pitchFamily="34" charset="0"/>
                <a:ea typeface="Calibri" pitchFamily="34" charset="-122"/>
                <a:cs typeface="Calibri" pitchFamily="34" charset="-120"/>
              </a:rPr>
              <a:t>Sans calibrage, ils se croisent </a:t>
            </a:r>
            <a:pPr indent="0" marL="0">
              <a:buNone/>
            </a:pPr>
            <a:r>
              <a:rPr lang="en-US" sz="1150" dirty="0">
                <a:solidFill>
                  <a:srgbClr val="FFFFFF"/>
                </a:solidFill>
                <a:latin typeface="Calibri" pitchFamily="34" charset="0"/>
                <a:ea typeface="Calibri" pitchFamily="34" charset="-122"/>
                <a:cs typeface="Calibri" pitchFamily="34" charset="-120"/>
              </a:rPr>
              <a:t>(Bronze III pour tous en classé jusqu'à la saison 5). Il reste surtout des vétérans : auteurs d'avis Steam à plus de 200 h, 5 % fin 2024, 42 % à l'été 2025.</a:t>
            </a:r>
            <a:endParaRPr lang="en-US" sz="115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rgbClr val="E23636"/>
                </a:solidFill>
                <a:latin typeface="Calibri" pitchFamily="34" charset="0"/>
                <a:ea typeface="Calibri" pitchFamily="34" charset="-122"/>
                <a:cs typeface="Calibri" pitchFamily="34" charset="-120"/>
              </a:rPr>
              <a:t>Limite : </a:t>
            </a:r>
            <a:pPr indent="0" marL="0">
              <a:buNone/>
            </a:pPr>
            <a:r>
              <a:rPr lang="en-US" sz="1150" dirty="0">
                <a:solidFill>
                  <a:srgbClr val="FFFFFF"/>
                </a:solidFill>
                <a:latin typeface="Calibri" pitchFamily="34" charset="0"/>
                <a:ea typeface="Calibri" pitchFamily="34" charset="-122"/>
                <a:cs typeface="Calibri" pitchFamily="34" charset="-120"/>
              </a:rPr>
              <a:t>la télémétrie ne dit pas pourquoi un joueur est venu ni d'où il vient. Ce récit n'est donc pas testé : aucune décision du plan n'en dépend.</a:t>
            </a:r>
            <a:endParaRPr lang="en-US" sz="1150" dirty="0"/>
          </a:p>
        </p:txBody>
      </p:sp>
      <p:sp>
        <p:nvSpPr>
          <p:cNvPr id="16" name="Text 12"/>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Newzoo via Insider Gaming</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VGC</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Game World Observer</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PCGamesN</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avis Steam</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TheGamer</a:t>
            </a:r>
            <a:endParaRPr lang="en-US" sz="850" dirty="0"/>
          </a:p>
        </p:txBody>
      </p:sp>
      <p:sp>
        <p:nvSpPr>
          <p:cNvPr id="17" name="Text 13"/>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D'abord mesurer : 30 jours d'audit</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objectif SMART et données à extraire en priorité, et pourquoi</a:t>
            </a:r>
            <a:endParaRPr lang="en-US" sz="1200" dirty="0"/>
          </a:p>
        </p:txBody>
      </p:sp>
      <p:sp>
        <p:nvSpPr>
          <p:cNvPr id="4" name="Shape 2"/>
          <p:cNvSpPr/>
          <p:nvPr/>
        </p:nvSpPr>
        <p:spPr>
          <a:xfrm>
            <a:off x="457200" y="1143000"/>
            <a:ext cx="8229600" cy="658368"/>
          </a:xfrm>
          <a:prstGeom prst="roundRect">
            <a:avLst>
              <a:gd name="adj" fmla="val 11111"/>
            </a:avLst>
          </a:prstGeom>
          <a:solidFill>
            <a:srgbClr val="161A33"/>
          </a:solidFill>
          <a:ln w="12700">
            <a:solidFill>
              <a:srgbClr val="161A33"/>
            </a:solidFill>
            <a:prstDash val="solid"/>
          </a:ln>
        </p:spPr>
      </p:sp>
      <p:sp>
        <p:nvSpPr>
          <p:cNvPr id="5" name="Text 3"/>
          <p:cNvSpPr txBox="1"/>
          <p:nvPr/>
        </p:nvSpPr>
        <p:spPr>
          <a:xfrm>
            <a:off x="640080" y="1161288"/>
            <a:ext cx="7863840" cy="621792"/>
          </a:xfrm>
          <a:prstGeom prst="rect">
            <a:avLst/>
          </a:prstGeom>
          <a:noFill/>
          <a:ln/>
        </p:spPr>
        <p:txBody>
          <a:bodyPr wrap="square" lIns="0" tIns="0" rIns="0" bIns="0" rtlCol="0" anchor="ctr"/>
          <a:lstStyle/>
          <a:p>
            <a:pPr indent="0" marL="0">
              <a:buNone/>
            </a:pPr>
            <a:r>
              <a:rPr lang="en-US" sz="1150" b="1" dirty="0">
                <a:solidFill>
                  <a:srgbClr val="E23636"/>
                </a:solidFill>
                <a:latin typeface="Calibri" pitchFamily="34" charset="0"/>
                <a:ea typeface="Calibri" pitchFamily="34" charset="-122"/>
                <a:cs typeface="Calibri" pitchFamily="34" charset="-120"/>
              </a:rPr>
              <a:t>Objectif : </a:t>
            </a:r>
            <a:pPr indent="0" marL="0">
              <a:buNone/>
            </a:pPr>
            <a:r>
              <a:rPr lang="en-US" sz="1150" dirty="0">
                <a:solidFill>
                  <a:srgbClr val="FFFFFF"/>
                </a:solidFill>
                <a:latin typeface="Calibri" pitchFamily="34" charset="0"/>
                <a:ea typeface="Calibri" pitchFamily="34" charset="-122"/>
                <a:cs typeface="Calibri" pitchFamily="34" charset="-120"/>
              </a:rPr>
              <a:t>d'ici le 31/03/2027, qu'un joueur qui perd au moins 7 de ses 10 premiers matchs ne parte pas plus de 1,2 fois plus souvent dans la semaine que les autres, chez les nouveaux comme chez les joueurs de retour.</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8229600" cy="914400"/>
        </p:xfrm>
        <a:graphic>
          <a:graphicData uri="http://schemas.openxmlformats.org/drawingml/2006/table">
            <a:tbl>
              <a:tblPr/>
              <a:tblGrid>
                <a:gridCol w="3200400"/>
                <a:gridCol w="2377440"/>
                <a:gridCol w="2651760"/>
              </a:tblGrid>
              <a:tr h="237744">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Donnée à extraire</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 qu'elle nous dit</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Pourquoi en priorité</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Résultats des 10 premiers matchs et départ à 7 jours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perdre au début fait partir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C'est la mesure de l'objectif</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 ces 10 premiers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Où jouent les nouveaux</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Dit quel mode corriger en premier (Steam = PC seul)</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attribué / niveau réel après 50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jeu place mal un nouveau</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A (démarrage à froid)</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par match, selon les joueurs en file, l'heure, la région</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l'écart grandit quand la file se vide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B (manque de joueurs)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Durée d'absence, rang au retour et bilan des 10 premiers matchs classés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rang au retour est périmé</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C (joueurs de retour)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Départs en classé avant / après les placements de la saison 5</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mieux placer les joueurs les a retenus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Expérience déjà faite : la preuve la moins chère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457200" y="4416552"/>
            <a:ext cx="8229600" cy="320040"/>
          </a:xfrm>
          <a:prstGeom prst="rect">
            <a:avLst/>
          </a:prstGeom>
          <a:noFill/>
          <a:ln/>
        </p:spPr>
        <p:txBody>
          <a:bodyPr wrap="square" lIns="0" tIns="0" rIns="0" bIns="0" rtlCol="0" anchor="ctr"/>
          <a:lstStyle/>
          <a:p>
            <a:pPr indent="0" marL="0">
              <a:buNone/>
            </a:pPr>
            <a:r>
              <a:rPr lang="en-US" sz="950" i="1" dirty="0">
                <a:solidFill>
                  <a:srgbClr val="5E6378"/>
                </a:solidFill>
                <a:latin typeface="Calibri" pitchFamily="34" charset="0"/>
                <a:ea typeface="Calibri" pitchFamily="34" charset="-122"/>
                <a:cs typeface="Calibri" pitchFamily="34" charset="-120"/>
              </a:rPr>
              <a:t>Ensuite, pour écarter les autres explications : héros joué, parties avec bots, joueurs en groupe, comptes arrivés en 2025. Tout existe déjà dans vos serveurs.</a:t>
            </a:r>
            <a:endParaRPr lang="en-US" sz="950" dirty="0"/>
          </a:p>
        </p:txBody>
      </p:sp>
      <p:sp>
        <p:nvSpPr>
          <p:cNvPr id="8" name="Text 5"/>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(matrice ICE)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notes de patch S5</a:t>
            </a:r>
            <a:endParaRPr lang="en-US" sz="850" dirty="0"/>
          </a:p>
        </p:txBody>
      </p:sp>
      <p:sp>
        <p:nvSpPr>
          <p:cNvPr id="9" name="Text 6"/>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La matrice de collecte : 13 données indispensables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score ICE = Impact × Confiance × Facilité, sur 125 ; coupe sous 30</a:t>
            </a:r>
            <a:endParaRPr lang="en-US" sz="1200" dirty="0"/>
          </a:p>
        </p:txBody>
      </p:sp>
      <p:sp>
        <p:nvSpPr>
          <p:cNvPr id="4" name="Shape 2"/>
          <p:cNvSpPr/>
          <p:nvPr/>
        </p:nvSpPr>
        <p:spPr>
          <a:xfrm>
            <a:off x="457200" y="1170432"/>
            <a:ext cx="2926080" cy="237744"/>
          </a:xfrm>
          <a:prstGeom prst="roundRect">
            <a:avLst>
              <a:gd name="adj" fmla="val 19231"/>
            </a:avLst>
          </a:prstGeom>
          <a:solidFill>
            <a:srgbClr val="2E7D5B"/>
          </a:solidFill>
          <a:ln w="12700">
            <a:solidFill>
              <a:srgbClr val="2E7D5B"/>
            </a:solidFill>
            <a:prstDash val="solid"/>
          </a:ln>
        </p:spPr>
      </p:sp>
      <p:sp>
        <p:nvSpPr>
          <p:cNvPr id="5" name="Text 3"/>
          <p:cNvSpPr txBox="1"/>
          <p:nvPr/>
        </p:nvSpPr>
        <p:spPr>
          <a:xfrm>
            <a:off x="457200" y="1170432"/>
            <a:ext cx="292608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INDISPENSABLE · ICE ≥ 80</a:t>
            </a:r>
            <a:endParaRPr lang="en-US" sz="900" dirty="0"/>
          </a:p>
        </p:txBody>
      </p:sp>
      <p:sp>
        <p:nvSpPr>
          <p:cNvPr id="6" name="Shape 4"/>
          <p:cNvSpPr/>
          <p:nvPr/>
        </p:nvSpPr>
        <p:spPr>
          <a:xfrm>
            <a:off x="457200" y="1499616"/>
            <a:ext cx="2926080" cy="219456"/>
          </a:xfrm>
          <a:prstGeom prst="rect">
            <a:avLst/>
          </a:prstGeom>
          <a:solidFill>
            <a:srgbClr val="EAF4EF"/>
          </a:solidFill>
          <a:ln w="12700">
            <a:solidFill>
              <a:srgbClr val="FFFFFF"/>
            </a:solidFill>
            <a:prstDash val="solid"/>
          </a:ln>
        </p:spPr>
      </p:sp>
      <p:sp>
        <p:nvSpPr>
          <p:cNvPr id="7" name="Text 5"/>
          <p:cNvSpPr txBox="1"/>
          <p:nvPr/>
        </p:nvSpPr>
        <p:spPr>
          <a:xfrm>
            <a:off x="512064" y="1499616"/>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Mode et plateforme des 10 premiers matchs</a:t>
            </a:r>
            <a:endParaRPr lang="en-US" sz="850" dirty="0"/>
          </a:p>
        </p:txBody>
      </p:sp>
      <p:sp>
        <p:nvSpPr>
          <p:cNvPr id="8" name="Text 6"/>
          <p:cNvSpPr txBox="1"/>
          <p:nvPr/>
        </p:nvSpPr>
        <p:spPr>
          <a:xfrm>
            <a:off x="2953512" y="1499616"/>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125</a:t>
            </a:r>
            <a:endParaRPr lang="en-US" sz="900" dirty="0"/>
          </a:p>
        </p:txBody>
      </p:sp>
      <p:sp>
        <p:nvSpPr>
          <p:cNvPr id="9" name="Shape 7"/>
          <p:cNvSpPr/>
          <p:nvPr/>
        </p:nvSpPr>
        <p:spPr>
          <a:xfrm>
            <a:off x="457200" y="1746504"/>
            <a:ext cx="2926080" cy="219456"/>
          </a:xfrm>
          <a:prstGeom prst="rect">
            <a:avLst/>
          </a:prstGeom>
          <a:solidFill>
            <a:srgbClr val="EAF4EF"/>
          </a:solidFill>
          <a:ln w="12700">
            <a:solidFill>
              <a:srgbClr val="FFFFFF"/>
            </a:solidFill>
            <a:prstDash val="solid"/>
          </a:ln>
        </p:spPr>
      </p:sp>
      <p:sp>
        <p:nvSpPr>
          <p:cNvPr id="10" name="Text 8"/>
          <p:cNvSpPr txBox="1"/>
          <p:nvPr/>
        </p:nvSpPr>
        <p:spPr>
          <a:xfrm>
            <a:off x="512064" y="1746504"/>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Écart accepté × joueurs en file</a:t>
            </a:r>
            <a:endParaRPr lang="en-US" sz="850" dirty="0"/>
          </a:p>
        </p:txBody>
      </p:sp>
      <p:sp>
        <p:nvSpPr>
          <p:cNvPr id="11" name="Text 9"/>
          <p:cNvSpPr txBox="1"/>
          <p:nvPr/>
        </p:nvSpPr>
        <p:spPr>
          <a:xfrm>
            <a:off x="2953512" y="1746504"/>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125</a:t>
            </a:r>
            <a:endParaRPr lang="en-US" sz="900" dirty="0"/>
          </a:p>
        </p:txBody>
      </p:sp>
      <p:sp>
        <p:nvSpPr>
          <p:cNvPr id="12" name="Shape 10"/>
          <p:cNvSpPr/>
          <p:nvPr/>
        </p:nvSpPr>
        <p:spPr>
          <a:xfrm>
            <a:off x="457200" y="1993392"/>
            <a:ext cx="2926080" cy="219456"/>
          </a:xfrm>
          <a:prstGeom prst="rect">
            <a:avLst/>
          </a:prstGeom>
          <a:solidFill>
            <a:srgbClr val="EAF4EF"/>
          </a:solidFill>
          <a:ln w="12700">
            <a:solidFill>
              <a:srgbClr val="FFFFFF"/>
            </a:solidFill>
            <a:prstDash val="solid"/>
          </a:ln>
        </p:spPr>
      </p:sp>
      <p:sp>
        <p:nvSpPr>
          <p:cNvPr id="13" name="Text 11"/>
          <p:cNvSpPr txBox="1"/>
          <p:nvPr/>
        </p:nvSpPr>
        <p:spPr>
          <a:xfrm>
            <a:off x="512064" y="1993392"/>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Départ à 7 jours × bilan des 10 matchs</a:t>
            </a:r>
            <a:endParaRPr lang="en-US" sz="850" dirty="0"/>
          </a:p>
        </p:txBody>
      </p:sp>
      <p:sp>
        <p:nvSpPr>
          <p:cNvPr id="14" name="Text 12"/>
          <p:cNvSpPr txBox="1"/>
          <p:nvPr/>
        </p:nvSpPr>
        <p:spPr>
          <a:xfrm>
            <a:off x="2953512" y="1993392"/>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15" name="Shape 13"/>
          <p:cNvSpPr/>
          <p:nvPr/>
        </p:nvSpPr>
        <p:spPr>
          <a:xfrm>
            <a:off x="457200" y="2240280"/>
            <a:ext cx="2926080" cy="219456"/>
          </a:xfrm>
          <a:prstGeom prst="rect">
            <a:avLst/>
          </a:prstGeom>
          <a:solidFill>
            <a:srgbClr val="EAF4EF"/>
          </a:solidFill>
          <a:ln w="12700">
            <a:solidFill>
              <a:srgbClr val="FFFFFF"/>
            </a:solidFill>
            <a:prstDash val="solid"/>
          </a:ln>
        </p:spPr>
      </p:sp>
      <p:sp>
        <p:nvSpPr>
          <p:cNvPr id="16" name="Text 14"/>
          <p:cNvSpPr txBox="1"/>
          <p:nvPr/>
        </p:nvSpPr>
        <p:spPr>
          <a:xfrm>
            <a:off x="512064" y="2240280"/>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Niveau de départ et convergence</a:t>
            </a:r>
            <a:endParaRPr lang="en-US" sz="850" dirty="0"/>
          </a:p>
        </p:txBody>
      </p:sp>
      <p:sp>
        <p:nvSpPr>
          <p:cNvPr id="17" name="Text 15"/>
          <p:cNvSpPr txBox="1"/>
          <p:nvPr/>
        </p:nvSpPr>
        <p:spPr>
          <a:xfrm>
            <a:off x="2953512" y="2240280"/>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18" name="Shape 16"/>
          <p:cNvSpPr/>
          <p:nvPr/>
        </p:nvSpPr>
        <p:spPr>
          <a:xfrm>
            <a:off x="457200" y="2487168"/>
            <a:ext cx="2926080" cy="219456"/>
          </a:xfrm>
          <a:prstGeom prst="rect">
            <a:avLst/>
          </a:prstGeom>
          <a:solidFill>
            <a:srgbClr val="EAF4EF"/>
          </a:solidFill>
          <a:ln w="12700">
            <a:solidFill>
              <a:srgbClr val="FFFFFF"/>
            </a:solidFill>
            <a:prstDash val="solid"/>
          </a:ln>
        </p:spPr>
      </p:sp>
      <p:sp>
        <p:nvSpPr>
          <p:cNvPr id="19" name="Text 17"/>
          <p:cNvSpPr txBox="1"/>
          <p:nvPr/>
        </p:nvSpPr>
        <p:spPr>
          <a:xfrm>
            <a:off x="512064" y="2487168"/>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Joueurs de retour : absence × rang × bilan</a:t>
            </a:r>
            <a:endParaRPr lang="en-US" sz="850" dirty="0"/>
          </a:p>
        </p:txBody>
      </p:sp>
      <p:sp>
        <p:nvSpPr>
          <p:cNvPr id="20" name="Text 18"/>
          <p:cNvSpPr txBox="1"/>
          <p:nvPr/>
        </p:nvSpPr>
        <p:spPr>
          <a:xfrm>
            <a:off x="2953512" y="2487168"/>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21" name="Shape 19"/>
          <p:cNvSpPr/>
          <p:nvPr/>
        </p:nvSpPr>
        <p:spPr>
          <a:xfrm>
            <a:off x="457200" y="2734056"/>
            <a:ext cx="2926080" cy="219456"/>
          </a:xfrm>
          <a:prstGeom prst="rect">
            <a:avLst/>
          </a:prstGeom>
          <a:solidFill>
            <a:srgbClr val="EAF4EF"/>
          </a:solidFill>
          <a:ln w="12700">
            <a:solidFill>
              <a:srgbClr val="FFFFFF"/>
            </a:solidFill>
            <a:prstDash val="solid"/>
          </a:ln>
        </p:spPr>
      </p:sp>
      <p:sp>
        <p:nvSpPr>
          <p:cNvPr id="22" name="Text 20"/>
          <p:cNvSpPr txBox="1"/>
          <p:nvPr/>
        </p:nvSpPr>
        <p:spPr>
          <a:xfrm>
            <a:off x="512064" y="2734056"/>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Filtrage de la population</a:t>
            </a:r>
            <a:endParaRPr lang="en-US" sz="850" dirty="0"/>
          </a:p>
        </p:txBody>
      </p:sp>
      <p:sp>
        <p:nvSpPr>
          <p:cNvPr id="23" name="Text 21"/>
          <p:cNvSpPr txBox="1"/>
          <p:nvPr/>
        </p:nvSpPr>
        <p:spPr>
          <a:xfrm>
            <a:off x="2953512" y="2734056"/>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24" name="Shape 22"/>
          <p:cNvSpPr/>
          <p:nvPr/>
        </p:nvSpPr>
        <p:spPr>
          <a:xfrm>
            <a:off x="457200" y="2980944"/>
            <a:ext cx="2926080" cy="219456"/>
          </a:xfrm>
          <a:prstGeom prst="rect">
            <a:avLst/>
          </a:prstGeom>
          <a:solidFill>
            <a:srgbClr val="EAF4EF"/>
          </a:solidFill>
          <a:ln w="12700">
            <a:solidFill>
              <a:srgbClr val="FFFFFF"/>
            </a:solidFill>
            <a:prstDash val="solid"/>
          </a:ln>
        </p:spPr>
      </p:sp>
      <p:sp>
        <p:nvSpPr>
          <p:cNvPr id="25" name="Text 23"/>
          <p:cNvSpPr txBox="1"/>
          <p:nvPr/>
        </p:nvSpPr>
        <p:spPr>
          <a:xfrm>
            <a:off x="512064" y="2980944"/>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Écart de score en classé</a:t>
            </a:r>
            <a:endParaRPr lang="en-US" sz="850" dirty="0"/>
          </a:p>
        </p:txBody>
      </p:sp>
      <p:sp>
        <p:nvSpPr>
          <p:cNvPr id="26" name="Text 24"/>
          <p:cNvSpPr txBox="1"/>
          <p:nvPr/>
        </p:nvSpPr>
        <p:spPr>
          <a:xfrm>
            <a:off x="2953512" y="2980944"/>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27" name="Shape 25"/>
          <p:cNvSpPr/>
          <p:nvPr/>
        </p:nvSpPr>
        <p:spPr>
          <a:xfrm>
            <a:off x="457200" y="3227832"/>
            <a:ext cx="2926080" cy="219456"/>
          </a:xfrm>
          <a:prstGeom prst="rect">
            <a:avLst/>
          </a:prstGeom>
          <a:solidFill>
            <a:srgbClr val="EAF4EF"/>
          </a:solidFill>
          <a:ln w="12700">
            <a:solidFill>
              <a:srgbClr val="FFFFFF"/>
            </a:solidFill>
            <a:prstDash val="solid"/>
          </a:ln>
        </p:spPr>
      </p:sp>
      <p:sp>
        <p:nvSpPr>
          <p:cNvPr id="28" name="Text 26"/>
          <p:cNvSpPr txBox="1"/>
          <p:nvPr/>
        </p:nvSpPr>
        <p:spPr>
          <a:xfrm>
            <a:off x="512064" y="3227832"/>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Compositions par rôle</a:t>
            </a:r>
            <a:endParaRPr lang="en-US" sz="850" dirty="0"/>
          </a:p>
        </p:txBody>
      </p:sp>
      <p:sp>
        <p:nvSpPr>
          <p:cNvPr id="29" name="Text 27"/>
          <p:cNvSpPr txBox="1"/>
          <p:nvPr/>
        </p:nvSpPr>
        <p:spPr>
          <a:xfrm>
            <a:off x="2953512" y="3227832"/>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30" name="Shape 28"/>
          <p:cNvSpPr/>
          <p:nvPr/>
        </p:nvSpPr>
        <p:spPr>
          <a:xfrm>
            <a:off x="457200" y="3474720"/>
            <a:ext cx="2926080" cy="219456"/>
          </a:xfrm>
          <a:prstGeom prst="rect">
            <a:avLst/>
          </a:prstGeom>
          <a:solidFill>
            <a:srgbClr val="EAF4EF"/>
          </a:solidFill>
          <a:ln w="12700">
            <a:solidFill>
              <a:srgbClr val="FFFFFF"/>
            </a:solidFill>
            <a:prstDash val="solid"/>
          </a:ln>
        </p:spPr>
      </p:sp>
      <p:sp>
        <p:nvSpPr>
          <p:cNvPr id="31" name="Text 29"/>
          <p:cNvSpPr txBox="1"/>
          <p:nvPr/>
        </p:nvSpPr>
        <p:spPr>
          <a:xfrm>
            <a:off x="512064" y="3474720"/>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Parties avec bots</a:t>
            </a:r>
            <a:endParaRPr lang="en-US" sz="850" dirty="0"/>
          </a:p>
        </p:txBody>
      </p:sp>
      <p:sp>
        <p:nvSpPr>
          <p:cNvPr id="32" name="Text 30"/>
          <p:cNvSpPr txBox="1"/>
          <p:nvPr/>
        </p:nvSpPr>
        <p:spPr>
          <a:xfrm>
            <a:off x="2953512" y="3474720"/>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33" name="Shape 31"/>
          <p:cNvSpPr/>
          <p:nvPr/>
        </p:nvSpPr>
        <p:spPr>
          <a:xfrm>
            <a:off x="457200" y="3721608"/>
            <a:ext cx="2926080" cy="219456"/>
          </a:xfrm>
          <a:prstGeom prst="rect">
            <a:avLst/>
          </a:prstGeom>
          <a:solidFill>
            <a:srgbClr val="EAF4EF"/>
          </a:solidFill>
          <a:ln w="12700">
            <a:solidFill>
              <a:srgbClr val="FFFFFF"/>
            </a:solidFill>
            <a:prstDash val="solid"/>
          </a:ln>
        </p:spPr>
      </p:sp>
      <p:sp>
        <p:nvSpPr>
          <p:cNvPr id="34" name="Text 32"/>
          <p:cNvSpPr txBox="1"/>
          <p:nvPr/>
        </p:nvSpPr>
        <p:spPr>
          <a:xfrm>
            <a:off x="512064" y="3721608"/>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Écart subi en partie rapide</a:t>
            </a:r>
            <a:endParaRPr lang="en-US" sz="850" dirty="0"/>
          </a:p>
        </p:txBody>
      </p:sp>
      <p:sp>
        <p:nvSpPr>
          <p:cNvPr id="35" name="Text 33"/>
          <p:cNvSpPr txBox="1"/>
          <p:nvPr/>
        </p:nvSpPr>
        <p:spPr>
          <a:xfrm>
            <a:off x="2953512" y="3721608"/>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36" name="Shape 34"/>
          <p:cNvSpPr/>
          <p:nvPr/>
        </p:nvSpPr>
        <p:spPr>
          <a:xfrm>
            <a:off x="457200" y="3968496"/>
            <a:ext cx="2926080" cy="219456"/>
          </a:xfrm>
          <a:prstGeom prst="rect">
            <a:avLst/>
          </a:prstGeom>
          <a:solidFill>
            <a:srgbClr val="EAF4EF"/>
          </a:solidFill>
          <a:ln w="12700">
            <a:solidFill>
              <a:srgbClr val="FFFFFF"/>
            </a:solidFill>
            <a:prstDash val="solid"/>
          </a:ln>
        </p:spPr>
      </p:sp>
      <p:sp>
        <p:nvSpPr>
          <p:cNvPr id="37" name="Text 35"/>
          <p:cNvSpPr txBox="1"/>
          <p:nvPr/>
        </p:nvSpPr>
        <p:spPr>
          <a:xfrm>
            <a:off x="512064" y="3968496"/>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Cohortes 2025</a:t>
            </a:r>
            <a:endParaRPr lang="en-US" sz="850" dirty="0"/>
          </a:p>
        </p:txBody>
      </p:sp>
      <p:sp>
        <p:nvSpPr>
          <p:cNvPr id="38" name="Text 36"/>
          <p:cNvSpPr txBox="1"/>
          <p:nvPr/>
        </p:nvSpPr>
        <p:spPr>
          <a:xfrm>
            <a:off x="2953512" y="3968496"/>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39" name="Shape 37"/>
          <p:cNvSpPr/>
          <p:nvPr/>
        </p:nvSpPr>
        <p:spPr>
          <a:xfrm>
            <a:off x="457200" y="4215384"/>
            <a:ext cx="2926080" cy="219456"/>
          </a:xfrm>
          <a:prstGeom prst="rect">
            <a:avLst/>
          </a:prstGeom>
          <a:solidFill>
            <a:srgbClr val="EAF4EF"/>
          </a:solidFill>
          <a:ln w="12700">
            <a:solidFill>
              <a:srgbClr val="FFFFFF"/>
            </a:solidFill>
            <a:prstDash val="solid"/>
          </a:ln>
        </p:spPr>
      </p:sp>
      <p:sp>
        <p:nvSpPr>
          <p:cNvPr id="40" name="Text 38"/>
          <p:cNvSpPr txBox="1"/>
          <p:nvPr/>
        </p:nvSpPr>
        <p:spPr>
          <a:xfrm>
            <a:off x="512064" y="4215384"/>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Rétention avant / après la S5</a:t>
            </a:r>
            <a:endParaRPr lang="en-US" sz="850" dirty="0"/>
          </a:p>
        </p:txBody>
      </p:sp>
      <p:sp>
        <p:nvSpPr>
          <p:cNvPr id="41" name="Text 39"/>
          <p:cNvSpPr txBox="1"/>
          <p:nvPr/>
        </p:nvSpPr>
        <p:spPr>
          <a:xfrm>
            <a:off x="2953512" y="4215384"/>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42" name="Shape 40"/>
          <p:cNvSpPr/>
          <p:nvPr/>
        </p:nvSpPr>
        <p:spPr>
          <a:xfrm>
            <a:off x="457200" y="4462272"/>
            <a:ext cx="2926080" cy="219456"/>
          </a:xfrm>
          <a:prstGeom prst="rect">
            <a:avLst/>
          </a:prstGeom>
          <a:solidFill>
            <a:srgbClr val="EAF4EF"/>
          </a:solidFill>
          <a:ln w="12700">
            <a:solidFill>
              <a:srgbClr val="FFFFFF"/>
            </a:solidFill>
            <a:prstDash val="solid"/>
          </a:ln>
        </p:spPr>
      </p:sp>
      <p:sp>
        <p:nvSpPr>
          <p:cNvPr id="43" name="Text 41"/>
          <p:cNvSpPr txBox="1"/>
          <p:nvPr/>
        </p:nvSpPr>
        <p:spPr>
          <a:xfrm>
            <a:off x="512064" y="4462272"/>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Groupes contre solos</a:t>
            </a:r>
            <a:endParaRPr lang="en-US" sz="850" dirty="0"/>
          </a:p>
        </p:txBody>
      </p:sp>
      <p:sp>
        <p:nvSpPr>
          <p:cNvPr id="44" name="Text 42"/>
          <p:cNvSpPr txBox="1"/>
          <p:nvPr/>
        </p:nvSpPr>
        <p:spPr>
          <a:xfrm>
            <a:off x="2953512" y="4462272"/>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45" name="Shape 43"/>
          <p:cNvSpPr/>
          <p:nvPr/>
        </p:nvSpPr>
        <p:spPr>
          <a:xfrm>
            <a:off x="3520440" y="1170432"/>
            <a:ext cx="2606040" cy="237744"/>
          </a:xfrm>
          <a:prstGeom prst="roundRect">
            <a:avLst>
              <a:gd name="adj" fmla="val 19231"/>
            </a:avLst>
          </a:prstGeom>
          <a:solidFill>
            <a:srgbClr val="B7791F"/>
          </a:solidFill>
          <a:ln w="12700">
            <a:solidFill>
              <a:srgbClr val="B7791F"/>
            </a:solidFill>
            <a:prstDash val="solid"/>
          </a:ln>
        </p:spPr>
      </p:sp>
      <p:sp>
        <p:nvSpPr>
          <p:cNvPr id="46" name="Text 44"/>
          <p:cNvSpPr txBox="1"/>
          <p:nvPr/>
        </p:nvSpPr>
        <p:spPr>
          <a:xfrm>
            <a:off x="3520440" y="1170432"/>
            <a:ext cx="260604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UTILE · 30 à 79</a:t>
            </a:r>
            <a:endParaRPr lang="en-US" sz="900" dirty="0"/>
          </a:p>
        </p:txBody>
      </p:sp>
      <p:sp>
        <p:nvSpPr>
          <p:cNvPr id="47" name="Shape 45"/>
          <p:cNvSpPr/>
          <p:nvPr/>
        </p:nvSpPr>
        <p:spPr>
          <a:xfrm>
            <a:off x="3520440" y="1499616"/>
            <a:ext cx="2606040" cy="219456"/>
          </a:xfrm>
          <a:prstGeom prst="rect">
            <a:avLst/>
          </a:prstGeom>
          <a:solidFill>
            <a:srgbClr val="FBF3E6"/>
          </a:solidFill>
          <a:ln w="12700">
            <a:solidFill>
              <a:srgbClr val="FFFFFF"/>
            </a:solidFill>
            <a:prstDash val="solid"/>
          </a:ln>
        </p:spPr>
      </p:sp>
      <p:sp>
        <p:nvSpPr>
          <p:cNvPr id="48" name="Text 46"/>
          <p:cNvSpPr txBox="1"/>
          <p:nvPr/>
        </p:nvSpPr>
        <p:spPr>
          <a:xfrm>
            <a:off x="3575304" y="1499616"/>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Performance des comptes neufs (smurfs)</a:t>
            </a:r>
            <a:endParaRPr lang="en-US" sz="850" dirty="0"/>
          </a:p>
        </p:txBody>
      </p:sp>
      <p:sp>
        <p:nvSpPr>
          <p:cNvPr id="49" name="Text 47"/>
          <p:cNvSpPr txBox="1"/>
          <p:nvPr/>
        </p:nvSpPr>
        <p:spPr>
          <a:xfrm>
            <a:off x="5696712" y="1499616"/>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64</a:t>
            </a:r>
            <a:endParaRPr lang="en-US" sz="900" dirty="0"/>
          </a:p>
        </p:txBody>
      </p:sp>
      <p:sp>
        <p:nvSpPr>
          <p:cNvPr id="50" name="Shape 48"/>
          <p:cNvSpPr/>
          <p:nvPr/>
        </p:nvSpPr>
        <p:spPr>
          <a:xfrm>
            <a:off x="3520440" y="1746504"/>
            <a:ext cx="2606040" cy="219456"/>
          </a:xfrm>
          <a:prstGeom prst="rect">
            <a:avLst/>
          </a:prstGeom>
          <a:solidFill>
            <a:srgbClr val="FBF3E6"/>
          </a:solidFill>
          <a:ln w="12700">
            <a:solidFill>
              <a:srgbClr val="FFFFFF"/>
            </a:solidFill>
            <a:prstDash val="solid"/>
          </a:ln>
        </p:spPr>
      </p:sp>
      <p:sp>
        <p:nvSpPr>
          <p:cNvPr id="51" name="Text 49"/>
          <p:cNvSpPr txBox="1"/>
          <p:nvPr/>
        </p:nvSpPr>
        <p:spPr>
          <a:xfrm>
            <a:off x="3575304" y="1746504"/>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Rôle joué / rôle habituel</a:t>
            </a:r>
            <a:endParaRPr lang="en-US" sz="850" dirty="0"/>
          </a:p>
        </p:txBody>
      </p:sp>
      <p:sp>
        <p:nvSpPr>
          <p:cNvPr id="52" name="Text 50"/>
          <p:cNvSpPr txBox="1"/>
          <p:nvPr/>
        </p:nvSpPr>
        <p:spPr>
          <a:xfrm>
            <a:off x="5696712" y="1746504"/>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64</a:t>
            </a:r>
            <a:endParaRPr lang="en-US" sz="900" dirty="0"/>
          </a:p>
        </p:txBody>
      </p:sp>
      <p:sp>
        <p:nvSpPr>
          <p:cNvPr id="53" name="Shape 51"/>
          <p:cNvSpPr/>
          <p:nvPr/>
        </p:nvSpPr>
        <p:spPr>
          <a:xfrm>
            <a:off x="3520440" y="1993392"/>
            <a:ext cx="2606040" cy="219456"/>
          </a:xfrm>
          <a:prstGeom prst="rect">
            <a:avLst/>
          </a:prstGeom>
          <a:solidFill>
            <a:srgbClr val="FBF3E6"/>
          </a:solidFill>
          <a:ln w="12700">
            <a:solidFill>
              <a:srgbClr val="FFFFFF"/>
            </a:solidFill>
            <a:prstDash val="solid"/>
          </a:ln>
        </p:spPr>
      </p:sp>
      <p:sp>
        <p:nvSpPr>
          <p:cNvPr id="54" name="Text 52"/>
          <p:cNvSpPr txBox="1"/>
          <p:nvPr/>
        </p:nvSpPr>
        <p:spPr>
          <a:xfrm>
            <a:off x="3575304" y="1993392"/>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Avis Steam (collecte faite)</a:t>
            </a:r>
            <a:endParaRPr lang="en-US" sz="850" dirty="0"/>
          </a:p>
        </p:txBody>
      </p:sp>
      <p:sp>
        <p:nvSpPr>
          <p:cNvPr id="55" name="Text 53"/>
          <p:cNvSpPr txBox="1"/>
          <p:nvPr/>
        </p:nvSpPr>
        <p:spPr>
          <a:xfrm>
            <a:off x="5696712" y="1993392"/>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45</a:t>
            </a:r>
            <a:endParaRPr lang="en-US" sz="900" dirty="0"/>
          </a:p>
        </p:txBody>
      </p:sp>
      <p:sp>
        <p:nvSpPr>
          <p:cNvPr id="56" name="Shape 54"/>
          <p:cNvSpPr/>
          <p:nvPr/>
        </p:nvSpPr>
        <p:spPr>
          <a:xfrm>
            <a:off x="3520440" y="2240280"/>
            <a:ext cx="2606040" cy="219456"/>
          </a:xfrm>
          <a:prstGeom prst="rect">
            <a:avLst/>
          </a:prstGeom>
          <a:solidFill>
            <a:srgbClr val="FBF3E6"/>
          </a:solidFill>
          <a:ln w="12700">
            <a:solidFill>
              <a:srgbClr val="FFFFFF"/>
            </a:solidFill>
            <a:prstDash val="solid"/>
          </a:ln>
        </p:spPr>
      </p:sp>
      <p:sp>
        <p:nvSpPr>
          <p:cNvPr id="57" name="Text 55"/>
          <p:cNvSpPr txBox="1"/>
          <p:nvPr/>
        </p:nvSpPr>
        <p:spPr>
          <a:xfrm>
            <a:off x="3575304" y="2240280"/>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Attente simulée</a:t>
            </a:r>
            <a:endParaRPr lang="en-US" sz="850" dirty="0"/>
          </a:p>
        </p:txBody>
      </p:sp>
      <p:sp>
        <p:nvSpPr>
          <p:cNvPr id="58" name="Text 56"/>
          <p:cNvSpPr txBox="1"/>
          <p:nvPr/>
        </p:nvSpPr>
        <p:spPr>
          <a:xfrm>
            <a:off x="5696712" y="2240280"/>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59" name="Shape 57"/>
          <p:cNvSpPr/>
          <p:nvPr/>
        </p:nvSpPr>
        <p:spPr>
          <a:xfrm>
            <a:off x="3520440" y="2487168"/>
            <a:ext cx="2606040" cy="219456"/>
          </a:xfrm>
          <a:prstGeom prst="rect">
            <a:avLst/>
          </a:prstGeom>
          <a:solidFill>
            <a:srgbClr val="FBF3E6"/>
          </a:solidFill>
          <a:ln w="12700">
            <a:solidFill>
              <a:srgbClr val="FFFFFF"/>
            </a:solidFill>
            <a:prstDash val="solid"/>
          </a:ln>
        </p:spPr>
      </p:sp>
      <p:sp>
        <p:nvSpPr>
          <p:cNvPr id="60" name="Text 58"/>
          <p:cNvSpPr txBox="1"/>
          <p:nvPr/>
        </p:nvSpPr>
        <p:spPr>
          <a:xfrm>
            <a:off x="3575304" y="2487168"/>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Durée des ultimes de soin</a:t>
            </a:r>
            <a:endParaRPr lang="en-US" sz="850" dirty="0"/>
          </a:p>
        </p:txBody>
      </p:sp>
      <p:sp>
        <p:nvSpPr>
          <p:cNvPr id="61" name="Text 59"/>
          <p:cNvSpPr txBox="1"/>
          <p:nvPr/>
        </p:nvSpPr>
        <p:spPr>
          <a:xfrm>
            <a:off x="5696712" y="2487168"/>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62" name="Shape 60"/>
          <p:cNvSpPr/>
          <p:nvPr/>
        </p:nvSpPr>
        <p:spPr>
          <a:xfrm>
            <a:off x="3520440" y="2734056"/>
            <a:ext cx="2606040" cy="219456"/>
          </a:xfrm>
          <a:prstGeom prst="rect">
            <a:avLst/>
          </a:prstGeom>
          <a:solidFill>
            <a:srgbClr val="FBF3E6"/>
          </a:solidFill>
          <a:ln w="12700">
            <a:solidFill>
              <a:srgbClr val="FFFFFF"/>
            </a:solidFill>
            <a:prstDash val="solid"/>
          </a:ln>
        </p:spPr>
      </p:sp>
      <p:sp>
        <p:nvSpPr>
          <p:cNvPr id="63" name="Text 61"/>
          <p:cNvSpPr txBox="1"/>
          <p:nvPr/>
        </p:nvSpPr>
        <p:spPr>
          <a:xfrm>
            <a:off x="3575304" y="2734056"/>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Sondage d'équité perçue</a:t>
            </a:r>
            <a:endParaRPr lang="en-US" sz="850" dirty="0"/>
          </a:p>
        </p:txBody>
      </p:sp>
      <p:sp>
        <p:nvSpPr>
          <p:cNvPr id="64" name="Text 62"/>
          <p:cNvSpPr txBox="1"/>
          <p:nvPr/>
        </p:nvSpPr>
        <p:spPr>
          <a:xfrm>
            <a:off x="5696712" y="2734056"/>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65" name="Shape 63"/>
          <p:cNvSpPr/>
          <p:nvPr/>
        </p:nvSpPr>
        <p:spPr>
          <a:xfrm>
            <a:off x="3520440" y="2980944"/>
            <a:ext cx="2606040" cy="219456"/>
          </a:xfrm>
          <a:prstGeom prst="rect">
            <a:avLst/>
          </a:prstGeom>
          <a:solidFill>
            <a:srgbClr val="FBF3E6"/>
          </a:solidFill>
          <a:ln w="12700">
            <a:solidFill>
              <a:srgbClr val="FFFFFF"/>
            </a:solidFill>
            <a:prstDash val="solid"/>
          </a:ln>
        </p:spPr>
      </p:sp>
      <p:sp>
        <p:nvSpPr>
          <p:cNvPr id="66" name="Text 64"/>
          <p:cNvSpPr txBox="1"/>
          <p:nvPr/>
        </p:nvSpPr>
        <p:spPr>
          <a:xfrm>
            <a:off x="3575304" y="2980944"/>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Question d'onboarding</a:t>
            </a:r>
            <a:endParaRPr lang="en-US" sz="850" dirty="0"/>
          </a:p>
        </p:txBody>
      </p:sp>
      <p:sp>
        <p:nvSpPr>
          <p:cNvPr id="67" name="Text 65"/>
          <p:cNvSpPr txBox="1"/>
          <p:nvPr/>
        </p:nvSpPr>
        <p:spPr>
          <a:xfrm>
            <a:off x="5696712" y="2980944"/>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68" name="Shape 66"/>
          <p:cNvSpPr/>
          <p:nvPr/>
        </p:nvSpPr>
        <p:spPr>
          <a:xfrm>
            <a:off x="3520440" y="3227832"/>
            <a:ext cx="2606040" cy="219456"/>
          </a:xfrm>
          <a:prstGeom prst="rect">
            <a:avLst/>
          </a:prstGeom>
          <a:solidFill>
            <a:srgbClr val="FBF3E6"/>
          </a:solidFill>
          <a:ln w="12700">
            <a:solidFill>
              <a:srgbClr val="FFFFFF"/>
            </a:solidFill>
            <a:prstDash val="solid"/>
          </a:ln>
        </p:spPr>
      </p:sp>
      <p:sp>
        <p:nvSpPr>
          <p:cNvPr id="69" name="Text 67"/>
          <p:cNvSpPr txBox="1"/>
          <p:nvPr/>
        </p:nvSpPr>
        <p:spPr>
          <a:xfrm>
            <a:off x="3575304" y="3227832"/>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Héros maîtrisés</a:t>
            </a:r>
            <a:endParaRPr lang="en-US" sz="850" dirty="0"/>
          </a:p>
        </p:txBody>
      </p:sp>
      <p:sp>
        <p:nvSpPr>
          <p:cNvPr id="70" name="Text 68"/>
          <p:cNvSpPr txBox="1"/>
          <p:nvPr/>
        </p:nvSpPr>
        <p:spPr>
          <a:xfrm>
            <a:off x="5696712" y="3227832"/>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30</a:t>
            </a:r>
            <a:endParaRPr lang="en-US" sz="900" dirty="0"/>
          </a:p>
        </p:txBody>
      </p:sp>
      <p:sp>
        <p:nvSpPr>
          <p:cNvPr id="71" name="Shape 69"/>
          <p:cNvSpPr/>
          <p:nvPr/>
        </p:nvSpPr>
        <p:spPr>
          <a:xfrm>
            <a:off x="6263640" y="1170432"/>
            <a:ext cx="2286000" cy="237744"/>
          </a:xfrm>
          <a:prstGeom prst="roundRect">
            <a:avLst>
              <a:gd name="adj" fmla="val 19231"/>
            </a:avLst>
          </a:prstGeom>
          <a:solidFill>
            <a:srgbClr val="8A8FA3"/>
          </a:solidFill>
          <a:ln w="12700">
            <a:solidFill>
              <a:srgbClr val="8A8FA3"/>
            </a:solidFill>
            <a:prstDash val="solid"/>
          </a:ln>
        </p:spPr>
      </p:sp>
      <p:sp>
        <p:nvSpPr>
          <p:cNvPr id="72" name="Text 70"/>
          <p:cNvSpPr txBox="1"/>
          <p:nvPr/>
        </p:nvSpPr>
        <p:spPr>
          <a:xfrm>
            <a:off x="6263640" y="1170432"/>
            <a:ext cx="228600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ÉCARTÉ · &lt; 30 ou inutile</a:t>
            </a:r>
            <a:endParaRPr lang="en-US" sz="900" dirty="0"/>
          </a:p>
        </p:txBody>
      </p:sp>
      <p:sp>
        <p:nvSpPr>
          <p:cNvPr id="73" name="Shape 71"/>
          <p:cNvSpPr/>
          <p:nvPr/>
        </p:nvSpPr>
        <p:spPr>
          <a:xfrm>
            <a:off x="6263640" y="1499616"/>
            <a:ext cx="2286000" cy="219456"/>
          </a:xfrm>
          <a:prstGeom prst="rect">
            <a:avLst/>
          </a:prstGeom>
          <a:solidFill>
            <a:srgbClr val="F0F1F4"/>
          </a:solidFill>
          <a:ln w="12700">
            <a:solidFill>
              <a:srgbClr val="FFFFFF"/>
            </a:solidFill>
            <a:prstDash val="solid"/>
          </a:ln>
        </p:spPr>
      </p:sp>
      <p:sp>
        <p:nvSpPr>
          <p:cNvPr id="74" name="Text 72"/>
          <p:cNvSpPr txBox="1"/>
          <p:nvPr/>
        </p:nvSpPr>
        <p:spPr>
          <a:xfrm>
            <a:off x="6318504" y="1499616"/>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Benchmark Newzoo (panel biaisé)</a:t>
            </a:r>
            <a:endParaRPr lang="en-US" sz="850" dirty="0"/>
          </a:p>
        </p:txBody>
      </p:sp>
      <p:sp>
        <p:nvSpPr>
          <p:cNvPr id="75" name="Text 73"/>
          <p:cNvSpPr txBox="1"/>
          <p:nvPr/>
        </p:nvSpPr>
        <p:spPr>
          <a:xfrm>
            <a:off x="8119872" y="1499616"/>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12</a:t>
            </a:r>
            <a:endParaRPr lang="en-US" sz="900" dirty="0"/>
          </a:p>
        </p:txBody>
      </p:sp>
      <p:sp>
        <p:nvSpPr>
          <p:cNvPr id="76" name="Shape 74"/>
          <p:cNvSpPr/>
          <p:nvPr/>
        </p:nvSpPr>
        <p:spPr>
          <a:xfrm>
            <a:off x="6263640" y="1746504"/>
            <a:ext cx="2286000" cy="219456"/>
          </a:xfrm>
          <a:prstGeom prst="rect">
            <a:avLst/>
          </a:prstGeom>
          <a:solidFill>
            <a:srgbClr val="F0F1F4"/>
          </a:solidFill>
          <a:ln w="12700">
            <a:solidFill>
              <a:srgbClr val="FFFFFF"/>
            </a:solidFill>
            <a:prstDash val="solid"/>
          </a:ln>
        </p:spPr>
      </p:sp>
      <p:sp>
        <p:nvSpPr>
          <p:cNvPr id="77" name="Text 75"/>
          <p:cNvSpPr txBox="1"/>
          <p:nvPr/>
        </p:nvSpPr>
        <p:spPr>
          <a:xfrm>
            <a:off x="6318504" y="1746504"/>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Chat vocal ou texte complet</a:t>
            </a:r>
            <a:endParaRPr lang="en-US" sz="850" dirty="0"/>
          </a:p>
        </p:txBody>
      </p:sp>
      <p:sp>
        <p:nvSpPr>
          <p:cNvPr id="78" name="Text 76"/>
          <p:cNvSpPr txBox="1"/>
          <p:nvPr/>
        </p:nvSpPr>
        <p:spPr>
          <a:xfrm>
            <a:off x="8119872" y="1746504"/>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9</a:t>
            </a:r>
            <a:endParaRPr lang="en-US" sz="900" dirty="0"/>
          </a:p>
        </p:txBody>
      </p:sp>
      <p:sp>
        <p:nvSpPr>
          <p:cNvPr id="79" name="Shape 77"/>
          <p:cNvSpPr/>
          <p:nvPr/>
        </p:nvSpPr>
        <p:spPr>
          <a:xfrm>
            <a:off x="6263640" y="1993392"/>
            <a:ext cx="2286000" cy="219456"/>
          </a:xfrm>
          <a:prstGeom prst="rect">
            <a:avLst/>
          </a:prstGeom>
          <a:solidFill>
            <a:srgbClr val="F0F1F4"/>
          </a:solidFill>
          <a:ln w="12700">
            <a:solidFill>
              <a:srgbClr val="FFFFFF"/>
            </a:solidFill>
            <a:prstDash val="solid"/>
          </a:ln>
        </p:spPr>
      </p:sp>
      <p:sp>
        <p:nvSpPr>
          <p:cNvPr id="80" name="Text 78"/>
          <p:cNvSpPr txBox="1"/>
          <p:nvPr/>
        </p:nvSpPr>
        <p:spPr>
          <a:xfrm>
            <a:off x="6318504" y="1993392"/>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Historique sur d'autres jeux</a:t>
            </a:r>
            <a:endParaRPr lang="en-US" sz="850" dirty="0"/>
          </a:p>
        </p:txBody>
      </p:sp>
      <p:sp>
        <p:nvSpPr>
          <p:cNvPr id="81" name="Text 79"/>
          <p:cNvSpPr txBox="1"/>
          <p:nvPr/>
        </p:nvSpPr>
        <p:spPr>
          <a:xfrm>
            <a:off x="8119872" y="1993392"/>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6</a:t>
            </a:r>
            <a:endParaRPr lang="en-US" sz="900" dirty="0"/>
          </a:p>
        </p:txBody>
      </p:sp>
      <p:sp>
        <p:nvSpPr>
          <p:cNvPr id="82" name="Shape 80"/>
          <p:cNvSpPr/>
          <p:nvPr/>
        </p:nvSpPr>
        <p:spPr>
          <a:xfrm>
            <a:off x="6263640" y="2240280"/>
            <a:ext cx="2286000" cy="219456"/>
          </a:xfrm>
          <a:prstGeom prst="rect">
            <a:avLst/>
          </a:prstGeom>
          <a:solidFill>
            <a:srgbClr val="F0F1F4"/>
          </a:solidFill>
          <a:ln w="12700">
            <a:solidFill>
              <a:srgbClr val="FFFFFF"/>
            </a:solidFill>
            <a:prstDash val="solid"/>
          </a:ln>
        </p:spPr>
      </p:sp>
      <p:sp>
        <p:nvSpPr>
          <p:cNvPr id="83" name="Text 81"/>
          <p:cNvSpPr txBox="1"/>
          <p:nvPr/>
        </p:nvSpPr>
        <p:spPr>
          <a:xfrm>
            <a:off x="6318504" y="2240280"/>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Âge exact</a:t>
            </a:r>
            <a:endParaRPr lang="en-US" sz="850" dirty="0"/>
          </a:p>
        </p:txBody>
      </p:sp>
      <p:sp>
        <p:nvSpPr>
          <p:cNvPr id="84" name="Text 82"/>
          <p:cNvSpPr txBox="1"/>
          <p:nvPr/>
        </p:nvSpPr>
        <p:spPr>
          <a:xfrm>
            <a:off x="8119872" y="2240280"/>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6</a:t>
            </a:r>
            <a:endParaRPr lang="en-US" sz="900" dirty="0"/>
          </a:p>
        </p:txBody>
      </p:sp>
      <p:sp>
        <p:nvSpPr>
          <p:cNvPr id="85" name="Shape 83"/>
          <p:cNvSpPr/>
          <p:nvPr/>
        </p:nvSpPr>
        <p:spPr>
          <a:xfrm>
            <a:off x="6263640" y="2487168"/>
            <a:ext cx="2286000" cy="219456"/>
          </a:xfrm>
          <a:prstGeom prst="rect">
            <a:avLst/>
          </a:prstGeom>
          <a:solidFill>
            <a:srgbClr val="F0F1F4"/>
          </a:solidFill>
          <a:ln w="12700">
            <a:solidFill>
              <a:srgbClr val="FFFFFF"/>
            </a:solidFill>
            <a:prstDash val="solid"/>
          </a:ln>
        </p:spPr>
      </p:sp>
      <p:sp>
        <p:nvSpPr>
          <p:cNvPr id="86" name="Text 84"/>
          <p:cNvSpPr txBox="1"/>
          <p:nvPr/>
        </p:nvSpPr>
        <p:spPr>
          <a:xfrm>
            <a:off x="6318504" y="2487168"/>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Numéro de téléphone</a:t>
            </a:r>
            <a:endParaRPr lang="en-US" sz="850" dirty="0"/>
          </a:p>
        </p:txBody>
      </p:sp>
      <p:sp>
        <p:nvSpPr>
          <p:cNvPr id="87" name="Text 85"/>
          <p:cNvSpPr txBox="1"/>
          <p:nvPr/>
        </p:nvSpPr>
        <p:spPr>
          <a:xfrm>
            <a:off x="8119872" y="2487168"/>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4</a:t>
            </a:r>
            <a:endParaRPr lang="en-US" sz="900" dirty="0"/>
          </a:p>
        </p:txBody>
      </p:sp>
      <p:sp>
        <p:nvSpPr>
          <p:cNvPr id="88" name="Text 86"/>
          <p:cNvSpPr txBox="1"/>
          <p:nvPr/>
        </p:nvSpPr>
        <p:spPr>
          <a:xfrm>
            <a:off x="6263640" y="2880360"/>
            <a:ext cx="2377440" cy="1737360"/>
          </a:xfrm>
          <a:prstGeom prst="rect">
            <a:avLst/>
          </a:prstGeom>
          <a:noFill/>
          <a:ln/>
        </p:spPr>
        <p:txBody>
          <a:bodyPr wrap="square" lIns="0" tIns="0" rIns="0" bIns="0" rtlCol="0" anchor="t"/>
          <a:lstStyle/>
          <a:p>
            <a:pPr indent="0" marL="0">
              <a:buNone/>
            </a:pPr>
            <a:r>
              <a:rPr lang="en-US" sz="1000" b="1" dirty="0">
                <a:solidFill>
                  <a:srgbClr val="1F2233"/>
                </a:solidFill>
                <a:latin typeface="Calibri" pitchFamily="34" charset="0"/>
                <a:ea typeface="Calibri" pitchFamily="34" charset="-122"/>
                <a:cs typeface="Calibri" pitchFamily="34" charset="-120"/>
              </a:rPr>
              <a:t>Les 13 indispensables existent déjà dans votre télémétrie : </a:t>
            </a:r>
            <a:pPr indent="0" marL="0">
              <a:buNone/>
            </a:pPr>
            <a:r>
              <a:rPr lang="en-US" sz="1000" dirty="0">
                <a:solidFill>
                  <a:srgbClr val="1F2233"/>
                </a:solidFill>
                <a:latin typeface="Calibri" pitchFamily="34" charset="0"/>
                <a:ea typeface="Calibri" pitchFamily="34" charset="-122"/>
                <a:cs typeface="Calibri" pitchFamily="34" charset="-120"/>
              </a:rPr>
              <a:t>aucune nouvelle collecte pour l'audit. Les deux collectes nouvelles (sondage, question d'onboarding) sont facultatives, sous consentement, après l'audit.</a:t>
            </a:r>
            <a:endParaRPr lang="en-US" sz="1000" dirty="0"/>
          </a:p>
        </p:txBody>
      </p:sp>
      <p:sp>
        <p:nvSpPr>
          <p:cNvPr id="89" name="Text 8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(justification de chaque note)</a:t>
            </a:r>
            <a:endParaRPr lang="en-US" sz="850" dirty="0"/>
          </a:p>
        </p:txBody>
      </p:sp>
      <p:sp>
        <p:nvSpPr>
          <p:cNvPr id="90" name="Text 88"/>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Puis tester le levier qui correspond à la cause</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tests A/B de 60 jours, seulement si l'audit confirme le problème</a:t>
            </a:r>
            <a:endParaRPr lang="en-US" sz="1200" dirty="0"/>
          </a:p>
        </p:txBody>
      </p:sp>
      <p:sp>
        <p:nvSpPr>
          <p:cNvPr id="4" name="Shape 2"/>
          <p:cNvSpPr/>
          <p:nvPr/>
        </p:nvSpPr>
        <p:spPr>
          <a:xfrm>
            <a:off x="457200" y="1170432"/>
            <a:ext cx="2651760" cy="2926080"/>
          </a:xfrm>
          <a:prstGeom prst="roundRect">
            <a:avLst>
              <a:gd name="adj" fmla="val 2759"/>
            </a:avLst>
          </a:prstGeom>
          <a:solidFill>
            <a:srgbClr val="FFFFFF"/>
          </a:solidFill>
          <a:ln w="12700">
            <a:solidFill>
              <a:srgbClr val="E3E5EE"/>
            </a:solidFill>
            <a:prstDash val="solid"/>
          </a:ln>
        </p:spPr>
      </p:sp>
      <p:sp>
        <p:nvSpPr>
          <p:cNvPr id="5" name="Shape 3"/>
          <p:cNvSpPr/>
          <p:nvPr/>
        </p:nvSpPr>
        <p:spPr>
          <a:xfrm>
            <a:off x="594360" y="1280160"/>
            <a:ext cx="365760" cy="365760"/>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685800" y="1371600"/>
            <a:ext cx="182880" cy="182880"/>
          </a:xfrm>
          <a:prstGeom prst="rect">
            <a:avLst/>
          </a:prstGeom>
        </p:spPr>
      </p:pic>
      <p:sp>
        <p:nvSpPr>
          <p:cNvPr id="7" name="Text 4"/>
          <p:cNvSpPr txBox="1"/>
          <p:nvPr/>
        </p:nvSpPr>
        <p:spPr>
          <a:xfrm>
            <a:off x="102412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 · Démarrage à froid</a:t>
            </a:r>
            <a:endParaRPr lang="en-US" sz="1200" dirty="0"/>
          </a:p>
        </p:txBody>
      </p:sp>
      <p:sp>
        <p:nvSpPr>
          <p:cNvPr id="8" name="Text 5"/>
          <p:cNvSpPr txBox="1"/>
          <p:nvPr/>
        </p:nvSpPr>
        <p:spPr>
          <a:xfrm>
            <a:off x="59436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jeu ne connaît pas le niveau d'un nouveau compte et le place mal.</a:t>
            </a:r>
            <a:endParaRPr lang="en-US" sz="1000" dirty="0"/>
          </a:p>
        </p:txBody>
      </p:sp>
      <p:sp>
        <p:nvSpPr>
          <p:cNvPr id="9" name="Text 6"/>
          <p:cNvSpPr txBox="1"/>
          <p:nvPr/>
        </p:nvSpPr>
        <p:spPr>
          <a:xfrm>
            <a:off x="594360" y="2331720"/>
            <a:ext cx="2377440" cy="566928"/>
          </a:xfrm>
          <a:prstGeom prst="rect">
            <a:avLst/>
          </a:prstGeom>
          <a:noFill/>
          <a:ln/>
        </p:spPr>
        <p:txBody>
          <a:bodyPr wrap="square" lIns="0" tIns="0" rIns="0" bIns="0" rtlCol="0" anchor="t"/>
          <a:lstStyle/>
          <a:p>
            <a:pPr indent="0" marL="0">
              <a:buNone/>
            </a:pPr>
            <a:r>
              <a:rPr lang="en-US" sz="950" b="1" dirty="0">
                <a:solidFill>
                  <a:srgbClr val="E23636"/>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fort sur les premiers matchs, à toute heure.</a:t>
            </a:r>
            <a:endParaRPr lang="en-US" sz="950" dirty="0"/>
          </a:p>
        </p:txBody>
      </p:sp>
      <p:sp>
        <p:nvSpPr>
          <p:cNvPr id="10" name="Text 7"/>
          <p:cNvSpPr txBox="1"/>
          <p:nvPr/>
        </p:nvSpPr>
        <p:spPr>
          <a:xfrm>
            <a:off x="548640" y="2971800"/>
            <a:ext cx="2468880" cy="1051560"/>
          </a:xfrm>
          <a:prstGeom prst="rect">
            <a:avLst/>
          </a:prstGeom>
          <a:noFill/>
          <a:ln/>
        </p:spPr>
        <p:txBody>
          <a:bodyPr wrap="square" lIns="0" tIns="0" rIns="0" bIns="0" rtlCol="0" anchor="t"/>
          <a:lstStyle/>
          <a:p>
            <a:pPr indent="0" marL="0">
              <a:buNone/>
            </a:pPr>
            <a:r>
              <a:rPr lang="en-US" sz="1000" b="1" dirty="0">
                <a:solidFill>
                  <a:srgbClr val="E23636"/>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de départ plus prudent</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File débutants jusqu'au niveau 15</a:t>
            </a:r>
            <a:endParaRPr lang="en-US" sz="1000" dirty="0"/>
          </a:p>
        </p:txBody>
      </p:sp>
      <p:sp>
        <p:nvSpPr>
          <p:cNvPr id="11" name="Shape 8"/>
          <p:cNvSpPr/>
          <p:nvPr/>
        </p:nvSpPr>
        <p:spPr>
          <a:xfrm>
            <a:off x="3246120" y="1170432"/>
            <a:ext cx="2651760" cy="2926080"/>
          </a:xfrm>
          <a:prstGeom prst="roundRect">
            <a:avLst>
              <a:gd name="adj" fmla="val 2759"/>
            </a:avLst>
          </a:prstGeom>
          <a:solidFill>
            <a:srgbClr val="FFFFFF"/>
          </a:solidFill>
          <a:ln w="12700">
            <a:solidFill>
              <a:srgbClr val="E3E5EE"/>
            </a:solidFill>
            <a:prstDash val="solid"/>
          </a:ln>
        </p:spPr>
      </p:sp>
      <p:sp>
        <p:nvSpPr>
          <p:cNvPr id="12" name="Shape 9"/>
          <p:cNvSpPr/>
          <p:nvPr/>
        </p:nvSpPr>
        <p:spPr>
          <a:xfrm>
            <a:off x="3383280" y="1280160"/>
            <a:ext cx="365760" cy="365760"/>
          </a:xfrm>
          <a:prstGeom prst="ellipse">
            <a:avLst/>
          </a:prstGeom>
          <a:solidFill>
            <a:srgbClr val="161A33"/>
          </a:solidFill>
          <a:ln w="12700">
            <a:solidFill>
              <a:srgbClr val="161A33"/>
            </a:solidFill>
            <a:prstDash val="solid"/>
          </a:ln>
        </p:spPr>
      </p:sp>
      <p:pic>
        <p:nvPicPr>
          <p:cNvPr id="13" name="Image 1" descr="preencoded.png">    </p:cNvPr>
          <p:cNvPicPr>
            <a:picLocks noChangeAspect="1"/>
          </p:cNvPicPr>
          <p:nvPr/>
        </p:nvPicPr>
        <p:blipFill>
          <a:blip r:embed="rId2"/>
          <a:stretch>
            <a:fillRect/>
          </a:stretch>
        </p:blipFill>
        <p:spPr>
          <a:xfrm>
            <a:off x="3474720" y="1371600"/>
            <a:ext cx="182880" cy="182880"/>
          </a:xfrm>
          <a:prstGeom prst="rect">
            <a:avLst/>
          </a:prstGeom>
        </p:spPr>
      </p:pic>
      <p:sp>
        <p:nvSpPr>
          <p:cNvPr id="14" name="Text 10"/>
          <p:cNvSpPr txBox="1"/>
          <p:nvPr/>
        </p:nvSpPr>
        <p:spPr>
          <a:xfrm>
            <a:off x="381304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 · Manque de joueurs</a:t>
            </a:r>
            <a:endParaRPr lang="en-US" sz="1200" dirty="0"/>
          </a:p>
        </p:txBody>
      </p:sp>
      <p:sp>
        <p:nvSpPr>
          <p:cNvPr id="15" name="Text 11"/>
          <p:cNvSpPr txBox="1"/>
          <p:nvPr/>
        </p:nvSpPr>
        <p:spPr>
          <a:xfrm>
            <a:off x="338328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File vide : le jeu accepte des écarts plus grands pour lancer la partie.</a:t>
            </a:r>
            <a:endParaRPr lang="en-US" sz="1000" dirty="0"/>
          </a:p>
        </p:txBody>
      </p:sp>
      <p:sp>
        <p:nvSpPr>
          <p:cNvPr id="16" name="Text 12"/>
          <p:cNvSpPr txBox="1"/>
          <p:nvPr/>
        </p:nvSpPr>
        <p:spPr>
          <a:xfrm>
            <a:off x="3383280" y="2331720"/>
            <a:ext cx="2377440" cy="56692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L'écart grandit quand la file se vide.</a:t>
            </a:r>
            <a:endParaRPr lang="en-US" sz="950" dirty="0"/>
          </a:p>
        </p:txBody>
      </p:sp>
      <p:sp>
        <p:nvSpPr>
          <p:cNvPr id="17" name="Text 13"/>
          <p:cNvSpPr txBox="1"/>
          <p:nvPr/>
        </p:nvSpPr>
        <p:spPr>
          <a:xfrm>
            <a:off x="3337560" y="2971800"/>
            <a:ext cx="2468880" cy="105156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Écart resserré aux heures creuses</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Arrêt si 10 % attendent plus de 5 min</a:t>
            </a:r>
            <a:endParaRPr lang="en-US" sz="1000" dirty="0"/>
          </a:p>
        </p:txBody>
      </p:sp>
      <p:sp>
        <p:nvSpPr>
          <p:cNvPr id="18" name="Shape 14"/>
          <p:cNvSpPr/>
          <p:nvPr/>
        </p:nvSpPr>
        <p:spPr>
          <a:xfrm>
            <a:off x="6035040" y="1170432"/>
            <a:ext cx="2651760" cy="2926080"/>
          </a:xfrm>
          <a:prstGeom prst="roundRect">
            <a:avLst>
              <a:gd name="adj" fmla="val 2759"/>
            </a:avLst>
          </a:prstGeom>
          <a:solidFill>
            <a:srgbClr val="FFFFFF"/>
          </a:solidFill>
          <a:ln w="12700">
            <a:solidFill>
              <a:srgbClr val="E3E5EE"/>
            </a:solidFill>
            <a:prstDash val="solid"/>
          </a:ln>
        </p:spPr>
      </p:sp>
      <p:sp>
        <p:nvSpPr>
          <p:cNvPr id="19" name="Shape 15"/>
          <p:cNvSpPr/>
          <p:nvPr/>
        </p:nvSpPr>
        <p:spPr>
          <a:xfrm>
            <a:off x="6172200" y="1280160"/>
            <a:ext cx="365760" cy="365760"/>
          </a:xfrm>
          <a:prstGeom prst="ellipse">
            <a:avLst/>
          </a:prstGeom>
          <a:solidFill>
            <a:srgbClr val="B7791F"/>
          </a:solidFill>
          <a:ln w="12700">
            <a:solidFill>
              <a:srgbClr val="B7791F"/>
            </a:solidFill>
            <a:prstDash val="solid"/>
          </a:ln>
        </p:spPr>
      </p:sp>
      <p:pic>
        <p:nvPicPr>
          <p:cNvPr id="20" name="Image 2" descr="preencoded.png">    </p:cNvPr>
          <p:cNvPicPr>
            <a:picLocks noChangeAspect="1"/>
          </p:cNvPicPr>
          <p:nvPr/>
        </p:nvPicPr>
        <p:blipFill>
          <a:blip r:embed="rId3"/>
          <a:stretch>
            <a:fillRect/>
          </a:stretch>
        </p:blipFill>
        <p:spPr>
          <a:xfrm>
            <a:off x="6263640" y="1371600"/>
            <a:ext cx="182880" cy="182880"/>
          </a:xfrm>
          <a:prstGeom prst="rect">
            <a:avLst/>
          </a:prstGeom>
        </p:spPr>
      </p:pic>
      <p:sp>
        <p:nvSpPr>
          <p:cNvPr id="21" name="Text 16"/>
          <p:cNvSpPr txBox="1"/>
          <p:nvPr/>
        </p:nvSpPr>
        <p:spPr>
          <a:xfrm>
            <a:off x="660196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C · Rang périmé au retour</a:t>
            </a:r>
            <a:endParaRPr lang="en-US" sz="1200" dirty="0"/>
          </a:p>
        </p:txBody>
      </p:sp>
      <p:sp>
        <p:nvSpPr>
          <p:cNvPr id="22" name="Text 17"/>
          <p:cNvSpPr txBox="1"/>
          <p:nvPr/>
        </p:nvSpPr>
        <p:spPr>
          <a:xfrm>
            <a:off x="617220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rang ne tient pas compte de la durée d'absence.</a:t>
            </a:r>
            <a:endParaRPr lang="en-US" sz="1000" dirty="0"/>
          </a:p>
        </p:txBody>
      </p:sp>
      <p:sp>
        <p:nvSpPr>
          <p:cNvPr id="23" name="Text 18"/>
          <p:cNvSpPr txBox="1"/>
          <p:nvPr/>
        </p:nvSpPr>
        <p:spPr>
          <a:xfrm>
            <a:off x="6172200" y="2331720"/>
            <a:ext cx="2377440" cy="566928"/>
          </a:xfrm>
          <a:prstGeom prst="rect">
            <a:avLst/>
          </a:prstGeom>
          <a:noFill/>
          <a:ln/>
        </p:spPr>
        <p:txBody>
          <a:bodyPr wrap="square" lIns="0" tIns="0" rIns="0" bIns="0" rtlCol="0" anchor="t"/>
          <a:lstStyle/>
          <a:p>
            <a:pPr indent="0" marL="0">
              <a:buNone/>
            </a:pPr>
            <a:r>
              <a:rPr lang="en-US" sz="950" b="1" dirty="0">
                <a:solidFill>
                  <a:srgbClr val="B7791F"/>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Les revenants perdent plus, d'autant plus que l'absence a été longue.</a:t>
            </a:r>
            <a:endParaRPr lang="en-US" sz="950" dirty="0"/>
          </a:p>
        </p:txBody>
      </p:sp>
      <p:sp>
        <p:nvSpPr>
          <p:cNvPr id="24" name="Text 19"/>
          <p:cNvSpPr txBox="1"/>
          <p:nvPr/>
        </p:nvSpPr>
        <p:spPr>
          <a:xfrm>
            <a:off x="6126480" y="2971800"/>
            <a:ext cx="2468880" cy="1051560"/>
          </a:xfrm>
          <a:prstGeom prst="rect">
            <a:avLst/>
          </a:prstGeom>
          <a:noFill/>
          <a:ln/>
        </p:spPr>
        <p:txBody>
          <a:bodyPr wrap="square" lIns="0" tIns="0" rIns="0" bIns="0" rtlCol="0" anchor="t"/>
          <a:lstStyle/>
          <a:p>
            <a:pPr indent="0" marL="0">
              <a:buNone/>
            </a:pPr>
            <a:r>
              <a:rPr lang="en-US" sz="1000" b="1" dirty="0">
                <a:solidFill>
                  <a:srgbClr val="B7791F"/>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Matchs de recalibrage au retour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Baisse de rang selon l'absence</a:t>
            </a:r>
            <a:endParaRPr lang="en-US" sz="1000" dirty="0"/>
          </a:p>
        </p:txBody>
      </p:sp>
      <p:sp>
        <p:nvSpPr>
          <p:cNvPr id="25" name="Text 2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Dans tous les cas : </a:t>
            </a:r>
            <a:pPr indent="0" marL="0">
              <a:buNone/>
            </a:pPr>
            <a:r>
              <a:rPr lang="en-US" sz="1050" dirty="0">
                <a:solidFill>
                  <a:srgbClr val="1F2233"/>
                </a:solidFill>
                <a:latin typeface="Calibri" pitchFamily="34" charset="0"/>
                <a:ea typeface="Calibri" pitchFamily="34" charset="-122"/>
                <a:cs typeface="Calibri" pitchFamily="34" charset="-120"/>
              </a:rPr>
              <a:t>groupes séparés des joueurs seuls pour les nouveaux, étiquette « match d'entraînement » sur les parties avec bots, groupe témoin tiré au sort.</a:t>
            </a:r>
            <a:endParaRPr lang="en-US" sz="1050" dirty="0"/>
          </a:p>
        </p:txBody>
      </p:sp>
      <p:sp>
        <p:nvSpPr>
          <p:cNvPr id="26" name="Text 2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 Talk Vol.10</a:t>
            </a:r>
            <a:endParaRPr lang="en-US" sz="850" dirty="0"/>
          </a:p>
        </p:txBody>
      </p:sp>
      <p:sp>
        <p:nvSpPr>
          <p:cNvPr id="27" name="Text 2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Ce que nous avons volontairement écarté</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arbitrages : moins de données, mieux choisies</a:t>
            </a:r>
            <a:endParaRPr lang="en-US" sz="1200" dirty="0"/>
          </a:p>
        </p:txBody>
      </p:sp>
      <p:sp>
        <p:nvSpPr>
          <p:cNvPr id="4" name="Shape 2"/>
          <p:cNvSpPr/>
          <p:nvPr/>
        </p:nvSpPr>
        <p:spPr>
          <a:xfrm>
            <a:off x="457200" y="1234440"/>
            <a:ext cx="411480" cy="411480"/>
          </a:xfrm>
          <a:prstGeom prst="ellipse">
            <a:avLst/>
          </a:prstGeom>
          <a:solidFill>
            <a:srgbClr val="8A8FA3"/>
          </a:solidFill>
          <a:ln w="12700">
            <a:solidFill>
              <a:srgbClr val="8A8FA3"/>
            </a:solidFill>
            <a:prstDash val="solid"/>
          </a:ln>
        </p:spPr>
      </p:sp>
      <p:pic>
        <p:nvPicPr>
          <p:cNvPr id="5" name="Image 0" descr="preencoded.png">    </p:cNvPr>
          <p:cNvPicPr>
            <a:picLocks noChangeAspect="1"/>
          </p:cNvPicPr>
          <p:nvPr/>
        </p:nvPicPr>
        <p:blipFill>
          <a:blip r:embed="rId1"/>
          <a:stretch>
            <a:fillRect/>
          </a:stretch>
        </p:blipFill>
        <p:spPr>
          <a:xfrm>
            <a:off x="560070" y="1337310"/>
            <a:ext cx="205740" cy="205740"/>
          </a:xfrm>
          <a:prstGeom prst="rect">
            <a:avLst/>
          </a:prstGeom>
        </p:spPr>
      </p:pic>
      <p:sp>
        <p:nvSpPr>
          <p:cNvPr id="6" name="Text 3"/>
          <p:cNvSpPr txBox="1"/>
          <p:nvPr/>
        </p:nvSpPr>
        <p:spPr>
          <a:xfrm>
            <a:off x="1005840" y="11887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Historique sur d'autres jeux, chat complet, âge exact, téléphone</a:t>
            </a:r>
            <a:endParaRPr lang="en-US" sz="1200" dirty="0"/>
          </a:p>
        </p:txBody>
      </p:sp>
      <p:sp>
        <p:nvSpPr>
          <p:cNvPr id="7" name="Text 4"/>
          <p:cNvSpPr txBox="1"/>
          <p:nvPr/>
        </p:nvSpPr>
        <p:spPr>
          <a:xfrm>
            <a:off x="1005840" y="14630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Aucune décision ne les exige ; risque RGPD élevé (minimisation, Art. 5.1.c).</a:t>
            </a:r>
            <a:endParaRPr lang="en-US" sz="1050" dirty="0"/>
          </a:p>
        </p:txBody>
      </p:sp>
      <p:sp>
        <p:nvSpPr>
          <p:cNvPr id="8" name="Shape 5"/>
          <p:cNvSpPr/>
          <p:nvPr/>
        </p:nvSpPr>
        <p:spPr>
          <a:xfrm>
            <a:off x="457200" y="1920240"/>
            <a:ext cx="411480" cy="411480"/>
          </a:xfrm>
          <a:prstGeom prst="ellipse">
            <a:avLst/>
          </a:prstGeom>
          <a:solidFill>
            <a:srgbClr val="8A8FA3"/>
          </a:solidFill>
          <a:ln w="12700">
            <a:solidFill>
              <a:srgbClr val="8A8FA3"/>
            </a:solidFill>
            <a:prstDash val="solid"/>
          </a:ln>
        </p:spPr>
      </p:sp>
      <p:pic>
        <p:nvPicPr>
          <p:cNvPr id="9" name="Image 1" descr="preencoded.png">    </p:cNvPr>
          <p:cNvPicPr>
            <a:picLocks noChangeAspect="1"/>
          </p:cNvPicPr>
          <p:nvPr/>
        </p:nvPicPr>
        <p:blipFill>
          <a:blip r:embed="rId2"/>
          <a:stretch>
            <a:fillRect/>
          </a:stretch>
        </p:blipFill>
        <p:spPr>
          <a:xfrm>
            <a:off x="560070" y="2023110"/>
            <a:ext cx="205740" cy="205740"/>
          </a:xfrm>
          <a:prstGeom prst="rect">
            <a:avLst/>
          </a:prstGeom>
        </p:spPr>
      </p:pic>
      <p:sp>
        <p:nvSpPr>
          <p:cNvPr id="10" name="Text 6"/>
          <p:cNvSpPr txBox="1"/>
          <p:nvPr/>
        </p:nvSpPr>
        <p:spPr>
          <a:xfrm>
            <a:off x="1005840" y="18745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Benchmark Newzoo des flux entre jeux</a:t>
            </a:r>
            <a:endParaRPr lang="en-US" sz="1200" dirty="0"/>
          </a:p>
        </p:txBody>
      </p:sp>
      <p:sp>
        <p:nvSpPr>
          <p:cNvPr id="11" name="Text 7"/>
          <p:cNvSpPr txBox="1"/>
          <p:nvPr/>
        </p:nvSpPr>
        <p:spPr>
          <a:xfrm>
            <a:off x="1005840" y="21488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Panel biaisé vers les joueurs engagés : inutilisable pour des débutants (ICE 12).</a:t>
            </a:r>
            <a:endParaRPr lang="en-US" sz="1050" dirty="0"/>
          </a:p>
        </p:txBody>
      </p:sp>
      <p:sp>
        <p:nvSpPr>
          <p:cNvPr id="12" name="Shape 8"/>
          <p:cNvSpPr/>
          <p:nvPr/>
        </p:nvSpPr>
        <p:spPr>
          <a:xfrm>
            <a:off x="457200" y="2606040"/>
            <a:ext cx="411480" cy="411480"/>
          </a:xfrm>
          <a:prstGeom prst="ellipse">
            <a:avLst/>
          </a:prstGeom>
          <a:solidFill>
            <a:srgbClr val="8A8FA3"/>
          </a:solidFill>
          <a:ln w="12700">
            <a:solidFill>
              <a:srgbClr val="8A8FA3"/>
            </a:solidFill>
            <a:prstDash val="solid"/>
          </a:ln>
        </p:spPr>
      </p:sp>
      <p:pic>
        <p:nvPicPr>
          <p:cNvPr id="13" name="Image 2" descr="preencoded.png">    </p:cNvPr>
          <p:cNvPicPr>
            <a:picLocks noChangeAspect="1"/>
          </p:cNvPicPr>
          <p:nvPr/>
        </p:nvPicPr>
        <p:blipFill>
          <a:blip r:embed="rId3"/>
          <a:stretch>
            <a:fillRect/>
          </a:stretch>
        </p:blipFill>
        <p:spPr>
          <a:xfrm>
            <a:off x="560070" y="2708910"/>
            <a:ext cx="205740" cy="205740"/>
          </a:xfrm>
          <a:prstGeom prst="rect">
            <a:avLst/>
          </a:prstGeom>
        </p:spPr>
      </p:pic>
      <p:sp>
        <p:nvSpPr>
          <p:cNvPr id="14" name="Text 9"/>
          <p:cNvSpPr txBox="1"/>
          <p:nvPr/>
        </p:nvSpPr>
        <p:spPr>
          <a:xfrm>
            <a:off x="1005840" y="25603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Rôles imposés (role queue)</a:t>
            </a:r>
            <a:endParaRPr lang="en-US" sz="1200" dirty="0"/>
          </a:p>
        </p:txBody>
      </p:sp>
      <p:sp>
        <p:nvSpPr>
          <p:cNvPr id="15" name="Text 10"/>
          <p:cNvSpPr txBox="1"/>
          <p:nvPr/>
        </p:nvSpPr>
        <p:spPr>
          <a:xfrm>
            <a:off x="1005840" y="28346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Contraire à l'identité du jeu, assumée par NetEase : alerte au producteur, pas de test sans son accord.</a:t>
            </a:r>
            <a:endParaRPr lang="en-US" sz="1050" dirty="0"/>
          </a:p>
        </p:txBody>
      </p:sp>
      <p:sp>
        <p:nvSpPr>
          <p:cNvPr id="16" name="Shape 11"/>
          <p:cNvSpPr/>
          <p:nvPr/>
        </p:nvSpPr>
        <p:spPr>
          <a:xfrm>
            <a:off x="457200" y="3291840"/>
            <a:ext cx="411480" cy="411480"/>
          </a:xfrm>
          <a:prstGeom prst="ellipse">
            <a:avLst/>
          </a:prstGeom>
          <a:solidFill>
            <a:srgbClr val="8A8FA3"/>
          </a:solidFill>
          <a:ln w="12700">
            <a:solidFill>
              <a:srgbClr val="8A8FA3"/>
            </a:solidFill>
            <a:prstDash val="solid"/>
          </a:ln>
        </p:spPr>
      </p:sp>
      <p:pic>
        <p:nvPicPr>
          <p:cNvPr id="17" name="Image 3" descr="preencoded.png">    </p:cNvPr>
          <p:cNvPicPr>
            <a:picLocks noChangeAspect="1"/>
          </p:cNvPicPr>
          <p:nvPr/>
        </p:nvPicPr>
        <p:blipFill>
          <a:blip r:embed="rId4"/>
          <a:stretch>
            <a:fillRect/>
          </a:stretch>
        </p:blipFill>
        <p:spPr>
          <a:xfrm>
            <a:off x="560070" y="3394710"/>
            <a:ext cx="205740" cy="205740"/>
          </a:xfrm>
          <a:prstGeom prst="rect">
            <a:avLst/>
          </a:prstGeom>
        </p:spPr>
      </p:pic>
      <p:sp>
        <p:nvSpPr>
          <p:cNvPr id="18" name="Text 12"/>
          <p:cNvSpPr txBox="1"/>
          <p:nvPr/>
        </p:nvSpPr>
        <p:spPr>
          <a:xfrm>
            <a:off x="1005840" y="32461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Toxicité</a:t>
            </a:r>
            <a:endParaRPr lang="en-US" sz="1200" dirty="0"/>
          </a:p>
        </p:txBody>
      </p:sp>
      <p:sp>
        <p:nvSpPr>
          <p:cNvPr id="19" name="Text 13"/>
          <p:cNvSpPr txBox="1"/>
          <p:nvPr/>
        </p:nvSpPr>
        <p:spPr>
          <a:xfrm>
            <a:off x="1005840" y="35204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Hors du périmètre matchmaking ; le tirage au sort des tests neutralise son effet sur la mesure.</a:t>
            </a:r>
            <a:endParaRPr lang="en-US" sz="1050" dirty="0"/>
          </a:p>
        </p:txBody>
      </p:sp>
      <p:sp>
        <p:nvSpPr>
          <p:cNvPr id="20" name="Shape 14"/>
          <p:cNvSpPr/>
          <p:nvPr/>
        </p:nvSpPr>
        <p:spPr>
          <a:xfrm>
            <a:off x="457200" y="3977640"/>
            <a:ext cx="411480" cy="411480"/>
          </a:xfrm>
          <a:prstGeom prst="ellipse">
            <a:avLst/>
          </a:prstGeom>
          <a:solidFill>
            <a:srgbClr val="8A8FA3"/>
          </a:solidFill>
          <a:ln w="12700">
            <a:solidFill>
              <a:srgbClr val="8A8FA3"/>
            </a:solidFill>
            <a:prstDash val="solid"/>
          </a:ln>
        </p:spPr>
      </p:sp>
      <p:pic>
        <p:nvPicPr>
          <p:cNvPr id="21" name="Image 4" descr="preencoded.png">    </p:cNvPr>
          <p:cNvPicPr>
            <a:picLocks noChangeAspect="1"/>
          </p:cNvPicPr>
          <p:nvPr/>
        </p:nvPicPr>
        <p:blipFill>
          <a:blip r:embed="rId5"/>
          <a:stretch>
            <a:fillRect/>
          </a:stretch>
        </p:blipFill>
        <p:spPr>
          <a:xfrm>
            <a:off x="560070" y="4080510"/>
            <a:ext cx="205740" cy="205740"/>
          </a:xfrm>
          <a:prstGeom prst="rect">
            <a:avLst/>
          </a:prstGeom>
        </p:spPr>
      </p:pic>
      <p:sp>
        <p:nvSpPr>
          <p:cNvPr id="22" name="Text 15"/>
          <p:cNvSpPr txBox="1"/>
          <p:nvPr/>
        </p:nvSpPr>
        <p:spPr>
          <a:xfrm>
            <a:off x="1005840" y="39319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Avis Steam comme preuve</a:t>
            </a:r>
            <a:endParaRPr lang="en-US" sz="1200" dirty="0"/>
          </a:p>
        </p:txBody>
      </p:sp>
      <p:sp>
        <p:nvSpPr>
          <p:cNvPr id="23" name="Text 16"/>
          <p:cNvSpPr txBox="1"/>
          <p:nvPr/>
        </p:nvSpPr>
        <p:spPr>
          <a:xfrm>
            <a:off x="1005840" y="42062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Gardés comme contrôle de perception seulement : PC, anglais, biais du survivant.</a:t>
            </a:r>
            <a:endParaRPr lang="en-US" sz="1050" dirty="0"/>
          </a:p>
        </p:txBody>
      </p:sp>
      <p:sp>
        <p:nvSpPr>
          <p:cNvPr id="24" name="Text 1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RGPD Art. 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plan de collecte complet</a:t>
            </a:r>
            <a:endParaRPr lang="en-US" sz="850" dirty="0"/>
          </a:p>
        </p:txBody>
      </p:sp>
      <p:sp>
        <p:nvSpPr>
          <p:cNvPr id="25" name="Text 18"/>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Roadmap : quand, qui, combien</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Trois phases, chacune avec sa porte de décision</a:t>
            </a:r>
            <a:endParaRPr lang="en-US" sz="1200" dirty="0"/>
          </a:p>
        </p:txBody>
      </p:sp>
      <p:sp>
        <p:nvSpPr>
          <p:cNvPr id="4" name="Shape 2"/>
          <p:cNvSpPr/>
          <p:nvPr/>
        </p:nvSpPr>
        <p:spPr>
          <a:xfrm>
            <a:off x="502920" y="1188720"/>
            <a:ext cx="411480" cy="411480"/>
          </a:xfrm>
          <a:prstGeom prst="ellipse">
            <a:avLst/>
          </a:prstGeom>
          <a:solidFill>
            <a:srgbClr val="E23636"/>
          </a:solidFill>
          <a:ln w="12700">
            <a:solidFill>
              <a:srgbClr val="E23636"/>
            </a:solidFill>
            <a:prstDash val="solid"/>
          </a:ln>
        </p:spPr>
      </p:sp>
      <p:sp>
        <p:nvSpPr>
          <p:cNvPr id="5" name="Text 3"/>
          <p:cNvSpPr txBox="1"/>
          <p:nvPr/>
        </p:nvSpPr>
        <p:spPr>
          <a:xfrm>
            <a:off x="50292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00584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0-30 j  </a:t>
            </a:r>
            <a:pPr indent="0" marL="0">
              <a:buNone/>
            </a:pPr>
            <a:r>
              <a:rPr lang="en-US" sz="1400" dirty="0">
                <a:solidFill>
                  <a:srgbClr val="5E6378"/>
                </a:solidFill>
                <a:latin typeface="Arial" pitchFamily="34" charset="0"/>
                <a:ea typeface="Arial" pitchFamily="34" charset="-122"/>
                <a:cs typeface="Arial" pitchFamily="34" charset="-120"/>
              </a:rPr>
              <a:t>Audit</a:t>
            </a:r>
            <a:endParaRPr lang="en-US" sz="1400" dirty="0"/>
          </a:p>
        </p:txBody>
      </p:sp>
      <p:sp>
        <p:nvSpPr>
          <p:cNvPr id="7" name="Shape 5"/>
          <p:cNvSpPr/>
          <p:nvPr/>
        </p:nvSpPr>
        <p:spPr>
          <a:xfrm>
            <a:off x="457200" y="1737360"/>
            <a:ext cx="2651760" cy="2240280"/>
          </a:xfrm>
          <a:prstGeom prst="roundRect">
            <a:avLst>
              <a:gd name="adj" fmla="val 3265"/>
            </a:avLst>
          </a:prstGeom>
          <a:solidFill>
            <a:srgbClr val="FFFFFF"/>
          </a:solidFill>
          <a:ln w="12700">
            <a:solidFill>
              <a:srgbClr val="E3E5EE"/>
            </a:solidFill>
            <a:prstDash val="solid"/>
          </a:ln>
        </p:spPr>
      </p:sp>
      <p:sp>
        <p:nvSpPr>
          <p:cNvPr id="8" name="Text 6"/>
          <p:cNvSpPr txBox="1"/>
          <p:nvPr/>
        </p:nvSpPr>
        <p:spPr>
          <a:xfrm>
            <a:off x="594360" y="1828800"/>
            <a:ext cx="2377440" cy="210312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Qui : </a:t>
            </a:r>
            <a:pPr indent="0" marL="0">
              <a:buNone/>
            </a:pPr>
            <a:r>
              <a:rPr lang="en-US" sz="1000" dirty="0">
                <a:solidFill>
                  <a:srgbClr val="1F2233"/>
                </a:solidFill>
                <a:latin typeface="Calibri" pitchFamily="34" charset="0"/>
                <a:ea typeface="Calibri" pitchFamily="34" charset="-122"/>
                <a:cs typeface="Calibri" pitchFamily="34" charset="-120"/>
              </a:rPr>
              <a:t>1 data analyst à temps plein, 1 data engineer à mi-temps ; DPO NetEase pour l'accord et le hachage</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161A33"/>
                </a:solidFill>
                <a:latin typeface="Calibri" pitchFamily="34" charset="0"/>
                <a:ea typeface="Calibri" pitchFamily="34" charset="-122"/>
                <a:cs typeface="Calibri" pitchFamily="34" charset="-120"/>
              </a:rPr>
              <a:t>Combien : </a:t>
            </a:r>
            <a:pPr indent="0" marL="0">
              <a:buNone/>
            </a:pPr>
            <a:r>
              <a:rPr lang="en-US" sz="1000" dirty="0">
                <a:solidFill>
                  <a:srgbClr val="1F2233"/>
                </a:solidFill>
                <a:latin typeface="Calibri" pitchFamily="34" charset="0"/>
                <a:ea typeface="Calibri" pitchFamily="34" charset="-122"/>
                <a:cs typeface="Calibri" pitchFamily="34" charset="-120"/>
              </a:rPr>
              <a:t>≈ 33 jours-homme ; aucune licence nouvelle</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23636"/>
                </a:solidFill>
                <a:latin typeface="Calibri" pitchFamily="34" charset="0"/>
                <a:ea typeface="Calibri" pitchFamily="34" charset="-122"/>
                <a:cs typeface="Calibri" pitchFamily="34" charset="-120"/>
              </a:rPr>
              <a:t>Décision : </a:t>
            </a:r>
            <a:pPr indent="0" marL="0">
              <a:buNone/>
            </a:pPr>
            <a:r>
              <a:rPr lang="en-US" sz="1000" dirty="0">
                <a:solidFill>
                  <a:srgbClr val="1F2233"/>
                </a:solidFill>
                <a:latin typeface="Calibri" pitchFamily="34" charset="0"/>
                <a:ea typeface="Calibri" pitchFamily="34" charset="-122"/>
                <a:cs typeface="Calibri" pitchFamily="34" charset="-120"/>
              </a:rPr>
              <a:t>Ratio ≤ 1,2 sur les deux cohortes → plan B</a:t>
            </a:r>
            <a:endParaRPr lang="en-US" sz="1000" dirty="0"/>
          </a:p>
        </p:txBody>
      </p:sp>
      <p:sp>
        <p:nvSpPr>
          <p:cNvPr id="9" name="Shape 7"/>
          <p:cNvSpPr/>
          <p:nvPr/>
        </p:nvSpPr>
        <p:spPr>
          <a:xfrm>
            <a:off x="3291840" y="1188720"/>
            <a:ext cx="411480" cy="411480"/>
          </a:xfrm>
          <a:prstGeom prst="ellipse">
            <a:avLst/>
          </a:prstGeom>
          <a:solidFill>
            <a:srgbClr val="E23636"/>
          </a:solidFill>
          <a:ln w="12700">
            <a:solidFill>
              <a:srgbClr val="E23636"/>
            </a:solidFill>
            <a:prstDash val="solid"/>
          </a:ln>
        </p:spPr>
      </p:sp>
      <p:sp>
        <p:nvSpPr>
          <p:cNvPr id="10" name="Text 8"/>
          <p:cNvSpPr txBox="1"/>
          <p:nvPr/>
        </p:nvSpPr>
        <p:spPr>
          <a:xfrm>
            <a:off x="329184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379476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30-90 j  </a:t>
            </a:r>
            <a:pPr indent="0" marL="0">
              <a:buNone/>
            </a:pPr>
            <a:r>
              <a:rPr lang="en-US" sz="1400" dirty="0">
                <a:solidFill>
                  <a:srgbClr val="5E6378"/>
                </a:solidFill>
                <a:latin typeface="Arial" pitchFamily="34" charset="0"/>
                <a:ea typeface="Arial" pitchFamily="34" charset="-122"/>
                <a:cs typeface="Arial" pitchFamily="34" charset="-120"/>
              </a:rPr>
              <a:t>Tests A/B</a:t>
            </a:r>
            <a:endParaRPr lang="en-US" sz="1400" dirty="0"/>
          </a:p>
        </p:txBody>
      </p:sp>
      <p:sp>
        <p:nvSpPr>
          <p:cNvPr id="12" name="Shape 10"/>
          <p:cNvSpPr/>
          <p:nvPr/>
        </p:nvSpPr>
        <p:spPr>
          <a:xfrm>
            <a:off x="3246120" y="1737360"/>
            <a:ext cx="2651760" cy="2240280"/>
          </a:xfrm>
          <a:prstGeom prst="roundRect">
            <a:avLst>
              <a:gd name="adj" fmla="val 3265"/>
            </a:avLst>
          </a:prstGeom>
          <a:solidFill>
            <a:srgbClr val="FFFFFF"/>
          </a:solidFill>
          <a:ln w="12700">
            <a:solidFill>
              <a:srgbClr val="E3E5EE"/>
            </a:solidFill>
            <a:prstDash val="solid"/>
          </a:ln>
        </p:spPr>
      </p:sp>
      <p:sp>
        <p:nvSpPr>
          <p:cNvPr id="13" name="Text 11"/>
          <p:cNvSpPr txBox="1"/>
          <p:nvPr/>
        </p:nvSpPr>
        <p:spPr>
          <a:xfrm>
            <a:off x="3383280" y="1828800"/>
            <a:ext cx="2377440" cy="210312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Qui : </a:t>
            </a:r>
            <a:pPr indent="0" marL="0">
              <a:buNone/>
            </a:pPr>
            <a:r>
              <a:rPr lang="en-US" sz="1000" dirty="0">
                <a:solidFill>
                  <a:srgbClr val="1F2233"/>
                </a:solidFill>
                <a:latin typeface="Calibri" pitchFamily="34" charset="0"/>
                <a:ea typeface="Calibri" pitchFamily="34" charset="-122"/>
                <a:cs typeface="Calibri" pitchFamily="34" charset="-120"/>
              </a:rPr>
              <a:t>Équipe matchmaking NetEase + analyste</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161A33"/>
                </a:solidFill>
                <a:latin typeface="Calibri" pitchFamily="34" charset="0"/>
                <a:ea typeface="Calibri" pitchFamily="34" charset="-122"/>
                <a:cs typeface="Calibri" pitchFamily="34" charset="-120"/>
              </a:rPr>
              <a:t>Combien : </a:t>
            </a:r>
            <a:pPr indent="0" marL="0">
              <a:buNone/>
            </a:pPr>
            <a:r>
              <a:rPr lang="en-US" sz="1000" dirty="0">
                <a:solidFill>
                  <a:srgbClr val="1F2233"/>
                </a:solidFill>
                <a:latin typeface="Calibri" pitchFamily="34" charset="0"/>
                <a:ea typeface="Calibri" pitchFamily="34" charset="-122"/>
                <a:cs typeface="Calibri" pitchFamily="34" charset="-120"/>
              </a:rPr>
              <a:t>Développement chiffré par NetEase avant tout lancement</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23636"/>
                </a:solidFill>
                <a:latin typeface="Calibri" pitchFamily="34" charset="0"/>
                <a:ea typeface="Calibri" pitchFamily="34" charset="-122"/>
                <a:cs typeface="Calibri" pitchFamily="34" charset="-120"/>
              </a:rPr>
              <a:t>Décision : </a:t>
            </a:r>
            <a:pPr indent="0" marL="0">
              <a:buNone/>
            </a:pPr>
            <a:r>
              <a:rPr lang="en-US" sz="1000" dirty="0">
                <a:solidFill>
                  <a:srgbClr val="1F2233"/>
                </a:solidFill>
                <a:latin typeface="Calibri" pitchFamily="34" charset="0"/>
                <a:ea typeface="Calibri" pitchFamily="34" charset="-122"/>
                <a:cs typeface="Calibri" pitchFamily="34" charset="-120"/>
              </a:rPr>
              <a:t>Levier gardé si le ratio baisse et l'attente reste &lt; 5 min</a:t>
            </a:r>
            <a:endParaRPr lang="en-US" sz="1000" dirty="0"/>
          </a:p>
        </p:txBody>
      </p:sp>
      <p:sp>
        <p:nvSpPr>
          <p:cNvPr id="14" name="Shape 12"/>
          <p:cNvSpPr/>
          <p:nvPr/>
        </p:nvSpPr>
        <p:spPr>
          <a:xfrm>
            <a:off x="6080760" y="1188720"/>
            <a:ext cx="411480" cy="411480"/>
          </a:xfrm>
          <a:prstGeom prst="ellipse">
            <a:avLst/>
          </a:prstGeom>
          <a:solidFill>
            <a:srgbClr val="E23636"/>
          </a:solidFill>
          <a:ln w="12700">
            <a:solidFill>
              <a:srgbClr val="E23636"/>
            </a:solidFill>
            <a:prstDash val="solid"/>
          </a:ln>
        </p:spPr>
      </p:sp>
      <p:sp>
        <p:nvSpPr>
          <p:cNvPr id="15" name="Text 13"/>
          <p:cNvSpPr txBox="1"/>
          <p:nvPr/>
        </p:nvSpPr>
        <p:spPr>
          <a:xfrm>
            <a:off x="608076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txBox="1"/>
          <p:nvPr/>
        </p:nvSpPr>
        <p:spPr>
          <a:xfrm>
            <a:off x="658368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90-180 j  </a:t>
            </a:r>
            <a:pPr indent="0" marL="0">
              <a:buNone/>
            </a:pPr>
            <a:r>
              <a:rPr lang="en-US" sz="1400" dirty="0">
                <a:solidFill>
                  <a:srgbClr val="5E6378"/>
                </a:solidFill>
                <a:latin typeface="Arial" pitchFamily="34" charset="0"/>
                <a:ea typeface="Arial" pitchFamily="34" charset="-122"/>
                <a:cs typeface="Arial" pitchFamily="34" charset="-120"/>
              </a:rPr>
              <a:t>Généralisation</a:t>
            </a:r>
            <a:endParaRPr lang="en-US" sz="1400" dirty="0"/>
          </a:p>
        </p:txBody>
      </p:sp>
      <p:sp>
        <p:nvSpPr>
          <p:cNvPr id="17" name="Shape 15"/>
          <p:cNvSpPr/>
          <p:nvPr/>
        </p:nvSpPr>
        <p:spPr>
          <a:xfrm>
            <a:off x="6035040" y="1737360"/>
            <a:ext cx="2651760" cy="2240280"/>
          </a:xfrm>
          <a:prstGeom prst="roundRect">
            <a:avLst>
              <a:gd name="adj" fmla="val 3265"/>
            </a:avLst>
          </a:prstGeom>
          <a:solidFill>
            <a:srgbClr val="FFFFFF"/>
          </a:solidFill>
          <a:ln w="12700">
            <a:solidFill>
              <a:srgbClr val="E3E5EE"/>
            </a:solidFill>
            <a:prstDash val="solid"/>
          </a:ln>
        </p:spPr>
      </p:sp>
      <p:sp>
        <p:nvSpPr>
          <p:cNvPr id="18" name="Text 16"/>
          <p:cNvSpPr txBox="1"/>
          <p:nvPr/>
        </p:nvSpPr>
        <p:spPr>
          <a:xfrm>
            <a:off x="6172200" y="1828800"/>
            <a:ext cx="2377440" cy="210312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Qui : </a:t>
            </a:r>
            <a:pPr indent="0" marL="0">
              <a:buNone/>
            </a:pPr>
            <a:r>
              <a:rPr lang="en-US" sz="1000" dirty="0">
                <a:solidFill>
                  <a:srgbClr val="1F2233"/>
                </a:solidFill>
                <a:latin typeface="Calibri" pitchFamily="34" charset="0"/>
                <a:ea typeface="Calibri" pitchFamily="34" charset="-122"/>
                <a:cs typeface="Calibri" pitchFamily="34" charset="-120"/>
              </a:rPr>
              <a:t>Live-ops et communication ; page publique « comment fonctionne le matchmaking »</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161A33"/>
                </a:solidFill>
                <a:latin typeface="Calibri" pitchFamily="34" charset="0"/>
                <a:ea typeface="Calibri" pitchFamily="34" charset="-122"/>
                <a:cs typeface="Calibri" pitchFamily="34" charset="-120"/>
              </a:rPr>
              <a:t>Combien : </a:t>
            </a:r>
            <a:pPr indent="0" marL="0">
              <a:buNone/>
            </a:pPr>
            <a:r>
              <a:rPr lang="en-US" sz="1000" dirty="0">
                <a:solidFill>
                  <a:srgbClr val="1F2233"/>
                </a:solidFill>
                <a:latin typeface="Calibri" pitchFamily="34" charset="0"/>
                <a:ea typeface="Calibri" pitchFamily="34" charset="-122"/>
                <a:cs typeface="Calibri" pitchFamily="34" charset="-120"/>
              </a:rPr>
              <a:t>Pilotage mensuel sur les outils existants</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23636"/>
                </a:solidFill>
                <a:latin typeface="Calibri" pitchFamily="34" charset="0"/>
                <a:ea typeface="Calibri" pitchFamily="34" charset="-122"/>
                <a:cs typeface="Calibri" pitchFamily="34" charset="-120"/>
              </a:rPr>
              <a:t>Décision : </a:t>
            </a:r>
            <a:pPr indent="0" marL="0">
              <a:buNone/>
            </a:pPr>
            <a:r>
              <a:rPr lang="en-US" sz="1000" dirty="0">
                <a:solidFill>
                  <a:srgbClr val="1F2233"/>
                </a:solidFill>
                <a:latin typeface="Calibri" pitchFamily="34" charset="0"/>
                <a:ea typeface="Calibri" pitchFamily="34" charset="-122"/>
                <a:cs typeface="Calibri" pitchFamily="34" charset="-120"/>
              </a:rPr>
              <a:t>31/03/2027 : ratio ≤ 1,2</a:t>
            </a:r>
            <a:endParaRPr lang="en-US" sz="1000" dirty="0"/>
          </a:p>
        </p:txBody>
      </p:sp>
      <p:sp>
        <p:nvSpPr>
          <p:cNvPr id="19" name="Text 17"/>
          <p:cNvSpPr txBox="1"/>
          <p:nvPr/>
        </p:nvSpPr>
        <p:spPr>
          <a:xfrm>
            <a:off x="457200" y="4087368"/>
            <a:ext cx="8229600" cy="594360"/>
          </a:xfrm>
          <a:prstGeom prst="rect">
            <a:avLst/>
          </a:prstGeom>
          <a:noFill/>
          <a:ln/>
        </p:spPr>
        <p:txBody>
          <a:bodyPr wrap="square" lIns="0" tIns="0" rIns="0" bIns="0" rtlCol="0" anchor="ctr"/>
          <a:lstStyle/>
          <a:p>
            <a:pPr indent="0" marL="0">
              <a:buNone/>
            </a:pPr>
            <a:r>
              <a:rPr lang="en-US" sz="1000" b="1" dirty="0">
                <a:solidFill>
                  <a:srgbClr val="1F2233"/>
                </a:solidFill>
                <a:latin typeface="Calibri" pitchFamily="34" charset="0"/>
                <a:ea typeface="Calibri" pitchFamily="34" charset="-122"/>
                <a:cs typeface="Calibri" pitchFamily="34" charset="-120"/>
              </a:rPr>
              <a:t>Stack : </a:t>
            </a:r>
            <a:pPr indent="0" marL="0">
              <a:buNone/>
            </a:pPr>
            <a:r>
              <a:rPr lang="en-US" sz="1000" dirty="0">
                <a:solidFill>
                  <a:srgbClr val="1F2233"/>
                </a:solidFill>
                <a:latin typeface="Calibri" pitchFamily="34" charset="0"/>
                <a:ea typeface="Calibri" pitchFamily="34" charset="-122"/>
                <a:cs typeface="Calibri" pitchFamily="34" charset="-120"/>
              </a:rPr>
              <a:t>télémétrie in-game existante → entrepôt existant (type BigQuery ou Snowflake ; requêtes ≈ 6,25 $ par To au-delà de 1 To gratuit par mois) → BI existante (type Looker ou Tableau).</a:t>
            </a:r>
            <a:endParaRPr lang="en-US" sz="1000" dirty="0"/>
          </a:p>
        </p:txBody>
      </p:sp>
      <p:sp>
        <p:nvSpPr>
          <p:cNvPr id="20" name="Text 18"/>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tarifs BigQuery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complet (§5 et §7)</a:t>
            </a:r>
            <a:endParaRPr lang="en-US" sz="850" dirty="0"/>
          </a:p>
        </p:txBody>
      </p:sp>
      <p:sp>
        <p:nvSpPr>
          <p:cNvPr id="21" name="Text 19"/>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KPIs de décision et garde-fous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Risques / KPIs · comment chaque KPI se calcule, et quelle décision il déclenche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3017520"/>
                <a:gridCol w="685800"/>
                <a:gridCol w="164592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KPI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Comment on le calcule</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Seuil</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 le seuil est franchi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Sinon</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r>
              <a:tr h="4754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nouveaux comptes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 des nouveaux qui perdent au moins 7 de leurs 10 premiers matchs et ne rejouent pas sous 7 jours, divisé par le même % chez les autres nouveaux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 tient : tests A/B des causes A ou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Pas d'investissement matchmaking : plan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joueurs de retour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Même calcul sur les 10 premiers matchs classés après au moins 60 jours d'absence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H5c tient : test des matchs de recalibrage (cause C)</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Rang au retour inchangé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Attente p90</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Temps d'attente sous lequel 90 % des joueurs trouvent une partie, par rang et région</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5 min</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Arrêt du resserrement de l'écart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 poursuivi</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 la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10 premiers matchs des nouveaux joués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50 %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la partie rapide en premier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le mode dominant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Avis négatifs citant le matchmaking (contrôle)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avis Steam négatifs qui le citent (base : 10,5 % en septembre 2026)</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8 %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 31/03/2027 : problème de perception, plus de transparence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Corrections perçues : on généralise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520440"/>
            <a:ext cx="8229600" cy="1188720"/>
          </a:xfrm>
          <a:prstGeom prst="roundRect">
            <a:avLst>
              <a:gd name="adj" fmla="val 4615"/>
            </a:avLst>
          </a:prstGeom>
          <a:solidFill>
            <a:srgbClr val="F4F5F9"/>
          </a:solidFill>
          <a:ln w="12700">
            <a:solidFill>
              <a:srgbClr val="F4F5F9"/>
            </a:solidFill>
            <a:prstDash val="solid"/>
          </a:ln>
        </p:spPr>
      </p:sp>
      <p:sp>
        <p:nvSpPr>
          <p:cNvPr id="6" name="Text 3"/>
          <p:cNvSpPr txBox="1"/>
          <p:nvPr/>
        </p:nvSpPr>
        <p:spPr>
          <a:xfrm>
            <a:off x="640080" y="3566160"/>
            <a:ext cx="7863840" cy="1097280"/>
          </a:xfrm>
          <a:prstGeom prst="rect">
            <a:avLst/>
          </a:prstGeom>
          <a:noFill/>
          <a:ln/>
        </p:spPr>
        <p:txBody>
          <a:bodyPr wrap="square" lIns="0" tIns="0" rIns="0" bIns="0" rtlCol="0" anchor="ctr"/>
          <a:lstStyle/>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Base légale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RGPD et AI Act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accord de sous-traitance, identifiants hachés, mineurs exclus ; aucun profilage individuel, bots toujours annoncés.</a:t>
            </a:r>
            <a:endParaRPr lang="en-US" sz="1000" dirty="0"/>
          </a:p>
          <a:p>
            <a:pPr indent="0" marL="0">
              <a:spcAft>
                <a:spcPts val="300"/>
              </a:spcAft>
              <a:buNone/>
            </a:pPr>
            <a:r>
              <a:rPr lang="en-US" sz="1000" b="1" dirty="0">
                <a:solidFill>
                  <a:srgbClr val="E23636"/>
                </a:solidFill>
                <a:latin typeface="Calibri" pitchFamily="34" charset="0"/>
                <a:ea typeface="Calibri" pitchFamily="34" charset="-122"/>
                <a:cs typeface="Calibri" pitchFamily="34" charset="-120"/>
              </a:rPr>
              <a:t>Plan B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ratio ≤ 1,2 sur les deux cohortes : pas d'investissement matchmaking ; les données extraites testent équilibrage et monétisation.</a:t>
            </a:r>
            <a:endParaRPr lang="en-US" sz="1000" dirty="0"/>
          </a:p>
        </p:txBody>
      </p:sp>
      <p:sp>
        <p:nvSpPr>
          <p:cNvPr id="7" name="Text 4"/>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RGPD</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AI Act</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plan de collecte complet (§3)</a:t>
            </a:r>
            <a:endParaRPr lang="en-US" sz="850" dirty="0"/>
          </a:p>
        </p:txBody>
      </p:sp>
      <p:sp>
        <p:nvSpPr>
          <p:cNvPr id="8" name="Text 5"/>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Sources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consultées du 29/09 au 01/10/2026 · liens cliquables</a:t>
            </a:r>
            <a:endParaRPr lang="en-US" sz="1200" dirty="0"/>
          </a:p>
        </p:txBody>
      </p:sp>
      <p:sp>
        <p:nvSpPr>
          <p:cNvPr id="4" name="Text 2"/>
          <p:cNvSpPr txBox="1"/>
          <p:nvPr/>
        </p:nvSpPr>
        <p:spPr>
          <a:xfrm>
            <a:off x="457200" y="1143000"/>
            <a:ext cx="8229600" cy="3566160"/>
          </a:xfrm>
          <a:prstGeom prst="rect">
            <a:avLst/>
          </a:prstGeom>
          <a:noFill/>
          <a:ln/>
        </p:spPr>
        <p:txBody>
          <a:bodyPr wrap="square" rtlCol="0" anchor="t"/>
          <a:lstStyle/>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Forbes, −85 % de joueurs en 10 mois (12/10/2025)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Steam Charts, moyennes mensuelles (PC)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40 millions de joueurs, rapport NetEase (Game World Observer)</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API publique des avis Steam (notre collecte, 37 990 avis pondérés)</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Démenti de l'EOMM (X officiel, 12/08/2025)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Vidéo NetEase sur le matchmaking (21/08/2025)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Notes de patch Season 5, placements (14/11/2025)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Classé : Bronze III pour tous (PCGamesN)</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Dev Talk Vol.10, réinitialisation du rang (NetEase)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Inactivité limitée aux rangs Eternity et One Above All (Timesaver, source tierce)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45 % des joueurs ayant quitté Overwatch 2 ont joué à Marvel Rivals (Newzoo via Insider Gaming, 09/04/2025)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Overwatch 2 : baisse des joueurs moyens sur PC (VGC)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 Plus un jeu pour le fan occasionnel » (TheGamer, 09/08/2025)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Tarifs BigQuery, requêtes à la demande (Google Cloud)</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RGPD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AI Act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Plan de collecte complet (Google Docs)</a:t>
            </a:r>
            <a:endParaRPr lang="en-US" sz="1000" dirty="0"/>
          </a:p>
        </p:txBody>
      </p:sp>
      <p:sp>
        <p:nvSpPr>
          <p:cNvPr id="5" name="Text 3"/>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Questions anticipées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réponses courtes, à garder sous la main</a:t>
            </a:r>
            <a:endParaRPr lang="en-US" sz="1200" dirty="0"/>
          </a:p>
        </p:txBody>
      </p:sp>
      <p:sp>
        <p:nvSpPr>
          <p:cNvPr id="4" name="Shape 2"/>
          <p:cNvSpPr/>
          <p:nvPr/>
        </p:nvSpPr>
        <p:spPr>
          <a:xfrm>
            <a:off x="457200" y="1188720"/>
            <a:ext cx="4023360" cy="1051560"/>
          </a:xfrm>
          <a:prstGeom prst="roundRect">
            <a:avLst>
              <a:gd name="adj" fmla="val 5217"/>
            </a:avLst>
          </a:prstGeom>
          <a:solidFill>
            <a:srgbClr val="FFFFFF"/>
          </a:solidFill>
          <a:ln w="12700">
            <a:solidFill>
              <a:srgbClr val="E3E5EE"/>
            </a:solidFill>
            <a:prstDash val="solid"/>
          </a:ln>
        </p:spPr>
      </p:sp>
      <p:sp>
        <p:nvSpPr>
          <p:cNvPr id="5" name="Text 3"/>
          <p:cNvSpPr txBox="1"/>
          <p:nvPr/>
        </p:nvSpPr>
        <p:spPr>
          <a:xfrm>
            <a:off x="59436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Pourquoi cette donnée et pas une autre ?</a:t>
            </a:r>
            <a:endParaRPr lang="en-US" sz="1100" dirty="0"/>
          </a:p>
        </p:txBody>
      </p:sp>
      <p:sp>
        <p:nvSpPr>
          <p:cNvPr id="6" name="Text 4"/>
          <p:cNvSpPr txBox="1"/>
          <p:nvPr/>
        </p:nvSpPr>
        <p:spPr>
          <a:xfrm>
            <a:off x="59436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Score ICE le plus haut, et elle tranche directement l'hypothèse (départ à 7 jours, cause A, B ou C).</a:t>
            </a:r>
            <a:endParaRPr lang="en-US" sz="1000" dirty="0"/>
          </a:p>
        </p:txBody>
      </p:sp>
      <p:sp>
        <p:nvSpPr>
          <p:cNvPr id="7" name="Shape 5"/>
          <p:cNvSpPr/>
          <p:nvPr/>
        </p:nvSpPr>
        <p:spPr>
          <a:xfrm>
            <a:off x="4663440" y="1188720"/>
            <a:ext cx="4023360" cy="1051560"/>
          </a:xfrm>
          <a:prstGeom prst="roundRect">
            <a:avLst>
              <a:gd name="adj" fmla="val 5217"/>
            </a:avLst>
          </a:prstGeom>
          <a:solidFill>
            <a:srgbClr val="FFFFFF"/>
          </a:solidFill>
          <a:ln w="12700">
            <a:solidFill>
              <a:srgbClr val="E3E5EE"/>
            </a:solidFill>
            <a:prstDash val="solid"/>
          </a:ln>
        </p:spPr>
      </p:sp>
      <p:sp>
        <p:nvSpPr>
          <p:cNvPr id="8" name="Text 6"/>
          <p:cNvSpPr txBox="1"/>
          <p:nvPr/>
        </p:nvSpPr>
        <p:spPr>
          <a:xfrm>
            <a:off x="480060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Combien ça coûte ?</a:t>
            </a:r>
            <a:endParaRPr lang="en-US" sz="1100" dirty="0"/>
          </a:p>
        </p:txBody>
      </p:sp>
      <p:sp>
        <p:nvSpPr>
          <p:cNvPr id="9" name="Text 7"/>
          <p:cNvSpPr txBox="1"/>
          <p:nvPr/>
        </p:nvSpPr>
        <p:spPr>
          <a:xfrm>
            <a:off x="480060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 33 jours-homme pour l'audit ; aucune licence nouvelle ; requêtes ≈ 6,25 $ par To au-delà de 1 To gratuit.</a:t>
            </a:r>
            <a:endParaRPr lang="en-US" sz="1000" dirty="0"/>
          </a:p>
        </p:txBody>
      </p:sp>
      <p:sp>
        <p:nvSpPr>
          <p:cNvPr id="10" name="Shape 8"/>
          <p:cNvSpPr/>
          <p:nvPr/>
        </p:nvSpPr>
        <p:spPr>
          <a:xfrm>
            <a:off x="457200" y="2350008"/>
            <a:ext cx="4023360" cy="1051560"/>
          </a:xfrm>
          <a:prstGeom prst="roundRect">
            <a:avLst>
              <a:gd name="adj" fmla="val 5217"/>
            </a:avLst>
          </a:prstGeom>
          <a:solidFill>
            <a:srgbClr val="FFFFFF"/>
          </a:solidFill>
          <a:ln w="12700">
            <a:solidFill>
              <a:srgbClr val="E3E5EE"/>
            </a:solidFill>
            <a:prstDash val="solid"/>
          </a:ln>
        </p:spPr>
      </p:sp>
      <p:sp>
        <p:nvSpPr>
          <p:cNvPr id="11" name="Text 9"/>
          <p:cNvSpPr txBox="1"/>
          <p:nvPr/>
        </p:nvSpPr>
        <p:spPr>
          <a:xfrm>
            <a:off x="59436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Quelle base légale ?</a:t>
            </a:r>
            <a:endParaRPr lang="en-US" sz="1100" dirty="0"/>
          </a:p>
        </p:txBody>
      </p:sp>
      <p:sp>
        <p:nvSpPr>
          <p:cNvPr id="12" name="Text 10"/>
          <p:cNvSpPr txBox="1"/>
          <p:nvPr/>
        </p:nvSpPr>
        <p:spPr>
          <a:xfrm>
            <a:off x="59436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p:txBody>
      </p:sp>
      <p:sp>
        <p:nvSpPr>
          <p:cNvPr id="13" name="Shape 11"/>
          <p:cNvSpPr/>
          <p:nvPr/>
        </p:nvSpPr>
        <p:spPr>
          <a:xfrm>
            <a:off x="4663440" y="2350008"/>
            <a:ext cx="4023360" cy="1051560"/>
          </a:xfrm>
          <a:prstGeom prst="roundRect">
            <a:avLst>
              <a:gd name="adj" fmla="val 5217"/>
            </a:avLst>
          </a:prstGeom>
          <a:solidFill>
            <a:srgbClr val="FFFFFF"/>
          </a:solidFill>
          <a:ln w="12700">
            <a:solidFill>
              <a:srgbClr val="E3E5EE"/>
            </a:solidFill>
            <a:prstDash val="solid"/>
          </a:ln>
        </p:spPr>
      </p:sp>
      <p:sp>
        <p:nvSpPr>
          <p:cNvPr id="14" name="Text 12"/>
          <p:cNvSpPr txBox="1"/>
          <p:nvPr/>
        </p:nvSpPr>
        <p:spPr>
          <a:xfrm>
            <a:off x="480060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Comment savoir si ça marche ?</a:t>
            </a:r>
            <a:endParaRPr lang="en-US" sz="1100" dirty="0"/>
          </a:p>
        </p:txBody>
      </p:sp>
      <p:sp>
        <p:nvSpPr>
          <p:cNvPr id="15" name="Text 13"/>
          <p:cNvSpPr txBox="1"/>
          <p:nvPr/>
        </p:nvSpPr>
        <p:spPr>
          <a:xfrm>
            <a:off x="480060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Ratio ≤ 1,2 au 31/03/2027 sur les deux cohortes ; sinon, plan B sans nouvelle collecte.</a:t>
            </a:r>
            <a:endParaRPr lang="en-US" sz="1000" dirty="0"/>
          </a:p>
        </p:txBody>
      </p:sp>
      <p:sp>
        <p:nvSpPr>
          <p:cNvPr id="16" name="Shape 14"/>
          <p:cNvSpPr/>
          <p:nvPr/>
        </p:nvSpPr>
        <p:spPr>
          <a:xfrm>
            <a:off x="457200" y="3511296"/>
            <a:ext cx="4023360" cy="1051560"/>
          </a:xfrm>
          <a:prstGeom prst="roundRect">
            <a:avLst>
              <a:gd name="adj" fmla="val 5217"/>
            </a:avLst>
          </a:prstGeom>
          <a:solidFill>
            <a:srgbClr val="FFFFFF"/>
          </a:solidFill>
          <a:ln w="12700">
            <a:solidFill>
              <a:srgbClr val="E3E5EE"/>
            </a:solidFill>
            <a:prstDash val="solid"/>
          </a:ln>
        </p:spPr>
      </p:sp>
      <p:sp>
        <p:nvSpPr>
          <p:cNvPr id="17" name="Text 15"/>
          <p:cNvSpPr txBox="1"/>
          <p:nvPr/>
        </p:nvSpPr>
        <p:spPr>
          <a:xfrm>
            <a:off x="594360" y="3584448"/>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Qu'avez-vous écarté ?</a:t>
            </a:r>
            <a:endParaRPr lang="en-US" sz="1100" dirty="0"/>
          </a:p>
        </p:txBody>
      </p:sp>
      <p:sp>
        <p:nvSpPr>
          <p:cNvPr id="18" name="Text 16"/>
          <p:cNvSpPr txBox="1"/>
          <p:nvPr/>
        </p:nvSpPr>
        <p:spPr>
          <a:xfrm>
            <a:off x="594360" y="3877056"/>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Données personnelles sans décision (chat, âge, téléphone, autres jeux), benchmark Newzoo (ICE 12), rôles imposés.</a:t>
            </a:r>
            <a:endParaRPr lang="en-US" sz="1000" dirty="0"/>
          </a:p>
        </p:txBody>
      </p:sp>
      <p:sp>
        <p:nvSpPr>
          <p:cNvPr id="19" name="Shape 17"/>
          <p:cNvSpPr/>
          <p:nvPr/>
        </p:nvSpPr>
        <p:spPr>
          <a:xfrm>
            <a:off x="4663440" y="3511296"/>
            <a:ext cx="4023360" cy="1051560"/>
          </a:xfrm>
          <a:prstGeom prst="roundRect">
            <a:avLst>
              <a:gd name="adj" fmla="val 5217"/>
            </a:avLst>
          </a:prstGeom>
          <a:solidFill>
            <a:srgbClr val="FFFFFF"/>
          </a:solidFill>
          <a:ln w="12700">
            <a:solidFill>
              <a:srgbClr val="E3E5EE"/>
            </a:solidFill>
            <a:prstDash val="solid"/>
          </a:ln>
        </p:spPr>
      </p:sp>
      <p:sp>
        <p:nvSpPr>
          <p:cNvPr id="20" name="Text 18"/>
          <p:cNvSpPr txBox="1"/>
          <p:nvPr/>
        </p:nvSpPr>
        <p:spPr>
          <a:xfrm>
            <a:off x="4800600" y="3584448"/>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Où avez-vous utilisé l'IA ?</a:t>
            </a:r>
            <a:endParaRPr lang="en-US" sz="1100" dirty="0"/>
          </a:p>
        </p:txBody>
      </p:sp>
      <p:sp>
        <p:nvSpPr>
          <p:cNvPr id="21" name="Text 19"/>
          <p:cNvSpPr txBox="1"/>
          <p:nvPr/>
        </p:nvSpPr>
        <p:spPr>
          <a:xfrm>
            <a:off x="4800600" y="3877056"/>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9 usages tracés en annexe du rapport : outil, prompt, réponse, analyse critique (retenu, rejeté, à vérifier).</a:t>
            </a:r>
            <a:endParaRPr lang="en-US" sz="1000" dirty="0"/>
          </a:p>
        </p:txBody>
      </p:sp>
      <p:sp>
        <p:nvSpPr>
          <p:cNvPr id="22" name="Text 20"/>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Marvel Rivals : pourquoi les joueurs ne restent pas</dc:title>
  <dc:subject>PptxGenJS Presentation</dc:subject>
  <dc:creator>Noé</dc:creator>
  <cp:lastModifiedBy>Noé</cp:lastModifiedBy>
  <cp:revision>1</cp:revision>
  <dcterms:created xsi:type="dcterms:W3CDTF">2026-10-01T16:04:25Z</dcterms:created>
  <dcterms:modified xsi:type="dcterms:W3CDTF">2026-10-01T16:04:25Z</dcterms:modified>
</cp:coreProperties>
</file>