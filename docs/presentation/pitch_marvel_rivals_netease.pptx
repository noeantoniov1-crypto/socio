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233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F2233"/>
                </a:solidFill>
                <a:latin typeface="Calibri"/>
              </a:rPr>
              <a:t>Joueurs simultanés, moyenne mensuelle (milliers)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Joueurs simultanés (milliers)</c:v>
                </c:pt>
              </c:strCache>
            </c:strRef>
          </c:tx>
          <c:spPr>
            <a:solidFill>
              <a:srgbClr val="E23636"/>
            </a:solidFill>
            <a:ln w="31750" cap="flat">
              <a:solidFill>
                <a:srgbClr val="E2363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23636"/>
              </a:solidFill>
              <a:ln w="9525" cap="flat">
                <a:solidFill>
                  <a:srgbClr val="E2363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Déc. 24</c:v>
                  </c:pt>
                  <c:pt idx="1">
                    <c:v>Janv.</c:v>
                  </c:pt>
                  <c:pt idx="2">
                    <c:v>Févr.</c:v>
                  </c:pt>
                  <c:pt idx="3">
                    <c:v>Mars</c:v>
                  </c:pt>
                  <c:pt idx="4">
                    <c:v>Avr.</c:v>
                  </c:pt>
                  <c:pt idx="5">
                    <c:v>Mai</c:v>
                  </c:pt>
                  <c:pt idx="6">
                    <c:v>Juin</c:v>
                  </c:pt>
                  <c:pt idx="7">
                    <c:v>Juil.</c:v>
                  </c:pt>
                  <c:pt idx="8">
                    <c:v>Août</c:v>
                  </c:pt>
                  <c:pt idx="9">
                    <c:v>Sept.</c:v>
                  </c:pt>
                  <c:pt idx="10">
                    <c:v>Oct.</c:v>
                  </c:pt>
                  <c:pt idx="11">
                    <c:v>Nov.</c:v>
                  </c:pt>
                  <c:pt idx="12">
                    <c:v>Déc.</c:v>
                  </c:pt>
                  <c:pt idx="13">
                    <c:v>Janv. 26</c:v>
                  </c:pt>
                  <c:pt idx="14">
                    <c:v>Févr.</c:v>
                  </c:pt>
                  <c:pt idx="15">
                    <c:v>Mars</c:v>
                  </c:pt>
                  <c:pt idx="16">
                    <c:v>Avr.</c:v>
                  </c:pt>
                  <c:pt idx="17">
                    <c:v>Mai</c:v>
                  </c:pt>
                  <c:pt idx="18">
                    <c:v>Juin</c:v>
                  </c:pt>
                  <c:pt idx="19">
                    <c:v>Juil.</c:v>
                  </c:pt>
                  <c:pt idx="20">
                    <c:v>Août</c:v>
                  </c:pt>
                  <c:pt idx="21">
                    <c:v>Sept.*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279</c:v>
                </c:pt>
                <c:pt idx="1">
                  <c:v>306</c:v>
                </c:pt>
                <c:pt idx="2">
                  <c:v>228</c:v>
                </c:pt>
                <c:pt idx="3">
                  <c:v>144</c:v>
                </c:pt>
                <c:pt idx="4">
                  <c:v>134</c:v>
                </c:pt>
                <c:pt idx="5">
                  <c:v>102</c:v>
                </c:pt>
                <c:pt idx="6">
                  <c:v>80</c:v>
                </c:pt>
                <c:pt idx="7">
                  <c:v>83</c:v>
                </c:pt>
                <c:pt idx="8">
                  <c:v>78</c:v>
                </c:pt>
                <c:pt idx="9">
                  <c:v>64</c:v>
                </c:pt>
                <c:pt idx="10">
                  <c:v>64</c:v>
                </c:pt>
                <c:pt idx="11">
                  <c:v>65</c:v>
                </c:pt>
                <c:pt idx="12">
                  <c:v>75</c:v>
                </c:pt>
                <c:pt idx="13">
                  <c:v>89</c:v>
                </c:pt>
                <c:pt idx="14">
                  <c:v>81</c:v>
                </c:pt>
                <c:pt idx="15">
                  <c:v>65</c:v>
                </c:pt>
                <c:pt idx="16">
                  <c:v>70</c:v>
                </c:pt>
                <c:pt idx="17">
                  <c:v>68</c:v>
                </c:pt>
                <c:pt idx="18">
                  <c:v>70</c:v>
                </c:pt>
                <c:pt idx="19">
                  <c:v>84</c:v>
                </c:pt>
                <c:pt idx="20">
                  <c:v>80</c:v>
                </c:pt>
                <c:pt idx="21">
                  <c:v>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233"/>
                </a:solidFill>
                <a:latin typeface="Calibri"/>
              </a:defRPr>
            </a:pPr>
            <a:r>
              <a:rPr sz="1100" b="0" i="0" u="none" strike="noStrike">
                <a:solidFill>
                  <a:srgbClr val="1F2233"/>
                </a:solidFill>
                <a:latin typeface="Calibri"/>
              </a:rPr>
              <a:t>% des avis Steam négatifs qui citent le matchmaking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des avis négatifs citant le matchmaking</c:v>
                </c:pt>
              </c:strCache>
            </c:strRef>
          </c:tx>
          <c:spPr>
            <a:solidFill>
              <a:srgbClr val="161A33"/>
            </a:solidFill>
            <a:ln w="31750" cap="flat">
              <a:solidFill>
                <a:srgbClr val="161A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61A33"/>
              </a:solidFill>
              <a:ln w="9525" cap="flat">
                <a:solidFill>
                  <a:srgbClr val="161A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Déc. 24</c:v>
                  </c:pt>
                  <c:pt idx="1">
                    <c:v>Janv.</c:v>
                  </c:pt>
                  <c:pt idx="2">
                    <c:v>Févr.</c:v>
                  </c:pt>
                  <c:pt idx="3">
                    <c:v>Mars</c:v>
                  </c:pt>
                  <c:pt idx="4">
                    <c:v>Avr.</c:v>
                  </c:pt>
                  <c:pt idx="5">
                    <c:v>Mai</c:v>
                  </c:pt>
                  <c:pt idx="6">
                    <c:v>Juin</c:v>
                  </c:pt>
                  <c:pt idx="7">
                    <c:v>Juil.</c:v>
                  </c:pt>
                  <c:pt idx="8">
                    <c:v>Août</c:v>
                  </c:pt>
                  <c:pt idx="9">
                    <c:v>Sept.</c:v>
                  </c:pt>
                  <c:pt idx="10">
                    <c:v>Oct.</c:v>
                  </c:pt>
                  <c:pt idx="11">
                    <c:v>Nov.</c:v>
                  </c:pt>
                  <c:pt idx="12">
                    <c:v>Déc.</c:v>
                  </c:pt>
                  <c:pt idx="13">
                    <c:v>Janv. 26</c:v>
                  </c:pt>
                  <c:pt idx="14">
                    <c:v>Févr.</c:v>
                  </c:pt>
                  <c:pt idx="15">
                    <c:v>Mars</c:v>
                  </c:pt>
                  <c:pt idx="16">
                    <c:v>Avr.</c:v>
                  </c:pt>
                  <c:pt idx="17">
                    <c:v>Mai</c:v>
                  </c:pt>
                  <c:pt idx="18">
                    <c:v>Juin</c:v>
                  </c:pt>
                  <c:pt idx="19">
                    <c:v>Juil.</c:v>
                  </c:pt>
                  <c:pt idx="20">
                    <c:v>Août</c:v>
                  </c:pt>
                  <c:pt idx="21">
                    <c:v>Sept.*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7.4</c:v>
                </c:pt>
                <c:pt idx="1">
                  <c:v>10.9</c:v>
                </c:pt>
                <c:pt idx="2">
                  <c:v>12.1</c:v>
                </c:pt>
                <c:pt idx="3">
                  <c:v>20.3</c:v>
                </c:pt>
                <c:pt idx="4">
                  <c:v>21.1</c:v>
                </c:pt>
                <c:pt idx="5">
                  <c:v>29.1</c:v>
                </c:pt>
                <c:pt idx="6">
                  <c:v>27.6</c:v>
                </c:pt>
                <c:pt idx="7">
                  <c:v>37</c:v>
                </c:pt>
                <c:pt idx="8">
                  <c:v>41</c:v>
                </c:pt>
                <c:pt idx="9">
                  <c:v>33.9</c:v>
                </c:pt>
                <c:pt idx="10">
                  <c:v>25.9</c:v>
                </c:pt>
                <c:pt idx="11">
                  <c:v>17.3</c:v>
                </c:pt>
                <c:pt idx="12">
                  <c:v>18.2</c:v>
                </c:pt>
                <c:pt idx="13">
                  <c:v>15.4</c:v>
                </c:pt>
                <c:pt idx="14">
                  <c:v>15.6</c:v>
                </c:pt>
                <c:pt idx="15">
                  <c:v>13.4</c:v>
                </c:pt>
                <c:pt idx="16">
                  <c:v>14.4</c:v>
                </c:pt>
                <c:pt idx="17">
                  <c:v>14.7</c:v>
                </c:pt>
                <c:pt idx="18">
                  <c:v>14.2</c:v>
                </c:pt>
                <c:pt idx="19">
                  <c:v>8.8</c:v>
                </c:pt>
                <c:pt idx="20">
                  <c:v>13.4</c:v>
                </c:pt>
                <c:pt idx="21">
                  <c:v>10.5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5EE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3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 s] 644 000 joueurs en janvier 2025, 98 000 dix mois plus tard. Votre comité m'a demandé pourquoi les joueurs ne restent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 s] Le problème, prouvé par les données. Moins 85 % de pic à pic. Chaque saison ramène des joueurs, repartis en deux mois. Et ceux qui partent accusent le matchmaking : de 7 à 41 % des avis négatifs, au point que NetEase a dû démentir un matchmaking truqué.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 s] Pourquoi ? Notre hypothèse. Au lancement, deux publics opposés arrivent ensemble : des vétérans, 45 % des joueurs qui ont quitté Overwatch 2 ont essayé Marvel Rivals, et un grand public venu pour Marvel. Sans calibrage, ils se croisent : le matchmaking paraît injuste, les moins expérimentés partent. Il reste surtout des vétérans.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 s] Aujourd'hui, deux mécanismes entretiennent ces écarts. En partie rapide, faute de joueurs, le matchmaking accepte des écarts plus grands, NetEase l'a reconnu : le nouveau tombe sur des vétérans et part. En classé, un joueur qui revient après des mois retrouve un rang à peine abaissé, perd, et repart. Ce sont des hypothèses : vos données trancheront.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 s] D'abord mesurer. L'objectif : d'ici fin mars 2027, un joueur qui perd au début ne doit pas partir plus de 1,2 fois plus souvent que les autres, nouveau ou de retour. Six données d'abord : la première mesure l'objectif, la deuxième dit où jouent les nouveaux, trois testent chacune une cause, la dernière exploite une expérience déjà faite en saison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 s] La matrice complète : treize données indispensables, toutes déjà dans votre télémétrie. Aucune nouvelle collecte pour l'audit.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 s] On ne teste que si l'audit confirme le problème, et seulement le levier de la cause trouvée. Démarrage à froid : niveau de départ plus prudent. Manque de joueurs : écart resserré aux heures creuses, arrêté si l'attente dépasse 5 minutes. Rang périmé : matchs de recalibrage au retour. Toujours avec un groupe témoin.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 s] Nous avons volontairement écarté les données personnelles qu'aucune décision n'exige, le benchmark Newzoo, trop biaisé, et les rôles imposés, contraires à l'identité du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 s] Quand, qui, combien. Trente jours d'audit : un data analyst et un data engineer à mi-temps, environ 33 jours-homme, sans licence nouvelle, sur votre stack existante. Si le ratio est déjà sous 1,2, on s'arrête : plan B. Sinon, soixante jours de tests avec votre équipe matchmaking, puis généralisation jusqu'au 31 mars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 s] Chaque KPI déclenche une décision : 1,2 pour lancer les tests, 5 minutes pour les arrêter, 50 % pour choisir le mode. Base légale : contrat pour le matchmaking, intérêt légitime documenté pour l'audit. Pour démarrer : signer l'accord de sous-traitance et lancer l'audit. Merci.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Annexe, à montrer seulement si on vous demande une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pour les questions. Pour « Où avez-vous utilisé l'IA ? », ajoutez à l'oral un élément critique que vous avez fait sans IA (par exemple le choix final de l'hypothèse ou la vérification des chiffres), si c'est le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orbes.com/sites/paultassi/2025/10/12/marvel-rivals-has-lost-85-of-its-players-in-10-months/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rbes.com/sites/paultassi/2025/10/12/marvel-rivals-has-lost-85-of-its-players-in-10-months/" TargetMode="External"/><Relationship Id="rId4" Type="http://schemas.openxmlformats.org/officeDocument/2006/relationships/hyperlink" Target="https://steamcharts.com/app/2767030" TargetMode="External"/><Relationship Id="rId5" Type="http://schemas.openxmlformats.org/officeDocument/2006/relationships/hyperlink" Target="https://store.steampowered.com/appreviews/2767030?json=1" TargetMode="External"/><Relationship Id="rId6" Type="http://schemas.openxmlformats.org/officeDocument/2006/relationships/hyperlink" Target="https://x.com/MarvelRivals/status/1955117077561593877" TargetMode="External"/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insider-gaming.com/almost-half-of-players-who-quit-overwatch-jumped-to-marvel-rivals/" TargetMode="External"/><Relationship Id="rId4" Type="http://schemas.openxmlformats.org/officeDocument/2006/relationships/hyperlink" Target="https://www.videogameschronicle.com/news/overwatch-2s-average-pc-player-count-has-dropped-39-since-marvel-rivals-was-released/" TargetMode="External"/><Relationship Id="rId5" Type="http://schemas.openxmlformats.org/officeDocument/2006/relationships/hyperlink" Target="https://gameworldobserver.com/2025/02/20/marvel-rivals-40-million-players-netease-fy24-report" TargetMode="External"/><Relationship Id="rId6" Type="http://schemas.openxmlformats.org/officeDocument/2006/relationships/hyperlink" Target="https://www.pcgamesn.com/marvel-rivals/ranks-competitive" TargetMode="External"/><Relationship Id="rId7" Type="http://schemas.openxmlformats.org/officeDocument/2006/relationships/hyperlink" Target="https://store.steampowered.com/appreviews/2767030?json=1" TargetMode="External"/><Relationship Id="rId8" Type="http://schemas.openxmlformats.org/officeDocument/2006/relationships/hyperlink" Target="https://www.thegamer.com/marvel-rivals-no-longer-casual-friendly-black-panther-matchmaking/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x.com/MarvelRivals/status/1958627668536311945" TargetMode="External"/><Relationship Id="rId4" Type="http://schemas.openxmlformats.org/officeDocument/2006/relationships/hyperlink" Target="https://www.marvelrivals.com/devdiaries/20250210/40954_1210988.html" TargetMode="External"/><Relationship Id="rId5" Type="http://schemas.openxmlformats.org/officeDocument/2006/relationships/hyperlink" Target="https://timesaver.gg/blog/marvel-rivals-season-10-rank-reset" TargetMode="External"/><Relationship Id="rId6" Type="http://schemas.openxmlformats.org/officeDocument/2006/relationships/hyperlink" Target="https://steamcharts.com/app/2767030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nOhcAL2wfeAHOK6x6UZH-Hg5yh9Ofxxko7FY47r5Vzc/edit" TargetMode="External"/><Relationship Id="rId2" Type="http://schemas.openxmlformats.org/officeDocument/2006/relationships/hyperlink" Target="https://www.marvelrivals.com/20251114/41525_1270590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document/d/1nOhcAL2wfeAHOK6x6UZH-Hg5yh9Ofxxko7FY47r5Vzc/ed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hyperlink" Target="https://x.com/MarvelRivals/status/1958627668536311945" TargetMode="External"/><Relationship Id="rId5" Type="http://schemas.openxmlformats.org/officeDocument/2006/relationships/hyperlink" Target="https://www.marvelrivals.com/devdiaries/20250210/40954_1210988.html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hyperlink" Target="https://eur-lex.europa.eu/eli/reg/2016/679/oj" TargetMode="External"/><Relationship Id="rId7" Type="http://schemas.openxmlformats.org/officeDocument/2006/relationships/hyperlink" Target="https://docs.google.com/document/d/1nOhcAL2wfeAHOK6x6UZH-Hg5yh9Ofxxko7FY47r5Vzc/edit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loud.google.com/bigquery/pricing" TargetMode="External"/><Relationship Id="rId2" Type="http://schemas.openxmlformats.org/officeDocument/2006/relationships/hyperlink" Target="https://docs.google.com/document/d/1nOhcAL2wfeAHOK6x6UZH-Hg5yh9Ofxxko7FY47r5Vzc/edi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hyperlink" Target="https://eur-lex.europa.eu/eli/reg/2016/679/oj" TargetMode="External"/><Relationship Id="rId6" Type="http://schemas.openxmlformats.org/officeDocument/2006/relationships/hyperlink" Target="https://eur-lex.europa.eu/eli/reg/2024/1689/oj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orbes.com/sites/paultassi/2025/10/12/marvel-rivals-has-lost-85-of-its-players-in-10-months/" TargetMode="External"/><Relationship Id="rId2" Type="http://schemas.openxmlformats.org/officeDocument/2006/relationships/hyperlink" Target="https://steamcharts.com/app/2767030" TargetMode="External"/><Relationship Id="rId3" Type="http://schemas.openxmlformats.org/officeDocument/2006/relationships/hyperlink" Target="https://gameworldobserver.com/2025/02/20/marvel-rivals-40-million-players-netease-fy24-report" TargetMode="External"/><Relationship Id="rId4" Type="http://schemas.openxmlformats.org/officeDocument/2006/relationships/hyperlink" Target="https://store.steampowered.com/appreviews/2767030?json=1" TargetMode="External"/><Relationship Id="rId5" Type="http://schemas.openxmlformats.org/officeDocument/2006/relationships/hyperlink" Target="https://x.com/MarvelRivals/status/1955117077561593877" TargetMode="External"/><Relationship Id="rId6" Type="http://schemas.openxmlformats.org/officeDocument/2006/relationships/hyperlink" Target="https://x.com/MarvelRivals/status/1958627668536311945" TargetMode="External"/><Relationship Id="rId7" Type="http://schemas.openxmlformats.org/officeDocument/2006/relationships/hyperlink" Target="https://www.marvelrivals.com/20251114/41525_1270590.html" TargetMode="External"/><Relationship Id="rId8" Type="http://schemas.openxmlformats.org/officeDocument/2006/relationships/hyperlink" Target="https://www.pcgamesn.com/marvel-rivals/ranks-competitive" TargetMode="External"/><Relationship Id="rId9" Type="http://schemas.openxmlformats.org/officeDocument/2006/relationships/hyperlink" Target="https://www.marvelrivals.com/devdiaries/20250210/40954_1210988.html" TargetMode="External"/><Relationship Id="rId10" Type="http://schemas.openxmlformats.org/officeDocument/2006/relationships/hyperlink" Target="https://timesaver.gg/blog/marvel-rivals-season-10-rank-reset" TargetMode="External"/><Relationship Id="rId11" Type="http://schemas.openxmlformats.org/officeDocument/2006/relationships/hyperlink" Target="https://insider-gaming.com/almost-half-of-players-who-quit-overwatch-jumped-to-marvel-rivals/" TargetMode="External"/><Relationship Id="rId12" Type="http://schemas.openxmlformats.org/officeDocument/2006/relationships/hyperlink" Target="https://www.videogameschronicle.com/news/overwatch-2s-average-pc-player-count-has-dropped-39-since-marvel-rivals-was-released/" TargetMode="External"/><Relationship Id="rId13" Type="http://schemas.openxmlformats.org/officeDocument/2006/relationships/hyperlink" Target="https://www.thegamer.com/marvel-rivals-no-longer-casual-friendly-black-panther-matchmaking/" TargetMode="External"/><Relationship Id="rId14" Type="http://schemas.openxmlformats.org/officeDocument/2006/relationships/hyperlink" Target="https://cloud.google.com/bigquery/pricing" TargetMode="External"/><Relationship Id="rId15" Type="http://schemas.openxmlformats.org/officeDocument/2006/relationships/hyperlink" Target="https://eur-lex.europa.eu/eli/reg/2016/679/oj" TargetMode="External"/><Relationship Id="rId16" Type="http://schemas.openxmlformats.org/officeDocument/2006/relationships/hyperlink" Target="https://eur-lex.europa.eu/eli/reg/2024/1689/oj" TargetMode="External"/><Relationship Id="rId17" Type="http://schemas.openxmlformats.org/officeDocument/2006/relationships/hyperlink" Target="https://docs.google.com/document/d/1nOhcAL2wfeAHOK6x6UZH-Hg5yh9Ofxxko7FY47r5Vzc/edit" TargetMode="Externa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48640" cy="54864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644 000 → 98 000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joueurs simultanés sur Steam, en dix mois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Marvel Rivals : pourquoi les joueurs ne restent pas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collecte data pour le comité de direction de NetEase Games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297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Noé, consultant · 2 octobre 2026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4297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9FB4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Forbes, 12/10/2025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jeu perd ses joueurs et ne les regagne pas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· le B du BODAK, prouvé par les données (Steam = PC uniquement)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143000"/>
          <a:ext cx="4251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572000" y="1143000"/>
          <a:ext cx="4251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−85 %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160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pic à pic (644 K → 98 K) ; −76 % en moyenne depuis la sortie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324612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mois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3246120" y="4160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perdre les joueurs ramenés par une saison (+18 % en janv. 2026, +21 % en juil.)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03504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→ 41 %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4160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avis négatifs accusent le matchmaking ; NetEase a dû démentir un matchmaking truqué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Forbes (12/10/2025)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Steam Charts (30/09/2026 ; * = 30 derniers jours)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avis Steam, notre collecte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démenti EOMM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Hypothèse : deux publics opposés réunis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· pourquoi le problème existe (HYPOTHÈSE H5, à valider sur vos données)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07592"/>
            <a:ext cx="384048" cy="384048"/>
          </a:xfrm>
          <a:prstGeom prst="ellipse">
            <a:avLst/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" y="1403604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43000" y="130759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vétérans du genre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810512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joueurs qui ont arrêté Overwatch 2 en décembre 2024 ont joué à Marvel Rivals (Newzoo)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5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−22 %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joueurs moyens sur Overwatch 2 (PC) ce mois-là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0233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1307592"/>
            <a:ext cx="384048" cy="384048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332" y="1403604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30759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grand public venu pour Marvel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1810512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joueurs en 3 jours, 40 M en 3 mois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5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porté par une licence grand public : beaucoup découvrent le genre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4612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calibrage, ils se croisent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(Bronze III pour tous en classé jusqu'à la saison 5) : les écarts de niveau donnent l'impression d'un matchmaking injuste, et les moins expérimentés partent.</a:t>
            </a:r>
            <a:endParaRPr lang="en-US" sz="115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reste 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surtout des vétérans. Auteurs d'avis Steam à plus de 200 h : 5 % fin 2024, 42 % à l'été 2025. « Plus un jeu pour le fan de Marvel occasionnel » (TheGamer, 09/08/2025).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Newzoo via Insider Gaming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VGC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Game World Observer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PCGamesN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avis Steam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TheGamer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mécanismes entretiennent les écarts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· aujourd'hui : ce que les données publiques montrent, et ce qu'elles ne montrent pas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98448"/>
            <a:ext cx="384048" cy="384048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" y="139446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43000" y="12984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H5b · Les nouveaux, en partie rapide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78308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Faute de joueurs en file, le matchmaking accepte des écarts de niveau plus grands pour lancer la partie : NetEase le reconnaît (vidéo du 21/08/2025).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nouveau tombe sur les vétérans restants, perd et part : la base ne se renouvelle pas.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correction publiée pour la partie rapide, où passe chaque nouveau avant le niveau 15.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1887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1298448"/>
            <a:ext cx="384048" cy="384048"/>
          </a:xfrm>
          <a:prstGeom prst="ellipse">
            <a:avLst/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332" y="139446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2984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H5c · Les joueurs de retour, en classé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178308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saison, le rang n'est abaissé que de 6 divisions, quelle que soit la durée de l'absence (Dev Talk Vol.10).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joueur absent plusieurs mois affronte des joueurs restés actifs, plus en forme : il perd et repart.</a:t>
            </a:r>
            <a:endParaRPr lang="en-US" sz="105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saisons ramènent des joueurs (+18 %, +21 %), qui repartent en deux mois.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ne sait pas encore : </a:t>
            </a:r>
            <a:pPr indent="0" marL="0">
              <a:buNone/>
            </a:pPr>
            <a:r>
              <a:rPr lang="en-US" sz="11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jouent les nouveaux, quel écart subissent nouveaux et revenants, et si cet écart les fait partir. Seules vos données internes peuvent trancher.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NetEase du 21/08/2025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 Talk Vol.10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inactivité (source tierce)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Steam Charts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D'abord mesurer : 30 jours d'audit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· objectif SMART et données à extraire en priorité, et pourquoi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16128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d'ici le 31/03/2027, qu'un joueur qui perd au moins 7 de ses 10 premiers matchs ne parte pas plus de 1,2 fois plus souvent dans la semaine que les autres, chez les nouveaux comme chez les joueurs de retour.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01952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265176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Donnée à extraire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36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 qu'elle nous 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36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Pourquoi en priorité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363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Résultats des 10 premiers matchs et départ à 7 jours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perdre au début fait partir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C'est la mesure de l'objectif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 et plateforme de ces 10 premiers matchs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Où jouent les nouveaux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Dit quel mode corriger en premier (Steam = PC seul)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Niveau de départ attribué / niveau réel après 50 matchs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le jeu place mal un nouveau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la cause A (démarrage à froid)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Écart de niveau par match, selon les joueurs en file, l'heure, la région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l'écart grandit quand la file se vide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la cause B (manque de joueurs)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Durée d'absence, rang au retour et bilan des 10 premiers matchs classés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le rang au retour est périmé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la cause C (joueurs de retour)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Départs en classé avant / après les placements de la saison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mieux placer les joueurs les a retenus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Expérience déjà faite : la preuve la moins chère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4165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Ensuite, pour écarter les autres explications : héros joué, parties avec bots, joueurs en groupe, comptes arrivés en 2025. Tout existe déjà dans vos serveurs.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de collecte complet (matrice ICE)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notes de patch S5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matrice de collecte : 13 données indispensables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· score ICE = Impact × Confiance × Facilité, sur 125 ; coupe sous 30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704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INDISPENSABLE · ICE ≥ 80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99616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49961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et plateforme des 10 premiers matchs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2953512" y="149961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46504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" y="174650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accepté × joueurs en file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174650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993392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199339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 à 7 jours × bilan des 10 matchs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2953512" y="199339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240280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224028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de départ et convergence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953512" y="22402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487168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" y="248716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Joueurs de retour : absence × rang × bilan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2953512" y="248716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734056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" y="273405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de la population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2953512" y="273405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980944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2064" y="298094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de score en classé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2953512" y="2980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227832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" y="322783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Compositions par rôle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953512" y="322783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474720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2064" y="347472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avec bots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953512" y="347472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721608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2064" y="372160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subi en partie rapide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2953512" y="372160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3968496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12064" y="396849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Cohortes 2025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2953512" y="396849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7200" y="4215384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2064" y="421538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Rétention avant / après la S5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2953512" y="421538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462272"/>
            <a:ext cx="2926080" cy="219456"/>
          </a:xfrm>
          <a:prstGeom prst="rect">
            <a:avLst/>
          </a:prstGeom>
          <a:solidFill>
            <a:srgbClr val="EAF4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12064" y="446227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 contre solos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953512" y="446227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520440" y="1170432"/>
            <a:ext cx="2606040" cy="237744"/>
          </a:xfrm>
          <a:prstGeom prst="roundRect">
            <a:avLst>
              <a:gd name="adj" fmla="val 19231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20440" y="11704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· 30 à 79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520440" y="1499616"/>
            <a:ext cx="2606040" cy="219456"/>
          </a:xfrm>
          <a:prstGeom prst="rect">
            <a:avLst/>
          </a:prstGeom>
          <a:solidFill>
            <a:srgbClr val="FBF3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575304" y="149961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des comptes neufs (smurfs)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5696712" y="149961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520440" y="1746504"/>
            <a:ext cx="2606040" cy="219456"/>
          </a:xfrm>
          <a:prstGeom prst="rect">
            <a:avLst/>
          </a:prstGeom>
          <a:solidFill>
            <a:srgbClr val="FBF3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575304" y="174650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joué / rôle habituel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696712" y="174650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520440" y="1993392"/>
            <a:ext cx="2606040" cy="219456"/>
          </a:xfrm>
          <a:prstGeom prst="rect">
            <a:avLst/>
          </a:prstGeom>
          <a:solidFill>
            <a:srgbClr val="FBF3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575304" y="199339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 Steam (collecte faite)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5696712" y="199339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520440" y="2240280"/>
            <a:ext cx="2606040" cy="219456"/>
          </a:xfrm>
          <a:prstGeom prst="rect">
            <a:avLst/>
          </a:prstGeom>
          <a:solidFill>
            <a:srgbClr val="FBF3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575304" y="22402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Attente simulée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5696712" y="22402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520440" y="2487168"/>
            <a:ext cx="2606040" cy="219456"/>
          </a:xfrm>
          <a:prstGeom prst="rect">
            <a:avLst/>
          </a:prstGeom>
          <a:solidFill>
            <a:srgbClr val="FBF3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3575304" y="24871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des ultimes de soin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5696712" y="248716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520440" y="2734056"/>
            <a:ext cx="2606040" cy="219456"/>
          </a:xfrm>
          <a:prstGeom prst="rect">
            <a:avLst/>
          </a:prstGeom>
          <a:solidFill>
            <a:srgbClr val="FBF3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575304" y="273405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Sondage d'équité perçue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5696712" y="273405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520440" y="2980944"/>
            <a:ext cx="2606040" cy="219456"/>
          </a:xfrm>
          <a:prstGeom prst="rect">
            <a:avLst/>
          </a:prstGeom>
          <a:solidFill>
            <a:srgbClr val="FBF3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575304" y="298094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d'onboarding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5696712" y="2980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3520440" y="3227832"/>
            <a:ext cx="2606040" cy="219456"/>
          </a:xfrm>
          <a:prstGeom prst="rect">
            <a:avLst/>
          </a:prstGeom>
          <a:solidFill>
            <a:srgbClr val="FBF3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575304" y="32278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Héros maîtrisés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5696712" y="322783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263640" y="1170432"/>
            <a:ext cx="2286000" cy="237744"/>
          </a:xfrm>
          <a:prstGeom prst="roundRect">
            <a:avLst>
              <a:gd name="adj" fmla="val 19231"/>
            </a:avLst>
          </a:prstGeom>
          <a:solidFill>
            <a:srgbClr val="8A8FA3"/>
          </a:solidFill>
          <a:ln w="12700">
            <a:solidFill>
              <a:srgbClr val="8A8FA3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263640" y="11704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ÉCARTÉ · &lt; 30 ou inutile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263640" y="1499616"/>
            <a:ext cx="2286000" cy="219456"/>
          </a:xfrm>
          <a:prstGeom prst="rect">
            <a:avLst/>
          </a:prstGeom>
          <a:solidFill>
            <a:srgbClr val="F0F1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318504" y="149961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Newzoo (panel biaisé)</a:t>
            </a:r>
            <a:endParaRPr lang="en-US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8119872" y="149961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6263640" y="1746504"/>
            <a:ext cx="2286000" cy="219456"/>
          </a:xfrm>
          <a:prstGeom prst="rect">
            <a:avLst/>
          </a:prstGeom>
          <a:solidFill>
            <a:srgbClr val="F0F1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318504" y="174650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vocal ou texte complet</a:t>
            </a:r>
            <a:endParaRPr lang="en-US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8119872" y="174650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263640" y="1993392"/>
            <a:ext cx="2286000" cy="219456"/>
          </a:xfrm>
          <a:prstGeom prst="rect">
            <a:avLst/>
          </a:prstGeom>
          <a:solidFill>
            <a:srgbClr val="F0F1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318504" y="199339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sur d'autres jeux</a:t>
            </a:r>
            <a:endParaRPr lang="en-US" sz="850" dirty="0"/>
          </a:p>
        </p:txBody>
      </p:sp>
      <p:sp>
        <p:nvSpPr>
          <p:cNvPr id="81" name="Text 79"/>
          <p:cNvSpPr txBox="1"/>
          <p:nvPr/>
        </p:nvSpPr>
        <p:spPr>
          <a:xfrm>
            <a:off x="8119872" y="199339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263640" y="2240280"/>
            <a:ext cx="2286000" cy="219456"/>
          </a:xfrm>
          <a:prstGeom prst="rect">
            <a:avLst/>
          </a:prstGeom>
          <a:solidFill>
            <a:srgbClr val="F0F1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318504" y="224028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exact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8119872" y="22402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63640" y="2487168"/>
            <a:ext cx="2286000" cy="219456"/>
          </a:xfrm>
          <a:prstGeom prst="rect">
            <a:avLst/>
          </a:prstGeom>
          <a:solidFill>
            <a:srgbClr val="F0F1F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318504" y="248716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de téléphone</a:t>
            </a:r>
            <a:endParaRPr lang="en-US" sz="850" dirty="0"/>
          </a:p>
        </p:txBody>
      </p:sp>
      <p:sp>
        <p:nvSpPr>
          <p:cNvPr id="87" name="Text 85"/>
          <p:cNvSpPr txBox="1"/>
          <p:nvPr/>
        </p:nvSpPr>
        <p:spPr>
          <a:xfrm>
            <a:off x="8119872" y="248716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8F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6263640" y="28803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13 indispensables existent déjà dans votre télémétrie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nouvelle collecte pour l'audit. Les deux collectes nouvelles (sondage, question d'onboarding) sont facultatives, sous consentement, après l'audit.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4572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de collecte complet (justification de chaque note)</a:t>
            </a:r>
            <a:endParaRPr lang="en-US" sz="850" dirty="0"/>
          </a:p>
        </p:txBody>
      </p:sp>
      <p:sp>
        <p:nvSpPr>
          <p:cNvPr id="90" name="Text 88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Puis tester le levier qui correspond à la cause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· tests A/B de 60 jours, seulement si l'audit confirme le problème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80160"/>
            <a:ext cx="365760" cy="36576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1280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Démarrage à froid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737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ne connaît pas le niveau d'un nouveau compte et le place mal.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3317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 : </a:t>
            </a:r>
            <a:pPr indent="0" marL="0">
              <a:buNone/>
            </a:pPr>
            <a:r>
              <a:rPr lang="en-US" sz="950" i="1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fort sur les premiers matchs, à toute heure.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à tester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de départ plus prudent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débutants jusqu'au niveau 15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46120" y="1170432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3280" y="1280160"/>
            <a:ext cx="365760" cy="365760"/>
          </a:xfrm>
          <a:prstGeom prst="ellipse">
            <a:avLst/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371600"/>
            <a:ext cx="182880" cy="1828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813048" y="1280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Manque de joueurs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1737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vide : le jeu accepte des écarts plus grands pour lancer la partie.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3383280" y="23317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 : </a:t>
            </a:r>
            <a:pPr indent="0" marL="0">
              <a:buNone/>
            </a:pPr>
            <a:r>
              <a:rPr lang="en-US" sz="950" i="1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L'écart grandit quand la file se vide.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3337560" y="29718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à tester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resserré aux heures creuses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 si 10 % attendent plus de 5 min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35040" y="1170432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172200" y="1280160"/>
            <a:ext cx="365760" cy="36576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71600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601968" y="1280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Rang périmé au retour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737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rang ne tient pas compte de la durée d'absence.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6172200" y="23317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 : </a:t>
            </a:r>
            <a:pPr indent="0" marL="0">
              <a:buNone/>
            </a:pPr>
            <a:r>
              <a:rPr lang="en-US" sz="950" i="1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revenants perdent plus, d'autant plus que l'absence a été longue.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6126480" y="297180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Leviers à tester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Matchs de recalibrage au retour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Baisse de rang selon l'absence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tous les cas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groupes séparés des joueurs seuls pour les nouveaux, étiquette « match d'entraînement » sur les parties avec bots, groupe témoin tiré au sort.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4572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NetEase du 21/08/2025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 Talk Vol.10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avons volontairement écarté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· arbitrages : moins de données, mieux choisies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11480" cy="411480"/>
          </a:xfrm>
          <a:prstGeom prst="ellipse">
            <a:avLst/>
          </a:prstGeom>
          <a:solidFill>
            <a:srgbClr val="8A8FA3"/>
          </a:solidFill>
          <a:ln w="12700">
            <a:solidFill>
              <a:srgbClr val="8A8FA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070" y="1337310"/>
            <a:ext cx="205740" cy="2057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05840" y="1188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Historique sur d'autres jeux, chat complet, âge exact, téléphone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1463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décision ne les exige ; risque RGPD élevé (minimisation, Art. 5.1.c).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411480" cy="411480"/>
          </a:xfrm>
          <a:prstGeom prst="ellipse">
            <a:avLst/>
          </a:prstGeom>
          <a:solidFill>
            <a:srgbClr val="8A8FA3"/>
          </a:solidFill>
          <a:ln w="12700">
            <a:solidFill>
              <a:srgbClr val="8A8FA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" y="2023110"/>
            <a:ext cx="205740" cy="2057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05840" y="1874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Newzoo des flux entre jeux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005840" y="2148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biaisé vers les joueurs engagés : inutilisable pour des débutants (ICE 12).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2606040"/>
            <a:ext cx="411480" cy="411480"/>
          </a:xfrm>
          <a:prstGeom prst="ellipse">
            <a:avLst/>
          </a:prstGeom>
          <a:solidFill>
            <a:srgbClr val="8A8FA3"/>
          </a:solidFill>
          <a:ln w="12700">
            <a:solidFill>
              <a:srgbClr val="8A8FA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" y="2708910"/>
            <a:ext cx="205740" cy="2057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05840" y="25603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Rôles imposés (role queue)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05840" y="2834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Contraire à l'identité du jeu, assumée par NetEase : alerte au producteur, pas de test sans son accord.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3291840"/>
            <a:ext cx="411480" cy="411480"/>
          </a:xfrm>
          <a:prstGeom prst="ellipse">
            <a:avLst/>
          </a:prstGeom>
          <a:solidFill>
            <a:srgbClr val="8A8FA3"/>
          </a:solidFill>
          <a:ln w="12700">
            <a:solidFill>
              <a:srgbClr val="8A8FA3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070" y="3394710"/>
            <a:ext cx="205740" cy="2057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05840" y="3246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Toxicité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1005840" y="3520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du périmètre matchmaking ; le tirage au sort des tests neutralise son effet sur la mesure.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57200" y="3977640"/>
            <a:ext cx="411480" cy="411480"/>
          </a:xfrm>
          <a:prstGeom prst="ellipse">
            <a:avLst/>
          </a:prstGeom>
          <a:solidFill>
            <a:srgbClr val="8A8FA3"/>
          </a:solidFill>
          <a:ln w="12700">
            <a:solidFill>
              <a:srgbClr val="8A8FA3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70" y="4080510"/>
            <a:ext cx="205740" cy="2057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05840" y="3931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 Steam comme preuve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1005840" y="4206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Gardés comme contrôle de perception seulement : PC, anglais, biais du survivant.</a:t>
            </a:r>
            <a:endParaRPr lang="en-US" sz="1050" dirty="0"/>
          </a:p>
        </p:txBody>
      </p:sp>
      <p:sp>
        <p:nvSpPr>
          <p:cNvPr id="24" name="Text 17"/>
          <p:cNvSpPr txBox="1"/>
          <p:nvPr/>
        </p:nvSpPr>
        <p:spPr>
          <a:xfrm>
            <a:off x="4572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RGPD Art. 5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de collecte complet</a:t>
            </a:r>
            <a:endParaRPr lang="en-US" sz="850" dirty="0"/>
          </a:p>
        </p:txBody>
      </p:sp>
      <p:sp>
        <p:nvSpPr>
          <p:cNvPr id="25" name="Text 18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: quand, qui, combien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phases, chacune avec sa porte de décision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188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0-30 j  </a:t>
            </a:r>
            <a:pPr indent="0" marL="0">
              <a:buNone/>
            </a:pPr>
            <a:r>
              <a:rPr lang="en-US" sz="1400" dirty="0">
                <a:solidFill>
                  <a:srgbClr val="5E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82880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data analyst à temps plein, 1 data engineer à mi-temps ; DPO NetEase pour l'accord et le hachage</a:t>
            </a:r>
            <a:endParaRPr lang="en-US" sz="10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33 jours-homme ; aucune licence nouvelle</a:t>
            </a:r>
            <a:endParaRPr lang="en-US" sz="10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≤ 1,2 sur les deux cohortes → plan B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188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30-90 j  </a:t>
            </a:r>
            <a:pPr indent="0" marL="0">
              <a:buNone/>
            </a:pPr>
            <a:r>
              <a:rPr lang="en-US" sz="1400" dirty="0">
                <a:solidFill>
                  <a:srgbClr val="5E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A/B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83280" y="182880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matchmaking NetEase + analyste</a:t>
            </a:r>
            <a:endParaRPr lang="en-US" sz="10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chiffré par NetEase avant tout lancement</a:t>
            </a:r>
            <a:endParaRPr lang="en-US" sz="10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Levier gardé si le ratio baisse et l'attente reste &lt; 5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88720"/>
            <a:ext cx="411480" cy="41148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80760" y="1188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188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90-180 j  </a:t>
            </a:r>
            <a:pPr indent="0" marL="0">
              <a:buNone/>
            </a:pPr>
            <a:r>
              <a:rPr lang="en-US" sz="1400" dirty="0">
                <a:solidFill>
                  <a:srgbClr val="5E63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Généralisation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35040" y="1737360"/>
            <a:ext cx="265176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72200" y="182880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Live-ops et communication ; page publique « comment fonctionne le matchmaking »</a:t>
            </a:r>
            <a:endParaRPr lang="en-US" sz="10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6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 mensuel sur les outils existants</a:t>
            </a:r>
            <a:endParaRPr lang="en-US" sz="1000" dirty="0"/>
          </a:p>
          <a:p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E2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31/03/2027 : ratio ≤ 1,2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873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: </a:t>
            </a:r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télémétrie in-game existante → entrepôt existant (type BigQuery ou Snowflake ; requêtes ≈ 6,25 $ par To au-delà de 1 To gratuit par mois) → BI existante (type Looker ou Tableau).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tarifs BigQuery (01/10/2026)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de collecte complet (§5 et §7)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de décision et garde-fous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/ KPIs · chaque seuil déclenche une action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070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1,2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91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départ des nouveaux qui perdent : on teste A ou 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51176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88336" y="12070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1,2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688336" y="1691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départ des revenants qui perdent : on teste C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45152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82312" y="12070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5 min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782312" y="1691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d'attente pour 10 % des joueurs : on arrête le resserrement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739128" y="1143000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161A33"/>
          </a:solidFill>
          <a:ln w="12700">
            <a:solidFill>
              <a:srgbClr val="161A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76288" y="12070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50 %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876288" y="1691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premiers matchs en partie rapide : on la corrige en premier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569464"/>
            <a:ext cx="365760" cy="36576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60904"/>
            <a:ext cx="182880" cy="18288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60120" y="251460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légale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pour le matchmaking lui-même ; intérêt légitime documenté (test de mise en balance) pour l'audit ; consentement pour les sondages.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3118104"/>
            <a:ext cx="365760" cy="36576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9544"/>
            <a:ext cx="182880" cy="1828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60120" y="306324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de sous-traitance avant tout accès, identifiants hachés par NetEase, mineurs exclus ou traités à part.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57200" y="3666744"/>
            <a:ext cx="365760" cy="36576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58184"/>
            <a:ext cx="182880" cy="18288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60120" y="361188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profilage individuel des « perdants » : les leviers s'appliquent à tous ; bots toujours annoncés.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457200" y="4215384"/>
            <a:ext cx="365760" cy="365760"/>
          </a:xfrm>
          <a:prstGeom prst="ellipse">
            <a:avLst/>
          </a:prstGeom>
          <a:solidFill>
            <a:srgbClr val="E23636"/>
          </a:solidFill>
          <a:ln w="12700">
            <a:solidFill>
              <a:srgbClr val="E23636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06824"/>
            <a:ext cx="182880" cy="1828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60120" y="416052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 : </a:t>
            </a:r>
            <a:pPr indent="0" marL="0">
              <a:buNone/>
            </a:pPr>
            <a:r>
              <a:rPr lang="en-US" sz="105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≤ 1,2 sur les deux cohortes : pas d'investissement matchmaking ; les données extraites testent équilibrage et monétisation.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477316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RGPD</a:t>
            </a:r>
            <a:pPr indent="0" marL="0">
              <a:buNone/>
            </a:pPr>
            <a:r>
              <a:rPr lang="en-US" sz="85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Act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· consultées du 29/09 au 01/10/2026 · liens cliquables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Forbes, −85 % de joueurs en 10 mois (12/10/2025)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Steam Charts, moyennes mensuelles (PC)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40 millions de joueurs, rapport NetEase (Game World Observer)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publique des avis Steam (notre collecte, 37 990 avis pondérés)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Démenti de l'EOMM (X officiel, 12/08/2025)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Vidéo NetEase sur le matchmaking (21/08/2025)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Notes de patch Season 5, placements (14/11/2025)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Classé : Bronze III pour tous (PCGamesN)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 Talk Vol.10, réinitialisation du rang (NetEase)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Inactivité limitée aux rangs Eternity et One Above All (Timesaver, source tierce)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45 % des joueurs ayant quitté Overwatch 2 ont joué à Marvel Rivals (Newzoo via Insider Gaming, 09/04/2025)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Overwatch 2 : baisse des joueurs moyens sur PC (VGC)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« Plus un jeu pour le fan occasionnel » (TheGamer, 09/08/2025)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Tarifs BigQuery, requêtes à la demande (Google Cloud)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RGPD (EUR-Lex)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Act (EUR-Lex)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u="sng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de collecte complet (Google Docs)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anticipées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· réponses courtes, à garder sous la main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618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cette donnée et pas une autre 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544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ICE le plus haut, et elle tranche directement l'hypothèse (départ à 7 jours, cause A, B ou C).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2618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ça coûte ?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5544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33 jours-homme pour l'audit ; aucune licence nouvelle ; requêtes ≈ 6,25 $ par To au-delà de 1 To gratuit.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350008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23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 base légale ?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1576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pour le matchmaking ; intérêt légitime documenté pour l'audit ; consentement pour les sondages.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350008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423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savoir si ça marche ?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71576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≤ 1,2 au 31/03/2027 sur les deux cohortes ; sinon, plan B sans nouvelle collecte.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511296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584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Qu'avez-vous écarté ?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87705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personnelles sans décision (chat, âge, téléphone, autres jeux), benchmark Newzoo (ICE 12), rôles imposés.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3511296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584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36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Où avez-vous utilisé l'IA ?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7705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usages tracés en annexe du rapport : outil, prompt, réponse, analyse critique (retenu, rejeté, à vérifier).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477316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Marvel Rivals : pourquoi les joueurs ne restent pas</dc:title>
  <dc:subject>PptxGenJS Presentation</dc:subject>
  <dc:creator>Noé</dc:creator>
  <cp:lastModifiedBy>Noé</cp:lastModifiedBy>
  <cp:revision>1</cp:revision>
  <dcterms:created xsi:type="dcterms:W3CDTF">2026-10-01T15:45:24Z</dcterms:created>
  <dcterms:modified xsi:type="dcterms:W3CDTF">2026-10-01T15:45:24Z</dcterms:modified>
</cp:coreProperties>
</file>