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Joueurs simultanés, moyenne mensuelle (milliers)</a:t>
            </a:r>
          </a:p>
        </c:rich>
      </c:tx>
      <c:layout/>
      <c:overlay val="0"/>
    </c:title>
    <c:autoTitleDeleted val="0"/>
    <c:plotArea>
      <c:layout/>
      <c:lineChart>
        <c:varyColors val="0"/>
        <c:ser>
          <c:idx val="0"/>
          <c:order val="0"/>
          <c:tx>
            <c:strRef>
              <c:f>Sheet1!$B$1</c:f>
              <c:strCache>
                <c:ptCount val="1"/>
                <c:pt idx="0">
                  <c:v>Joueurs simultanés (milliers)</c:v>
                </c:pt>
              </c:strCache>
            </c:strRef>
          </c:tx>
          <c:spPr>
            <a:solidFill>
              <a:srgbClr val="E23636"/>
            </a:solidFill>
            <a:ln w="31750" cap="flat">
              <a:solidFill>
                <a:srgbClr val="E236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23636"/>
              </a:solidFill>
              <a:ln w="9525" cap="flat">
                <a:solidFill>
                  <a:srgbClr val="E23636"/>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279</c:v>
                </c:pt>
                <c:pt idx="1">
                  <c:v>306</c:v>
                </c:pt>
                <c:pt idx="2">
                  <c:v>228</c:v>
                </c:pt>
                <c:pt idx="3">
                  <c:v>144</c:v>
                </c:pt>
                <c:pt idx="4">
                  <c:v>134</c:v>
                </c:pt>
                <c:pt idx="5">
                  <c:v>102</c:v>
                </c:pt>
                <c:pt idx="6">
                  <c:v>80</c:v>
                </c:pt>
                <c:pt idx="7">
                  <c:v>83</c:v>
                </c:pt>
                <c:pt idx="8">
                  <c:v>78</c:v>
                </c:pt>
                <c:pt idx="9">
                  <c:v>64</c:v>
                </c:pt>
                <c:pt idx="10">
                  <c:v>64</c:v>
                </c:pt>
                <c:pt idx="11">
                  <c:v>65</c:v>
                </c:pt>
                <c:pt idx="12">
                  <c:v>75</c:v>
                </c:pt>
                <c:pt idx="13">
                  <c:v>89</c:v>
                </c:pt>
                <c:pt idx="14">
                  <c:v>81</c:v>
                </c:pt>
                <c:pt idx="15">
                  <c:v>65</c:v>
                </c:pt>
                <c:pt idx="16">
                  <c:v>70</c:v>
                </c:pt>
                <c:pt idx="17">
                  <c:v>68</c:v>
                </c:pt>
                <c:pt idx="18">
                  <c:v>70</c:v>
                </c:pt>
                <c:pt idx="19">
                  <c:v>84</c:v>
                </c:pt>
                <c:pt idx="20">
                  <c:v>80</c:v>
                </c:pt>
                <c:pt idx="21">
                  <c:v>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5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 des avis Steam négatifs qui citent le matchmaking</a:t>
            </a:r>
          </a:p>
        </c:rich>
      </c:tx>
      <c:layout/>
      <c:overlay val="0"/>
    </c:title>
    <c:autoTitleDeleted val="0"/>
    <c:plotArea>
      <c:layout/>
      <c:lineChart>
        <c:varyColors val="0"/>
        <c:ser>
          <c:idx val="0"/>
          <c:order val="0"/>
          <c:tx>
            <c:strRef>
              <c:f>Sheet1!$B$1</c:f>
              <c:strCache>
                <c:ptCount val="1"/>
                <c:pt idx="0">
                  <c:v>% des avis négatifs citant le matchmaking</c:v>
                </c:pt>
              </c:strCache>
            </c:strRef>
          </c:tx>
          <c:spPr>
            <a:solidFill>
              <a:srgbClr val="161A33"/>
            </a:solidFill>
            <a:ln w="31750" cap="flat">
              <a:solidFill>
                <a:srgbClr val="161A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161A33"/>
              </a:solidFill>
              <a:ln w="9525" cap="flat">
                <a:solidFill>
                  <a:srgbClr val="161A33"/>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7.4</c:v>
                </c:pt>
                <c:pt idx="1">
                  <c:v>10.9</c:v>
                </c:pt>
                <c:pt idx="2">
                  <c:v>12.1</c:v>
                </c:pt>
                <c:pt idx="3">
                  <c:v>20.3</c:v>
                </c:pt>
                <c:pt idx="4">
                  <c:v>21.1</c:v>
                </c:pt>
                <c:pt idx="5">
                  <c:v>29.1</c:v>
                </c:pt>
                <c:pt idx="6">
                  <c:v>27.6</c:v>
                </c:pt>
                <c:pt idx="7">
                  <c:v>37</c:v>
                </c:pt>
                <c:pt idx="8">
                  <c:v>41</c:v>
                </c:pt>
                <c:pt idx="9">
                  <c:v>33.9</c:v>
                </c:pt>
                <c:pt idx="10">
                  <c:v>25.9</c:v>
                </c:pt>
                <c:pt idx="11">
                  <c:v>17.3</c:v>
                </c:pt>
                <c:pt idx="12">
                  <c:v>18.2</c:v>
                </c:pt>
                <c:pt idx="13">
                  <c:v>15.4</c:v>
                </c:pt>
                <c:pt idx="14">
                  <c:v>15.6</c:v>
                </c:pt>
                <c:pt idx="15">
                  <c:v>13.4</c:v>
                </c:pt>
                <c:pt idx="16">
                  <c:v>14.4</c:v>
                </c:pt>
                <c:pt idx="17">
                  <c:v>14.7</c:v>
                </c:pt>
                <c:pt idx="18">
                  <c:v>14.2</c:v>
                </c:pt>
                <c:pt idx="19">
                  <c:v>8.8</c:v>
                </c:pt>
                <c:pt idx="20">
                  <c:v>13.4</c:v>
                </c:pt>
                <c:pt idx="21">
                  <c:v>10.5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E3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Pourquoi ? Notre hypothèse : nouveaux et revenants subissent des écarts de niveau non compensés, et partent. En partie rapide, faute de joueurs, le jeu accepte des écarts plus grands, NetEase l'a reconnu. En classé, un joueur qui revient retrouve un rang à peine abaissé, perd et repart. L'origine probable : au lancement, des vétérans d'Overwatch face à un grand public venu pour Marvel. Plausible, mais invérifiable : aucune décision n'en dépend.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Six données d'abord : la première mesure l'objectif, la deuxième dit où jouent les nouveaux, trois testent chacune une cause,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Chaque donnée est notée sur l'impact, la confiance et la facilité ; le score est leur produit. Treize dépassent 80, toutes déjà dans votre télémétrie. Le chat ou le téléphone tombent sous 30 : risque RGPD sans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le ratio dépasse 1,2, et seulement les causes que l'audit confirme : une, deux ou les trois, chacune avec son levier. Démarrage à froid : niveau de départ plus prudent. Manque de joueurs : écart resserré aux heures creuses, arrêté si l'attente dépasse 3 minutes. Rang périmé : matchs de recalibrage au retour.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Phase 1 : trente jours d'audit par un data analyst et un data engineer ; rien ne change pour les joueurs. Si un ratio dépasse 1,2, phase 2 : votre équipe matchmaking teste le réglage de chaque cause confirmée sur des joueurs tirés au sort. Un réglage n'est gardé que s'il réduit les départs sans dépasser 3 minutes d'attente. Phase 3 : les gagnants passent à tous, annoncés dans les notes de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Seuls 19 000 euros sont engagés aujourd'hui. Si les tests sont lancés, 45 000 euros d'analyse et moins de 4 000 dollars d'outils. Nous n'achetons ni SDK, ni CDP, ni CRM : votre stack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3 minutes d'attente arrêtent le resserrement : au-delà, un hero shooter paraît mort.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Question imposée du jury, sans carte à l'écran : « Où avez-vous utilisé l'IA ? ». Réponse : 10 usages tracés en annexe du rapport (outil, prompt, réponse, analyse critique), plus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4" Type="http://schemas.openxmlformats.org/officeDocument/2006/relationships/hyperlink" Target="https://steamcharts.com/app/2767030"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1" Type="http://schemas.openxmlformats.org/officeDocument/2006/relationships/chart" Target="/ppt/charts/chart1.xml"/><Relationship Id="rId2" Type="http://schemas.openxmlformats.org/officeDocument/2006/relationships/chart" Target="/ppt/charts/chart2.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x.com/MarvelRivals/status/1958627668536311945" TargetMode="External"/><Relationship Id="rId4" Type="http://schemas.openxmlformats.org/officeDocument/2006/relationships/hyperlink" Target="https://www.marvelrivals.com/devdiaries/20250210/40954_1210988.html" TargetMode="External"/><Relationship Id="rId5" Type="http://schemas.openxmlformats.org/officeDocument/2006/relationships/hyperlink" Target="https://timesaver.gg/blog/marvel-rivals-season-10-rank-reset" TargetMode="External"/><Relationship Id="rId6"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hyperlink" Target="https://www.marvelrivals.com/20251114/41525_1270590.html"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6" Type="http://schemas.openxmlformats.org/officeDocument/2006/relationships/hyperlink" Target="https://eur-lex.europa.eu/eli/reg/2016/679/oj" TargetMode="External"/><Relationship Id="rId7" Type="http://schemas.openxmlformats.org/officeDocument/2006/relationships/hyperlink" Target="https://docs.google.com/document/d/1nOhcAL2wfeAHOK6x6UZH-Hg5yh9Ofxxko7FY47r5Vzc/edit"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tjmetre.fr/barometre/data" TargetMode="External"/><Relationship Id="rId2" Type="http://schemas.openxmlformats.org/officeDocument/2006/relationships/hyperlink" Target="https://cloud.google.com/bigquery/pricing" TargetMode="External"/><Relationship Id="rId3" Type="http://schemas.openxmlformats.org/officeDocument/2006/relationships/hyperlink" Target="https://www.microsoft.com/en-us/power-platform/products/power-bi/pricing" TargetMode="External"/><Relationship Id="rId4" Type="http://schemas.openxmlformats.org/officeDocument/2006/relationships/hyperlink" Target="https://docs.google.com/document/d/1nOhcAL2wfeAHOK6x6UZH-Hg5yh9Ofxxko7FY47r5Vzc/edit" TargetMode="External"/><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eur-lex.europa.eu/eli/reg/2016/679/oj" TargetMode="External"/><Relationship Id="rId2" Type="http://schemas.openxmlformats.org/officeDocument/2006/relationships/hyperlink" Target="https://eur-lex.europa.eu/eli/reg/2024/1689/oj"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forbes.com/sites/paultassi/2025/10/12/marvel-rivals-has-lost-85-of-its-players-in-10-months/" TargetMode="External"/><Relationship Id="rId2" Type="http://schemas.openxmlformats.org/officeDocument/2006/relationships/hyperlink" Target="https://steamcharts.com/app/2767030" TargetMode="External"/><Relationship Id="rId3" Type="http://schemas.openxmlformats.org/officeDocument/2006/relationships/hyperlink" Target="https://gameworldobserver.com/2025/02/20/marvel-rivals-40-million-players-netease-fy24-report" TargetMode="External"/><Relationship Id="rId4" Type="http://schemas.openxmlformats.org/officeDocument/2006/relationships/hyperlink" Target="https://store.steampowered.com/appreviews/2767030?json=1" TargetMode="External"/><Relationship Id="rId5" Type="http://schemas.openxmlformats.org/officeDocument/2006/relationships/hyperlink" Target="https://x.com/MarvelRivals/status/1955117077561593877" TargetMode="External"/><Relationship Id="rId6" Type="http://schemas.openxmlformats.org/officeDocument/2006/relationships/hyperlink" Target="https://x.com/MarvelRivals/status/1958627668536311945" TargetMode="External"/><Relationship Id="rId7" Type="http://schemas.openxmlformats.org/officeDocument/2006/relationships/hyperlink" Target="https://www.marvelrivals.com/20251114/41525_1270590.html" TargetMode="External"/><Relationship Id="rId8" Type="http://schemas.openxmlformats.org/officeDocument/2006/relationships/hyperlink" Target="https://www.pcgamesn.com/marvel-rivals/ranks-competitive" TargetMode="External"/><Relationship Id="rId9" Type="http://schemas.openxmlformats.org/officeDocument/2006/relationships/hyperlink" Target="https://www.marvelrivals.com/devdiaries/20250210/40954_1210988.html" TargetMode="External"/><Relationship Id="rId10" Type="http://schemas.openxmlformats.org/officeDocument/2006/relationships/hyperlink" Target="https://timesaver.gg/blog/marvel-rivals-season-10-rank-reset" TargetMode="External"/><Relationship Id="rId11" Type="http://schemas.openxmlformats.org/officeDocument/2006/relationships/hyperlink" Target="https://insider-gaming.com/almost-half-of-players-who-quit-overwatch-jumped-to-marvel-rivals/" TargetMode="External"/><Relationship Id="rId12" Type="http://schemas.openxmlformats.org/officeDocument/2006/relationships/hyperlink" Target="https://www.videogameschronicle.com/news/overwatch-2s-average-pc-player-count-has-dropped-39-since-marvel-rivals-was-released/" TargetMode="External"/><Relationship Id="rId13" Type="http://schemas.openxmlformats.org/officeDocument/2006/relationships/hyperlink" Target="https://www.thegamer.com/marvel-rivals-no-longer-casual-friendly-black-panther-matchmaking/" TargetMode="External"/><Relationship Id="rId14" Type="http://schemas.openxmlformats.org/officeDocument/2006/relationships/hyperlink" Target="https://cloud.google.com/bigquery/pricing" TargetMode="External"/><Relationship Id="rId15" Type="http://schemas.openxmlformats.org/officeDocument/2006/relationships/hyperlink" Target="https://www.microsoft.com/en-us/power-platform/products/power-bi/pricing" TargetMode="External"/><Relationship Id="rId16" Type="http://schemas.openxmlformats.org/officeDocument/2006/relationships/hyperlink" Target="https://tjmetre.fr/barometre/data" TargetMode="External"/><Relationship Id="rId17" Type="http://schemas.openxmlformats.org/officeDocument/2006/relationships/hyperlink" Target="https://eur-lex.europa.eu/eli/reg/2016/679/oj" TargetMode="External"/><Relationship Id="rId18" Type="http://schemas.openxmlformats.org/officeDocument/2006/relationships/hyperlink" Target="https://eur-lex.europa.eu/eli/reg/2024/1689/oj" TargetMode="External"/><Relationship Id="rId19" Type="http://schemas.openxmlformats.org/officeDocument/2006/relationships/hyperlink" Target="https://docs.google.com/document/d/1nOhcAL2wfeAHOK6x6UZH-Hg5yh9Ofxxko7FY47r5Vzc/edit" TargetMode="External"/><Relationship Id="rId20" Type="http://schemas.openxmlformats.org/officeDocument/2006/relationships/slideLayout" Target="../slideLayouts/slideLayout1.xml"/><Relationship Id="rId2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33"/>
        </a:solidFill>
      </p:bgPr>
    </p:bg>
    <p:spTree>
      <p:nvGrpSpPr>
        <p:cNvPr id="1" name=""/>
        <p:cNvGrpSpPr/>
        <p:nvPr/>
      </p:nvGrpSpPr>
      <p:grpSpPr>
        <a:xfrm>
          <a:off x="0" y="0"/>
          <a:ext cx="0" cy="0"/>
          <a:chOff x="0" y="0"/>
          <a:chExt cx="0" cy="0"/>
        </a:xfrm>
      </p:grpSpPr>
      <p:sp>
        <p:nvSpPr>
          <p:cNvPr id="2" name="Shape 0"/>
          <p:cNvSpPr/>
          <p:nvPr/>
        </p:nvSpPr>
        <p:spPr>
          <a:xfrm>
            <a:off x="457200" y="457200"/>
            <a:ext cx="548640" cy="548640"/>
          </a:xfrm>
          <a:prstGeom prst="ellipse">
            <a:avLst/>
          </a:prstGeom>
          <a:solidFill>
            <a:srgbClr val="E23636"/>
          </a:solidFill>
          <a:ln w="12700">
            <a:solidFill>
              <a:srgbClr val="E23636"/>
            </a:solidFill>
            <a:prstDash val="solid"/>
          </a:ln>
        </p:spPr>
      </p:sp>
      <p:pic>
        <p:nvPicPr>
          <p:cNvPr id="3" name="Image 0" descr="preencoded.png">    </p:cNvPr>
          <p:cNvPicPr>
            <a:picLocks noChangeAspect="1"/>
          </p:cNvPicPr>
          <p:nvPr/>
        </p:nvPicPr>
        <p:blipFill>
          <a:blip r:embed="rId1"/>
          <a:stretch>
            <a:fillRect/>
          </a:stretch>
        </p:blipFill>
        <p:spPr>
          <a:xfrm>
            <a:off x="594360" y="594360"/>
            <a:ext cx="274320" cy="274320"/>
          </a:xfrm>
          <a:prstGeom prst="rect">
            <a:avLst/>
          </a:prstGeom>
        </p:spPr>
      </p:pic>
      <p:sp>
        <p:nvSpPr>
          <p:cNvPr id="4" name="Text 1"/>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5400" b="1" dirty="0">
                <a:solidFill>
                  <a:srgbClr val="E23636"/>
                </a:solidFill>
                <a:latin typeface="Arial" pitchFamily="34" charset="0"/>
                <a:ea typeface="Arial" pitchFamily="34" charset="-122"/>
                <a:cs typeface="Arial" pitchFamily="34" charset="-120"/>
              </a:rPr>
              <a:t>644 000 → 98 000</a:t>
            </a:r>
            <a:endParaRPr lang="en-US" sz="5400" dirty="0"/>
          </a:p>
        </p:txBody>
      </p:sp>
      <p:sp>
        <p:nvSpPr>
          <p:cNvPr id="5" name="Text 2"/>
          <p:cNvSpPr txBox="1"/>
          <p:nvPr/>
        </p:nvSpPr>
        <p:spPr>
          <a:xfrm>
            <a:off x="457200" y="2011680"/>
            <a:ext cx="8229600" cy="365760"/>
          </a:xfrm>
          <a:prstGeom prst="rect">
            <a:avLst/>
          </a:prstGeom>
          <a:noFill/>
          <a:ln/>
        </p:spPr>
        <p:txBody>
          <a:bodyPr wrap="square" lIns="0" tIns="0" rIns="0" bIns="0" rtlCol="0" anchor="ctr"/>
          <a:lstStyle/>
          <a:p>
            <a:pPr indent="0" marL="0">
              <a:buNone/>
            </a:pPr>
            <a:r>
              <a:rPr lang="en-US" sz="1800" dirty="0">
                <a:solidFill>
                  <a:srgbClr val="C9CCDA"/>
                </a:solidFill>
                <a:latin typeface="Calibri" pitchFamily="34" charset="0"/>
                <a:ea typeface="Calibri" pitchFamily="34" charset="-122"/>
                <a:cs typeface="Calibri" pitchFamily="34" charset="-120"/>
              </a:rPr>
              <a:t>joueurs simultanés sur Steam, en dix mois</a:t>
            </a:r>
            <a:endParaRPr lang="en-US" sz="1800" dirty="0"/>
          </a:p>
        </p:txBody>
      </p:sp>
      <p:sp>
        <p:nvSpPr>
          <p:cNvPr id="6" name="Text 3"/>
          <p:cNvSpPr txBox="1"/>
          <p:nvPr/>
        </p:nvSpPr>
        <p:spPr>
          <a:xfrm>
            <a:off x="457200" y="2743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Marvel Rivals : pourquoi les joueurs ne restent pas</a:t>
            </a:r>
            <a:endParaRPr lang="en-US" sz="2800" dirty="0"/>
          </a:p>
        </p:txBody>
      </p:sp>
      <p:sp>
        <p:nvSpPr>
          <p:cNvPr id="7" name="Text 4"/>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15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500" dirty="0"/>
          </a:p>
        </p:txBody>
      </p:sp>
      <p:sp>
        <p:nvSpPr>
          <p:cNvPr id="8" name="Text 5"/>
          <p:cNvSpPr txBox="1"/>
          <p:nvPr/>
        </p:nvSpPr>
        <p:spPr>
          <a:xfrm>
            <a:off x="457200" y="4297680"/>
            <a:ext cx="5486400" cy="274320"/>
          </a:xfrm>
          <a:prstGeom prst="rect">
            <a:avLst/>
          </a:prstGeom>
          <a:noFill/>
          <a:ln/>
        </p:spPr>
        <p:txBody>
          <a:bodyPr wrap="square" lIns="0" tIns="0" rIns="0" bIns="0" rtlCol="0" anchor="ctr"/>
          <a:lstStyle/>
          <a:p>
            <a:pPr indent="0" marL="0">
              <a:buNone/>
            </a:pPr>
            <a:r>
              <a:rPr lang="en-US" sz="1200" dirty="0">
                <a:solidFill>
                  <a:srgbClr val="C9CCDA"/>
                </a:solidFill>
                <a:latin typeface="Calibri" pitchFamily="34" charset="0"/>
                <a:ea typeface="Calibri" pitchFamily="34" charset="-122"/>
                <a:cs typeface="Calibri" pitchFamily="34" charset="-120"/>
              </a:rPr>
              <a:t>Noé, consultant · 2 octobre 2026</a:t>
            </a:r>
            <a:endParaRPr lang="en-US" sz="1200" dirty="0"/>
          </a:p>
        </p:txBody>
      </p:sp>
      <p:sp>
        <p:nvSpPr>
          <p:cNvPr id="9" name="Text 6"/>
          <p:cNvSpPr txBox="1"/>
          <p:nvPr/>
        </p:nvSpPr>
        <p:spPr>
          <a:xfrm>
            <a:off x="5943600" y="4297680"/>
            <a:ext cx="2743200" cy="274320"/>
          </a:xfrm>
          <a:prstGeom prst="rect">
            <a:avLst/>
          </a:prstGeom>
          <a:noFill/>
          <a:ln/>
        </p:spPr>
        <p:txBody>
          <a:bodyPr wrap="square" lIns="0" tIns="0" rIns="0" bIns="0" rtlCol="0" anchor="ctr"/>
          <a:lstStyle/>
          <a:p>
            <a:pPr algn="r" indent="0" marL="0">
              <a:buNone/>
            </a:pPr>
            <a:r>
              <a:rPr lang="en-US" sz="1000" u="sng" dirty="0">
                <a:solidFill>
                  <a:srgbClr val="9FB4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12/10/2025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Le problème business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Contexte · le B du BODAK, prouvé par les données (Steam = PC uniquement)</a:t>
            </a:r>
            <a:endParaRPr lang="en-US" sz="1200" dirty="0"/>
          </a:p>
        </p:txBody>
      </p:sp>
      <p:sp>
        <p:nvSpPr>
          <p:cNvPr id="4" name="Shape 2"/>
          <p:cNvSpPr/>
          <p:nvPr/>
        </p:nvSpPr>
        <p:spPr>
          <a:xfrm>
            <a:off x="457200" y="1143000"/>
            <a:ext cx="8229600" cy="566928"/>
          </a:xfrm>
          <a:prstGeom prst="roundRect">
            <a:avLst>
              <a:gd name="adj" fmla="val 12903"/>
            </a:avLst>
          </a:prstGeom>
          <a:solidFill>
            <a:srgbClr val="161A33"/>
          </a:solidFill>
          <a:ln w="12700">
            <a:solidFill>
              <a:srgbClr val="161A33"/>
            </a:solidFill>
            <a:prstDash val="solid"/>
          </a:ln>
        </p:spPr>
      </p:sp>
      <p:sp>
        <p:nvSpPr>
          <p:cNvPr id="5" name="Text 3"/>
          <p:cNvSpPr txBox="1"/>
          <p:nvPr/>
        </p:nvSpPr>
        <p:spPr>
          <a:xfrm>
            <a:off x="640080" y="1161288"/>
            <a:ext cx="7863840" cy="530352"/>
          </a:xfrm>
          <a:prstGeom prst="rect">
            <a:avLst/>
          </a:prstGeom>
          <a:noFill/>
          <a:ln/>
        </p:spPr>
        <p:txBody>
          <a:bodyPr wrap="square" lIns="0" tIns="0" rIns="0" bIns="0" rtlCol="0" anchor="ctr"/>
          <a:lstStyle/>
          <a:p>
            <a:pPr indent="0" marL="0">
              <a:buNone/>
            </a:pPr>
            <a:r>
              <a:rPr lang="en-US" sz="1300" b="1" dirty="0">
                <a:solidFill>
                  <a:srgbClr val="E23636"/>
                </a:solidFill>
                <a:latin typeface="Calibri" pitchFamily="34" charset="0"/>
                <a:ea typeface="Calibri" pitchFamily="34" charset="-122"/>
                <a:cs typeface="Calibri" pitchFamily="34" charset="-120"/>
              </a:rPr>
              <a:t>B : </a:t>
            </a:r>
            <a:pPr indent="0" marL="0">
              <a:buNone/>
            </a:pPr>
            <a:r>
              <a:rPr lang="en-US" sz="1300"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graphicFrame>
        <p:nvGraphicFramePr>
          <p:cNvPr id="6" name="Chart 0" descr=""/>
          <p:cNvGraphicFramePr/>
          <p:nvPr/>
        </p:nvGraphicFramePr>
        <p:xfrm>
          <a:off x="320040" y="1783080"/>
          <a:ext cx="4251960"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4572000" y="1783080"/>
          <a:ext cx="4251960" cy="19659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−85 %</a:t>
            </a:r>
            <a:endParaRPr lang="en-US" sz="2000" dirty="0"/>
          </a:p>
        </p:txBody>
      </p:sp>
      <p:sp>
        <p:nvSpPr>
          <p:cNvPr id="9" name="Text 5"/>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0" name="Text 6"/>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2 mois</a:t>
            </a:r>
            <a:endParaRPr lang="en-US" sz="2000" dirty="0"/>
          </a:p>
        </p:txBody>
      </p:sp>
      <p:sp>
        <p:nvSpPr>
          <p:cNvPr id="11" name="Text 7"/>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2" name="Text 8"/>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161A33"/>
                </a:solidFill>
                <a:latin typeface="Arial" pitchFamily="34" charset="0"/>
                <a:ea typeface="Arial" pitchFamily="34" charset="-122"/>
                <a:cs typeface="Arial" pitchFamily="34" charset="-120"/>
              </a:rPr>
              <a:t>7 → 41 %</a:t>
            </a:r>
            <a:endParaRPr lang="en-US" sz="2000" dirty="0"/>
          </a:p>
        </p:txBody>
      </p:sp>
      <p:sp>
        <p:nvSpPr>
          <p:cNvPr id="13" name="Text 9"/>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15" name="Text 11"/>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Hypothèse : un écart de niveau qui fait partir</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H5 : nouveaux et revenants subissent des écarts non compensés (testable)</a:t>
            </a:r>
            <a:endParaRPr lang="en-US" sz="1200" dirty="0"/>
          </a:p>
        </p:txBody>
      </p:sp>
      <p:sp>
        <p:nvSpPr>
          <p:cNvPr id="4" name="Shape 2"/>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5" name="Shape 3"/>
          <p:cNvSpPr/>
          <p:nvPr/>
        </p:nvSpPr>
        <p:spPr>
          <a:xfrm>
            <a:off x="640080" y="1298448"/>
            <a:ext cx="384048" cy="384048"/>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736092" y="1394460"/>
            <a:ext cx="192024" cy="192024"/>
          </a:xfrm>
          <a:prstGeom prst="rect">
            <a:avLst/>
          </a:prstGeom>
        </p:spPr>
      </p:pic>
      <p:sp>
        <p:nvSpPr>
          <p:cNvPr id="7" name="Text 4"/>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8" name="Text 5"/>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23636"/>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9" name="Shape 6"/>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0" name="Shape 7"/>
          <p:cNvSpPr/>
          <p:nvPr/>
        </p:nvSpPr>
        <p:spPr>
          <a:xfrm>
            <a:off x="4846320" y="1298448"/>
            <a:ext cx="384048" cy="384048"/>
          </a:xfrm>
          <a:prstGeom prst="ellipse">
            <a:avLst/>
          </a:prstGeom>
          <a:solidFill>
            <a:srgbClr val="161A33"/>
          </a:solidFill>
          <a:ln w="12700">
            <a:solidFill>
              <a:srgbClr val="161A33"/>
            </a:solidFill>
            <a:prstDash val="solid"/>
          </a:ln>
        </p:spPr>
      </p:sp>
      <p:pic>
        <p:nvPicPr>
          <p:cNvPr id="11" name="Image 1" descr="preencoded.png">    </p:cNvPr>
          <p:cNvPicPr>
            <a:picLocks noChangeAspect="1"/>
          </p:cNvPicPr>
          <p:nvPr/>
        </p:nvPicPr>
        <p:blipFill>
          <a:blip r:embed="rId2"/>
          <a:stretch>
            <a:fillRect/>
          </a:stretch>
        </p:blipFill>
        <p:spPr>
          <a:xfrm>
            <a:off x="4942332" y="1394460"/>
            <a:ext cx="192024" cy="192024"/>
          </a:xfrm>
          <a:prstGeom prst="rect">
            <a:avLst/>
          </a:prstGeom>
        </p:spPr>
      </p:pic>
      <p:sp>
        <p:nvSpPr>
          <p:cNvPr id="12" name="Text 8"/>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 en classé</a:t>
            </a:r>
            <a:endParaRPr lang="en-US" sz="1300" dirty="0"/>
          </a:p>
        </p:txBody>
      </p:sp>
      <p:sp>
        <p:nvSpPr>
          <p:cNvPr id="13" name="Text 9"/>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161A33"/>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À chaque saison, le rang n'est abaissé que de 6 divisions, quelle que soit la durée de l'absence (Dev Talk Vol.10).</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14" name="Text 1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23636"/>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16" name="Text 1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D'abord mesurer : 30 jours d'audit</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objectif SMART et données à extraire en priorité, et pourquoi</a:t>
            </a:r>
            <a:endParaRPr lang="en-US" sz="1200" dirty="0"/>
          </a:p>
        </p:txBody>
      </p:sp>
      <p:sp>
        <p:nvSpPr>
          <p:cNvPr id="4" name="Shape 2"/>
          <p:cNvSpPr/>
          <p:nvPr/>
        </p:nvSpPr>
        <p:spPr>
          <a:xfrm>
            <a:off x="457200" y="1143000"/>
            <a:ext cx="8229600" cy="658368"/>
          </a:xfrm>
          <a:prstGeom prst="roundRect">
            <a:avLst>
              <a:gd name="adj" fmla="val 11111"/>
            </a:avLst>
          </a:prstGeom>
          <a:solidFill>
            <a:srgbClr val="161A33"/>
          </a:solidFill>
          <a:ln w="12700">
            <a:solidFill>
              <a:srgbClr val="161A33"/>
            </a:solidFill>
            <a:prstDash val="solid"/>
          </a:ln>
        </p:spPr>
      </p:sp>
      <p:sp>
        <p:nvSpPr>
          <p:cNvPr id="5" name="Text 3"/>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200400"/>
                <a:gridCol w="2377440"/>
                <a:gridCol w="2651760"/>
              </a:tblGrid>
              <a:tr h="237744">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Résultats des 10 premiers matchs et départ à 7 jours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perdre au début fait partir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C'est la mesure de l'objectif</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 ces 10 premiers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Où jouent les nouveaux</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Dit quel mode corriger en premier (Steam = PC seul)</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jeu place mal un nouveau</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A (démarrage à froid)</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l'écart grandit quand la file se vide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B (manque de joueurs)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Durée d'absence, rang au retour et bilan des 10 premiers matchs classés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rang au retour est périmé</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C (joueurs de retour)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mieux placer les joueurs les a retenus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Expérience déjà faite : la preuve la moins chère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416552"/>
            <a:ext cx="8229600" cy="320040"/>
          </a:xfrm>
          <a:prstGeom prst="rect">
            <a:avLst/>
          </a:prstGeom>
          <a:noFill/>
          <a:ln/>
        </p:spPr>
        <p:txBody>
          <a:bodyPr wrap="square" lIns="0" tIns="0" rIns="0" bIns="0" rtlCol="0" anchor="ctr"/>
          <a:lstStyle/>
          <a:p>
            <a:pPr indent="0" marL="0">
              <a:buNone/>
            </a:pPr>
            <a:r>
              <a:rPr lang="en-US" sz="95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5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Matrice ICE : 13 données indispensables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Impact × Confiance × Facilité, chacun sur 5 = score sur 125 · coupe sous 30</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566160"/>
                <a:gridCol w="548640"/>
                <a:gridCol w="548640"/>
                <a:gridCol w="548640"/>
                <a:gridCol w="685800"/>
                <a:gridCol w="2331720"/>
              </a:tblGrid>
              <a:tr h="233172">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Donnée candidate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Score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Décision</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accepté × joueurs en file (heure, région)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B</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 à 7 jours × bilan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mesure l'objectif</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et vitesse de convergence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A</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Joueurs de retour : absence × rang au retour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subi en partie rapide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Performance des comptes neufs (smurfs)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Avis Steam agrégés (collecte déjà faite)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contrôle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Sondage d'équité perçue (1 match sur 10)</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après l'audit</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Benchmark Newzoo (panel biaisé)</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sous 30</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Chat vocal ou texte complet</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RGPD lourd</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Numéro de téléphone (anti-smurf)</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disproportionné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bl>
          </a:graphicData>
        </a:graphic>
      </p:graphicFrame>
      <p:sp>
        <p:nvSpPr>
          <p:cNvPr id="5" name="Text 2"/>
          <p:cNvSpPr txBox="1"/>
          <p:nvPr/>
        </p:nvSpPr>
        <p:spPr>
          <a:xfrm>
            <a:off x="457200" y="4270248"/>
            <a:ext cx="8229600" cy="411480"/>
          </a:xfrm>
          <a:prstGeom prst="rect">
            <a:avLst/>
          </a:prstGeom>
          <a:noFill/>
          <a:ln/>
        </p:spPr>
        <p:txBody>
          <a:bodyPr wrap="square" lIns="0" tIns="0" rIns="0" bIns="0" rtlCol="0" anchor="ctr"/>
          <a:lstStyle/>
          <a:p>
            <a:pPr indent="0" marL="0">
              <a:buNone/>
            </a:pPr>
            <a:r>
              <a:rPr lang="en-US" sz="950" b="1" dirty="0">
                <a:solidFill>
                  <a:srgbClr val="1F2233"/>
                </a:solidFill>
                <a:latin typeface="Calibri" pitchFamily="34" charset="0"/>
                <a:ea typeface="Calibri" pitchFamily="34" charset="-122"/>
                <a:cs typeface="Calibri" pitchFamily="34" charset="-120"/>
              </a:rPr>
              <a:t>Les 13 indispensables existent déjà dans votre télémétrie : </a:t>
            </a:r>
            <a:pPr indent="0" marL="0">
              <a:buNone/>
            </a:pPr>
            <a:r>
              <a:rPr lang="en-US" sz="950" dirty="0">
                <a:solidFill>
                  <a:srgbClr val="1F2233"/>
                </a:solidFill>
                <a:latin typeface="Calibri" pitchFamily="34" charset="0"/>
                <a:ea typeface="Calibri" pitchFamily="34" charset="-122"/>
                <a:cs typeface="Calibri" pitchFamily="34" charset="-120"/>
              </a:rPr>
              <a:t>aucune nouvelle collecte pour l'audit. Extrait de la matrice : 7 autres indispensables (ICE 80 à 100) et 5 autres utiles sont notés dans le plan de collecte.</a:t>
            </a:r>
            <a:endParaRPr lang="en-US" sz="950" dirty="0"/>
          </a:p>
        </p:txBody>
      </p:sp>
      <p:sp>
        <p:nvSpPr>
          <p:cNvPr id="6" name="Text 3"/>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7" name="Text 4"/>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Puis tester le levier de chaque cause confirmée</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tests A/B de 60 jours si le ratio dépasse 1,2 ; les causes peuvent se cumuler</a:t>
            </a:r>
            <a:endParaRPr lang="en-US" sz="1200" dirty="0"/>
          </a:p>
        </p:txBody>
      </p:sp>
      <p:sp>
        <p:nvSpPr>
          <p:cNvPr id="4" name="Shape 2"/>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5" name="Shape 3"/>
          <p:cNvSpPr/>
          <p:nvPr/>
        </p:nvSpPr>
        <p:spPr>
          <a:xfrm>
            <a:off x="594360" y="1280160"/>
            <a:ext cx="365760" cy="365760"/>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685800" y="1371600"/>
            <a:ext cx="182880" cy="182880"/>
          </a:xfrm>
          <a:prstGeom prst="rect">
            <a:avLst/>
          </a:prstGeom>
        </p:spPr>
      </p:pic>
      <p:sp>
        <p:nvSpPr>
          <p:cNvPr id="7" name="Text 4"/>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8" name="Text 5"/>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9" name="Text 6"/>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23636"/>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déjà fort aux heures pleines, quand la file est remplie.</a:t>
            </a:r>
            <a:endParaRPr lang="en-US" sz="950" dirty="0"/>
          </a:p>
        </p:txBody>
      </p:sp>
      <p:sp>
        <p:nvSpPr>
          <p:cNvPr id="10" name="Text 7"/>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23636"/>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1" name="Shape 8"/>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3383280" y="1280160"/>
            <a:ext cx="365760" cy="365760"/>
          </a:xfrm>
          <a:prstGeom prst="ellipse">
            <a:avLst/>
          </a:prstGeom>
          <a:solidFill>
            <a:srgbClr val="161A33"/>
          </a:solidFill>
          <a:ln w="12700">
            <a:solidFill>
              <a:srgbClr val="161A33"/>
            </a:solidFill>
            <a:prstDash val="solid"/>
          </a:ln>
        </p:spPr>
      </p:sp>
      <p:pic>
        <p:nvPicPr>
          <p:cNvPr id="13" name="Image 1" descr="preencoded.png">    </p:cNvPr>
          <p:cNvPicPr>
            <a:picLocks noChangeAspect="1"/>
          </p:cNvPicPr>
          <p:nvPr/>
        </p:nvPicPr>
        <p:blipFill>
          <a:blip r:embed="rId2"/>
          <a:stretch>
            <a:fillRect/>
          </a:stretch>
        </p:blipFill>
        <p:spPr>
          <a:xfrm>
            <a:off x="3474720" y="1371600"/>
            <a:ext cx="182880" cy="182880"/>
          </a:xfrm>
          <a:prstGeom prst="rect">
            <a:avLst/>
          </a:prstGeom>
        </p:spPr>
      </p:pic>
      <p:sp>
        <p:nvSpPr>
          <p:cNvPr id="14" name="Text 10"/>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15" name="Text 11"/>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16" name="Text 12"/>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en plus aux heures creuses, quand la file se vide.</a:t>
            </a:r>
            <a:endParaRPr lang="en-US" sz="950" dirty="0"/>
          </a:p>
        </p:txBody>
      </p:sp>
      <p:sp>
        <p:nvSpPr>
          <p:cNvPr id="17" name="Text 13"/>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3 min</a:t>
            </a:r>
            <a:endParaRPr lang="en-US" sz="1000" dirty="0"/>
          </a:p>
        </p:txBody>
      </p:sp>
      <p:sp>
        <p:nvSpPr>
          <p:cNvPr id="18" name="Shape 14"/>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6172200" y="1280160"/>
            <a:ext cx="365760" cy="365760"/>
          </a:xfrm>
          <a:prstGeom prst="ellipse">
            <a:avLst/>
          </a:prstGeom>
          <a:solidFill>
            <a:srgbClr val="B7791F"/>
          </a:solidFill>
          <a:ln w="12700">
            <a:solidFill>
              <a:srgbClr val="B7791F"/>
            </a:solidFill>
            <a:prstDash val="solid"/>
          </a:ln>
        </p:spPr>
      </p:sp>
      <p:pic>
        <p:nvPicPr>
          <p:cNvPr id="20" name="Image 2" descr="preencoded.png">    </p:cNvPr>
          <p:cNvPicPr>
            <a:picLocks noChangeAspect="1"/>
          </p:cNvPicPr>
          <p:nvPr/>
        </p:nvPicPr>
        <p:blipFill>
          <a:blip r:embed="rId3"/>
          <a:stretch>
            <a:fillRect/>
          </a:stretch>
        </p:blipFill>
        <p:spPr>
          <a:xfrm>
            <a:off x="6263640" y="1371600"/>
            <a:ext cx="182880" cy="182880"/>
          </a:xfrm>
          <a:prstGeom prst="rect">
            <a:avLst/>
          </a:prstGeom>
        </p:spPr>
      </p:pic>
      <p:sp>
        <p:nvSpPr>
          <p:cNvPr id="21" name="Text 16"/>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Rang périmé au retour</a:t>
            </a:r>
            <a:endParaRPr lang="en-US" sz="1200" dirty="0"/>
          </a:p>
        </p:txBody>
      </p:sp>
      <p:sp>
        <p:nvSpPr>
          <p:cNvPr id="22" name="Text 17"/>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ne tient pas compte de la durée d'absence.</a:t>
            </a:r>
            <a:endParaRPr lang="en-US" sz="1000" dirty="0"/>
          </a:p>
        </p:txBody>
      </p:sp>
      <p:sp>
        <p:nvSpPr>
          <p:cNvPr id="23" name="Text 18"/>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24" name="Text 19"/>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Baisse de rang selon l'absence</a:t>
            </a:r>
            <a:endParaRPr lang="en-US" sz="1000" dirty="0"/>
          </a:p>
        </p:txBody>
      </p:sp>
      <p:sp>
        <p:nvSpPr>
          <p:cNvPr id="25" name="Text 2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26" name="Text 2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27" name="Text 2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Ce que nous avons volontairement écarté</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arbitrages : moins de données, mieux choisies</a:t>
            </a:r>
            <a:endParaRPr lang="en-US" sz="1200" dirty="0"/>
          </a:p>
        </p:txBody>
      </p:sp>
      <p:sp>
        <p:nvSpPr>
          <p:cNvPr id="4" name="Shape 2"/>
          <p:cNvSpPr/>
          <p:nvPr/>
        </p:nvSpPr>
        <p:spPr>
          <a:xfrm>
            <a:off x="457200" y="1234440"/>
            <a:ext cx="411480" cy="411480"/>
          </a:xfrm>
          <a:prstGeom prst="ellipse">
            <a:avLst/>
          </a:prstGeom>
          <a:solidFill>
            <a:srgbClr val="8A8FA3"/>
          </a:solidFill>
          <a:ln w="12700">
            <a:solidFill>
              <a:srgbClr val="8A8FA3"/>
            </a:solidFill>
            <a:prstDash val="solid"/>
          </a:ln>
        </p:spPr>
      </p:sp>
      <p:pic>
        <p:nvPicPr>
          <p:cNvPr id="5" name="Image 0" descr="preencoded.png">    </p:cNvPr>
          <p:cNvPicPr>
            <a:picLocks noChangeAspect="1"/>
          </p:cNvPicPr>
          <p:nvPr/>
        </p:nvPicPr>
        <p:blipFill>
          <a:blip r:embed="rId1"/>
          <a:stretch>
            <a:fillRect/>
          </a:stretch>
        </p:blipFill>
        <p:spPr>
          <a:xfrm>
            <a:off x="560070" y="1337310"/>
            <a:ext cx="205740" cy="205740"/>
          </a:xfrm>
          <a:prstGeom prst="rect">
            <a:avLst/>
          </a:prstGeom>
        </p:spPr>
      </p:pic>
      <p:sp>
        <p:nvSpPr>
          <p:cNvPr id="6" name="Text 3"/>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7" name="Text 4"/>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8" name="Shape 5"/>
          <p:cNvSpPr/>
          <p:nvPr/>
        </p:nvSpPr>
        <p:spPr>
          <a:xfrm>
            <a:off x="457200" y="1920240"/>
            <a:ext cx="411480" cy="411480"/>
          </a:xfrm>
          <a:prstGeom prst="ellipse">
            <a:avLst/>
          </a:prstGeom>
          <a:solidFill>
            <a:srgbClr val="8A8FA3"/>
          </a:solidFill>
          <a:ln w="12700">
            <a:solidFill>
              <a:srgbClr val="8A8FA3"/>
            </a:solidFill>
            <a:prstDash val="solid"/>
          </a:ln>
        </p:spPr>
      </p:sp>
      <p:pic>
        <p:nvPicPr>
          <p:cNvPr id="9" name="Image 1" descr="preencoded.png">    </p:cNvPr>
          <p:cNvPicPr>
            <a:picLocks noChangeAspect="1"/>
          </p:cNvPicPr>
          <p:nvPr/>
        </p:nvPicPr>
        <p:blipFill>
          <a:blip r:embed="rId2"/>
          <a:stretch>
            <a:fillRect/>
          </a:stretch>
        </p:blipFill>
        <p:spPr>
          <a:xfrm>
            <a:off x="560070" y="2023110"/>
            <a:ext cx="205740" cy="205740"/>
          </a:xfrm>
          <a:prstGeom prst="rect">
            <a:avLst/>
          </a:prstGeom>
        </p:spPr>
      </p:pic>
      <p:sp>
        <p:nvSpPr>
          <p:cNvPr id="10" name="Text 6"/>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1" name="Text 7"/>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2" name="Shape 8"/>
          <p:cNvSpPr/>
          <p:nvPr/>
        </p:nvSpPr>
        <p:spPr>
          <a:xfrm>
            <a:off x="457200" y="2606040"/>
            <a:ext cx="411480" cy="411480"/>
          </a:xfrm>
          <a:prstGeom prst="ellipse">
            <a:avLst/>
          </a:prstGeom>
          <a:solidFill>
            <a:srgbClr val="8A8FA3"/>
          </a:solidFill>
          <a:ln w="12700">
            <a:solidFill>
              <a:srgbClr val="8A8FA3"/>
            </a:solidFill>
            <a:prstDash val="solid"/>
          </a:ln>
        </p:spPr>
      </p:sp>
      <p:pic>
        <p:nvPicPr>
          <p:cNvPr id="13" name="Image 2" descr="preencoded.png">    </p:cNvPr>
          <p:cNvPicPr>
            <a:picLocks noChangeAspect="1"/>
          </p:cNvPicPr>
          <p:nvPr/>
        </p:nvPicPr>
        <p:blipFill>
          <a:blip r:embed="rId3"/>
          <a:stretch>
            <a:fillRect/>
          </a:stretch>
        </p:blipFill>
        <p:spPr>
          <a:xfrm>
            <a:off x="560070" y="2708910"/>
            <a:ext cx="205740" cy="205740"/>
          </a:xfrm>
          <a:prstGeom prst="rect">
            <a:avLst/>
          </a:prstGeom>
        </p:spPr>
      </p:pic>
      <p:sp>
        <p:nvSpPr>
          <p:cNvPr id="14" name="Text 9"/>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15" name="Text 10"/>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16" name="Shape 11"/>
          <p:cNvSpPr/>
          <p:nvPr/>
        </p:nvSpPr>
        <p:spPr>
          <a:xfrm>
            <a:off x="457200" y="3291840"/>
            <a:ext cx="411480" cy="411480"/>
          </a:xfrm>
          <a:prstGeom prst="ellipse">
            <a:avLst/>
          </a:prstGeom>
          <a:solidFill>
            <a:srgbClr val="8A8FA3"/>
          </a:solidFill>
          <a:ln w="12700">
            <a:solidFill>
              <a:srgbClr val="8A8FA3"/>
            </a:solidFill>
            <a:prstDash val="solid"/>
          </a:ln>
        </p:spPr>
      </p:sp>
      <p:pic>
        <p:nvPicPr>
          <p:cNvPr id="17" name="Image 3" descr="preencoded.png">    </p:cNvPr>
          <p:cNvPicPr>
            <a:picLocks noChangeAspect="1"/>
          </p:cNvPicPr>
          <p:nvPr/>
        </p:nvPicPr>
        <p:blipFill>
          <a:blip r:embed="rId4"/>
          <a:stretch>
            <a:fillRect/>
          </a:stretch>
        </p:blipFill>
        <p:spPr>
          <a:xfrm>
            <a:off x="560070" y="3394710"/>
            <a:ext cx="205740" cy="205740"/>
          </a:xfrm>
          <a:prstGeom prst="rect">
            <a:avLst/>
          </a:prstGeom>
        </p:spPr>
      </p:pic>
      <p:sp>
        <p:nvSpPr>
          <p:cNvPr id="18" name="Text 12"/>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19" name="Text 13"/>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0" name="Shape 14"/>
          <p:cNvSpPr/>
          <p:nvPr/>
        </p:nvSpPr>
        <p:spPr>
          <a:xfrm>
            <a:off x="457200" y="3977640"/>
            <a:ext cx="411480" cy="411480"/>
          </a:xfrm>
          <a:prstGeom prst="ellipse">
            <a:avLst/>
          </a:prstGeom>
          <a:solidFill>
            <a:srgbClr val="8A8FA3"/>
          </a:solidFill>
          <a:ln w="12700">
            <a:solidFill>
              <a:srgbClr val="8A8FA3"/>
            </a:solidFill>
            <a:prstDash val="solid"/>
          </a:ln>
        </p:spPr>
      </p:sp>
      <p:pic>
        <p:nvPicPr>
          <p:cNvPr id="21" name="Image 4" descr="preencoded.png">    </p:cNvPr>
          <p:cNvPicPr>
            <a:picLocks noChangeAspect="1"/>
          </p:cNvPicPr>
          <p:nvPr/>
        </p:nvPicPr>
        <p:blipFill>
          <a:blip r:embed="rId5"/>
          <a:stretch>
            <a:fillRect/>
          </a:stretch>
        </p:blipFill>
        <p:spPr>
          <a:xfrm>
            <a:off x="560070" y="4080510"/>
            <a:ext cx="205740" cy="205740"/>
          </a:xfrm>
          <a:prstGeom prst="rect">
            <a:avLst/>
          </a:prstGeom>
        </p:spPr>
      </p:pic>
      <p:sp>
        <p:nvSpPr>
          <p:cNvPr id="22" name="Text 15"/>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23" name="Text 16"/>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24"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25" name="Text 1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Roadmap : qui agit, ce que vit le joueur</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Trois phases ; chaque résultat ouvre ou ferme la phase suivante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1188720"/>
                <a:gridCol w="1737360"/>
                <a:gridCol w="2514600"/>
                <a:gridCol w="2788920"/>
              </a:tblGrid>
              <a:tr h="246888">
                <a:tc>
                  <a:txBody>
                    <a:bodyPr/>
                    <a:lstStyle/>
                    <a:p>
                      <a:pPr indent="0" marL="0">
                        <a:buNone/>
                      </a:pPr>
                      <a:r>
                        <a:rPr lang="en-US" sz="950" b="1" dirty="0">
                          <a:solidFill>
                            <a:srgbClr val="FFFFFF"/>
                          </a:solidFill>
                          <a:latin typeface="Arial" pitchFamily="34" charset="0"/>
                          <a:ea typeface="Arial" pitchFamily="34" charset="-122"/>
                          <a:cs typeface="Arial" pitchFamily="34" charset="-120"/>
                        </a:rPr>
                        <a:t>Phase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Qui s'en occupe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Ce qui change pour le joueur</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Résultat → changement</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868680">
                <a:tc>
                  <a:txBody>
                    <a:bodyPr/>
                    <a:lstStyle/>
                    <a:p>
                      <a:pPr indent="0" marL="0">
                        <a:buNone/>
                      </a:pPr>
                      <a:r>
                        <a:rPr lang="en-US" sz="1050" b="1" dirty="0">
                          <a:solidFill>
                            <a:srgbClr val="E23636"/>
                          </a:solidFill>
                          <a:latin typeface="Arial" pitchFamily="34" charset="0"/>
                          <a:ea typeface="Arial" pitchFamily="34" charset="-122"/>
                          <a:cs typeface="Arial" pitchFamily="34" charset="-120"/>
                        </a:rPr>
                        <a:t>1 · Audit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0-30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1 data analyst (temps plein) et 1 data engineer (mi-temps) ; DPO de NetEase : accord de sous-traitance et hachage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Rien en jeu : on analyse les matchs déjà enregistrés, identifiants hachés.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Nouveaux &gt; 1,2 → </a:t>
                      </a:r>
                      <a:pPr indent="0" marL="0">
                        <a:buNone/>
                      </a:pPr>
                      <a:r>
                        <a:rPr lang="en-US" sz="850" dirty="0">
                          <a:solidFill>
                            <a:srgbClr val="1F2233"/>
                          </a:solidFill>
                          <a:latin typeface="Calibri" pitchFamily="34" charset="0"/>
                          <a:ea typeface="Calibri" pitchFamily="34" charset="-122"/>
                          <a:cs typeface="Calibri" pitchFamily="34" charset="-120"/>
                        </a:rPr>
                        <a:t>tests A et/ou B (écart aux heures pleines = A, surplus aux heures creuses =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Revenants &gt; 1,2 → </a:t>
                      </a:r>
                      <a:pPr indent="0" marL="0">
                        <a:buNone/>
                      </a:pPr>
                      <a:r>
                        <a:rPr lang="en-US" sz="850" dirty="0">
                          <a:solidFill>
                            <a:srgbClr val="1F2233"/>
                          </a:solidFill>
                          <a:latin typeface="Calibri" pitchFamily="34" charset="0"/>
                          <a:ea typeface="Calibri" pitchFamily="34" charset="-122"/>
                          <a:cs typeface="Calibri" pitchFamily="34" charset="-120"/>
                        </a:rPr>
                        <a:t>test C</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Les deux ≤ 1,2 → </a:t>
                      </a:r>
                      <a:pPr indent="0" marL="0">
                        <a:buNone/>
                      </a:pPr>
                      <a:r>
                        <a:rPr lang="en-US" sz="850" dirty="0">
                          <a:solidFill>
                            <a:srgbClr val="1F2233"/>
                          </a:solidFill>
                          <a:latin typeface="Calibri" pitchFamily="34" charset="0"/>
                          <a:ea typeface="Calibri" pitchFamily="34" charset="-122"/>
                          <a:cs typeface="Calibri" pitchFamily="34" charset="-120"/>
                        </a:rPr>
                        <a:t>plan B, on ne touche pas au matchmaking</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1024128">
                <a:tc>
                  <a:txBody>
                    <a:bodyPr/>
                    <a:lstStyle/>
                    <a:p>
                      <a:pPr indent="0" marL="0">
                        <a:buNone/>
                      </a:pPr>
                      <a:r>
                        <a:rPr lang="en-US" sz="1050" b="1" dirty="0">
                          <a:solidFill>
                            <a:srgbClr val="E23636"/>
                          </a:solidFill>
                          <a:latin typeface="Arial" pitchFamily="34" charset="0"/>
                          <a:ea typeface="Arial" pitchFamily="34" charset="-122"/>
                          <a:cs typeface="Arial" pitchFamily="34" charset="-120"/>
                        </a:rPr>
                        <a:t>2 · Tests</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30-90 j, si un ratio &gt; 1,2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 (code les réglages) ; analyste (mesure) ; live-ops (annonce)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Une partie des joueurs, tirée au sort, reçoit le nouveau réglage, les autres servent de témoin. A : nouveaux placés plus bas, entre débutants jusqu'au niveau 15. B : matchs plus serrés aux heures creuses. C : matchs de recalibrage au retour.</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Départs en baisse face au témoin → </a:t>
                      </a:r>
                      <a:pPr indent="0" marL="0">
                        <a:buNone/>
                      </a:pPr>
                      <a:r>
                        <a:rPr lang="en-US" sz="850" dirty="0">
                          <a:solidFill>
                            <a:srgbClr val="1F2233"/>
                          </a:solidFill>
                          <a:latin typeface="Calibri" pitchFamily="34" charset="0"/>
                          <a:ea typeface="Calibri" pitchFamily="34" charset="-122"/>
                          <a:cs typeface="Calibri" pitchFamily="34" charset="-120"/>
                        </a:rPr>
                        <a:t>réglage gardé</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Attente p90 &gt; 3 min → </a:t>
                      </a:r>
                      <a:pPr indent="0" marL="0">
                        <a:buNone/>
                      </a:pPr>
                      <a:r>
                        <a:rPr lang="en-US" sz="850" dirty="0">
                          <a:solidFill>
                            <a:srgbClr val="1F2233"/>
                          </a:solidFill>
                          <a:latin typeface="Calibri" pitchFamily="34" charset="0"/>
                          <a:ea typeface="Calibri" pitchFamily="34" charset="-122"/>
                          <a:cs typeface="Calibri" pitchFamily="34" charset="-120"/>
                        </a:rPr>
                        <a:t>arrêt immédiat du réglage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Aucune baisse → </a:t>
                      </a:r>
                      <a:pPr indent="0" marL="0">
                        <a:buNone/>
                      </a:pPr>
                      <a:r>
                        <a:rPr lang="en-US" sz="850" dirty="0">
                          <a:solidFill>
                            <a:srgbClr val="1F2233"/>
                          </a:solidFill>
                          <a:latin typeface="Calibri" pitchFamily="34" charset="0"/>
                          <a:ea typeface="Calibri" pitchFamily="34" charset="-122"/>
                          <a:cs typeface="Calibri" pitchFamily="34" charset="-120"/>
                        </a:rPr>
                        <a:t>réglage abandonné</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868680">
                <a:tc>
                  <a:txBody>
                    <a:bodyPr/>
                    <a:lstStyle/>
                    <a:p>
                      <a:pPr indent="0" marL="0">
                        <a:buNone/>
                      </a:pPr>
                      <a:r>
                        <a:rPr lang="en-US" sz="1050" b="1" dirty="0">
                          <a:solidFill>
                            <a:srgbClr val="E23636"/>
                          </a:solidFill>
                          <a:latin typeface="Arial" pitchFamily="34" charset="0"/>
                          <a:ea typeface="Arial" pitchFamily="34" charset="-122"/>
                          <a:cs typeface="Arial" pitchFamily="34" charset="-120"/>
                        </a:rPr>
                        <a:t>3 · Déploiement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90-180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(mise en production) ; live-ops et communication ; analyste 2 j par mois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Les réglages gagnants passent à tous, annoncés dans les notes de patch ; page publique « comment fonctionne le matchmaking ».</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31/03/2027 : ratio ≤ 1,2 et avis &lt; 8 % → </a:t>
                      </a:r>
                      <a:pPr indent="0" marL="0">
                        <a:buNone/>
                      </a:pPr>
                      <a:r>
                        <a:rPr lang="en-US" sz="850" dirty="0">
                          <a:solidFill>
                            <a:srgbClr val="1F2233"/>
                          </a:solidFill>
                          <a:latin typeface="Calibri" pitchFamily="34" charset="0"/>
                          <a:ea typeface="Calibri" pitchFamily="34" charset="-122"/>
                          <a:cs typeface="Calibri" pitchFamily="34" charset="-120"/>
                        </a:rPr>
                        <a:t>objectif atteint</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bon, avis &gt; 8 % → </a:t>
                      </a:r>
                      <a:pPr indent="0" marL="0">
                        <a:buNone/>
                      </a:pPr>
                      <a:r>
                        <a:rPr lang="en-US" sz="850" dirty="0">
                          <a:solidFill>
                            <a:srgbClr val="1F2233"/>
                          </a:solidFill>
                          <a:latin typeface="Calibri" pitchFamily="34" charset="0"/>
                          <a:ea typeface="Calibri" pitchFamily="34" charset="-122"/>
                          <a:cs typeface="Calibri" pitchFamily="34" charset="-120"/>
                        </a:rPr>
                        <a:t>problème de perception : plus de transparence</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qui remonte → </a:t>
                      </a:r>
                      <a:pPr indent="0" marL="0">
                        <a:buNone/>
                      </a:pPr>
                      <a:r>
                        <a:rPr lang="en-US" sz="850" dirty="0">
                          <a:solidFill>
                            <a:srgbClr val="1F2233"/>
                          </a:solidFill>
                          <a:latin typeface="Calibri" pitchFamily="34" charset="0"/>
                          <a:ea typeface="Calibri" pitchFamily="34" charset="-122"/>
                          <a:cs typeface="Calibri" pitchFamily="34" charset="-120"/>
                        </a:rPr>
                        <a:t>retour en phase 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4224528"/>
            <a:ext cx="8229600" cy="457200"/>
          </a:xfrm>
          <a:prstGeom prst="roundRect">
            <a:avLst>
              <a:gd name="adj" fmla="val 12000"/>
            </a:avLst>
          </a:prstGeom>
          <a:solidFill>
            <a:srgbClr val="161A33"/>
          </a:solidFill>
          <a:ln w="12700">
            <a:solidFill>
              <a:srgbClr val="161A33"/>
            </a:solidFill>
            <a:prstDash val="solid"/>
          </a:ln>
        </p:spPr>
      </p:sp>
      <p:sp>
        <p:nvSpPr>
          <p:cNvPr id="6" name="Text 3"/>
          <p:cNvSpPr txBox="1"/>
          <p:nvPr/>
        </p:nvSpPr>
        <p:spPr>
          <a:xfrm>
            <a:off x="640080" y="4224528"/>
            <a:ext cx="78638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Budget : ≈ 19 K€ engagés (audit) · ≈ 45 K€ si les tests sont lancés</a:t>
            </a:r>
            <a:pPr indent="0" marL="0">
              <a:buNone/>
            </a:pPr>
            <a:r>
              <a:rPr lang="en-US" sz="1000" dirty="0">
                <a:solidFill>
                  <a:srgbClr val="C9CCDA"/>
                </a:solidFill>
                <a:latin typeface="Calibri" pitchFamily="34" charset="0"/>
                <a:ea typeface="Calibri" pitchFamily="34" charset="-122"/>
                <a:cs typeface="Calibri" pitchFamily="34" charset="-120"/>
              </a:rPr>
              <a:t>  ·  détail du calcul slide suivante</a:t>
            </a:r>
            <a:endParaRPr lang="en-US" sz="120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(§7)</a:t>
            </a:r>
            <a:endParaRPr lang="en-US" sz="850" dirty="0"/>
          </a:p>
        </p:txBody>
      </p:sp>
      <p:sp>
        <p:nvSpPr>
          <p:cNvPr id="8" name="Text 5"/>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Combien : 19 K€ engagés, 45 K€ au total</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Roadmap · personnes aux TJM médians du marché, outils aux tarifs publics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2377440"/>
                <a:gridCol w="3291840"/>
                <a:gridCol w="123444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Poste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Calcul</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Montant</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Source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27432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Audit, 0-30 j : analyste et ingénieur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22 j × 540 € + 11 j × 650 €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23636"/>
                          </a:solidFill>
                          <a:latin typeface="Arial" pitchFamily="34" charset="0"/>
                          <a:ea typeface="Arial" pitchFamily="34" charset="-122"/>
                          <a:cs typeface="Arial" pitchFamily="34" charset="-120"/>
                        </a:rPr>
                        <a:t>19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TJM médians 2026, tjmetre.fr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Tests, 30-90 j : analyste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43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23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Déploiement, 90-180 j : pilotage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Entrepôt (BigQuery à la demande)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6,25 $ par To au-delà de 1 To gratuit ; plafond prudent : 100 To par mois pendant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 3,7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Google Cloud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Tableaux de bord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Outil BI existant ; sinon Power BI Pro, 14 $ × 3 utilisateurs ×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0 à 0,3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Microsoft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Développement des réglages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à chiffrer</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avant la phase 2</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5E6378"/>
                          </a:solidFill>
                          <a:latin typeface="Calibri" pitchFamily="34" charset="0"/>
                          <a:ea typeface="Calibri" pitchFamily="34" charset="-122"/>
                          <a:cs typeface="Calibri" pitchFamily="34" charset="-120"/>
                        </a:rPr>
                        <a:t>Fourchette des TJM bas et hauts : 39 à 51 K€</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23636"/>
                          </a:solidFill>
                          <a:latin typeface="Arial" pitchFamily="34" charset="0"/>
                          <a:ea typeface="Arial" pitchFamily="34" charset="-122"/>
                          <a:cs typeface="Arial" pitchFamily="34" charset="-120"/>
                        </a:rPr>
                        <a:t>≈ 45 K€ + ≤ 4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804672"/>
          </a:xfrm>
          <a:prstGeom prst="roundRect">
            <a:avLst>
              <a:gd name="adj" fmla="val 6818"/>
            </a:avLst>
          </a:prstGeom>
          <a:solidFill>
            <a:srgbClr val="F4F5F9"/>
          </a:solidFill>
          <a:ln w="12700">
            <a:solidFill>
              <a:srgbClr val="F4F5F9"/>
            </a:solidFill>
            <a:prstDash val="solid"/>
          </a:ln>
        </p:spPr>
      </p:sp>
      <p:sp>
        <p:nvSpPr>
          <p:cNvPr id="6" name="Text 3"/>
          <p:cNvSpPr txBox="1"/>
          <p:nvPr/>
        </p:nvSpPr>
        <p:spPr>
          <a:xfrm>
            <a:off x="640080" y="3547872"/>
            <a:ext cx="7863840" cy="749808"/>
          </a:xfrm>
          <a:prstGeom prst="rect">
            <a:avLst/>
          </a:prstGeom>
          <a:noFill/>
          <a:ln/>
        </p:spPr>
        <p:txBody>
          <a:bodyPr wrap="square" lIns="0" tIns="0" rIns="0" bIns="0" rtlCol="0" anchor="ctr"/>
          <a:lstStyle/>
          <a:p>
            <a:pPr indent="0" marL="0">
              <a:buNone/>
            </a:pPr>
            <a:r>
              <a:rPr lang="en-US" sz="900" b="1" dirty="0">
                <a:solidFill>
                  <a:srgbClr val="161A33"/>
                </a:solidFill>
                <a:latin typeface="Calibri" pitchFamily="34" charset="0"/>
                <a:ea typeface="Calibri" pitchFamily="34" charset="-122"/>
                <a:cs typeface="Calibri" pitchFamily="34" charset="-120"/>
              </a:rPr>
              <a:t>Outils volontairement non achetés (ordres de grandeur du coaching 2) : </a:t>
            </a:r>
            <a:endParaRPr lang="en-US" sz="900" dirty="0"/>
          </a:p>
          <a:p>
            <a:pPr indent="0" marL="0">
              <a:buNone/>
            </a:pPr>
            <a:r>
              <a:rPr lang="en-US" sz="900" dirty="0">
                <a:solidFill>
                  <a:srgbClr val="1F2233"/>
                </a:solidFill>
                <a:latin typeface="Calibri" pitchFamily="34" charset="0"/>
                <a:ea typeface="Calibri" pitchFamily="34" charset="-122"/>
                <a:cs typeface="Calibri" pitchFamily="34" charset="-120"/>
              </a:rPr>
              <a:t>SDK analytics (GameAnalytics, deltaDNA : 300 à 5 000 $ par mois) : votre télémétrie existe déjà · attribution (AppsFlyer, Adjust : 0,05 à 0,10 $ par installation) : utile au mobile, pas à un jeu PC et consoles · CDP (Segment, Tealium : 5 à 50 K€ par an) : profils unifiés contraires à la minimisation · CRM et push (Braze : 1 à 3 K$ par mois) : marketing, hors périmètre.</a:t>
            </a:r>
            <a:endParaRPr lang="en-US" sz="900" dirty="0"/>
          </a:p>
        </p:txBody>
      </p:sp>
      <p:sp>
        <p:nvSpPr>
          <p:cNvPr id="7" name="Text 4"/>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900" b="1" dirty="0">
                <a:solidFill>
                  <a:srgbClr val="1F2233"/>
                </a:solidFill>
                <a:latin typeface="Calibri" pitchFamily="34" charset="0"/>
                <a:ea typeface="Calibri" pitchFamily="34" charset="-122"/>
                <a:cs typeface="Calibri" pitchFamily="34" charset="-120"/>
              </a:rPr>
              <a:t>Stack : </a:t>
            </a:r>
            <a:pPr indent="0" marL="0">
              <a:buNone/>
            </a:pPr>
            <a:r>
              <a:rPr lang="en-US" sz="900" dirty="0">
                <a:solidFill>
                  <a:srgbClr val="1F2233"/>
                </a:solidFill>
                <a:latin typeface="Calibri" pitchFamily="34" charset="0"/>
                <a:ea typeface="Calibri" pitchFamily="34" charset="-122"/>
                <a:cs typeface="Calibri" pitchFamily="34" charset="-120"/>
              </a:rPr>
              <a:t>télémétrie in-game existante → entrepôt existant (type BigQuery ou Snowflake) → BI existante (type Looker ou Power BI).</a:t>
            </a:r>
            <a:endParaRPr lang="en-US" sz="90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TJM Data 2026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tarifs Power BI (02/10/2026)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plan de collecte (§5)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KPIs de décision et garde-fous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Risques / KPIs · comment chaque KPI se calcule, et quelle décision il déclenche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des causes confirmées (A, B ou les deux)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classés après au moins 60 jours d'absence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test des matchs de recalibrage (cause C)</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Rang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3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6" name="Text 3"/>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23636"/>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(§3)</a:t>
            </a:r>
            <a:endParaRPr lang="en-US" sz="850" dirty="0"/>
          </a:p>
        </p:txBody>
      </p:sp>
      <p:sp>
        <p:nvSpPr>
          <p:cNvPr id="8" name="Text 5"/>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Sources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consultées du 29/09 au 01/10/2026 · liens cliquables</a:t>
            </a:r>
            <a:endParaRPr lang="en-US" sz="1200" dirty="0"/>
          </a:p>
        </p:txBody>
      </p:sp>
      <p:sp>
        <p:nvSpPr>
          <p:cNvPr id="4" name="Text 2"/>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Tarifs Power BI (Microsoft, 02/10/2026)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Baromètre TJM Data 2026, médianes freelance France (tjmetre.fr, 01/10/2026)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5" name="Text 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Questions anticipées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réponses courtes, à garder sous la main</a:t>
            </a:r>
            <a:endParaRPr lang="en-US" sz="1200" dirty="0"/>
          </a:p>
        </p:txBody>
      </p:sp>
      <p:sp>
        <p:nvSpPr>
          <p:cNvPr id="4" name="Shape 2"/>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5" name="Text 3"/>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Pourquoi cette donnée et pas une autre ?</a:t>
            </a:r>
            <a:endParaRPr lang="en-US" sz="1100" dirty="0"/>
          </a:p>
        </p:txBody>
      </p:sp>
      <p:sp>
        <p:nvSpPr>
          <p:cNvPr id="6" name="Text 4"/>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causes A, B et C).</a:t>
            </a:r>
            <a:endParaRPr lang="en-US" sz="1000" dirty="0"/>
          </a:p>
        </p:txBody>
      </p:sp>
      <p:sp>
        <p:nvSpPr>
          <p:cNvPr id="7" name="Shape 5"/>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8" name="Text 6"/>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Combien ça coûte ?</a:t>
            </a:r>
            <a:endParaRPr lang="en-US" sz="1100" dirty="0"/>
          </a:p>
        </p:txBody>
      </p:sp>
      <p:sp>
        <p:nvSpPr>
          <p:cNvPr id="9" name="Text 7"/>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19 K€ pour l'audit (33 jours-homme), ≈ 45 K€ si les tests sont lancés, plus ≤ 4 K$ d'outils ; ni SDK, ni CDP, ni CRM à acheter.</a:t>
            </a:r>
            <a:endParaRPr lang="en-US" sz="1000" dirty="0"/>
          </a:p>
        </p:txBody>
      </p:sp>
      <p:sp>
        <p:nvSpPr>
          <p:cNvPr id="10" name="Shape 8"/>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1" name="Text 9"/>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Quelle base légale ?</a:t>
            </a:r>
            <a:endParaRPr lang="en-US" sz="1100" dirty="0"/>
          </a:p>
        </p:txBody>
      </p:sp>
      <p:sp>
        <p:nvSpPr>
          <p:cNvPr id="12" name="Text 10"/>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13" name="Shape 11"/>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14" name="Text 12"/>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Comment savoir si ça marche ?</a:t>
            </a:r>
            <a:endParaRPr lang="en-US" sz="1100" dirty="0"/>
          </a:p>
        </p:txBody>
      </p:sp>
      <p:sp>
        <p:nvSpPr>
          <p:cNvPr id="15" name="Text 13"/>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16" name="Shape 14"/>
          <p:cNvSpPr/>
          <p:nvPr/>
        </p:nvSpPr>
        <p:spPr>
          <a:xfrm>
            <a:off x="457200" y="3511296"/>
            <a:ext cx="8229600" cy="1051560"/>
          </a:xfrm>
          <a:prstGeom prst="roundRect">
            <a:avLst>
              <a:gd name="adj" fmla="val 5217"/>
            </a:avLst>
          </a:prstGeom>
          <a:solidFill>
            <a:srgbClr val="FFFFFF"/>
          </a:solidFill>
          <a:ln w="12700">
            <a:solidFill>
              <a:srgbClr val="E3E5EE"/>
            </a:solidFill>
            <a:prstDash val="solid"/>
          </a:ln>
        </p:spPr>
      </p:sp>
      <p:sp>
        <p:nvSpPr>
          <p:cNvPr id="17" name="Text 15"/>
          <p:cNvSpPr txBox="1"/>
          <p:nvPr/>
        </p:nvSpPr>
        <p:spPr>
          <a:xfrm>
            <a:off x="594360" y="3584448"/>
            <a:ext cx="795528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Qu'avez-vous écarté ?</a:t>
            </a:r>
            <a:endParaRPr lang="en-US" sz="1100" dirty="0"/>
          </a:p>
        </p:txBody>
      </p:sp>
      <p:sp>
        <p:nvSpPr>
          <p:cNvPr id="18" name="Text 16"/>
          <p:cNvSpPr txBox="1"/>
          <p:nvPr/>
        </p:nvSpPr>
        <p:spPr>
          <a:xfrm>
            <a:off x="594360" y="3877056"/>
            <a:ext cx="795528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19" name="Text 17"/>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2026-10-02T07:10:35Z</dcterms:created>
  <dcterms:modified xsi:type="dcterms:W3CDTF">2026-10-02T07:10:35Z</dcterms:modified>
</cp:coreProperties>
</file>