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2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233"/>
                </a:solidFill>
                <a:latin typeface="Calibri"/>
              </a:rPr>
              <a:t>Milliers de joueurs simultanés (moyenne mensuelle)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Joueurs simultanés (moyenne)</c:v>
                </c:pt>
              </c:strCache>
            </c:strRef>
          </c:tx>
          <c:spPr>
            <a:solidFill>
              <a:srgbClr val="E23636"/>
            </a:solidFill>
            <a:ln w="38100" cap="flat">
              <a:solidFill>
                <a:srgbClr val="E2363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23636"/>
              </a:solidFill>
              <a:ln w="9525" cap="flat">
                <a:solidFill>
                  <a:srgbClr val="E2363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Déc. 24</c:v>
                  </c:pt>
                  <c:pt idx="1">
                    <c:v>Janv.</c:v>
                  </c:pt>
                  <c:pt idx="2">
                    <c:v>Févr.</c:v>
                  </c:pt>
                  <c:pt idx="3">
                    <c:v>Mars</c:v>
                  </c:pt>
                  <c:pt idx="4">
                    <c:v>Avr.</c:v>
                  </c:pt>
                  <c:pt idx="5">
                    <c:v>Mai</c:v>
                  </c:pt>
                  <c:pt idx="6">
                    <c:v>Juin</c:v>
                  </c:pt>
                  <c:pt idx="7">
                    <c:v>Juil.</c:v>
                  </c:pt>
                  <c:pt idx="8">
                    <c:v>Août</c:v>
                  </c:pt>
                  <c:pt idx="9">
                    <c:v>Sept.</c:v>
                  </c:pt>
                  <c:pt idx="10">
                    <c:v>Oct.</c:v>
                  </c:pt>
                  <c:pt idx="11">
                    <c:v>Nov.</c:v>
                  </c:pt>
                  <c:pt idx="12">
                    <c:v>Déc.</c:v>
                  </c:pt>
                  <c:pt idx="13">
                    <c:v>Janv. 26</c:v>
                  </c:pt>
                  <c:pt idx="14">
                    <c:v>Févr.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279</c:v>
                </c:pt>
                <c:pt idx="1">
                  <c:v>306</c:v>
                </c:pt>
                <c:pt idx="2">
                  <c:v>228</c:v>
                </c:pt>
                <c:pt idx="3">
                  <c:v>144</c:v>
                </c:pt>
                <c:pt idx="4">
                  <c:v>134</c:v>
                </c:pt>
                <c:pt idx="5">
                  <c:v>102</c:v>
                </c:pt>
                <c:pt idx="6">
                  <c:v>80</c:v>
                </c:pt>
                <c:pt idx="7">
                  <c:v>83</c:v>
                </c:pt>
                <c:pt idx="8">
                  <c:v>78</c:v>
                </c:pt>
                <c:pt idx="9">
                  <c:v>64</c:v>
                </c:pt>
                <c:pt idx="10">
                  <c:v>64</c:v>
                </c:pt>
                <c:pt idx="11">
                  <c:v>65</c:v>
                </c:pt>
                <c:pt idx="12">
                  <c:v>75</c:v>
                </c:pt>
                <c:pt idx="13">
                  <c:v>89</c:v>
                </c:pt>
                <c:pt idx="14">
                  <c:v>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3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5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3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2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233"/>
                </a:solidFill>
                <a:latin typeface="Calibri"/>
              </a:rPr>
              <a:t>% des avis négatifs citant le matchmaking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des négatifs citant le matchmaking</c:v>
                </c:pt>
              </c:strCache>
            </c:strRef>
          </c:tx>
          <c:spPr>
            <a:solidFill>
              <a:srgbClr val="161A33"/>
            </a:solidFill>
            <a:ln w="38100" cap="flat">
              <a:solidFill>
                <a:srgbClr val="161A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61A33"/>
              </a:solidFill>
              <a:ln w="9525" cap="flat">
                <a:solidFill>
                  <a:srgbClr val="161A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Déc. 24</c:v>
                  </c:pt>
                  <c:pt idx="1">
                    <c:v>Janv.</c:v>
                  </c:pt>
                  <c:pt idx="2">
                    <c:v>Févr.</c:v>
                  </c:pt>
                  <c:pt idx="3">
                    <c:v>Mars</c:v>
                  </c:pt>
                  <c:pt idx="4">
                    <c:v>Avr.</c:v>
                  </c:pt>
                  <c:pt idx="5">
                    <c:v>Mai</c:v>
                  </c:pt>
                  <c:pt idx="6">
                    <c:v>Juin</c:v>
                  </c:pt>
                  <c:pt idx="7">
                    <c:v>Juil.</c:v>
                  </c:pt>
                  <c:pt idx="8">
                    <c:v>Août</c:v>
                  </c:pt>
                  <c:pt idx="9">
                    <c:v>Sept.</c:v>
                  </c:pt>
                  <c:pt idx="10">
                    <c:v>Oct.</c:v>
                  </c:pt>
                  <c:pt idx="11">
                    <c:v>Nov.</c:v>
                  </c:pt>
                  <c:pt idx="12">
                    <c:v>Déc.</c:v>
                  </c:pt>
                  <c:pt idx="13">
                    <c:v>Janv. 26</c:v>
                  </c:pt>
                  <c:pt idx="14">
                    <c:v>Févr.</c:v>
                  </c:pt>
                  <c:pt idx="15">
                    <c:v>Mars</c:v>
                  </c:pt>
                  <c:pt idx="16">
                    <c:v>Avr.</c:v>
                  </c:pt>
                  <c:pt idx="17">
                    <c:v>Mai</c:v>
                  </c:pt>
                  <c:pt idx="18">
                    <c:v>Juin</c:v>
                  </c:pt>
                  <c:pt idx="19">
                    <c:v>Juil.</c:v>
                  </c:pt>
                  <c:pt idx="20">
                    <c:v>Août</c:v>
                  </c:pt>
                  <c:pt idx="21">
                    <c:v>Sept.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7.4</c:v>
                </c:pt>
                <c:pt idx="1">
                  <c:v>10.9</c:v>
                </c:pt>
                <c:pt idx="2">
                  <c:v>12.1</c:v>
                </c:pt>
                <c:pt idx="3">
                  <c:v>20.3</c:v>
                </c:pt>
                <c:pt idx="4">
                  <c:v>21.1</c:v>
                </c:pt>
                <c:pt idx="5">
                  <c:v>29.1</c:v>
                </c:pt>
                <c:pt idx="6">
                  <c:v>27.6</c:v>
                </c:pt>
                <c:pt idx="7">
                  <c:v>37</c:v>
                </c:pt>
                <c:pt idx="8">
                  <c:v>41</c:v>
                </c:pt>
                <c:pt idx="9">
                  <c:v>33.9</c:v>
                </c:pt>
                <c:pt idx="10">
                  <c:v>25.9</c:v>
                </c:pt>
                <c:pt idx="11">
                  <c:v>17.3</c:v>
                </c:pt>
                <c:pt idx="12">
                  <c:v>18.2</c:v>
                </c:pt>
                <c:pt idx="13">
                  <c:v>15.4</c:v>
                </c:pt>
                <c:pt idx="14">
                  <c:v>15.6</c:v>
                </c:pt>
                <c:pt idx="15">
                  <c:v>13.4</c:v>
                </c:pt>
                <c:pt idx="16">
                  <c:v>14.4</c:v>
                </c:pt>
                <c:pt idx="17">
                  <c:v>14.7</c:v>
                </c:pt>
                <c:pt idx="18">
                  <c:v>14.2</c:v>
                </c:pt>
                <c:pt idx="19">
                  <c:v>8.8</c:v>
                </c:pt>
                <c:pt idx="20">
                  <c:v>13.4</c:v>
                </c:pt>
                <c:pt idx="21">
                  <c:v>10.5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3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0"/>
        <c:axPos val="l"/>
        <c:majorGridlines>
          <c:spPr>
            <a:ln w="6350" cap="flat">
              <a:solidFill>
                <a:srgbClr val="E3E5E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3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Bonjour. Je suis mandaté par le comité de direction de NetEase Games. Ma question : pourquoi Marvel Rivals ne garde-t-il pas ses nouveaux joueurs, et que faut-il mesurer pour le savoir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secondes. Sur Steam, la fréquentation moyenne a perdu 77 % en dix mois, puis plafonne sous 90 000. Pourtant 40 millions de joueurs sont venus en trois mois. Le jeu sait attirer ; il ne sait pas garder. Attention : Steam, c'est le PC seulement.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Notre hypothèse principale, H5, en trois temps. En 2025, tout le monde arrive sans calibrage ; les moins expérimentés perdent et partent. Il reste surtout des joueurs expérimentés. Aujourd'hui, un nouveau arrive en partie rapide face à eux, dans des parties que le manque de joueurs élargit ; il part à son tour. Deux causes possibles : un MMR de départ mal réglé, ou le manque de joueurs. Elles appellent des leviers différents, c'est pourquoi on audite avant d'agir.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faits qui appuient H5. Pendant la chute, la part des avis négatifs qui parlent du matchmaking passe de 7 à 41 %. Les explications officielles d'août 2025 ne la font pas baisser. En revanche, quand NetEase ajoute des placements en classé, les avis négatifs chutent de 36 à 14 %. Mais la partie rapide, par où passent tous les nouveaux, n'a jamais été corrigée. Ce sont des corrélations : seules vos données internes peuvent trancher.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Recommandation, première partie. Un objectif qui mesure exactement la trace de H5 : si perdre au début fait partir, les nouveaux perdants partent plus que les autres. Cible : un ratio de 1,2 au 31 mars 2027. Pour le mesurer et trouver la cause, 12 données prioritaires, notées ICE. Toutes existent déjà dans votre télémétrie : pas de nouvelle collecte, pas de nouvel outil. Et l'objectif peut dire non : si le ratio est déjà sous 1,2, on n'investit pas dans le matchmaking.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Recommandation, deuxième partie. On ne teste que si l'audit confirme H5, et on teste le levier qui correspond à la cause. Cause A : un MMR de départ plus prudent et une convergence plus rapide, qui freine aussi les smurfs sans sanction. Cause B : resserrer la fourchette aux heures creuses, avec un seuil d'arrêt si l'attente dépasse 5 minutes. Dans les deux cas, une file débutants jusqu'au niveau 15 et l'isolement des groupes. Nous écartons les garde-fous de rôles : la liberté de composition fait partie de l'identité du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roadmap, une minute. Trente jours d'audit, qui démarrent quand l'accord de sous-traitance et le hachage sont validés : c'est J0. Si le ratio est déjà sous 1,2, on s'arrête et on bascule sur le plan B (équilibrage, monétisation, attrition naturelle), avec les données déjà extraites. Sinon, 60 jours de tests A/B contre un groupe témoin, puis généralisation jusqu'au 31 mars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secondes sur les garde-fous. Chaque KPI a un seuil qui déclenche une décision : 1,2 pour lancer les tests, 5 minutes d'attente pour les arrêter, 50 % pour choisir le mode visé. Côté risques : accord de sous-traitance et pseudonymisation, aucun profilage individuel, et jamais de bots cachés.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Conclusion. Deux décisions aujourd'hui : signer l'accord de sous-traitance et lancer l'audit, environ 33 jours-homme plafonnés. Dans les deux issues, vous gagnez : soit un levier de rétention prouvé, soit un investissement évité. Merci, je prends vos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Annexe, à montrer seulement si on vous demande une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steamcharts.com/app/2767030" TargetMode="External"/><Relationship Id="rId3" Type="http://schemas.openxmlformats.org/officeDocument/2006/relationships/hyperlink" Target="https://gameworldobserver.com/2025/02/20/marvel-rivals-40-million-players-netease-fy24-report" TargetMode="External"/><Relationship Id="rId1" Type="http://schemas.openxmlformats.org/officeDocument/2006/relationships/chart" Target="/ppt/charts/chart1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hyperlink" Target="https://www.pcgamesn.com/marvel-rivals/ranks-competitive" TargetMode="External"/><Relationship Id="rId5" Type="http://schemas.openxmlformats.org/officeDocument/2006/relationships/hyperlink" Target="https://x.com/MarvelRivals/status/1958627668536311945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store.steampowered.com/appreviews/2767030?json=1" TargetMode="External"/><Relationship Id="rId3" Type="http://schemas.openxmlformats.org/officeDocument/2006/relationships/hyperlink" Target="https://www.marvelrivals.com/20251114/41525_1270590.html" TargetMode="External"/><Relationship Id="rId4" Type="http://schemas.openxmlformats.org/officeDocument/2006/relationships/hyperlink" Target="https://x.com/MarvelRivals/status/1958627668536311945" TargetMode="External"/><Relationship Id="rId1" Type="http://schemas.openxmlformats.org/officeDocument/2006/relationships/chart" Target="/ppt/charts/chart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hyperlink" Target="https://docs.google.com/document/d/1nOhcAL2wfeAHOK6x6UZH-Hg5yh9Ofxxko7FY47r5Vzc/edit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x.com/MarvelRivals/status/1958627668536311945" TargetMode="External"/><Relationship Id="rId4" Type="http://schemas.openxmlformats.org/officeDocument/2006/relationships/hyperlink" Target="https://esportsinsider.com/marvel-rivals-crossplay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hyperlink" Target="https://eur-lex.europa.eu/eli/reg/2016/679/oj" TargetMode="External"/><Relationship Id="rId5" Type="http://schemas.openxmlformats.org/officeDocument/2006/relationships/hyperlink" Target="https://eur-lex.europa.eu/eli/reg/2024/1689/oj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steamcharts.com/app/2767030" TargetMode="External"/><Relationship Id="rId2" Type="http://schemas.openxmlformats.org/officeDocument/2006/relationships/hyperlink" Target="https://gameworldobserver.com/2025/02/20/marvel-rivals-40-million-players-netease-fy24-report" TargetMode="External"/><Relationship Id="rId3" Type="http://schemas.openxmlformats.org/officeDocument/2006/relationships/hyperlink" Target="https://store.steampowered.com/appreviews/2767030?json=1" TargetMode="External"/><Relationship Id="rId4" Type="http://schemas.openxmlformats.org/officeDocument/2006/relationships/hyperlink" Target="https://x.com/MarvelRivals/status/1958627668536311945" TargetMode="External"/><Relationship Id="rId5" Type="http://schemas.openxmlformats.org/officeDocument/2006/relationships/hyperlink" Target="https://www.marvelrivals.com/20251114/41525_1270590.html" TargetMode="External"/><Relationship Id="rId6" Type="http://schemas.openxmlformats.org/officeDocument/2006/relationships/hyperlink" Target="https://www.marvelrivals.com/gameupdate/20260318/41548_1291772.html" TargetMode="External"/><Relationship Id="rId7" Type="http://schemas.openxmlformats.org/officeDocument/2006/relationships/hyperlink" Target="https://www.pcgamesn.com/marvel-rivals/ranks-competitive" TargetMode="External"/><Relationship Id="rId8" Type="http://schemas.openxmlformats.org/officeDocument/2006/relationships/hyperlink" Target="https://esportsinsider.com/marvel-rivals-crossplay" TargetMode="External"/><Relationship Id="rId9" Type="http://schemas.openxmlformats.org/officeDocument/2006/relationships/hyperlink" Target="https://pmc.ncbi.nlm.nih.gov/articles/PMC10839887/" TargetMode="External"/><Relationship Id="rId10" Type="http://schemas.openxmlformats.org/officeDocument/2006/relationships/hyperlink" Target="https://eur-lex.europa.eu/eli/reg/2016/679/oj" TargetMode="External"/><Relationship Id="rId11" Type="http://schemas.openxmlformats.org/officeDocument/2006/relationships/hyperlink" Target="https://eur-lex.europa.eu/eli/reg/2024/1689/oj" TargetMode="External"/><Relationship Id="rId12" Type="http://schemas.openxmlformats.org/officeDocument/2006/relationships/hyperlink" Target="https://docs.google.com/document/d/1nOhcAL2wfeAHOK6x6UZH-Hg5yh9Ofxxko7FY47r5Vzc/edit" TargetMode="External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8640"/>
            <a:ext cx="640080" cy="6400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" y="708660"/>
            <a:ext cx="320040" cy="320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Marvel Rivals : retenir les nouveaux joueurs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collecte data pour le comité de direction de NetEase Games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Noé, consultant · 2 octobre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jeu attire, mais ne retient pas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· joueurs simultanés Steam, moyenne mensuelle (PC)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−77 %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48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joueurs simultanés en moyenne entre décembre 2024 (279 K) et octobre 2025 (64 K)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17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6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joueurs acquis en 3 mois : le problème est la rétention, pas l'acquisition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474720" y="1234440"/>
          <a:ext cx="52120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Steam Charts</a:t>
            </a:r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rapport NetEase via Game World Observer (40 M)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 : les nouveaux perdent trop tôt et partent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· H5 en trois temps (HYPOTHÈSE, à valider sur vos données)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62306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0574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: ce qui n'a pas marché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603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joueurs de tous niveaux arrivent en même temps, sans calibrage (Bronze III pour tous en classé jusqu'à la S5). Les moins expérimentés perdent lourdement et partent.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46120" y="13258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29000" y="150876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62306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29000" y="20574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Conséquence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5603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départ filtre la population : il reste surtout des joueurs expérimentés.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3258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17920" y="150876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62306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17920" y="20574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Aujourd'hui : ce qui ne marche toujours pas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5603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nouveau arrive en partie rapide face à cette population. Faute de joueurs, la fourchette de niveau s'élargit. Il perd et part : la base ne se renouvelle pas.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causes possibles, deux leviers différents : 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démarrage à froid (MMR de départ mal réglé)  ·  B · manque de joueurs (fourchette élargie aux heures creuses)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PCGamesN (Bronze III)</a:t>
            </a:r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vidéo NetEase du 21/08/2025 (fourchette)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matchmaking a porté la chute de 2025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· part des avis Steam négatifs qui citent le matchmaking (37 990 avis pondérés)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76072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7 % → 41 %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16916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déc. 2024 → août 2025 : la plainte qui monte le plus pendant la chute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35000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38 % → 38 %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28072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le démenti EOMM et la vidéo officielle d'août 2025 : expliquer ne suffit pas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46557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36 % → 14 %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760720" y="3922776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d'avis négatifs après les placements de la S5 : corriger le calibrage compte (corrélation)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publique des avis Steam (notre collecte)</a:t>
            </a:r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notes de patch S5</a:t>
            </a:r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vidéo du 21/08/2025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D'abord mesurer : 30 jours d'audit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· objectif SMART et données à extraire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258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ramener à 1,2 le ratio de churn J7 entre les nouveaux comptes qui perdent au moins 7 de leurs 10 premiers matchs et les autres nouveaux comptes, d'ici le 31/03/2027.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26289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5156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278892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churn J7 × 10 premiers matchs · D0 mode et plateforme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251460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262890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Trouver la cause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5257800" y="278892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MMR de départ (A) · D1 fourchette × joueurs en file (B) · D8 écart subi · D11 groupes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72618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5156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Apprendre du classé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051560" y="38862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D10 rétention avant / après la S5 · D5 écart en classé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663440" y="361188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7740" y="37261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25780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Écarter les autres pistes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5257800" y="38862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filtrage · D9 cohortes 2025 · D6 compositions · D7 bots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de collecte complet (matrice ICE, D0 à D20)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tester le levier qui correspond à la cause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· tests A/B de 60 jours, seulement si le ratio dépasse 1,2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62306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554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cause A : démarrage à froid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03120"/>
            <a:ext cx="3566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MMR de départ plus prudent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accélérée des nouveaux comptes (freine aussi les smurfs, sans sanction)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63440" y="132588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150876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62306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554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cause B : manque de joueurs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103120"/>
            <a:ext cx="3566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Fourchette resserrée aux heures creuses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Regroupement de régions si besoin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 si l'attente p90 dépasse 5 min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3611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les deux cas : </a:t>
            </a:r>
            <a:pPr indent="0" marL="0">
              <a:buNone/>
            </a:pPr>
            <a:r>
              <a:rPr lang="en-US" sz="12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débutants jusqu'au niveau 15, isolement des groupes en partie rapide, étiquette « match d'entraînement » sur les parties avec bots. </a:t>
            </a:r>
            <a:pPr indent="0" marL="0">
              <a:buNone/>
            </a:pPr>
            <a:r>
              <a:rPr lang="en-US" sz="12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Écartés : </a:t>
            </a:r>
            <a:pPr indent="0" marL="0">
              <a:buNone/>
            </a:pPr>
            <a:r>
              <a:rPr lang="en-US" sz="12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garde-fous de rôles (identité du jeu, liberté de composition).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vidéo NetEase du 21/08/2025</a:t>
            </a:r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crossplay en partie rapide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phases, chacune avec sa porte de décision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· 0-30 / 30-90 / 90-180 jours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0-30 j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1488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60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de sous-traitance et validation du hachage (J0). Extraction des 12 données, par mode et plateforme. Mesure du ratio.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7033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≤ 1,2 → plan B, pas d'investissement matchmaking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375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371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30-90 j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46120" y="20116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29000" y="21488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A/B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560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 de la cause trouvée, groupe test contre groupe témoin.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7033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 gardé si le ratio baisse et l'attente p90 &lt; 5 min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137160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264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371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90-180 j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035040" y="20116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0" y="21488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Généralisation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560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Leviers gagnants déployés, page publique « comment fonctionne le matchmaking », pilotage mensuel.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7033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31/03/2027 : ratio ≤ 1,2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seuils qui déclenchent une décision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et risques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1,2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 churn J7 à l'audit : on lance les tests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3716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5 min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9202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attente p90 : on arrête le resserrement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2801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3716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50 %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19202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10 premiers matchs en partie rapide (D0) : on la vise en premier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411480" cy="4114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070" y="2937510"/>
            <a:ext cx="205740" cy="20574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005840" y="2788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personnelles (RGPD)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de sous-traitance, identifiants hachés par NetEase, analyse dans votre environnement, mineurs exclus.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456432"/>
            <a:ext cx="411480" cy="4114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" y="3559302"/>
            <a:ext cx="205740" cy="2057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05840" y="34107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profilage individuel des « perdants » : leviers appliqués à tous les nouveaux comptes. Lecture à valider par un juriste.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4078224"/>
            <a:ext cx="411480" cy="4114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" y="4181094"/>
            <a:ext cx="205740" cy="2057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05840" y="403250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Bots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cachés : étiquette neutre, message préparé avec Marvel.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RGPD</a:t>
            </a:r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Act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nous vous demandons aujourd'hui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640080" cy="6400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" y="139446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234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Signer l'accord de sous-traitance RGPD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645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valider le hachage des identifiants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423160"/>
            <a:ext cx="640080" cy="6400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" y="258318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2423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Lancer l'audit de 30 jours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 33 jours-homme, plafonnés à cette phase ; tests A/B chiffrés à part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H5 est confirmée, le matchmaking des nouveaux devient votre levier de rétention prioritaire. Si elle est réfutée, vous évitez d'investir au mauvais endroit.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· consultées les 29 et 30/09/2026 · liens cliquables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Steam Charts, moyennes mensuelles (PC)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40 millions de joueurs, rapport NetEase (Game World Observer)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publique des avis Steam (notre collecte, 37 990 avis pondérés)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Vidéo NetEase sur le matchmaking, 21/08/2025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Notes de patch Season 5, placements (14/11/2025)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Notes de patch Season 7, placement individuel (18/03/2026)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Classé : Bronze III pour tous (PCGamesN)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Crossplay : partie rapide commune, classé séparé (Esports Insider)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Écart de niveau et churn (Heliyon, 2024, analogie)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RGPD (EUR-Lex)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Act (EUR-Lex)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de collecte complet (Google Docs)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Marvel Rivals : retenir les nouveaux joueurs</dc:title>
  <dc:subject>PptxGenJS Presentation</dc:subject>
  <dc:creator>Noé</dc:creator>
  <cp:lastModifiedBy>Noé</cp:lastModifiedBy>
  <cp:revision>1</cp:revision>
  <dcterms:created xsi:type="dcterms:W3CDTF">2026-09-30T20:06:58Z</dcterms:created>
  <dcterms:modified xsi:type="dcterms:W3CDTF">2026-09-30T20:06:58Z</dcterms:modified>
</cp:coreProperties>
</file>