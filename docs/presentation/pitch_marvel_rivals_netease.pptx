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Pourquoi ? Notre hypothèse, testable : nouveaux et revenants subissent des écarts de niveau que le matchmaking ne compense pas, et partent. Deux mécanismes peuvent les produire. En partie rapide, faute de joueurs, le matchmaking accepte des écarts plus grands, NetEase l'a reconnu : le nouveau tombe sur des vétérans et part. En classé, un joueur qui revient après des mois retrouve un rang à peine abaissé, perd, et repart. Tout cela se mesure dans vos données. D'où viennent ces écarts ? Probablement du lancement : des vétérans du genre, 45 % de ceux qui ont quitté Overwatch 2 ont essayé Marvel Rivals, face à un grand public venu pour Marvel. C'est plausible, mais vos données ne disent pas pourquoi un joueur est venu : nous ne bâtissons aucune décision dessus.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Six données d'abord : la première mesure l'objectif, la deuxième dit où jouent les nouveaux, trois testent chacune une cause,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La matrice complète : treize données indispensables, toutes déjà dans votre télémétrie. Aucune nouvelle collecte pour l'audit.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l'audit confirme le problème, et seulement le levier de la cause trouvée. Démarrage à froid : niveau de départ plus prudent. Manque de joueurs : écart resserré aux heures creuses, arrêté si l'attente dépasse 3 minutes. Rang périmé : matchs de recalibrage au retour.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Quand, qui, combien. Trente jours d'audit : un data analyst et un data engineer à mi-temps, environ 33 jours-homme, soit 19 000 euros aux tarifs du marché, sans licence nouvelle, sur votre stack existante. C'est le seul montant engagé aujourd'hui ; si les tests sont lancés, le total data monte à environ 45 000 euros, hors développement. Si le ratio est déjà sous 1,2, on s'arrête : plan B. Sinon, soixante jours de tests avec votre équipe matchmaking, puis généralisation jusqu'au 31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tjmetre.fr/barometre/data" TargetMode="External"/><Relationship Id="rId2" Type="http://schemas.openxmlformats.org/officeDocument/2006/relationships/hyperlink" Target="https://cloud.google.com/bigquery/pricing"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eur-lex.europa.eu/eli/reg/2016/679/oj" TargetMode="External"/><Relationship Id="rId2" Type="http://schemas.openxmlformats.org/officeDocument/2006/relationships/hyperlink" Target="https://eur-lex.europa.eu/eli/reg/2024/1689/oj"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tjmetre.fr/barometre/data" TargetMode="External"/><Relationship Id="rId16" Type="http://schemas.openxmlformats.org/officeDocument/2006/relationships/hyperlink" Target="https://eur-lex.europa.eu/eli/reg/2016/679/oj" TargetMode="External"/><Relationship Id="rId17" Type="http://schemas.openxmlformats.org/officeDocument/2006/relationships/hyperlink" Target="https://eur-lex.europa.eu/eli/reg/2024/1689/oj" TargetMode="External"/><Relationship Id="rId18" Type="http://schemas.openxmlformats.org/officeDocument/2006/relationships/hyperlink" Target="https://docs.google.com/document/d/1nOhcAL2wfeAHOK6x6UZH-Hg5yh9Ofxxko7FY47r5Vzc/edit" TargetMode="External"/><Relationship Id="rId19" Type="http://schemas.openxmlformats.org/officeDocument/2006/relationships/slideLayout" Target="../slideLayouts/slideLayout1.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problème business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sp>
        <p:nvSpPr>
          <p:cNvPr id="4" name="Shape 2"/>
          <p:cNvSpPr/>
          <p:nvPr/>
        </p:nvSpPr>
        <p:spPr>
          <a:xfrm>
            <a:off x="457200" y="1143000"/>
            <a:ext cx="8229600" cy="566928"/>
          </a:xfrm>
          <a:prstGeom prst="roundRect">
            <a:avLst>
              <a:gd name="adj" fmla="val 12903"/>
            </a:avLst>
          </a:prstGeom>
          <a:solidFill>
            <a:srgbClr val="161A33"/>
          </a:solidFill>
          <a:ln w="12700">
            <a:solidFill>
              <a:srgbClr val="161A33"/>
            </a:solidFill>
            <a:prstDash val="solid"/>
          </a:ln>
        </p:spPr>
      </p:sp>
      <p:sp>
        <p:nvSpPr>
          <p:cNvPr id="5" name="Text 3"/>
          <p:cNvSpPr txBox="1"/>
          <p:nvPr/>
        </p:nvSpPr>
        <p:spPr>
          <a:xfrm>
            <a:off x="640080" y="1161288"/>
            <a:ext cx="7863840" cy="530352"/>
          </a:xfrm>
          <a:prstGeom prst="rect">
            <a:avLst/>
          </a:prstGeom>
          <a:noFill/>
          <a:ln/>
        </p:spPr>
        <p:txBody>
          <a:bodyPr wrap="square" lIns="0" tIns="0" rIns="0" bIns="0" rtlCol="0" anchor="ctr"/>
          <a:lstStyle/>
          <a:p>
            <a:pPr indent="0" marL="0">
              <a:buNone/>
            </a:pPr>
            <a:r>
              <a:rPr lang="en-US" sz="1300" b="1" dirty="0">
                <a:solidFill>
                  <a:srgbClr val="E23636"/>
                </a:solidFill>
                <a:latin typeface="Calibri" pitchFamily="34" charset="0"/>
                <a:ea typeface="Calibri" pitchFamily="34" charset="-122"/>
                <a:cs typeface="Calibri" pitchFamily="34" charset="-120"/>
              </a:rPr>
              <a:t>B : </a:t>
            </a:r>
            <a:pPr indent="0" marL="0">
              <a:buNone/>
            </a:pPr>
            <a:r>
              <a:rPr lang="en-US" sz="1300"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graphicFrame>
        <p:nvGraphicFramePr>
          <p:cNvPr id="6" name="Chart 0" descr=""/>
          <p:cNvGraphicFramePr/>
          <p:nvPr/>
        </p:nvGraphicFramePr>
        <p:xfrm>
          <a:off x="320040" y="1783080"/>
          <a:ext cx="425196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4572000" y="1783080"/>
          <a:ext cx="4251960" cy="19659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−85 %</a:t>
            </a:r>
            <a:endParaRPr lang="en-US" sz="2000" dirty="0"/>
          </a:p>
        </p:txBody>
      </p:sp>
      <p:sp>
        <p:nvSpPr>
          <p:cNvPr id="9" name="Text 5"/>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0" name="Text 6"/>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2 mois</a:t>
            </a:r>
            <a:endParaRPr lang="en-US" sz="2000" dirty="0"/>
          </a:p>
        </p:txBody>
      </p:sp>
      <p:sp>
        <p:nvSpPr>
          <p:cNvPr id="11" name="Text 7"/>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2" name="Text 8"/>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161A33"/>
                </a:solidFill>
                <a:latin typeface="Arial" pitchFamily="34" charset="0"/>
                <a:ea typeface="Arial" pitchFamily="34" charset="-122"/>
                <a:cs typeface="Arial" pitchFamily="34" charset="-120"/>
              </a:rPr>
              <a:t>7 → 41 %</a:t>
            </a:r>
            <a:endParaRPr lang="en-US" sz="2000" dirty="0"/>
          </a:p>
        </p:txBody>
      </p:sp>
      <p:sp>
        <p:nvSpPr>
          <p:cNvPr id="13" name="Text 9"/>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5" name="Text 1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un écart de niveau qui fait partir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H5 : nouveaux et revenants subissent des écarts non compensés (testable)</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 en classé</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À chaque saison, le rang n'est abaissé que de 6 divisions, quelle que soit la durée de l'absence (Dev Talk Vol.10).</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200400"/>
                <a:gridCol w="2377440"/>
                <a:gridCol w="2651760"/>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Résultats des 10 premiers matchs et départ à 7 jours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perdre au début fait partir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C'est la mesure de l'objectif</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 ces 10 premiers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Où jouent les nouveaux</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Dit quel mode corriger en premier (Steam = PC seul)</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jeu place mal un nouveau</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A (démarrage à froid)</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l'écart grandit quand la file se vide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B (manque de joueurs)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Durée d'absence, rang au retour et bilan des 10 premiers matchs classés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rang au retour est périmé</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C (joueurs de retour)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mieux placer les joueurs les a retenus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Expérience déjà faite : la preuve la moins chère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16552"/>
            <a:ext cx="8229600" cy="320040"/>
          </a:xfrm>
          <a:prstGeom prst="rect">
            <a:avLst/>
          </a:prstGeom>
          <a:noFill/>
          <a:ln/>
        </p:spPr>
        <p:txBody>
          <a:bodyPr wrap="square" lIns="0" tIns="0" rIns="0" bIns="0" rtlCol="0" anchor="ctr"/>
          <a:lstStyle/>
          <a:p>
            <a:pPr indent="0" marL="0">
              <a:buNone/>
            </a:pPr>
            <a:r>
              <a:rPr lang="en-US" sz="95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La matrice de collecte : 13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score ICE = Impact × Confiance × Facilité, sur 125 ; coupe sous 30</a:t>
            </a:r>
            <a:endParaRPr lang="en-US" sz="1200" dirty="0"/>
          </a:p>
        </p:txBody>
      </p:sp>
      <p:sp>
        <p:nvSpPr>
          <p:cNvPr id="4" name="Shape 2"/>
          <p:cNvSpPr/>
          <p:nvPr/>
        </p:nvSpPr>
        <p:spPr>
          <a:xfrm>
            <a:off x="457200" y="1170432"/>
            <a:ext cx="2926080" cy="237744"/>
          </a:xfrm>
          <a:prstGeom prst="roundRect">
            <a:avLst>
              <a:gd name="adj" fmla="val 19231"/>
            </a:avLst>
          </a:prstGeom>
          <a:solidFill>
            <a:srgbClr val="2E7D5B"/>
          </a:solidFill>
          <a:ln w="12700">
            <a:solidFill>
              <a:srgbClr val="2E7D5B"/>
            </a:solidFill>
            <a:prstDash val="solid"/>
          </a:ln>
        </p:spPr>
      </p:sp>
      <p:sp>
        <p:nvSpPr>
          <p:cNvPr id="5" name="Text 3"/>
          <p:cNvSpPr txBox="1"/>
          <p:nvPr/>
        </p:nvSpPr>
        <p:spPr>
          <a:xfrm>
            <a:off x="457200" y="1170432"/>
            <a:ext cx="292608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INDISPENSABLE · ICE ≥ 80</a:t>
            </a:r>
            <a:endParaRPr lang="en-US" sz="900" dirty="0"/>
          </a:p>
        </p:txBody>
      </p:sp>
      <p:sp>
        <p:nvSpPr>
          <p:cNvPr id="6" name="Shape 4"/>
          <p:cNvSpPr/>
          <p:nvPr/>
        </p:nvSpPr>
        <p:spPr>
          <a:xfrm>
            <a:off x="457200" y="1499616"/>
            <a:ext cx="2926080" cy="219456"/>
          </a:xfrm>
          <a:prstGeom prst="rect">
            <a:avLst/>
          </a:prstGeom>
          <a:solidFill>
            <a:srgbClr val="EAF4EF"/>
          </a:solidFill>
          <a:ln w="12700">
            <a:solidFill>
              <a:srgbClr val="FFFFFF"/>
            </a:solidFill>
            <a:prstDash val="solid"/>
          </a:ln>
        </p:spPr>
      </p:sp>
      <p:sp>
        <p:nvSpPr>
          <p:cNvPr id="7" name="Text 5"/>
          <p:cNvSpPr txBox="1"/>
          <p:nvPr/>
        </p:nvSpPr>
        <p:spPr>
          <a:xfrm>
            <a:off x="512064" y="149961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des 10 premiers matchs</a:t>
            </a:r>
            <a:endParaRPr lang="en-US" sz="850" dirty="0"/>
          </a:p>
        </p:txBody>
      </p:sp>
      <p:sp>
        <p:nvSpPr>
          <p:cNvPr id="8" name="Text 6"/>
          <p:cNvSpPr txBox="1"/>
          <p:nvPr/>
        </p:nvSpPr>
        <p:spPr>
          <a:xfrm>
            <a:off x="2953512" y="149961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9" name="Shape 7"/>
          <p:cNvSpPr/>
          <p:nvPr/>
        </p:nvSpPr>
        <p:spPr>
          <a:xfrm>
            <a:off x="457200" y="1746504"/>
            <a:ext cx="2926080" cy="219456"/>
          </a:xfrm>
          <a:prstGeom prst="rect">
            <a:avLst/>
          </a:prstGeom>
          <a:solidFill>
            <a:srgbClr val="EAF4EF"/>
          </a:solidFill>
          <a:ln w="12700">
            <a:solidFill>
              <a:srgbClr val="FFFFFF"/>
            </a:solidFill>
            <a:prstDash val="solid"/>
          </a:ln>
        </p:spPr>
      </p:sp>
      <p:sp>
        <p:nvSpPr>
          <p:cNvPr id="10" name="Text 8"/>
          <p:cNvSpPr txBox="1"/>
          <p:nvPr/>
        </p:nvSpPr>
        <p:spPr>
          <a:xfrm>
            <a:off x="512064" y="174650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accepté × joueurs en file</a:t>
            </a:r>
            <a:endParaRPr lang="en-US" sz="850" dirty="0"/>
          </a:p>
        </p:txBody>
      </p:sp>
      <p:sp>
        <p:nvSpPr>
          <p:cNvPr id="11" name="Text 9"/>
          <p:cNvSpPr txBox="1"/>
          <p:nvPr/>
        </p:nvSpPr>
        <p:spPr>
          <a:xfrm>
            <a:off x="2953512" y="174650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12" name="Shape 10"/>
          <p:cNvSpPr/>
          <p:nvPr/>
        </p:nvSpPr>
        <p:spPr>
          <a:xfrm>
            <a:off x="457200" y="1993392"/>
            <a:ext cx="2926080" cy="219456"/>
          </a:xfrm>
          <a:prstGeom prst="rect">
            <a:avLst/>
          </a:prstGeom>
          <a:solidFill>
            <a:srgbClr val="EAF4EF"/>
          </a:solidFill>
          <a:ln w="12700">
            <a:solidFill>
              <a:srgbClr val="FFFFFF"/>
            </a:solidFill>
            <a:prstDash val="solid"/>
          </a:ln>
        </p:spPr>
      </p:sp>
      <p:sp>
        <p:nvSpPr>
          <p:cNvPr id="13" name="Text 11"/>
          <p:cNvSpPr txBox="1"/>
          <p:nvPr/>
        </p:nvSpPr>
        <p:spPr>
          <a:xfrm>
            <a:off x="512064" y="199339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Départ à 7 jours × bilan des 10 matchs</a:t>
            </a:r>
            <a:endParaRPr lang="en-US" sz="850" dirty="0"/>
          </a:p>
        </p:txBody>
      </p:sp>
      <p:sp>
        <p:nvSpPr>
          <p:cNvPr id="14" name="Text 12"/>
          <p:cNvSpPr txBox="1"/>
          <p:nvPr/>
        </p:nvSpPr>
        <p:spPr>
          <a:xfrm>
            <a:off x="2953512" y="199339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5" name="Shape 13"/>
          <p:cNvSpPr/>
          <p:nvPr/>
        </p:nvSpPr>
        <p:spPr>
          <a:xfrm>
            <a:off x="457200" y="2240280"/>
            <a:ext cx="2926080" cy="219456"/>
          </a:xfrm>
          <a:prstGeom prst="rect">
            <a:avLst/>
          </a:prstGeom>
          <a:solidFill>
            <a:srgbClr val="EAF4EF"/>
          </a:solidFill>
          <a:ln w="12700">
            <a:solidFill>
              <a:srgbClr val="FFFFFF"/>
            </a:solidFill>
            <a:prstDash val="solid"/>
          </a:ln>
        </p:spPr>
      </p:sp>
      <p:sp>
        <p:nvSpPr>
          <p:cNvPr id="16" name="Text 14"/>
          <p:cNvSpPr txBox="1"/>
          <p:nvPr/>
        </p:nvSpPr>
        <p:spPr>
          <a:xfrm>
            <a:off x="512064" y="224028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Niveau de départ et convergence</a:t>
            </a:r>
            <a:endParaRPr lang="en-US" sz="850" dirty="0"/>
          </a:p>
        </p:txBody>
      </p:sp>
      <p:sp>
        <p:nvSpPr>
          <p:cNvPr id="17" name="Text 15"/>
          <p:cNvSpPr txBox="1"/>
          <p:nvPr/>
        </p:nvSpPr>
        <p:spPr>
          <a:xfrm>
            <a:off x="2953512" y="224028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8" name="Shape 16"/>
          <p:cNvSpPr/>
          <p:nvPr/>
        </p:nvSpPr>
        <p:spPr>
          <a:xfrm>
            <a:off x="457200" y="2487168"/>
            <a:ext cx="2926080" cy="219456"/>
          </a:xfrm>
          <a:prstGeom prst="rect">
            <a:avLst/>
          </a:prstGeom>
          <a:solidFill>
            <a:srgbClr val="EAF4EF"/>
          </a:solidFill>
          <a:ln w="12700">
            <a:solidFill>
              <a:srgbClr val="FFFFFF"/>
            </a:solidFill>
            <a:prstDash val="solid"/>
          </a:ln>
        </p:spPr>
      </p:sp>
      <p:sp>
        <p:nvSpPr>
          <p:cNvPr id="19" name="Text 17"/>
          <p:cNvSpPr txBox="1"/>
          <p:nvPr/>
        </p:nvSpPr>
        <p:spPr>
          <a:xfrm>
            <a:off x="512064" y="248716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Joueurs de retour : absence × rang × bilan</a:t>
            </a:r>
            <a:endParaRPr lang="en-US" sz="850" dirty="0"/>
          </a:p>
        </p:txBody>
      </p:sp>
      <p:sp>
        <p:nvSpPr>
          <p:cNvPr id="20" name="Text 18"/>
          <p:cNvSpPr txBox="1"/>
          <p:nvPr/>
        </p:nvSpPr>
        <p:spPr>
          <a:xfrm>
            <a:off x="2953512" y="248716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1" name="Shape 19"/>
          <p:cNvSpPr/>
          <p:nvPr/>
        </p:nvSpPr>
        <p:spPr>
          <a:xfrm>
            <a:off x="457200" y="2734056"/>
            <a:ext cx="2926080" cy="219456"/>
          </a:xfrm>
          <a:prstGeom prst="rect">
            <a:avLst/>
          </a:prstGeom>
          <a:solidFill>
            <a:srgbClr val="EAF4EF"/>
          </a:solidFill>
          <a:ln w="12700">
            <a:solidFill>
              <a:srgbClr val="FFFFFF"/>
            </a:solidFill>
            <a:prstDash val="solid"/>
          </a:ln>
        </p:spPr>
      </p:sp>
      <p:sp>
        <p:nvSpPr>
          <p:cNvPr id="22" name="Text 20"/>
          <p:cNvSpPr txBox="1"/>
          <p:nvPr/>
        </p:nvSpPr>
        <p:spPr>
          <a:xfrm>
            <a:off x="512064" y="273405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Filtrage de la population</a:t>
            </a:r>
            <a:endParaRPr lang="en-US" sz="850" dirty="0"/>
          </a:p>
        </p:txBody>
      </p:sp>
      <p:sp>
        <p:nvSpPr>
          <p:cNvPr id="23" name="Text 21"/>
          <p:cNvSpPr txBox="1"/>
          <p:nvPr/>
        </p:nvSpPr>
        <p:spPr>
          <a:xfrm>
            <a:off x="2953512" y="273405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4" name="Shape 22"/>
          <p:cNvSpPr/>
          <p:nvPr/>
        </p:nvSpPr>
        <p:spPr>
          <a:xfrm>
            <a:off x="457200" y="2980944"/>
            <a:ext cx="2926080" cy="219456"/>
          </a:xfrm>
          <a:prstGeom prst="rect">
            <a:avLst/>
          </a:prstGeom>
          <a:solidFill>
            <a:srgbClr val="EAF4EF"/>
          </a:solidFill>
          <a:ln w="12700">
            <a:solidFill>
              <a:srgbClr val="FFFFFF"/>
            </a:solidFill>
            <a:prstDash val="solid"/>
          </a:ln>
        </p:spPr>
      </p:sp>
      <p:sp>
        <p:nvSpPr>
          <p:cNvPr id="25" name="Text 23"/>
          <p:cNvSpPr txBox="1"/>
          <p:nvPr/>
        </p:nvSpPr>
        <p:spPr>
          <a:xfrm>
            <a:off x="512064" y="298094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de score en classé</a:t>
            </a:r>
            <a:endParaRPr lang="en-US" sz="850" dirty="0"/>
          </a:p>
        </p:txBody>
      </p:sp>
      <p:sp>
        <p:nvSpPr>
          <p:cNvPr id="26" name="Text 24"/>
          <p:cNvSpPr txBox="1"/>
          <p:nvPr/>
        </p:nvSpPr>
        <p:spPr>
          <a:xfrm>
            <a:off x="2953512" y="298094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7" name="Shape 25"/>
          <p:cNvSpPr/>
          <p:nvPr/>
        </p:nvSpPr>
        <p:spPr>
          <a:xfrm>
            <a:off x="457200" y="3227832"/>
            <a:ext cx="2926080" cy="219456"/>
          </a:xfrm>
          <a:prstGeom prst="rect">
            <a:avLst/>
          </a:prstGeom>
          <a:solidFill>
            <a:srgbClr val="EAF4EF"/>
          </a:solidFill>
          <a:ln w="12700">
            <a:solidFill>
              <a:srgbClr val="FFFFFF"/>
            </a:solidFill>
            <a:prstDash val="solid"/>
          </a:ln>
        </p:spPr>
      </p:sp>
      <p:sp>
        <p:nvSpPr>
          <p:cNvPr id="28" name="Text 26"/>
          <p:cNvSpPr txBox="1"/>
          <p:nvPr/>
        </p:nvSpPr>
        <p:spPr>
          <a:xfrm>
            <a:off x="512064" y="322783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Compositions par rôle</a:t>
            </a:r>
            <a:endParaRPr lang="en-US" sz="850" dirty="0"/>
          </a:p>
        </p:txBody>
      </p:sp>
      <p:sp>
        <p:nvSpPr>
          <p:cNvPr id="29" name="Text 27"/>
          <p:cNvSpPr txBox="1"/>
          <p:nvPr/>
        </p:nvSpPr>
        <p:spPr>
          <a:xfrm>
            <a:off x="2953512" y="322783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0" name="Shape 28"/>
          <p:cNvSpPr/>
          <p:nvPr/>
        </p:nvSpPr>
        <p:spPr>
          <a:xfrm>
            <a:off x="457200" y="3474720"/>
            <a:ext cx="2926080" cy="219456"/>
          </a:xfrm>
          <a:prstGeom prst="rect">
            <a:avLst/>
          </a:prstGeom>
          <a:solidFill>
            <a:srgbClr val="EAF4EF"/>
          </a:solidFill>
          <a:ln w="12700">
            <a:solidFill>
              <a:srgbClr val="FFFFFF"/>
            </a:solidFill>
            <a:prstDash val="solid"/>
          </a:ln>
        </p:spPr>
      </p:sp>
      <p:sp>
        <p:nvSpPr>
          <p:cNvPr id="31" name="Text 29"/>
          <p:cNvSpPr txBox="1"/>
          <p:nvPr/>
        </p:nvSpPr>
        <p:spPr>
          <a:xfrm>
            <a:off x="512064" y="347472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Parties avec bots</a:t>
            </a:r>
            <a:endParaRPr lang="en-US" sz="850" dirty="0"/>
          </a:p>
        </p:txBody>
      </p:sp>
      <p:sp>
        <p:nvSpPr>
          <p:cNvPr id="32" name="Text 30"/>
          <p:cNvSpPr txBox="1"/>
          <p:nvPr/>
        </p:nvSpPr>
        <p:spPr>
          <a:xfrm>
            <a:off x="2953512" y="347472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3" name="Shape 31"/>
          <p:cNvSpPr/>
          <p:nvPr/>
        </p:nvSpPr>
        <p:spPr>
          <a:xfrm>
            <a:off x="457200" y="3721608"/>
            <a:ext cx="2926080" cy="219456"/>
          </a:xfrm>
          <a:prstGeom prst="rect">
            <a:avLst/>
          </a:prstGeom>
          <a:solidFill>
            <a:srgbClr val="EAF4EF"/>
          </a:solidFill>
          <a:ln w="12700">
            <a:solidFill>
              <a:srgbClr val="FFFFFF"/>
            </a:solidFill>
            <a:prstDash val="solid"/>
          </a:ln>
        </p:spPr>
      </p:sp>
      <p:sp>
        <p:nvSpPr>
          <p:cNvPr id="34" name="Text 32"/>
          <p:cNvSpPr txBox="1"/>
          <p:nvPr/>
        </p:nvSpPr>
        <p:spPr>
          <a:xfrm>
            <a:off x="512064" y="372160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subi en partie rapide</a:t>
            </a:r>
            <a:endParaRPr lang="en-US" sz="850" dirty="0"/>
          </a:p>
        </p:txBody>
      </p:sp>
      <p:sp>
        <p:nvSpPr>
          <p:cNvPr id="35" name="Text 33"/>
          <p:cNvSpPr txBox="1"/>
          <p:nvPr/>
        </p:nvSpPr>
        <p:spPr>
          <a:xfrm>
            <a:off x="2953512" y="372160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6" name="Shape 34"/>
          <p:cNvSpPr/>
          <p:nvPr/>
        </p:nvSpPr>
        <p:spPr>
          <a:xfrm>
            <a:off x="457200" y="3968496"/>
            <a:ext cx="2926080" cy="219456"/>
          </a:xfrm>
          <a:prstGeom prst="rect">
            <a:avLst/>
          </a:prstGeom>
          <a:solidFill>
            <a:srgbClr val="EAF4EF"/>
          </a:solidFill>
          <a:ln w="12700">
            <a:solidFill>
              <a:srgbClr val="FFFFFF"/>
            </a:solidFill>
            <a:prstDash val="solid"/>
          </a:ln>
        </p:spPr>
      </p:sp>
      <p:sp>
        <p:nvSpPr>
          <p:cNvPr id="37" name="Text 35"/>
          <p:cNvSpPr txBox="1"/>
          <p:nvPr/>
        </p:nvSpPr>
        <p:spPr>
          <a:xfrm>
            <a:off x="512064" y="396849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Cohortes 2025</a:t>
            </a:r>
            <a:endParaRPr lang="en-US" sz="850" dirty="0"/>
          </a:p>
        </p:txBody>
      </p:sp>
      <p:sp>
        <p:nvSpPr>
          <p:cNvPr id="38" name="Text 36"/>
          <p:cNvSpPr txBox="1"/>
          <p:nvPr/>
        </p:nvSpPr>
        <p:spPr>
          <a:xfrm>
            <a:off x="2953512" y="396849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9" name="Shape 37"/>
          <p:cNvSpPr/>
          <p:nvPr/>
        </p:nvSpPr>
        <p:spPr>
          <a:xfrm>
            <a:off x="457200" y="4215384"/>
            <a:ext cx="2926080" cy="219456"/>
          </a:xfrm>
          <a:prstGeom prst="rect">
            <a:avLst/>
          </a:prstGeom>
          <a:solidFill>
            <a:srgbClr val="EAF4EF"/>
          </a:solidFill>
          <a:ln w="12700">
            <a:solidFill>
              <a:srgbClr val="FFFFFF"/>
            </a:solidFill>
            <a:prstDash val="solid"/>
          </a:ln>
        </p:spPr>
      </p:sp>
      <p:sp>
        <p:nvSpPr>
          <p:cNvPr id="40" name="Text 38"/>
          <p:cNvSpPr txBox="1"/>
          <p:nvPr/>
        </p:nvSpPr>
        <p:spPr>
          <a:xfrm>
            <a:off x="512064" y="421538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Rétention avant / après la S5</a:t>
            </a:r>
            <a:endParaRPr lang="en-US" sz="850" dirty="0"/>
          </a:p>
        </p:txBody>
      </p:sp>
      <p:sp>
        <p:nvSpPr>
          <p:cNvPr id="41" name="Text 39"/>
          <p:cNvSpPr txBox="1"/>
          <p:nvPr/>
        </p:nvSpPr>
        <p:spPr>
          <a:xfrm>
            <a:off x="2953512" y="421538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2" name="Shape 40"/>
          <p:cNvSpPr/>
          <p:nvPr/>
        </p:nvSpPr>
        <p:spPr>
          <a:xfrm>
            <a:off x="457200" y="4462272"/>
            <a:ext cx="2926080" cy="219456"/>
          </a:xfrm>
          <a:prstGeom prst="rect">
            <a:avLst/>
          </a:prstGeom>
          <a:solidFill>
            <a:srgbClr val="EAF4EF"/>
          </a:solidFill>
          <a:ln w="12700">
            <a:solidFill>
              <a:srgbClr val="FFFFFF"/>
            </a:solidFill>
            <a:prstDash val="solid"/>
          </a:ln>
        </p:spPr>
      </p:sp>
      <p:sp>
        <p:nvSpPr>
          <p:cNvPr id="43" name="Text 41"/>
          <p:cNvSpPr txBox="1"/>
          <p:nvPr/>
        </p:nvSpPr>
        <p:spPr>
          <a:xfrm>
            <a:off x="512064" y="446227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Groupes contre solos</a:t>
            </a:r>
            <a:endParaRPr lang="en-US" sz="850" dirty="0"/>
          </a:p>
        </p:txBody>
      </p:sp>
      <p:sp>
        <p:nvSpPr>
          <p:cNvPr id="44" name="Text 42"/>
          <p:cNvSpPr txBox="1"/>
          <p:nvPr/>
        </p:nvSpPr>
        <p:spPr>
          <a:xfrm>
            <a:off x="2953512" y="446227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5" name="Shape 43"/>
          <p:cNvSpPr/>
          <p:nvPr/>
        </p:nvSpPr>
        <p:spPr>
          <a:xfrm>
            <a:off x="3520440" y="1170432"/>
            <a:ext cx="2606040" cy="237744"/>
          </a:xfrm>
          <a:prstGeom prst="roundRect">
            <a:avLst>
              <a:gd name="adj" fmla="val 19231"/>
            </a:avLst>
          </a:prstGeom>
          <a:solidFill>
            <a:srgbClr val="B7791F"/>
          </a:solidFill>
          <a:ln w="12700">
            <a:solidFill>
              <a:srgbClr val="B7791F"/>
            </a:solidFill>
            <a:prstDash val="solid"/>
          </a:ln>
        </p:spPr>
      </p:sp>
      <p:sp>
        <p:nvSpPr>
          <p:cNvPr id="46" name="Text 44"/>
          <p:cNvSpPr txBox="1"/>
          <p:nvPr/>
        </p:nvSpPr>
        <p:spPr>
          <a:xfrm>
            <a:off x="3520440" y="1170432"/>
            <a:ext cx="26060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UTILE · 30 à 79</a:t>
            </a:r>
            <a:endParaRPr lang="en-US" sz="900" dirty="0"/>
          </a:p>
        </p:txBody>
      </p:sp>
      <p:sp>
        <p:nvSpPr>
          <p:cNvPr id="47" name="Shape 45"/>
          <p:cNvSpPr/>
          <p:nvPr/>
        </p:nvSpPr>
        <p:spPr>
          <a:xfrm>
            <a:off x="3520440" y="1499616"/>
            <a:ext cx="2606040" cy="219456"/>
          </a:xfrm>
          <a:prstGeom prst="rect">
            <a:avLst/>
          </a:prstGeom>
          <a:solidFill>
            <a:srgbClr val="FBF3E6"/>
          </a:solidFill>
          <a:ln w="12700">
            <a:solidFill>
              <a:srgbClr val="FFFFFF"/>
            </a:solidFill>
            <a:prstDash val="solid"/>
          </a:ln>
        </p:spPr>
      </p:sp>
      <p:sp>
        <p:nvSpPr>
          <p:cNvPr id="48" name="Text 46"/>
          <p:cNvSpPr txBox="1"/>
          <p:nvPr/>
        </p:nvSpPr>
        <p:spPr>
          <a:xfrm>
            <a:off x="3575304" y="149961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Performance des comptes neufs (smurfs)</a:t>
            </a:r>
            <a:endParaRPr lang="en-US" sz="850" dirty="0"/>
          </a:p>
        </p:txBody>
      </p:sp>
      <p:sp>
        <p:nvSpPr>
          <p:cNvPr id="49" name="Text 47"/>
          <p:cNvSpPr txBox="1"/>
          <p:nvPr/>
        </p:nvSpPr>
        <p:spPr>
          <a:xfrm>
            <a:off x="5696712" y="149961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0" name="Shape 48"/>
          <p:cNvSpPr/>
          <p:nvPr/>
        </p:nvSpPr>
        <p:spPr>
          <a:xfrm>
            <a:off x="3520440" y="1746504"/>
            <a:ext cx="2606040" cy="219456"/>
          </a:xfrm>
          <a:prstGeom prst="rect">
            <a:avLst/>
          </a:prstGeom>
          <a:solidFill>
            <a:srgbClr val="FBF3E6"/>
          </a:solidFill>
          <a:ln w="12700">
            <a:solidFill>
              <a:srgbClr val="FFFFFF"/>
            </a:solidFill>
            <a:prstDash val="solid"/>
          </a:ln>
        </p:spPr>
      </p:sp>
      <p:sp>
        <p:nvSpPr>
          <p:cNvPr id="51" name="Text 49"/>
          <p:cNvSpPr txBox="1"/>
          <p:nvPr/>
        </p:nvSpPr>
        <p:spPr>
          <a:xfrm>
            <a:off x="3575304" y="174650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Rôle joué / rôle habituel</a:t>
            </a:r>
            <a:endParaRPr lang="en-US" sz="850" dirty="0"/>
          </a:p>
        </p:txBody>
      </p:sp>
      <p:sp>
        <p:nvSpPr>
          <p:cNvPr id="52" name="Text 50"/>
          <p:cNvSpPr txBox="1"/>
          <p:nvPr/>
        </p:nvSpPr>
        <p:spPr>
          <a:xfrm>
            <a:off x="5696712" y="174650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3" name="Shape 51"/>
          <p:cNvSpPr/>
          <p:nvPr/>
        </p:nvSpPr>
        <p:spPr>
          <a:xfrm>
            <a:off x="3520440" y="1993392"/>
            <a:ext cx="2606040" cy="219456"/>
          </a:xfrm>
          <a:prstGeom prst="rect">
            <a:avLst/>
          </a:prstGeom>
          <a:solidFill>
            <a:srgbClr val="FBF3E6"/>
          </a:solidFill>
          <a:ln w="12700">
            <a:solidFill>
              <a:srgbClr val="FFFFFF"/>
            </a:solidFill>
            <a:prstDash val="solid"/>
          </a:ln>
        </p:spPr>
      </p:sp>
      <p:sp>
        <p:nvSpPr>
          <p:cNvPr id="54" name="Text 52"/>
          <p:cNvSpPr txBox="1"/>
          <p:nvPr/>
        </p:nvSpPr>
        <p:spPr>
          <a:xfrm>
            <a:off x="3575304" y="199339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Avis Steam (collecte faite)</a:t>
            </a:r>
            <a:endParaRPr lang="en-US" sz="850" dirty="0"/>
          </a:p>
        </p:txBody>
      </p:sp>
      <p:sp>
        <p:nvSpPr>
          <p:cNvPr id="55" name="Text 53"/>
          <p:cNvSpPr txBox="1"/>
          <p:nvPr/>
        </p:nvSpPr>
        <p:spPr>
          <a:xfrm>
            <a:off x="5696712" y="199339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45</a:t>
            </a:r>
            <a:endParaRPr lang="en-US" sz="900" dirty="0"/>
          </a:p>
        </p:txBody>
      </p:sp>
      <p:sp>
        <p:nvSpPr>
          <p:cNvPr id="56" name="Shape 54"/>
          <p:cNvSpPr/>
          <p:nvPr/>
        </p:nvSpPr>
        <p:spPr>
          <a:xfrm>
            <a:off x="3520440" y="2240280"/>
            <a:ext cx="2606040" cy="219456"/>
          </a:xfrm>
          <a:prstGeom prst="rect">
            <a:avLst/>
          </a:prstGeom>
          <a:solidFill>
            <a:srgbClr val="FBF3E6"/>
          </a:solidFill>
          <a:ln w="12700">
            <a:solidFill>
              <a:srgbClr val="FFFFFF"/>
            </a:solidFill>
            <a:prstDash val="solid"/>
          </a:ln>
        </p:spPr>
      </p:sp>
      <p:sp>
        <p:nvSpPr>
          <p:cNvPr id="57" name="Text 55"/>
          <p:cNvSpPr txBox="1"/>
          <p:nvPr/>
        </p:nvSpPr>
        <p:spPr>
          <a:xfrm>
            <a:off x="3575304" y="2240280"/>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Attente simulée</a:t>
            </a:r>
            <a:endParaRPr lang="en-US" sz="850" dirty="0"/>
          </a:p>
        </p:txBody>
      </p:sp>
      <p:sp>
        <p:nvSpPr>
          <p:cNvPr id="58" name="Text 56"/>
          <p:cNvSpPr txBox="1"/>
          <p:nvPr/>
        </p:nvSpPr>
        <p:spPr>
          <a:xfrm>
            <a:off x="5696712" y="2240280"/>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59" name="Shape 57"/>
          <p:cNvSpPr/>
          <p:nvPr/>
        </p:nvSpPr>
        <p:spPr>
          <a:xfrm>
            <a:off x="3520440" y="2487168"/>
            <a:ext cx="2606040" cy="219456"/>
          </a:xfrm>
          <a:prstGeom prst="rect">
            <a:avLst/>
          </a:prstGeom>
          <a:solidFill>
            <a:srgbClr val="FBF3E6"/>
          </a:solidFill>
          <a:ln w="12700">
            <a:solidFill>
              <a:srgbClr val="FFFFFF"/>
            </a:solidFill>
            <a:prstDash val="solid"/>
          </a:ln>
        </p:spPr>
      </p:sp>
      <p:sp>
        <p:nvSpPr>
          <p:cNvPr id="60" name="Text 58"/>
          <p:cNvSpPr txBox="1"/>
          <p:nvPr/>
        </p:nvSpPr>
        <p:spPr>
          <a:xfrm>
            <a:off x="3575304" y="2487168"/>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Durée des ultimes de soin</a:t>
            </a:r>
            <a:endParaRPr lang="en-US" sz="850" dirty="0"/>
          </a:p>
        </p:txBody>
      </p:sp>
      <p:sp>
        <p:nvSpPr>
          <p:cNvPr id="61" name="Text 59"/>
          <p:cNvSpPr txBox="1"/>
          <p:nvPr/>
        </p:nvSpPr>
        <p:spPr>
          <a:xfrm>
            <a:off x="5696712" y="2487168"/>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2" name="Shape 60"/>
          <p:cNvSpPr/>
          <p:nvPr/>
        </p:nvSpPr>
        <p:spPr>
          <a:xfrm>
            <a:off x="3520440" y="2734056"/>
            <a:ext cx="2606040" cy="219456"/>
          </a:xfrm>
          <a:prstGeom prst="rect">
            <a:avLst/>
          </a:prstGeom>
          <a:solidFill>
            <a:srgbClr val="FBF3E6"/>
          </a:solidFill>
          <a:ln w="12700">
            <a:solidFill>
              <a:srgbClr val="FFFFFF"/>
            </a:solidFill>
            <a:prstDash val="solid"/>
          </a:ln>
        </p:spPr>
      </p:sp>
      <p:sp>
        <p:nvSpPr>
          <p:cNvPr id="63" name="Text 61"/>
          <p:cNvSpPr txBox="1"/>
          <p:nvPr/>
        </p:nvSpPr>
        <p:spPr>
          <a:xfrm>
            <a:off x="3575304" y="273405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Sondage d'équité perçue</a:t>
            </a:r>
            <a:endParaRPr lang="en-US" sz="850" dirty="0"/>
          </a:p>
        </p:txBody>
      </p:sp>
      <p:sp>
        <p:nvSpPr>
          <p:cNvPr id="64" name="Text 62"/>
          <p:cNvSpPr txBox="1"/>
          <p:nvPr/>
        </p:nvSpPr>
        <p:spPr>
          <a:xfrm>
            <a:off x="5696712" y="273405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5" name="Shape 63"/>
          <p:cNvSpPr/>
          <p:nvPr/>
        </p:nvSpPr>
        <p:spPr>
          <a:xfrm>
            <a:off x="3520440" y="2980944"/>
            <a:ext cx="2606040" cy="219456"/>
          </a:xfrm>
          <a:prstGeom prst="rect">
            <a:avLst/>
          </a:prstGeom>
          <a:solidFill>
            <a:srgbClr val="FBF3E6"/>
          </a:solidFill>
          <a:ln w="12700">
            <a:solidFill>
              <a:srgbClr val="FFFFFF"/>
            </a:solidFill>
            <a:prstDash val="solid"/>
          </a:ln>
        </p:spPr>
      </p:sp>
      <p:sp>
        <p:nvSpPr>
          <p:cNvPr id="66" name="Text 64"/>
          <p:cNvSpPr txBox="1"/>
          <p:nvPr/>
        </p:nvSpPr>
        <p:spPr>
          <a:xfrm>
            <a:off x="3575304" y="298094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Question d'onboarding</a:t>
            </a:r>
            <a:endParaRPr lang="en-US" sz="850" dirty="0"/>
          </a:p>
        </p:txBody>
      </p:sp>
      <p:sp>
        <p:nvSpPr>
          <p:cNvPr id="67" name="Text 65"/>
          <p:cNvSpPr txBox="1"/>
          <p:nvPr/>
        </p:nvSpPr>
        <p:spPr>
          <a:xfrm>
            <a:off x="5696712" y="298094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8" name="Shape 66"/>
          <p:cNvSpPr/>
          <p:nvPr/>
        </p:nvSpPr>
        <p:spPr>
          <a:xfrm>
            <a:off x="3520440" y="3227832"/>
            <a:ext cx="2606040" cy="219456"/>
          </a:xfrm>
          <a:prstGeom prst="rect">
            <a:avLst/>
          </a:prstGeom>
          <a:solidFill>
            <a:srgbClr val="FBF3E6"/>
          </a:solidFill>
          <a:ln w="12700">
            <a:solidFill>
              <a:srgbClr val="FFFFFF"/>
            </a:solidFill>
            <a:prstDash val="solid"/>
          </a:ln>
        </p:spPr>
      </p:sp>
      <p:sp>
        <p:nvSpPr>
          <p:cNvPr id="69" name="Text 67"/>
          <p:cNvSpPr txBox="1"/>
          <p:nvPr/>
        </p:nvSpPr>
        <p:spPr>
          <a:xfrm>
            <a:off x="3575304" y="322783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Héros maîtrisés</a:t>
            </a:r>
            <a:endParaRPr lang="en-US" sz="850" dirty="0"/>
          </a:p>
        </p:txBody>
      </p:sp>
      <p:sp>
        <p:nvSpPr>
          <p:cNvPr id="70" name="Text 68"/>
          <p:cNvSpPr txBox="1"/>
          <p:nvPr/>
        </p:nvSpPr>
        <p:spPr>
          <a:xfrm>
            <a:off x="5696712" y="322783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30</a:t>
            </a:r>
            <a:endParaRPr lang="en-US" sz="900" dirty="0"/>
          </a:p>
        </p:txBody>
      </p:sp>
      <p:sp>
        <p:nvSpPr>
          <p:cNvPr id="71" name="Shape 69"/>
          <p:cNvSpPr/>
          <p:nvPr/>
        </p:nvSpPr>
        <p:spPr>
          <a:xfrm>
            <a:off x="6263640" y="1170432"/>
            <a:ext cx="2286000" cy="237744"/>
          </a:xfrm>
          <a:prstGeom prst="roundRect">
            <a:avLst>
              <a:gd name="adj" fmla="val 19231"/>
            </a:avLst>
          </a:prstGeom>
          <a:solidFill>
            <a:srgbClr val="8A8FA3"/>
          </a:solidFill>
          <a:ln w="12700">
            <a:solidFill>
              <a:srgbClr val="8A8FA3"/>
            </a:solidFill>
            <a:prstDash val="solid"/>
          </a:ln>
        </p:spPr>
      </p:sp>
      <p:sp>
        <p:nvSpPr>
          <p:cNvPr id="72" name="Text 70"/>
          <p:cNvSpPr txBox="1"/>
          <p:nvPr/>
        </p:nvSpPr>
        <p:spPr>
          <a:xfrm>
            <a:off x="6263640" y="1170432"/>
            <a:ext cx="228600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ÉCARTÉ · &lt; 30 ou inutile</a:t>
            </a:r>
            <a:endParaRPr lang="en-US" sz="900" dirty="0"/>
          </a:p>
        </p:txBody>
      </p:sp>
      <p:sp>
        <p:nvSpPr>
          <p:cNvPr id="73" name="Shape 71"/>
          <p:cNvSpPr/>
          <p:nvPr/>
        </p:nvSpPr>
        <p:spPr>
          <a:xfrm>
            <a:off x="6263640" y="1499616"/>
            <a:ext cx="2286000" cy="219456"/>
          </a:xfrm>
          <a:prstGeom prst="rect">
            <a:avLst/>
          </a:prstGeom>
          <a:solidFill>
            <a:srgbClr val="F0F1F4"/>
          </a:solidFill>
          <a:ln w="12700">
            <a:solidFill>
              <a:srgbClr val="FFFFFF"/>
            </a:solidFill>
            <a:prstDash val="solid"/>
          </a:ln>
        </p:spPr>
      </p:sp>
      <p:sp>
        <p:nvSpPr>
          <p:cNvPr id="74" name="Text 72"/>
          <p:cNvSpPr txBox="1"/>
          <p:nvPr/>
        </p:nvSpPr>
        <p:spPr>
          <a:xfrm>
            <a:off x="6318504" y="1499616"/>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Benchmark Newzoo (panel biaisé)</a:t>
            </a:r>
            <a:endParaRPr lang="en-US" sz="850" dirty="0"/>
          </a:p>
        </p:txBody>
      </p:sp>
      <p:sp>
        <p:nvSpPr>
          <p:cNvPr id="75" name="Text 73"/>
          <p:cNvSpPr txBox="1"/>
          <p:nvPr/>
        </p:nvSpPr>
        <p:spPr>
          <a:xfrm>
            <a:off x="8119872" y="1499616"/>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12</a:t>
            </a:r>
            <a:endParaRPr lang="en-US" sz="900" dirty="0"/>
          </a:p>
        </p:txBody>
      </p:sp>
      <p:sp>
        <p:nvSpPr>
          <p:cNvPr id="76" name="Shape 74"/>
          <p:cNvSpPr/>
          <p:nvPr/>
        </p:nvSpPr>
        <p:spPr>
          <a:xfrm>
            <a:off x="6263640" y="1746504"/>
            <a:ext cx="2286000" cy="219456"/>
          </a:xfrm>
          <a:prstGeom prst="rect">
            <a:avLst/>
          </a:prstGeom>
          <a:solidFill>
            <a:srgbClr val="F0F1F4"/>
          </a:solidFill>
          <a:ln w="12700">
            <a:solidFill>
              <a:srgbClr val="FFFFFF"/>
            </a:solidFill>
            <a:prstDash val="solid"/>
          </a:ln>
        </p:spPr>
      </p:sp>
      <p:sp>
        <p:nvSpPr>
          <p:cNvPr id="77" name="Text 75"/>
          <p:cNvSpPr txBox="1"/>
          <p:nvPr/>
        </p:nvSpPr>
        <p:spPr>
          <a:xfrm>
            <a:off x="6318504" y="1746504"/>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Chat vocal ou texte complet</a:t>
            </a:r>
            <a:endParaRPr lang="en-US" sz="850" dirty="0"/>
          </a:p>
        </p:txBody>
      </p:sp>
      <p:sp>
        <p:nvSpPr>
          <p:cNvPr id="78" name="Text 76"/>
          <p:cNvSpPr txBox="1"/>
          <p:nvPr/>
        </p:nvSpPr>
        <p:spPr>
          <a:xfrm>
            <a:off x="8119872" y="1746504"/>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9</a:t>
            </a:r>
            <a:endParaRPr lang="en-US" sz="900" dirty="0"/>
          </a:p>
        </p:txBody>
      </p:sp>
      <p:sp>
        <p:nvSpPr>
          <p:cNvPr id="79" name="Shape 77"/>
          <p:cNvSpPr/>
          <p:nvPr/>
        </p:nvSpPr>
        <p:spPr>
          <a:xfrm>
            <a:off x="6263640" y="1993392"/>
            <a:ext cx="2286000" cy="219456"/>
          </a:xfrm>
          <a:prstGeom prst="rect">
            <a:avLst/>
          </a:prstGeom>
          <a:solidFill>
            <a:srgbClr val="F0F1F4"/>
          </a:solidFill>
          <a:ln w="12700">
            <a:solidFill>
              <a:srgbClr val="FFFFFF"/>
            </a:solidFill>
            <a:prstDash val="solid"/>
          </a:ln>
        </p:spPr>
      </p:sp>
      <p:sp>
        <p:nvSpPr>
          <p:cNvPr id="80" name="Text 78"/>
          <p:cNvSpPr txBox="1"/>
          <p:nvPr/>
        </p:nvSpPr>
        <p:spPr>
          <a:xfrm>
            <a:off x="6318504" y="1993392"/>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Historique sur d'autres jeux</a:t>
            </a:r>
            <a:endParaRPr lang="en-US" sz="850" dirty="0"/>
          </a:p>
        </p:txBody>
      </p:sp>
      <p:sp>
        <p:nvSpPr>
          <p:cNvPr id="81" name="Text 79"/>
          <p:cNvSpPr txBox="1"/>
          <p:nvPr/>
        </p:nvSpPr>
        <p:spPr>
          <a:xfrm>
            <a:off x="8119872" y="1993392"/>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2" name="Shape 80"/>
          <p:cNvSpPr/>
          <p:nvPr/>
        </p:nvSpPr>
        <p:spPr>
          <a:xfrm>
            <a:off x="6263640" y="2240280"/>
            <a:ext cx="2286000" cy="219456"/>
          </a:xfrm>
          <a:prstGeom prst="rect">
            <a:avLst/>
          </a:prstGeom>
          <a:solidFill>
            <a:srgbClr val="F0F1F4"/>
          </a:solidFill>
          <a:ln w="12700">
            <a:solidFill>
              <a:srgbClr val="FFFFFF"/>
            </a:solidFill>
            <a:prstDash val="solid"/>
          </a:ln>
        </p:spPr>
      </p:sp>
      <p:sp>
        <p:nvSpPr>
          <p:cNvPr id="83" name="Text 81"/>
          <p:cNvSpPr txBox="1"/>
          <p:nvPr/>
        </p:nvSpPr>
        <p:spPr>
          <a:xfrm>
            <a:off x="6318504" y="2240280"/>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Âge exact</a:t>
            </a:r>
            <a:endParaRPr lang="en-US" sz="850" dirty="0"/>
          </a:p>
        </p:txBody>
      </p:sp>
      <p:sp>
        <p:nvSpPr>
          <p:cNvPr id="84" name="Text 82"/>
          <p:cNvSpPr txBox="1"/>
          <p:nvPr/>
        </p:nvSpPr>
        <p:spPr>
          <a:xfrm>
            <a:off x="8119872" y="2240280"/>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5" name="Shape 83"/>
          <p:cNvSpPr/>
          <p:nvPr/>
        </p:nvSpPr>
        <p:spPr>
          <a:xfrm>
            <a:off x="6263640" y="2487168"/>
            <a:ext cx="2286000" cy="219456"/>
          </a:xfrm>
          <a:prstGeom prst="rect">
            <a:avLst/>
          </a:prstGeom>
          <a:solidFill>
            <a:srgbClr val="F0F1F4"/>
          </a:solidFill>
          <a:ln w="12700">
            <a:solidFill>
              <a:srgbClr val="FFFFFF"/>
            </a:solidFill>
            <a:prstDash val="solid"/>
          </a:ln>
        </p:spPr>
      </p:sp>
      <p:sp>
        <p:nvSpPr>
          <p:cNvPr id="86" name="Text 84"/>
          <p:cNvSpPr txBox="1"/>
          <p:nvPr/>
        </p:nvSpPr>
        <p:spPr>
          <a:xfrm>
            <a:off x="6318504" y="2487168"/>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Numéro de téléphone</a:t>
            </a:r>
            <a:endParaRPr lang="en-US" sz="850" dirty="0"/>
          </a:p>
        </p:txBody>
      </p:sp>
      <p:sp>
        <p:nvSpPr>
          <p:cNvPr id="87" name="Text 85"/>
          <p:cNvSpPr txBox="1"/>
          <p:nvPr/>
        </p:nvSpPr>
        <p:spPr>
          <a:xfrm>
            <a:off x="8119872" y="2487168"/>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4</a:t>
            </a:r>
            <a:endParaRPr lang="en-US" sz="900" dirty="0"/>
          </a:p>
        </p:txBody>
      </p:sp>
      <p:sp>
        <p:nvSpPr>
          <p:cNvPr id="88" name="Text 86"/>
          <p:cNvSpPr txBox="1"/>
          <p:nvPr/>
        </p:nvSpPr>
        <p:spPr>
          <a:xfrm>
            <a:off x="6263640" y="2880360"/>
            <a:ext cx="2377440" cy="1737360"/>
          </a:xfrm>
          <a:prstGeom prst="rect">
            <a:avLst/>
          </a:prstGeom>
          <a:noFill/>
          <a:ln/>
        </p:spPr>
        <p:txBody>
          <a:bodyPr wrap="square" lIns="0" tIns="0" rIns="0" bIns="0" rtlCol="0" anchor="t"/>
          <a:lstStyle/>
          <a:p>
            <a:pPr indent="0" marL="0">
              <a:buNone/>
            </a:pPr>
            <a:r>
              <a:rPr lang="en-US" sz="1000" b="1" dirty="0">
                <a:solidFill>
                  <a:srgbClr val="1F2233"/>
                </a:solidFill>
                <a:latin typeface="Calibri" pitchFamily="34" charset="0"/>
                <a:ea typeface="Calibri" pitchFamily="34" charset="-122"/>
                <a:cs typeface="Calibri" pitchFamily="34" charset="-120"/>
              </a:rPr>
              <a:t>Les 13 indispensables existent déjà dans votre télémétrie : </a:t>
            </a:r>
            <a:pPr indent="0" marL="0">
              <a:buNone/>
            </a:pPr>
            <a:r>
              <a:rPr lang="en-US" sz="1000" dirty="0">
                <a:solidFill>
                  <a:srgbClr val="1F2233"/>
                </a:solidFill>
                <a:latin typeface="Calibri" pitchFamily="34" charset="0"/>
                <a:ea typeface="Calibri" pitchFamily="34" charset="-122"/>
                <a:cs typeface="Calibri" pitchFamily="34" charset="-120"/>
              </a:rPr>
              <a:t>aucune nouvelle collecte pour l'audit. Les deux collectes nouvelles (sondage, question d'onboarding) sont facultatives, sous consentement, après l'audit.</a:t>
            </a:r>
            <a:endParaRPr lang="en-US" sz="1000" dirty="0"/>
          </a:p>
        </p:txBody>
      </p:sp>
      <p:sp>
        <p:nvSpPr>
          <p:cNvPr id="89" name="Text 8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90" name="Text 8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qui correspond à la cause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seulement si l'audit confirme le problème</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fort sur les premiers matchs, à toute heure.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L'écart grandit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Rang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ne tient pas compte de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Baisse de rang selon l'absence</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quand, qui, combien</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chacune avec sa porte de décision</a:t>
            </a:r>
            <a:endParaRPr lang="en-US" sz="1200" dirty="0"/>
          </a:p>
        </p:txBody>
      </p:sp>
      <p:sp>
        <p:nvSpPr>
          <p:cNvPr id="4" name="Shape 2"/>
          <p:cNvSpPr/>
          <p:nvPr/>
        </p:nvSpPr>
        <p:spPr>
          <a:xfrm>
            <a:off x="502920" y="1188720"/>
            <a:ext cx="411480" cy="411480"/>
          </a:xfrm>
          <a:prstGeom prst="ellipse">
            <a:avLst/>
          </a:prstGeom>
          <a:solidFill>
            <a:srgbClr val="E23636"/>
          </a:solidFill>
          <a:ln w="12700">
            <a:solidFill>
              <a:srgbClr val="E23636"/>
            </a:solidFill>
            <a:prstDash val="solid"/>
          </a:ln>
        </p:spPr>
      </p:sp>
      <p:sp>
        <p:nvSpPr>
          <p:cNvPr id="5" name="Text 3"/>
          <p:cNvSpPr txBox="1"/>
          <p:nvPr/>
        </p:nvSpPr>
        <p:spPr>
          <a:xfrm>
            <a:off x="50292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00584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0-30 j  </a:t>
            </a:r>
            <a:pPr indent="0" marL="0">
              <a:buNone/>
            </a:pPr>
            <a:r>
              <a:rPr lang="en-US" sz="1400" dirty="0">
                <a:solidFill>
                  <a:srgbClr val="5E6378"/>
                </a:solidFill>
                <a:latin typeface="Arial" pitchFamily="34" charset="0"/>
                <a:ea typeface="Arial" pitchFamily="34" charset="-122"/>
                <a:cs typeface="Arial" pitchFamily="34" charset="-120"/>
              </a:rPr>
              <a:t>Audit</a:t>
            </a:r>
            <a:endParaRPr lang="en-US" sz="1400" dirty="0"/>
          </a:p>
        </p:txBody>
      </p:sp>
      <p:sp>
        <p:nvSpPr>
          <p:cNvPr id="7" name="Shape 5"/>
          <p:cNvSpPr/>
          <p:nvPr/>
        </p:nvSpPr>
        <p:spPr>
          <a:xfrm>
            <a:off x="457200" y="1737360"/>
            <a:ext cx="2651760" cy="1828800"/>
          </a:xfrm>
          <a:prstGeom prst="roundRect">
            <a:avLst>
              <a:gd name="adj" fmla="val 4000"/>
            </a:avLst>
          </a:prstGeom>
          <a:solidFill>
            <a:srgbClr val="FFFFFF"/>
          </a:solidFill>
          <a:ln w="12700">
            <a:solidFill>
              <a:srgbClr val="E3E5EE"/>
            </a:solidFill>
            <a:prstDash val="solid"/>
          </a:ln>
        </p:spPr>
      </p:sp>
      <p:sp>
        <p:nvSpPr>
          <p:cNvPr id="8" name="Text 6"/>
          <p:cNvSpPr txBox="1"/>
          <p:nvPr/>
        </p:nvSpPr>
        <p:spPr>
          <a:xfrm>
            <a:off x="594360" y="1810512"/>
            <a:ext cx="2377440" cy="169164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1 data analyst à temps plein, 1 data engineer à mi-temps ; DPO NetEase pour l'accord et le hachage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 33 jours-homme, soit ≈ 19 K€ ; aucune licence nouvelle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Ratio ≤ 1,2 sur les deux cohortes → plan B</a:t>
            </a:r>
            <a:endParaRPr lang="en-US" sz="1000" dirty="0"/>
          </a:p>
        </p:txBody>
      </p:sp>
      <p:sp>
        <p:nvSpPr>
          <p:cNvPr id="9" name="Shape 7"/>
          <p:cNvSpPr/>
          <p:nvPr/>
        </p:nvSpPr>
        <p:spPr>
          <a:xfrm>
            <a:off x="3291840" y="1188720"/>
            <a:ext cx="411480" cy="411480"/>
          </a:xfrm>
          <a:prstGeom prst="ellipse">
            <a:avLst/>
          </a:prstGeom>
          <a:solidFill>
            <a:srgbClr val="E23636"/>
          </a:solidFill>
          <a:ln w="12700">
            <a:solidFill>
              <a:srgbClr val="E23636"/>
            </a:solidFill>
            <a:prstDash val="solid"/>
          </a:ln>
        </p:spPr>
      </p:sp>
      <p:sp>
        <p:nvSpPr>
          <p:cNvPr id="10" name="Text 8"/>
          <p:cNvSpPr txBox="1"/>
          <p:nvPr/>
        </p:nvSpPr>
        <p:spPr>
          <a:xfrm>
            <a:off x="329184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379476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30-90 j  </a:t>
            </a:r>
            <a:pPr indent="0" marL="0">
              <a:buNone/>
            </a:pPr>
            <a:r>
              <a:rPr lang="en-US" sz="1400" dirty="0">
                <a:solidFill>
                  <a:srgbClr val="5E6378"/>
                </a:solidFill>
                <a:latin typeface="Arial" pitchFamily="34" charset="0"/>
                <a:ea typeface="Arial" pitchFamily="34" charset="-122"/>
                <a:cs typeface="Arial" pitchFamily="34" charset="-120"/>
              </a:rPr>
              <a:t>Tests A/B</a:t>
            </a:r>
            <a:endParaRPr lang="en-US" sz="1400" dirty="0"/>
          </a:p>
        </p:txBody>
      </p:sp>
      <p:sp>
        <p:nvSpPr>
          <p:cNvPr id="12" name="Shape 10"/>
          <p:cNvSpPr/>
          <p:nvPr/>
        </p:nvSpPr>
        <p:spPr>
          <a:xfrm>
            <a:off x="3246120" y="1737360"/>
            <a:ext cx="2651760" cy="1828800"/>
          </a:xfrm>
          <a:prstGeom prst="roundRect">
            <a:avLst>
              <a:gd name="adj" fmla="val 4000"/>
            </a:avLst>
          </a:prstGeom>
          <a:solidFill>
            <a:srgbClr val="FFFFFF"/>
          </a:solidFill>
          <a:ln w="12700">
            <a:solidFill>
              <a:srgbClr val="E3E5EE"/>
            </a:solidFill>
            <a:prstDash val="solid"/>
          </a:ln>
        </p:spPr>
      </p:sp>
      <p:sp>
        <p:nvSpPr>
          <p:cNvPr id="13" name="Text 11"/>
          <p:cNvSpPr txBox="1"/>
          <p:nvPr/>
        </p:nvSpPr>
        <p:spPr>
          <a:xfrm>
            <a:off x="3383280" y="1810512"/>
            <a:ext cx="2377440" cy="169164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Équipe matchmaking NetEase + analyste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 23 K€ d'analyse ; développement chiffré par NetEase avant tout lancement</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Levier gardé si le ratio baisse et l'attente reste &lt; 3 min</a:t>
            </a:r>
            <a:endParaRPr lang="en-US" sz="1000" dirty="0"/>
          </a:p>
        </p:txBody>
      </p:sp>
      <p:sp>
        <p:nvSpPr>
          <p:cNvPr id="14" name="Shape 12"/>
          <p:cNvSpPr/>
          <p:nvPr/>
        </p:nvSpPr>
        <p:spPr>
          <a:xfrm>
            <a:off x="6080760" y="1188720"/>
            <a:ext cx="411480" cy="411480"/>
          </a:xfrm>
          <a:prstGeom prst="ellipse">
            <a:avLst/>
          </a:prstGeom>
          <a:solidFill>
            <a:srgbClr val="E23636"/>
          </a:solidFill>
          <a:ln w="12700">
            <a:solidFill>
              <a:srgbClr val="E23636"/>
            </a:solidFill>
            <a:prstDash val="solid"/>
          </a:ln>
        </p:spPr>
      </p:sp>
      <p:sp>
        <p:nvSpPr>
          <p:cNvPr id="15" name="Text 13"/>
          <p:cNvSpPr txBox="1"/>
          <p:nvPr/>
        </p:nvSpPr>
        <p:spPr>
          <a:xfrm>
            <a:off x="608076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658368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90-180 j  </a:t>
            </a:r>
            <a:pPr indent="0" marL="0">
              <a:buNone/>
            </a:pPr>
            <a:r>
              <a:rPr lang="en-US" sz="1400" dirty="0">
                <a:solidFill>
                  <a:srgbClr val="5E6378"/>
                </a:solidFill>
                <a:latin typeface="Arial" pitchFamily="34" charset="0"/>
                <a:ea typeface="Arial" pitchFamily="34" charset="-122"/>
                <a:cs typeface="Arial" pitchFamily="34" charset="-120"/>
              </a:rPr>
              <a:t>Généralisation</a:t>
            </a:r>
            <a:endParaRPr lang="en-US" sz="1400" dirty="0"/>
          </a:p>
        </p:txBody>
      </p:sp>
      <p:sp>
        <p:nvSpPr>
          <p:cNvPr id="17" name="Shape 15"/>
          <p:cNvSpPr/>
          <p:nvPr/>
        </p:nvSpPr>
        <p:spPr>
          <a:xfrm>
            <a:off x="6035040" y="1737360"/>
            <a:ext cx="2651760" cy="1828800"/>
          </a:xfrm>
          <a:prstGeom prst="roundRect">
            <a:avLst>
              <a:gd name="adj" fmla="val 4000"/>
            </a:avLst>
          </a:prstGeom>
          <a:solidFill>
            <a:srgbClr val="FFFFFF"/>
          </a:solidFill>
          <a:ln w="12700">
            <a:solidFill>
              <a:srgbClr val="E3E5EE"/>
            </a:solidFill>
            <a:prstDash val="solid"/>
          </a:ln>
        </p:spPr>
      </p:sp>
      <p:sp>
        <p:nvSpPr>
          <p:cNvPr id="18" name="Text 16"/>
          <p:cNvSpPr txBox="1"/>
          <p:nvPr/>
        </p:nvSpPr>
        <p:spPr>
          <a:xfrm>
            <a:off x="6172200" y="1810512"/>
            <a:ext cx="2377440" cy="169164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Live-ops et communication ; page publique « comment fonctionne le matchmaking »</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 3 K€ de pilotage mensuel, sur les outils existants</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31/03/2027 : ratio ≤ 1,2</a:t>
            </a:r>
            <a:endParaRPr lang="en-US" sz="1000" dirty="0"/>
          </a:p>
        </p:txBody>
      </p:sp>
      <p:sp>
        <p:nvSpPr>
          <p:cNvPr id="19" name="Shape 17"/>
          <p:cNvSpPr/>
          <p:nvPr/>
        </p:nvSpPr>
        <p:spPr>
          <a:xfrm>
            <a:off x="457200" y="3639312"/>
            <a:ext cx="8229600" cy="566928"/>
          </a:xfrm>
          <a:prstGeom prst="roundRect">
            <a:avLst>
              <a:gd name="adj" fmla="val 9677"/>
            </a:avLst>
          </a:prstGeom>
          <a:solidFill>
            <a:srgbClr val="161A33"/>
          </a:solidFill>
          <a:ln w="12700">
            <a:solidFill>
              <a:srgbClr val="161A33"/>
            </a:solidFill>
            <a:prstDash val="solid"/>
          </a:ln>
        </p:spPr>
      </p:sp>
      <p:sp>
        <p:nvSpPr>
          <p:cNvPr id="20" name="Text 18"/>
          <p:cNvSpPr txBox="1"/>
          <p:nvPr/>
        </p:nvSpPr>
        <p:spPr>
          <a:xfrm>
            <a:off x="640080" y="3639312"/>
            <a:ext cx="786384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Budget estimé : ≈ 19 K€ engagés (audit) · ≈ 45 K€ si les tests sont lancés</a:t>
            </a:r>
            <a:endParaRPr lang="en-US" sz="1250" dirty="0"/>
          </a:p>
          <a:p>
            <a:pPr indent="0" marL="0">
              <a:buNone/>
            </a:pPr>
            <a:r>
              <a:rPr lang="en-US" sz="900" dirty="0">
                <a:solidFill>
                  <a:srgbClr val="C9CCDA"/>
                </a:solidFill>
                <a:latin typeface="Calibri" pitchFamily="34" charset="0"/>
                <a:ea typeface="Calibri" pitchFamily="34" charset="-122"/>
                <a:cs typeface="Calibri" pitchFamily="34" charset="-120"/>
              </a:rPr>
              <a:t>39 à 51 K€ aux TJM médians 2026 (540 €/j analyste, 650 €/j ingénieur), hors développement et infrastructure</a:t>
            </a:r>
            <a:endParaRPr lang="en-US" sz="1250" dirty="0"/>
          </a:p>
        </p:txBody>
      </p:sp>
      <p:sp>
        <p:nvSpPr>
          <p:cNvPr id="21" name="Text 19"/>
          <p:cNvSpPr txBox="1"/>
          <p:nvPr/>
        </p:nvSpPr>
        <p:spPr>
          <a:xfrm>
            <a:off x="457200" y="4261104"/>
            <a:ext cx="8229600" cy="457200"/>
          </a:xfrm>
          <a:prstGeom prst="rect">
            <a:avLst/>
          </a:prstGeom>
          <a:noFill/>
          <a:ln/>
        </p:spPr>
        <p:txBody>
          <a:bodyPr wrap="square" lIns="0" tIns="0" rIns="0" bIns="0" rtlCol="0" anchor="ctr"/>
          <a:lstStyle/>
          <a:p>
            <a:pPr indent="0" marL="0">
              <a:buNone/>
            </a:pPr>
            <a:r>
              <a:rPr lang="en-US" sz="900" b="1" dirty="0">
                <a:solidFill>
                  <a:srgbClr val="1F2233"/>
                </a:solidFill>
                <a:latin typeface="Calibri" pitchFamily="34" charset="0"/>
                <a:ea typeface="Calibri" pitchFamily="34" charset="-122"/>
                <a:cs typeface="Calibri" pitchFamily="34" charset="-120"/>
              </a:rPr>
              <a:t>Stack : </a:t>
            </a:r>
            <a:pPr indent="0" marL="0">
              <a:buNone/>
            </a:pPr>
            <a:r>
              <a:rPr lang="en-US" sz="900" dirty="0">
                <a:solidFill>
                  <a:srgbClr val="1F2233"/>
                </a:solidFill>
                <a:latin typeface="Calibri" pitchFamily="34" charset="0"/>
                <a:ea typeface="Calibri" pitchFamily="34" charset="-122"/>
                <a:cs typeface="Calibri" pitchFamily="34" charset="-120"/>
              </a:rPr>
              <a:t>télémétrie in-game existante → entrepôt existant (type BigQuery ou Snowflake ; requêtes ≈ 6,25 $ par To au-delà de 1 To gratuit par mois) → BI existante (type Looker ou Tableau).</a:t>
            </a:r>
            <a:endParaRPr lang="en-US" sz="900" dirty="0"/>
          </a:p>
        </p:txBody>
      </p:sp>
      <p:sp>
        <p:nvSpPr>
          <p:cNvPr id="22" name="Text 2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(§5 et §7)</a:t>
            </a:r>
            <a:endParaRPr lang="en-US" sz="850" dirty="0"/>
          </a:p>
        </p:txBody>
      </p:sp>
      <p:sp>
        <p:nvSpPr>
          <p:cNvPr id="23" name="Text 2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comment chaque KPI se calcule, et quelle décision il déclenche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A/B des causes A ou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classés après au moins 60 jours d'absence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test des matchs de recalibrage (cause C)</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Rang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6" name="Text 3"/>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23636"/>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 A, B ou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en tout si les tests sont lancés ; aucune licence nouvelle ; requêtes ≈ 6,25 $ par To au-delà de 1 To gratuit.</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Text 17"/>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2026-10-01T21:15:46Z</dcterms:created>
  <dcterms:modified xsi:type="dcterms:W3CDTF">2026-10-01T21:15:46Z</dcterms:modified>
</cp:coreProperties>
</file>