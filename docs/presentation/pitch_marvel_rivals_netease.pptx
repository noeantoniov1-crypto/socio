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2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233"/>
                </a:solidFill>
                <a:latin typeface="Calibri"/>
              </a:rPr>
              <a:t>Milliers de joueurs simultanés (moyenne mensuelle)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Joueurs simultanés (moyenne)</c:v>
                </c:pt>
              </c:strCache>
            </c:strRef>
          </c:tx>
          <c:spPr>
            <a:solidFill>
              <a:srgbClr val="E23636"/>
            </a:solidFill>
            <a:ln w="38100" cap="flat">
              <a:solidFill>
                <a:srgbClr val="E236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3636"/>
              </a:solidFill>
              <a:ln w="9525" cap="flat">
                <a:solidFill>
                  <a:srgbClr val="E236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Déc. 24</c:v>
                  </c:pt>
                  <c:pt idx="1">
                    <c:v>Janv.</c:v>
                  </c:pt>
                  <c:pt idx="2">
                    <c:v>Févr.</c:v>
                  </c:pt>
                  <c:pt idx="3">
                    <c:v>Mars</c:v>
                  </c:pt>
                  <c:pt idx="4">
                    <c:v>Avr.</c:v>
                  </c:pt>
                  <c:pt idx="5">
                    <c:v>Mai</c:v>
                  </c:pt>
                  <c:pt idx="6">
                    <c:v>Juin</c:v>
                  </c:pt>
                  <c:pt idx="7">
                    <c:v>Juil.</c:v>
                  </c:pt>
                  <c:pt idx="8">
                    <c:v>Août</c:v>
                  </c:pt>
                  <c:pt idx="9">
                    <c:v>Sept.</c:v>
                  </c:pt>
                  <c:pt idx="10">
                    <c:v>Oct.</c:v>
                  </c:pt>
                  <c:pt idx="11">
                    <c:v>Nov.</c:v>
                  </c:pt>
                  <c:pt idx="12">
                    <c:v>Déc.</c:v>
                  </c:pt>
                  <c:pt idx="13">
                    <c:v>Janv. 26</c:v>
                  </c:pt>
                  <c:pt idx="14">
                    <c:v>Févr.</c:v>
                  </c:pt>
                  <c:pt idx="15">
                    <c:v>Mars</c:v>
                  </c:pt>
                  <c:pt idx="16">
                    <c:v>Avr.</c:v>
                  </c:pt>
                  <c:pt idx="17">
                    <c:v>Mai</c:v>
                  </c:pt>
                  <c:pt idx="18">
                    <c:v>Juin</c:v>
                  </c:pt>
                  <c:pt idx="19">
                    <c:v>Juil.</c:v>
                  </c:pt>
                  <c:pt idx="20">
                    <c:v>Août</c:v>
                  </c:pt>
                  <c:pt idx="21">
                    <c:v>Sept.*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279</c:v>
                </c:pt>
                <c:pt idx="1">
                  <c:v>306</c:v>
                </c:pt>
                <c:pt idx="2">
                  <c:v>228</c:v>
                </c:pt>
                <c:pt idx="3">
                  <c:v>144</c:v>
                </c:pt>
                <c:pt idx="4">
                  <c:v>134</c:v>
                </c:pt>
                <c:pt idx="5">
                  <c:v>102</c:v>
                </c:pt>
                <c:pt idx="6">
                  <c:v>80</c:v>
                </c:pt>
                <c:pt idx="7">
                  <c:v>83</c:v>
                </c:pt>
                <c:pt idx="8">
                  <c:v>78</c:v>
                </c:pt>
                <c:pt idx="9">
                  <c:v>64</c:v>
                </c:pt>
                <c:pt idx="10">
                  <c:v>64</c:v>
                </c:pt>
                <c:pt idx="11">
                  <c:v>65</c:v>
                </c:pt>
                <c:pt idx="12">
                  <c:v>75</c:v>
                </c:pt>
                <c:pt idx="13">
                  <c:v>89</c:v>
                </c:pt>
                <c:pt idx="14">
                  <c:v>81</c:v>
                </c:pt>
                <c:pt idx="15">
                  <c:v>65</c:v>
                </c:pt>
                <c:pt idx="16">
                  <c:v>70</c:v>
                </c:pt>
                <c:pt idx="17">
                  <c:v>68</c:v>
                </c:pt>
                <c:pt idx="18">
                  <c:v>70</c:v>
                </c:pt>
                <c:pt idx="19">
                  <c:v>84</c:v>
                </c:pt>
                <c:pt idx="20">
                  <c:v>80</c:v>
                </c:pt>
                <c:pt idx="21">
                  <c:v>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2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233"/>
                </a:solidFill>
                <a:latin typeface="Calibri"/>
              </a:rPr>
              <a:t>% des avis négatifs citant le matchmaking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des négatifs citant le matchmaking</c:v>
                </c:pt>
              </c:strCache>
            </c:strRef>
          </c:tx>
          <c:spPr>
            <a:solidFill>
              <a:srgbClr val="161A33"/>
            </a:solidFill>
            <a:ln w="38100" cap="flat">
              <a:solidFill>
                <a:srgbClr val="161A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61A33"/>
              </a:solidFill>
              <a:ln w="9525" cap="flat">
                <a:solidFill>
                  <a:srgbClr val="161A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Déc. 24</c:v>
                  </c:pt>
                  <c:pt idx="1">
                    <c:v>Janv.</c:v>
                  </c:pt>
                  <c:pt idx="2">
                    <c:v>Févr.</c:v>
                  </c:pt>
                  <c:pt idx="3">
                    <c:v>Mars</c:v>
                  </c:pt>
                  <c:pt idx="4">
                    <c:v>Avr.</c:v>
                  </c:pt>
                  <c:pt idx="5">
                    <c:v>Mai</c:v>
                  </c:pt>
                  <c:pt idx="6">
                    <c:v>Juin</c:v>
                  </c:pt>
                  <c:pt idx="7">
                    <c:v>Juil.</c:v>
                  </c:pt>
                  <c:pt idx="8">
                    <c:v>Août</c:v>
                  </c:pt>
                  <c:pt idx="9">
                    <c:v>Sept.</c:v>
                  </c:pt>
                  <c:pt idx="10">
                    <c:v>Oct.</c:v>
                  </c:pt>
                  <c:pt idx="11">
                    <c:v>Nov.</c:v>
                  </c:pt>
                  <c:pt idx="12">
                    <c:v>Déc.</c:v>
                  </c:pt>
                  <c:pt idx="13">
                    <c:v>Janv. 26</c:v>
                  </c:pt>
                  <c:pt idx="14">
                    <c:v>Févr.</c:v>
                  </c:pt>
                  <c:pt idx="15">
                    <c:v>Mars</c:v>
                  </c:pt>
                  <c:pt idx="16">
                    <c:v>Avr.</c:v>
                  </c:pt>
                  <c:pt idx="17">
                    <c:v>Mai</c:v>
                  </c:pt>
                  <c:pt idx="18">
                    <c:v>Juin</c:v>
                  </c:pt>
                  <c:pt idx="19">
                    <c:v>Juil.</c:v>
                  </c:pt>
                  <c:pt idx="20">
                    <c:v>Août</c:v>
                  </c:pt>
                  <c:pt idx="21">
                    <c:v>Sept.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7.4</c:v>
                </c:pt>
                <c:pt idx="1">
                  <c:v>10.9</c:v>
                </c:pt>
                <c:pt idx="2">
                  <c:v>12.1</c:v>
                </c:pt>
                <c:pt idx="3">
                  <c:v>20.3</c:v>
                </c:pt>
                <c:pt idx="4">
                  <c:v>21.1</c:v>
                </c:pt>
                <c:pt idx="5">
                  <c:v>29.1</c:v>
                </c:pt>
                <c:pt idx="6">
                  <c:v>27.6</c:v>
                </c:pt>
                <c:pt idx="7">
                  <c:v>37</c:v>
                </c:pt>
                <c:pt idx="8">
                  <c:v>41</c:v>
                </c:pt>
                <c:pt idx="9">
                  <c:v>33.9</c:v>
                </c:pt>
                <c:pt idx="10">
                  <c:v>25.9</c:v>
                </c:pt>
                <c:pt idx="11">
                  <c:v>17.3</c:v>
                </c:pt>
                <c:pt idx="12">
                  <c:v>18.2</c:v>
                </c:pt>
                <c:pt idx="13">
                  <c:v>15.4</c:v>
                </c:pt>
                <c:pt idx="14">
                  <c:v>15.6</c:v>
                </c:pt>
                <c:pt idx="15">
                  <c:v>13.4</c:v>
                </c:pt>
                <c:pt idx="16">
                  <c:v>14.4</c:v>
                </c:pt>
                <c:pt idx="17">
                  <c:v>14.7</c:v>
                </c:pt>
                <c:pt idx="18">
                  <c:v>14.2</c:v>
                </c:pt>
                <c:pt idx="19">
                  <c:v>8.8</c:v>
                </c:pt>
                <c:pt idx="20">
                  <c:v>13.4</c:v>
                </c:pt>
                <c:pt idx="21">
                  <c:v>10.5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E3E5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Bonjour. Je suis mandaté par le comité de direction de NetEase Games. Ma question : pourquoi Marvel Rivals ne garde-t-il pas ses nouveaux joueurs, et que faut-il mesurer pour le savoir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secondes. Depuis le lancement, la fréquentation moyenne sur Steam a perdu 76 %. Après un sommet en janvier 2025 (306 000), elle chute pendant neuf mois, puis stagne entre 64 000 et 89 000 depuis un an : les nouvelles saisons font des rebonds, pas une remontée. Pourtant 40 millions de joueurs sont venus en trois mois. Le jeu sait attirer ; il ne sait pas garder. Attention : Steam, c'est le PC seulement.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secondes. Au lancement, deux publics arrivent en même temps. D'un côté, des vétérans du genre : selon Newzoo, 45 % des joueurs qui ont quitté Overwatch 2 en décembre 2024 ont joué à Marvel Rivals, et Overwatch 2 perd 22 % de joueurs sur PC ce mois-là. Attention, « ont joué » ne veut pas dire « ont migré ». De l'autre, un public massif venu pour Marvel : 10 millions en trois jours, 40 millions en trois mois, dont beaucoup découvrent le genre. Le jeu ne les distingue pas : tout le monde commence en Bronze III. Ensuite la base se durcit : chez les auteurs d'avis Steam, les plus de 200 heures passent de 5 % à 42 %. Ce chiffre grimpe aussi parce que le jeu vieillit, mais la presse fait le même constat.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Notre hypothèse principale, H5, en trois temps. En 2025, tout le monde arrive sans calibrage ; les moins expérimentés perdent et partent. Il reste surtout des joueurs expérimentés. Aujourd'hui, un nouveau arrive en partie rapide face à eux, dans des parties que le manque de joueurs élargit ; il part à son tour. Deux causes possibles : un MMR de départ mal réglé, ou le manque de joueurs. Elles appellent des leviers différents, c'est pourquoi on audite avant d'agir.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faits qui appuient H5. Pendant la chute, la part des avis négatifs qui parlent du matchmaking passe de 7 à 41 %. Les explications officielles d'août 2025 ne la font pas baisser. En revanche, quand NetEase ajoute des placements en classé, les avis négatifs chutent de 36 à 14 %. Mais la partie rapide, par où passent tous les nouveaux, n'a jamais été corrigée. Ce sont des corrélations : seules vos données internes peuvent trancher.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Recommandation, première partie : d'abord mesurer. L'objectif traduit notre hypothèse en chiffre : si perdre au début fait partir, les nouveaux qui perdent partent plus que les autres. On vise un écart d'au plus 1,2 fois au 31 mars 2027. Cinq données d'abord. Un : les résultats des dix premiers matchs et le départ à sept jours, c'est la mesure même de l'objectif. Deux : dans quel mode et sur quelle plateforme jouent les nouveaux, pour savoir quoi corriger en premier. Trois et quatre : chacune teste une des deux causes possibles. Cinq : NetEase a déjà changé le placement en classé à la saison 5 ; comparer avant et après, c'est une expérience gratuite. Tout existe déjà dans vos serveurs : pas de nouvelle collecte. Et si l'écart est déjà sous 1,2, on n'investit pas dans le matchmaking.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Recommandation, deuxième partie. Deux causes peuvent expliquer que les nouveaux perdent trop. Cause A, le démarrage à froid : le jeu ne sait rien d'un nouveau compte, il lui donne un niveau par défaut et le place mal pendant ses premiers matchs. Cause B, le manque de joueurs : quand la file est vide, le jeu accepte des écarts de niveau plus grands pour lancer la partie ; NetEase l'a lui-même expliqué en août 2025. Les données les distinguent : A, l'écart est fort sur les premiers matchs à toute heure ; B, il grandit quand la file se vide. On ne teste que le levier de la cause trouvée, avec un groupe témoin. Nous écartons les rôles imposés : la liberté de composition fait partie de l'identité du jeu.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roadmap, une minute. Trente jours d'audit, qui démarrent quand l'accord de sous-traitance et le hachage sont validés : c'est J0. Si le ratio est déjà sous 1,2, on s'arrête et on bascule sur le plan B (équilibrage, monétisation, attrition naturelle), avec les données déjà extraites. Sinon, 60 jours de tests A/B contre un groupe témoin, puis généralisation jusqu'au 31 mars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secondes sur les garde-fous. Chaque KPI a un seuil qui déclenche une décision : 1,2 pour lancer les tests, 5 minutes d'attente pour les arrêter, 50 % pour choisir le mode visé. Côté risques : accord de sous-traitance et pseudonymisation, aucun profilage individuel, et jamais de bots cachés. Pour démarrer, nous vous demandons deux choses : signer l'accord de sous-traitance et lancer l'audit de 30 jours, environ 33 jours-homme. Si l'hypothèse est confirmée, vous tenez votre levier de rétention ; sinon, vous évitez d'investir au mauvais endroit. Merci, je prends vos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Annexe, à montrer seulement si on vous demande une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teamcharts.com/app/2767030" TargetMode="External"/><Relationship Id="rId3" Type="http://schemas.openxmlformats.org/officeDocument/2006/relationships/hyperlink" Target="https://gameworldobserver.com/2025/02/20/marvel-rivals-40-million-players-netease-fy24-report" TargetMode="External"/><Relationship Id="rId1" Type="http://schemas.openxmlformats.org/officeDocument/2006/relationships/chart" Target="/ppt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r-gaming.com/almost-half-of-players-who-quit-overwatch-jumped-to-marvel-rivals/" TargetMode="External"/><Relationship Id="rId4" Type="http://schemas.openxmlformats.org/officeDocument/2006/relationships/hyperlink" Target="https://www.videogameschronicle.com/news/overwatch-2s-average-pc-player-count-has-dropped-39-since-marvel-rivals-was-released/" TargetMode="External"/><Relationship Id="rId5" Type="http://schemas.openxmlformats.org/officeDocument/2006/relationships/hyperlink" Target="https://gameworldobserver.com/2025/02/20/marvel-rivals-40-million-players-netease-fy24-report" TargetMode="External"/><Relationship Id="rId6" Type="http://schemas.openxmlformats.org/officeDocument/2006/relationships/hyperlink" Target="https://www.pcgamesn.com/marvel-rivals/ranks-competitive" TargetMode="External"/><Relationship Id="rId7" Type="http://schemas.openxmlformats.org/officeDocument/2006/relationships/hyperlink" Target="https://store.steampowered.com/appreviews/2767030?json=1" TargetMode="External"/><Relationship Id="rId8" Type="http://schemas.openxmlformats.org/officeDocument/2006/relationships/hyperlink" Target="https://www.thegamer.com/marvel-rivals-no-longer-casual-friendly-black-panther-matchmaking/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hyperlink" Target="https://x.com/MarvelRivals/status/1958627668536311945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tore.steampowered.com/appreviews/2767030?json=1" TargetMode="External"/><Relationship Id="rId3" Type="http://schemas.openxmlformats.org/officeDocument/2006/relationships/hyperlink" Target="https://www.marvelrivals.com/20251114/41525_1270590.html" TargetMode="External"/><Relationship Id="rId4" Type="http://schemas.openxmlformats.org/officeDocument/2006/relationships/hyperlink" Target="https://x.com/MarvelRivals/status/1958627668536311945" TargetMode="External"/><Relationship Id="rId1" Type="http://schemas.openxmlformats.org/officeDocument/2006/relationships/chart" Target="/ppt/charts/chart2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document/d/1nOhcAL2wfeAHOK6x6UZH-Hg5yh9Ofxxko7FY47r5Vzc/ed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MarvelRivals/status/1958627668536311945" TargetMode="External"/><Relationship Id="rId4" Type="http://schemas.openxmlformats.org/officeDocument/2006/relationships/hyperlink" Target="https://esportsinsider.com/marvel-rivals-crossplay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hyperlink" Target="https://eur-lex.europa.eu/eli/reg/2016/679/oj" TargetMode="External"/><Relationship Id="rId5" Type="http://schemas.openxmlformats.org/officeDocument/2006/relationships/hyperlink" Target="https://eur-lex.europa.eu/eli/reg/2024/1689/oj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steamcharts.com/app/2767030" TargetMode="External"/><Relationship Id="rId2" Type="http://schemas.openxmlformats.org/officeDocument/2006/relationships/hyperlink" Target="https://gameworldobserver.com/2025/02/20/marvel-rivals-40-million-players-netease-fy24-report" TargetMode="External"/><Relationship Id="rId3" Type="http://schemas.openxmlformats.org/officeDocument/2006/relationships/hyperlink" Target="https://store.steampowered.com/appreviews/2767030?json=1" TargetMode="External"/><Relationship Id="rId4" Type="http://schemas.openxmlformats.org/officeDocument/2006/relationships/hyperlink" Target="https://x.com/MarvelRivals/status/1958627668536311945" TargetMode="External"/><Relationship Id="rId5" Type="http://schemas.openxmlformats.org/officeDocument/2006/relationships/hyperlink" Target="https://www.marvelrivals.com/20251114/41525_1270590.html" TargetMode="External"/><Relationship Id="rId6" Type="http://schemas.openxmlformats.org/officeDocument/2006/relationships/hyperlink" Target="https://www.marvelrivals.com/gameupdate/20260318/41548_1291772.html" TargetMode="External"/><Relationship Id="rId7" Type="http://schemas.openxmlformats.org/officeDocument/2006/relationships/hyperlink" Target="https://www.pcgamesn.com/marvel-rivals/ranks-competitive" TargetMode="External"/><Relationship Id="rId8" Type="http://schemas.openxmlformats.org/officeDocument/2006/relationships/hyperlink" Target="https://insider-gaming.com/almost-half-of-players-who-quit-overwatch-jumped-to-marvel-rivals/" TargetMode="External"/><Relationship Id="rId9" Type="http://schemas.openxmlformats.org/officeDocument/2006/relationships/hyperlink" Target="https://www.videogameschronicle.com/news/overwatch-2s-average-pc-player-count-has-dropped-39-since-marvel-rivals-was-released/" TargetMode="External"/><Relationship Id="rId10" Type="http://schemas.openxmlformats.org/officeDocument/2006/relationships/hyperlink" Target="https://www.thegamer.com/marvel-rivals-no-longer-casual-friendly-black-panther-matchmaking/" TargetMode="External"/><Relationship Id="rId11" Type="http://schemas.openxmlformats.org/officeDocument/2006/relationships/hyperlink" Target="https://esportsinsider.com/marvel-rivals-crossplay" TargetMode="External"/><Relationship Id="rId12" Type="http://schemas.openxmlformats.org/officeDocument/2006/relationships/hyperlink" Target="https://pmc.ncbi.nlm.nih.gov/articles/PMC10839887/" TargetMode="External"/><Relationship Id="rId13" Type="http://schemas.openxmlformats.org/officeDocument/2006/relationships/hyperlink" Target="https://eur-lex.europa.eu/eli/reg/2016/679/oj" TargetMode="External"/><Relationship Id="rId14" Type="http://schemas.openxmlformats.org/officeDocument/2006/relationships/hyperlink" Target="https://eur-lex.europa.eu/eli/reg/2024/1689/oj" TargetMode="External"/><Relationship Id="rId15" Type="http://schemas.openxmlformats.org/officeDocument/2006/relationships/hyperlink" Target="https://docs.google.com/document/d/1nOhcAL2wfeAHOK6x6UZH-Hg5yh9Ofxxko7FY47r5Vzc/edit" TargetMode="Externa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640080" cy="64008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7086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Marvel Rivals : retenir les nouveaux joueurs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collecte data pour le comité de direction de NetEase Games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Noé, consultant · 2 octobre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jeu attire, mais ne retient pas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· joueurs simultanés Steam depuis le lancement (06/12/2024), moyenne mensuelle (PC)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−76 %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joueurs simultanés en moyenne entre le mois de lancement (déc. 2024 : 279 K) et les 30 derniers jours (68 K)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6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joueurs acquis en 3 mois : le problème est la rétention, pas l'acquisition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474720" y="123444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Steam Charts (consulté le 30/09/2026 ; * sept. 2026 = 30 derniers jours)</a:t>
            </a:r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rapport NetEase via Game World Observer (40 M)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754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lancement, deux publics se croisent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· qui est arrivé en décembre 2024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474470"/>
            <a:ext cx="20574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371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vétérans du genre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0195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joueurs qui ont arrêté Overwatch 2 en décembre 2024 ont joué à Marvel Rivals (Newzoo)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−22 %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joueurs moyens sur Overwatch 2 (PC) le mois du lancement de Marvel Rivals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maîtrisent déjà les rôles, la visée et le jeu d'équipe.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190" y="1474470"/>
            <a:ext cx="205740" cy="2057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1371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joueurs venus pour Marvel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190195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2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joueurs en 3 jours, 20 M en moins de 2 semaines, 40 M en 3 mois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2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porté par une licence grand public : beaucoup découvrent le hero shooter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apprennent le jeu en même temps qu'ils le jouent.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0080" y="373075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calibrage, ils se croisent.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démarre en Bronze III en classé jusqu'à la saison 5. Ensuite, la base se durcit : parmi les auteurs d'avis Steam, 5 % avaient plus de 200 h de jeu fin 2024, 42 % à l'été 2025. La presse résume : « plus un jeu pour le fan de Marvel occasionnel » (TheGamer, 09/08/2025).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Newzoo (09/04/2025)</a:t>
            </a:r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VGC</a:t>
            </a:r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GWO</a:t>
            </a:r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PCGamesN</a:t>
            </a:r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avis Steam</a:t>
            </a:r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TheGamer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8412480" y="4754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 : les nouveaux perdent trop tôt et partent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· H5 en trois temps (HYPOTHÈSE, à valider sur vos données)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230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057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: ce qui n'a pas marché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60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Vétérans et nouveaux venus se rencontrent sans calibrage. Les moins expérimentés perdent lourdement et partent.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08760"/>
            <a:ext cx="457200" cy="45720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6230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057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560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départ filtre la population : il reste surtout des joueurs expérimentés.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6230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057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Aujourd'hui : ce qui ne marche toujours pas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560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nouveau arrive en partie rapide face à cette population. Faute de joueurs, la fourchette de niveau s'élargit. Il perd et part : la base ne se renouvelle pas.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causes possibles, deux leviers différents : 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démarrage à froid (MMR de départ mal réglé)  ·  B · manque de joueurs (fourchette élargie aux heures creuses)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vidéo NetEase du 21/08/2025 (fourchette élargie)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4754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matchmaking a porté la chute de 2025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· part des avis Steam négatifs qui citent le matchmaking (37 990 avis pondérés)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76072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7 % → 41 %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691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déc. 2024 → août 2025 : la plainte qui monte le plus pendant la chute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350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38 % → 38 %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80720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démenti EOMM et la vidéo officielle d'août 2025 : expliquer ne suffit pas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4655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36 % → 14 %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392277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d'avis négatifs après les placements de la S5 : corriger le calibrage compte (corrélation)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publique des avis Steam (notre collecte)</a:t>
            </a:r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notes de patch S5</a:t>
            </a:r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vidéo du 21/08/2025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4754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D'abord mesurer : 30 jours d'audit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· les données à extraire en priorité, et pourquoi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d'ici le 31/03/2027, qu'un nouveau joueur qui perd au moins 7 de ses 10 premiers matchs ne parte pas plus de 1,2 fois plus souvent dans la semaine que les autres nouveaux.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6517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Donnée à extraire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6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 qu'elle nous dit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6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Pourquoi en priorité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6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Résultats des 10 premiers matchs et départ à 7 jours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perdre au début fait partir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C'est la mesure de l'objectif : sans elle, pas de preuve du problème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et plateforme de ces 10 premiers matchs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 jouent les nouveaux : quel mode, PC ou console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 quel mode corriger en premier (Steam = PC seul)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 de départ attribué comparé au niveau réel après 50 matchs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le jeu place mal un nouveau à l'arrivée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la cause A (démarrage à froid)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de niveau par match, selon les joueurs en file, l'heure, la région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l'écart grandit quand il y a peu de joueurs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la cause B (manque de joueurs)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Départs en classé avant / après les placements de la saison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mieux placer les joueurs les a retenus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Expérience déjà faite par NetEase : la preuve la moins chère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Ensuite, pour écarter les autres explications : héros joué, parties avec bots, joueurs en groupe, comptes arrivés en 2025. Toutes ces données existent déjà dans vos serveurs.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de collecte complet (12 données notées, détail et justification)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754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tester le levier qui correspond à la cause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· deux causes possibles ; tests A/B de 60 jours si l'audit confirme le problème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98448"/>
            <a:ext cx="411480" cy="41148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401318"/>
            <a:ext cx="20574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2984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A : démarrage à froid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013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ne connaît pas le niveau d'un nouveau compte. Il lui donne un niveau de départ par défaut et le place mal tant qu'il n'a pas assez joué.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données : l'écart est fort sur les premiers matchs, à toute heure.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Leviers à tester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départ plus prudent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plus rapide du niveau des nouveaux comptes (freine aussi les joueurs confirmés qui se recréent un compte)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1298448"/>
            <a:ext cx="411480" cy="41148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190" y="1401318"/>
            <a:ext cx="205740" cy="2057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12984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B : manque de joueurs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18013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peu de joueurs sont en file (heures creuses, petites régions), le jeu élargit l'écart de niveau accepté pour lancer la partie plus vite.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84632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données : l'écart grandit quand la file se vide, pour tous.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80060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Leviers à tester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resserré aux heures creuses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Regroupement de régions si besoin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si 10 % des joueurs attendent plus de 5 min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087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deux cas : 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débutants jusqu'au niveau 15, groupes séparés des joueurs seuls en partie rapide, étiquette « match d'entraînement » sur les parties avec bots. </a:t>
            </a:r>
            <a:pPr indent="0" marL="0">
              <a:buNone/>
            </a:pPr>
            <a:r>
              <a:rPr lang="en-US" sz="1100" b="1" dirty="0">
                <a:solidFill>
                  <a:srgbClr val="E2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Écartés : 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imposés (liberté de composition).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vidéo NetEase du 21/08/2025 (écart élargi quand la file est longue)</a:t>
            </a:r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crossplay en partie rapide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8412480" y="4754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phases, chacune avec sa porte de décision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0-30 / 30-90 / 90-180 jours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0-30 j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60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de sous-traitance et validation du hachage (J0). Extraction des 12 données, par mode et plateforme. Mesure du ratio.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 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≤ 1,2 → plan B, pas d'investissement matchmaking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457200" cy="45720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30-90 j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120" y="20116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A/B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560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de la cause trouvée, groupe test contre groupe témoin.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 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gardé si le ratio baisse et l'attente p90 &lt; 5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457200" cy="45720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90-180 j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5040" y="20116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Généralisation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560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Leviers gagnants déployés, page publique « comment fonctionne le matchmaking », pilotage mensuel.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 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31/03/2027 : ratio ≤ 1,2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754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seuils qui déclenchent une décision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et risques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1,2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churn J7 à l'audit : on lance les 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71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5 min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 p90 : on arrête le resserrement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371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50 %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10 premiers matchs en partie rapide : on la corrige en premier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" y="2937510"/>
            <a:ext cx="205740" cy="2057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05840" y="2788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personnelles (RGPD) : 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de sous-traitance, identifiants hachés par NetEase, analyse dans votre environnement, mineurs exclus.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456432"/>
            <a:ext cx="411480" cy="41148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3559302"/>
            <a:ext cx="205740" cy="2057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05840" y="34107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: 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profilage individuel des « perdants » : leviers appliqués à tous les nouveaux comptes. Lecture à valider par un juriste.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4078224"/>
            <a:ext cx="411480" cy="411480"/>
          </a:xfrm>
          <a:prstGeom prst="ellipse">
            <a:avLst/>
          </a:prstGeom>
          <a:solidFill>
            <a:srgbClr val="E23636"/>
          </a:solidFill>
          <a:ln w="12700">
            <a:solidFill>
              <a:srgbClr val="E2363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4181094"/>
            <a:ext cx="205740" cy="2057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05840" y="403250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: </a:t>
            </a:r>
            <a:pPr indent="0" marL="0">
              <a:buNone/>
            </a:pPr>
            <a:r>
              <a:rPr lang="en-US" sz="11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cachés : étiquette neutre, message préparé avec Marvel.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RGPD</a:t>
            </a:r>
            <a:pPr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Act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8412480" y="4754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consultées les 29 et 30/09/2026 · liens cliquables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Steam Charts, moyennes mensuelles (PC)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 millions de joueurs, rapport NetEase (Game World Observer)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publique des avis Steam (notre collecte, 37 990 avis pondérés)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Vidéo NetEase sur le matchmaking, 21/08/2025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Notes de patch Season 5, placements (14/11/2025)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Notes de patch Season 7, placement individuel (18/03/2026)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Classé : Bronze III pour tous (PCGamesN)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45 % des joueurs ayant quitté Overwatch 2 ont joué à Marvel Rivals (Newzoo, via Insider Gaming, 09/04/2025)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Overwatch 2 : baisse des joueurs moyens sur PC (VGC)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« Plus un jeu pour le fan occasionnel » (TheGamer, 09/08/2025)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Crossplay : partie rapide commune, classé séparé (Esports Insider)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Écart de niveau et churn (Heliyon, 2024, analogie)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RGPD (EUR-Lex)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Act (EUR-Lex)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de collecte complet (Google Docs)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Marvel Rivals : retenir les nouveaux joueurs</dc:title>
  <dc:subject>PptxGenJS Presentation</dc:subject>
  <dc:creator>Noé</dc:creator>
  <cp:lastModifiedBy>Noé</cp:lastModifiedBy>
  <cp:revision>1</cp:revision>
  <dcterms:created xsi:type="dcterms:W3CDTF">2026-09-30T20:58:04Z</dcterms:created>
  <dcterms:modified xsi:type="dcterms:W3CDTF">2026-09-30T20:58:04Z</dcterms:modified>
</cp:coreProperties>
</file>