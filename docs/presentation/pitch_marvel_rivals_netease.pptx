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Pourquoi ? Notre hypothèse, testable : nouveaux et revenants subissent des écarts de niveau que le matchmaking ne compense pas, et partent. Deux mécanismes peuvent les produire. En partie rapide, faute de joueurs, le matchmaking accepte des écarts plus grands, NetEase l'a reconnu : le nouveau tombe sur des vétérans et part. En classé, un joueur qui revient après des mois retrouve un rang à peine abaissé, perd, et repart. Tout cela se mesure dans vos données. D'où viennent ces écarts ? Probablement du lancement : des vétérans du genre, 45 % de ceux qui ont quitté Overwatch 2 ont essayé Marvel Rivals, face à un grand public venu pour Marvel. C'est plausible, mais vos données ne disent pas pourquoi un joueur est venu : nous ne bâtissons aucune décision dessus.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Six données d'abord : la première mesure l'objectif, la deuxième dit où jouent les nouveaux, trois testent chacune une cause,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Treize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Rang périmé : matchs de recalibrage au retour.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Quand, qui, combien. Trente jours d'audit : un data analyst et un data engineer à mi-temps, environ 33 jours-homme, soit 19 000 euros aux tarifs du marché, sans licence nouvelle, sur votre stack existante. C'est le seul montant engagé aujourd'hui ; si les tests sont lancés, le total data monte à environ 45 000 euros, hors développement. Si le ratio est déjà sous 1,2, on s'arrête : plan B. Sinon, soixante jours de tests avec votre équipe matchmaking, puis généralisation jusqu'au 31 mars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tjmetre.fr/barometre/data" TargetMode="External"/><Relationship Id="rId2" Type="http://schemas.openxmlformats.org/officeDocument/2006/relationships/hyperlink" Target="https://cloud.google.com/bigquery/pricing"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tjmetre.fr/barometre/data" TargetMode="External"/><Relationship Id="rId16" Type="http://schemas.openxmlformats.org/officeDocument/2006/relationships/hyperlink" Target="https://eur-lex.europa.eu/eli/reg/2016/679/oj" TargetMode="External"/><Relationship Id="rId17" Type="http://schemas.openxmlformats.org/officeDocument/2006/relationships/hyperlink" Target="https://eur-lex.europa.eu/eli/reg/2024/1689/oj" TargetMode="External"/><Relationship Id="rId18" Type="http://schemas.openxmlformats.org/officeDocument/2006/relationships/hyperlink" Target="https://docs.google.com/document/d/1nOhcAL2wfeAHOK6x6UZH-Hg5yh9Ofxxko7FY47r5Vzc/edit" TargetMode="External"/><Relationship Id="rId19" Type="http://schemas.openxmlformats.org/officeDocument/2006/relationships/slideLayout" Target="../slideLayouts/slideLayout1.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problème business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sp>
        <p:nvSpPr>
          <p:cNvPr id="4" name="Shape 2"/>
          <p:cNvSpPr/>
          <p:nvPr/>
        </p:nvSpPr>
        <p:spPr>
          <a:xfrm>
            <a:off x="457200" y="1143000"/>
            <a:ext cx="8229600" cy="566928"/>
          </a:xfrm>
          <a:prstGeom prst="roundRect">
            <a:avLst>
              <a:gd name="adj" fmla="val 12903"/>
            </a:avLst>
          </a:prstGeom>
          <a:solidFill>
            <a:srgbClr val="161A33"/>
          </a:solidFill>
          <a:ln w="12700">
            <a:solidFill>
              <a:srgbClr val="161A33"/>
            </a:solidFill>
            <a:prstDash val="solid"/>
          </a:ln>
        </p:spPr>
      </p:sp>
      <p:sp>
        <p:nvSpPr>
          <p:cNvPr id="5" name="Text 3"/>
          <p:cNvSpPr txBox="1"/>
          <p:nvPr/>
        </p:nvSpPr>
        <p:spPr>
          <a:xfrm>
            <a:off x="640080" y="1161288"/>
            <a:ext cx="7863840" cy="530352"/>
          </a:xfrm>
          <a:prstGeom prst="rect">
            <a:avLst/>
          </a:prstGeom>
          <a:noFill/>
          <a:ln/>
        </p:spPr>
        <p:txBody>
          <a:bodyPr wrap="square" lIns="0" tIns="0" rIns="0" bIns="0" rtlCol="0" anchor="ctr"/>
          <a:lstStyle/>
          <a:p>
            <a:pPr indent="0" marL="0">
              <a:buNone/>
            </a:pPr>
            <a:r>
              <a:rPr lang="en-US" sz="1300" b="1" dirty="0">
                <a:solidFill>
                  <a:srgbClr val="E23636"/>
                </a:solidFill>
                <a:latin typeface="Calibri" pitchFamily="34" charset="0"/>
                <a:ea typeface="Calibri" pitchFamily="34" charset="-122"/>
                <a:cs typeface="Calibri" pitchFamily="34" charset="-120"/>
              </a:rPr>
              <a:t>B : </a:t>
            </a:r>
            <a:pPr indent="0" marL="0">
              <a:buNone/>
            </a:pPr>
            <a:r>
              <a:rPr lang="en-US" sz="1300"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6"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−85 %</a:t>
            </a:r>
            <a:endParaRPr lang="en-US" sz="2000" dirty="0"/>
          </a:p>
        </p:txBody>
      </p:sp>
      <p:sp>
        <p:nvSpPr>
          <p:cNvPr id="9" name="Text 5"/>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0" name="Text 6"/>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2 mois</a:t>
            </a:r>
            <a:endParaRPr lang="en-US" sz="2000" dirty="0"/>
          </a:p>
        </p:txBody>
      </p:sp>
      <p:sp>
        <p:nvSpPr>
          <p:cNvPr id="11" name="Text 7"/>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2" name="Text 8"/>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161A33"/>
                </a:solidFill>
                <a:latin typeface="Arial" pitchFamily="34" charset="0"/>
                <a:ea typeface="Arial" pitchFamily="34" charset="-122"/>
                <a:cs typeface="Arial" pitchFamily="34" charset="-120"/>
              </a:rPr>
              <a:t>7 → 41 %</a:t>
            </a:r>
            <a:endParaRPr lang="en-US" sz="2000" dirty="0"/>
          </a:p>
        </p:txBody>
      </p:sp>
      <p:sp>
        <p:nvSpPr>
          <p:cNvPr id="13" name="Text 9"/>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5" name="Text 1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 en classé</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À chaque saison, le rang n'est abaissé que de 6 divisions, quelle que soit la durée de l'absence (Dev Talk Vol.10).</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200400"/>
                <a:gridCol w="2377440"/>
                <a:gridCol w="2651760"/>
              </a:tblGrid>
              <a:tr h="237744">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Résultats des 10 premiers matchs et départ à 7 jours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perdre au début fait partir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C'est la mesure de l'objectif</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 ces 10 premiers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Où jouent les nouveaux</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Dit quel mode corriger en premier (Steam = PC seul)</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jeu place mal un nouveau</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A (démarrage à froid)</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l'écart grandit quand la file se vide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B (manque de joueurs)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Durée d'absence, rang au retour et bilan des 10 premiers matchs classés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le rang au retour est périmé</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Teste la cause C (joueurs de retour)</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Si mieux placer les joueurs les a retenus</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Expérience déjà faite : la preuve la moins chère</a:t>
                      </a:r>
                      <a:endParaRPr lang="en-US" sz="90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16552"/>
            <a:ext cx="8229600" cy="320040"/>
          </a:xfrm>
          <a:prstGeom prst="rect">
            <a:avLst/>
          </a:prstGeom>
          <a:noFill/>
          <a:ln/>
        </p:spPr>
        <p:txBody>
          <a:bodyPr wrap="square" lIns="0" tIns="0" rIns="0" bIns="0" rtlCol="0" anchor="ctr"/>
          <a:lstStyle/>
          <a:p>
            <a:pPr indent="0" marL="0">
              <a:buNone/>
            </a:pPr>
            <a:r>
              <a:rPr lang="en-US" sz="95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5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Matrice ICE : 13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Impact × Confiance × Facilité, chacun sur 5 = score sur 125 · coupe sous 30</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33172">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Joueurs de retour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subi en partie rapide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33172">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5" name="Text 2"/>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13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7 autres indispensables (ICE 80 à 100) et 5 autres utiles sont notés dans le plan de collecte.</a:t>
            </a:r>
            <a:endParaRPr lang="en-US" sz="950" dirty="0"/>
          </a:p>
        </p:txBody>
      </p:sp>
      <p:sp>
        <p:nvSpPr>
          <p:cNvPr id="6" name="Text 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7" name="Text 4"/>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de chaque cause confirmée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si le ratio dépasse 1,2 ; les causes peuvent se cumuler</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Rang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ne tient pas compte de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Baisse de rang selon l'absence</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quand, qui, combien</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chacune avec sa porte de décision</a:t>
            </a:r>
            <a:endParaRPr lang="en-US" sz="1200" dirty="0"/>
          </a:p>
        </p:txBody>
      </p:sp>
      <p:sp>
        <p:nvSpPr>
          <p:cNvPr id="4" name="Shape 2"/>
          <p:cNvSpPr/>
          <p:nvPr/>
        </p:nvSpPr>
        <p:spPr>
          <a:xfrm>
            <a:off x="502920" y="1188720"/>
            <a:ext cx="411480" cy="411480"/>
          </a:xfrm>
          <a:prstGeom prst="ellipse">
            <a:avLst/>
          </a:prstGeom>
          <a:solidFill>
            <a:srgbClr val="E23636"/>
          </a:solidFill>
          <a:ln w="12700">
            <a:solidFill>
              <a:srgbClr val="E23636"/>
            </a:solidFill>
            <a:prstDash val="solid"/>
          </a:ln>
        </p:spPr>
      </p:sp>
      <p:sp>
        <p:nvSpPr>
          <p:cNvPr id="5" name="Text 3"/>
          <p:cNvSpPr txBox="1"/>
          <p:nvPr/>
        </p:nvSpPr>
        <p:spPr>
          <a:xfrm>
            <a:off x="50292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00584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0-30 j  </a:t>
            </a:r>
            <a:pPr indent="0" marL="0">
              <a:buNone/>
            </a:pPr>
            <a:r>
              <a:rPr lang="en-US" sz="1400" dirty="0">
                <a:solidFill>
                  <a:srgbClr val="5E6378"/>
                </a:solidFill>
                <a:latin typeface="Arial" pitchFamily="34" charset="0"/>
                <a:ea typeface="Arial" pitchFamily="34" charset="-122"/>
                <a:cs typeface="Arial" pitchFamily="34" charset="-120"/>
              </a:rPr>
              <a:t>Audit</a:t>
            </a:r>
            <a:endParaRPr lang="en-US" sz="1400" dirty="0"/>
          </a:p>
        </p:txBody>
      </p:sp>
      <p:sp>
        <p:nvSpPr>
          <p:cNvPr id="7" name="Shape 5"/>
          <p:cNvSpPr/>
          <p:nvPr/>
        </p:nvSpPr>
        <p:spPr>
          <a:xfrm>
            <a:off x="457200" y="1737360"/>
            <a:ext cx="2651760" cy="1664208"/>
          </a:xfrm>
          <a:prstGeom prst="roundRect">
            <a:avLst>
              <a:gd name="adj" fmla="val 4396"/>
            </a:avLst>
          </a:prstGeom>
          <a:solidFill>
            <a:srgbClr val="FFFFFF"/>
          </a:solidFill>
          <a:ln w="12700">
            <a:solidFill>
              <a:srgbClr val="E3E5EE"/>
            </a:solidFill>
            <a:prstDash val="solid"/>
          </a:ln>
        </p:spPr>
      </p:sp>
      <p:sp>
        <p:nvSpPr>
          <p:cNvPr id="8" name="Text 6"/>
          <p:cNvSpPr txBox="1"/>
          <p:nvPr/>
        </p:nvSpPr>
        <p:spPr>
          <a:xfrm>
            <a:off x="594360" y="1792224"/>
            <a:ext cx="2377440" cy="157276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Qui : </a:t>
            </a:r>
            <a:pPr indent="0" marL="0">
              <a:buNone/>
            </a:pPr>
            <a:r>
              <a:rPr lang="en-US" sz="950" dirty="0">
                <a:solidFill>
                  <a:srgbClr val="1F2233"/>
                </a:solidFill>
                <a:latin typeface="Calibri" pitchFamily="34" charset="0"/>
                <a:ea typeface="Calibri" pitchFamily="34" charset="-122"/>
                <a:cs typeface="Calibri" pitchFamily="34" charset="-120"/>
              </a:rPr>
              <a:t>1 data analyst à temps plein, 1 data engineer à mi-temps ; DPO NetEase pour l'accord et le hachage</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161A33"/>
                </a:solidFill>
                <a:latin typeface="Calibri" pitchFamily="34" charset="0"/>
                <a:ea typeface="Calibri" pitchFamily="34" charset="-122"/>
                <a:cs typeface="Calibri" pitchFamily="34" charset="-120"/>
              </a:rPr>
              <a:t>Combien : </a:t>
            </a:r>
            <a:pPr indent="0" marL="0">
              <a:buNone/>
            </a:pPr>
            <a:r>
              <a:rPr lang="en-US" sz="950" dirty="0">
                <a:solidFill>
                  <a:srgbClr val="1F2233"/>
                </a:solidFill>
                <a:latin typeface="Calibri" pitchFamily="34" charset="0"/>
                <a:ea typeface="Calibri" pitchFamily="34" charset="-122"/>
                <a:cs typeface="Calibri" pitchFamily="34" charset="-120"/>
              </a:rPr>
              <a:t>≈ 33 jours-homme, soit ≈ 19 K€ ; aucune licence nouvelle</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23636"/>
                </a:solidFill>
                <a:latin typeface="Calibri" pitchFamily="34" charset="0"/>
                <a:ea typeface="Calibri" pitchFamily="34" charset="-122"/>
                <a:cs typeface="Calibri" pitchFamily="34" charset="-120"/>
              </a:rPr>
              <a:t>Décision : </a:t>
            </a:r>
            <a:pPr indent="0" marL="0">
              <a:buNone/>
            </a:pPr>
            <a:r>
              <a:rPr lang="en-US" sz="950" dirty="0">
                <a:solidFill>
                  <a:srgbClr val="1F2233"/>
                </a:solidFill>
                <a:latin typeface="Calibri" pitchFamily="34" charset="0"/>
                <a:ea typeface="Calibri" pitchFamily="34" charset="-122"/>
                <a:cs typeface="Calibri" pitchFamily="34" charset="-120"/>
              </a:rPr>
              <a:t>Cohorte &gt; 1,2 → tests de ses causes ; les deux ≤ 1,2 → plan B</a:t>
            </a:r>
            <a:endParaRPr lang="en-US" sz="950" dirty="0"/>
          </a:p>
        </p:txBody>
      </p:sp>
      <p:sp>
        <p:nvSpPr>
          <p:cNvPr id="9" name="Shape 7"/>
          <p:cNvSpPr/>
          <p:nvPr/>
        </p:nvSpPr>
        <p:spPr>
          <a:xfrm>
            <a:off x="3291840" y="1188720"/>
            <a:ext cx="411480" cy="411480"/>
          </a:xfrm>
          <a:prstGeom prst="ellipse">
            <a:avLst/>
          </a:prstGeom>
          <a:solidFill>
            <a:srgbClr val="E23636"/>
          </a:solidFill>
          <a:ln w="12700">
            <a:solidFill>
              <a:srgbClr val="E23636"/>
            </a:solidFill>
            <a:prstDash val="solid"/>
          </a:ln>
        </p:spPr>
      </p:sp>
      <p:sp>
        <p:nvSpPr>
          <p:cNvPr id="10" name="Text 8"/>
          <p:cNvSpPr txBox="1"/>
          <p:nvPr/>
        </p:nvSpPr>
        <p:spPr>
          <a:xfrm>
            <a:off x="329184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379476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30-90 j  </a:t>
            </a:r>
            <a:pPr indent="0" marL="0">
              <a:buNone/>
            </a:pPr>
            <a:r>
              <a:rPr lang="en-US" sz="1400" dirty="0">
                <a:solidFill>
                  <a:srgbClr val="5E6378"/>
                </a:solidFill>
                <a:latin typeface="Arial" pitchFamily="34" charset="0"/>
                <a:ea typeface="Arial" pitchFamily="34" charset="-122"/>
                <a:cs typeface="Arial" pitchFamily="34" charset="-120"/>
              </a:rPr>
              <a:t>Tests A/B</a:t>
            </a:r>
            <a:endParaRPr lang="en-US" sz="1400" dirty="0"/>
          </a:p>
        </p:txBody>
      </p:sp>
      <p:sp>
        <p:nvSpPr>
          <p:cNvPr id="12" name="Shape 10"/>
          <p:cNvSpPr/>
          <p:nvPr/>
        </p:nvSpPr>
        <p:spPr>
          <a:xfrm>
            <a:off x="3246120" y="1737360"/>
            <a:ext cx="2651760" cy="1664208"/>
          </a:xfrm>
          <a:prstGeom prst="roundRect">
            <a:avLst>
              <a:gd name="adj" fmla="val 4396"/>
            </a:avLst>
          </a:prstGeom>
          <a:solidFill>
            <a:srgbClr val="FFFFFF"/>
          </a:solidFill>
          <a:ln w="12700">
            <a:solidFill>
              <a:srgbClr val="E3E5EE"/>
            </a:solidFill>
            <a:prstDash val="solid"/>
          </a:ln>
        </p:spPr>
      </p:sp>
      <p:sp>
        <p:nvSpPr>
          <p:cNvPr id="13" name="Text 11"/>
          <p:cNvSpPr txBox="1"/>
          <p:nvPr/>
        </p:nvSpPr>
        <p:spPr>
          <a:xfrm>
            <a:off x="3383280" y="1792224"/>
            <a:ext cx="2377440" cy="157276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Qui : </a:t>
            </a:r>
            <a:pPr indent="0" marL="0">
              <a:buNone/>
            </a:pPr>
            <a:r>
              <a:rPr lang="en-US" sz="950" dirty="0">
                <a:solidFill>
                  <a:srgbClr val="1F2233"/>
                </a:solidFill>
                <a:latin typeface="Calibri" pitchFamily="34" charset="0"/>
                <a:ea typeface="Calibri" pitchFamily="34" charset="-122"/>
                <a:cs typeface="Calibri" pitchFamily="34" charset="-120"/>
              </a:rPr>
              <a:t>Équipe matchmaking NetEase + analyste</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161A33"/>
                </a:solidFill>
                <a:latin typeface="Calibri" pitchFamily="34" charset="0"/>
                <a:ea typeface="Calibri" pitchFamily="34" charset="-122"/>
                <a:cs typeface="Calibri" pitchFamily="34" charset="-120"/>
              </a:rPr>
              <a:t>Combien : </a:t>
            </a:r>
            <a:pPr indent="0" marL="0">
              <a:buNone/>
            </a:pPr>
            <a:r>
              <a:rPr lang="en-US" sz="950" dirty="0">
                <a:solidFill>
                  <a:srgbClr val="1F2233"/>
                </a:solidFill>
                <a:latin typeface="Calibri" pitchFamily="34" charset="0"/>
                <a:ea typeface="Calibri" pitchFamily="34" charset="-122"/>
                <a:cs typeface="Calibri" pitchFamily="34" charset="-120"/>
              </a:rPr>
              <a:t>≈ 23 K€ d'analyse ; développement chiffré par NetEase avant tout lancement</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23636"/>
                </a:solidFill>
                <a:latin typeface="Calibri" pitchFamily="34" charset="0"/>
                <a:ea typeface="Calibri" pitchFamily="34" charset="-122"/>
                <a:cs typeface="Calibri" pitchFamily="34" charset="-120"/>
              </a:rPr>
              <a:t>Décision : </a:t>
            </a:r>
            <a:pPr indent="0" marL="0">
              <a:buNone/>
            </a:pPr>
            <a:r>
              <a:rPr lang="en-US" sz="950" dirty="0">
                <a:solidFill>
                  <a:srgbClr val="1F2233"/>
                </a:solidFill>
                <a:latin typeface="Calibri" pitchFamily="34" charset="0"/>
                <a:ea typeface="Calibri" pitchFamily="34" charset="-122"/>
                <a:cs typeface="Calibri" pitchFamily="34" charset="-120"/>
              </a:rPr>
              <a:t>Levier gardé si le ratio baisse et l'attente reste &lt; 3 min</a:t>
            </a:r>
            <a:endParaRPr lang="en-US" sz="950" dirty="0"/>
          </a:p>
        </p:txBody>
      </p:sp>
      <p:sp>
        <p:nvSpPr>
          <p:cNvPr id="14" name="Shape 12"/>
          <p:cNvSpPr/>
          <p:nvPr/>
        </p:nvSpPr>
        <p:spPr>
          <a:xfrm>
            <a:off x="6080760" y="1188720"/>
            <a:ext cx="411480" cy="411480"/>
          </a:xfrm>
          <a:prstGeom prst="ellipse">
            <a:avLst/>
          </a:prstGeom>
          <a:solidFill>
            <a:srgbClr val="E23636"/>
          </a:solidFill>
          <a:ln w="12700">
            <a:solidFill>
              <a:srgbClr val="E23636"/>
            </a:solidFill>
            <a:prstDash val="solid"/>
          </a:ln>
        </p:spPr>
      </p:sp>
      <p:sp>
        <p:nvSpPr>
          <p:cNvPr id="15" name="Text 13"/>
          <p:cNvSpPr txBox="1"/>
          <p:nvPr/>
        </p:nvSpPr>
        <p:spPr>
          <a:xfrm>
            <a:off x="6080760" y="11887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6583680" y="1188720"/>
            <a:ext cx="2103120" cy="411480"/>
          </a:xfrm>
          <a:prstGeom prst="rect">
            <a:avLst/>
          </a:prstGeom>
          <a:noFill/>
          <a:ln/>
        </p:spPr>
        <p:txBody>
          <a:bodyPr wrap="square" lIns="0" tIns="0" rIns="0" bIns="0" rtlCol="0" anchor="ctr"/>
          <a:lstStyle/>
          <a:p>
            <a:pPr indent="0" marL="0">
              <a:buNone/>
            </a:pPr>
            <a:r>
              <a:rPr lang="en-US" sz="1400" b="1" dirty="0">
                <a:solidFill>
                  <a:srgbClr val="1F2233"/>
                </a:solidFill>
                <a:latin typeface="Arial" pitchFamily="34" charset="0"/>
                <a:ea typeface="Arial" pitchFamily="34" charset="-122"/>
                <a:cs typeface="Arial" pitchFamily="34" charset="-120"/>
              </a:rPr>
              <a:t>90-180 j  </a:t>
            </a:r>
            <a:pPr indent="0" marL="0">
              <a:buNone/>
            </a:pPr>
            <a:r>
              <a:rPr lang="en-US" sz="1400" dirty="0">
                <a:solidFill>
                  <a:srgbClr val="5E6378"/>
                </a:solidFill>
                <a:latin typeface="Arial" pitchFamily="34" charset="0"/>
                <a:ea typeface="Arial" pitchFamily="34" charset="-122"/>
                <a:cs typeface="Arial" pitchFamily="34" charset="-120"/>
              </a:rPr>
              <a:t>Généralisation</a:t>
            </a:r>
            <a:endParaRPr lang="en-US" sz="1400" dirty="0"/>
          </a:p>
        </p:txBody>
      </p:sp>
      <p:sp>
        <p:nvSpPr>
          <p:cNvPr id="17" name="Shape 15"/>
          <p:cNvSpPr/>
          <p:nvPr/>
        </p:nvSpPr>
        <p:spPr>
          <a:xfrm>
            <a:off x="6035040" y="1737360"/>
            <a:ext cx="2651760" cy="1664208"/>
          </a:xfrm>
          <a:prstGeom prst="roundRect">
            <a:avLst>
              <a:gd name="adj" fmla="val 4396"/>
            </a:avLst>
          </a:prstGeom>
          <a:solidFill>
            <a:srgbClr val="FFFFFF"/>
          </a:solidFill>
          <a:ln w="12700">
            <a:solidFill>
              <a:srgbClr val="E3E5EE"/>
            </a:solidFill>
            <a:prstDash val="solid"/>
          </a:ln>
        </p:spPr>
      </p:sp>
      <p:sp>
        <p:nvSpPr>
          <p:cNvPr id="18" name="Text 16"/>
          <p:cNvSpPr txBox="1"/>
          <p:nvPr/>
        </p:nvSpPr>
        <p:spPr>
          <a:xfrm>
            <a:off x="6172200" y="1792224"/>
            <a:ext cx="2377440" cy="157276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Qui : </a:t>
            </a:r>
            <a:pPr indent="0" marL="0">
              <a:buNone/>
            </a:pPr>
            <a:r>
              <a:rPr lang="en-US" sz="950" dirty="0">
                <a:solidFill>
                  <a:srgbClr val="1F2233"/>
                </a:solidFill>
                <a:latin typeface="Calibri" pitchFamily="34" charset="0"/>
                <a:ea typeface="Calibri" pitchFamily="34" charset="-122"/>
                <a:cs typeface="Calibri" pitchFamily="34" charset="-120"/>
              </a:rPr>
              <a:t>Live-ops et communication ; page publique « comment fonctionne le matchmaking »</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161A33"/>
                </a:solidFill>
                <a:latin typeface="Calibri" pitchFamily="34" charset="0"/>
                <a:ea typeface="Calibri" pitchFamily="34" charset="-122"/>
                <a:cs typeface="Calibri" pitchFamily="34" charset="-120"/>
              </a:rPr>
              <a:t>Combien : </a:t>
            </a:r>
            <a:pPr indent="0" marL="0">
              <a:buNone/>
            </a:pPr>
            <a:r>
              <a:rPr lang="en-US" sz="950" dirty="0">
                <a:solidFill>
                  <a:srgbClr val="1F2233"/>
                </a:solidFill>
                <a:latin typeface="Calibri" pitchFamily="34" charset="0"/>
                <a:ea typeface="Calibri" pitchFamily="34" charset="-122"/>
                <a:cs typeface="Calibri" pitchFamily="34" charset="-120"/>
              </a:rPr>
              <a:t>≈ 3 K€ de pilotage mensuel, sur les outils existants</a:t>
            </a:r>
            <a:endParaRPr lang="en-US" sz="9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23636"/>
                </a:solidFill>
                <a:latin typeface="Calibri" pitchFamily="34" charset="0"/>
                <a:ea typeface="Calibri" pitchFamily="34" charset="-122"/>
                <a:cs typeface="Calibri" pitchFamily="34" charset="-120"/>
              </a:rPr>
              <a:t>Décision : </a:t>
            </a:r>
            <a:pPr indent="0" marL="0">
              <a:buNone/>
            </a:pPr>
            <a:r>
              <a:rPr lang="en-US" sz="950" dirty="0">
                <a:solidFill>
                  <a:srgbClr val="1F2233"/>
                </a:solidFill>
                <a:latin typeface="Calibri" pitchFamily="34" charset="0"/>
                <a:ea typeface="Calibri" pitchFamily="34" charset="-122"/>
                <a:cs typeface="Calibri" pitchFamily="34" charset="-120"/>
              </a:rPr>
              <a:t>31/03/2027 : ratio ≤ 1,2</a:t>
            </a:r>
            <a:endParaRPr lang="en-US" sz="950" dirty="0"/>
          </a:p>
        </p:txBody>
      </p:sp>
      <p:sp>
        <p:nvSpPr>
          <p:cNvPr id="19" name="Shape 17"/>
          <p:cNvSpPr/>
          <p:nvPr/>
        </p:nvSpPr>
        <p:spPr>
          <a:xfrm>
            <a:off x="457200" y="3474720"/>
            <a:ext cx="8229600" cy="868680"/>
          </a:xfrm>
          <a:prstGeom prst="roundRect">
            <a:avLst>
              <a:gd name="adj" fmla="val 6316"/>
            </a:avLst>
          </a:prstGeom>
          <a:solidFill>
            <a:srgbClr val="161A33"/>
          </a:solidFill>
          <a:ln w="12700">
            <a:solidFill>
              <a:srgbClr val="161A33"/>
            </a:solidFill>
            <a:prstDash val="solid"/>
          </a:ln>
        </p:spPr>
      </p:sp>
      <p:sp>
        <p:nvSpPr>
          <p:cNvPr id="20" name="Text 18"/>
          <p:cNvSpPr txBox="1"/>
          <p:nvPr/>
        </p:nvSpPr>
        <p:spPr>
          <a:xfrm>
            <a:off x="594360" y="3493008"/>
            <a:ext cx="8001000" cy="832104"/>
          </a:xfrm>
          <a:prstGeom prst="rect">
            <a:avLst/>
          </a:prstGeom>
          <a:noFill/>
          <a:ln/>
        </p:spPr>
        <p:txBody>
          <a:bodyPr wrap="square" lIns="0" tIns="0" rIns="0" bIns="0" rtlCol="0" anchor="ctr"/>
          <a:lstStyle/>
          <a:p>
            <a:pPr indent="0" marL="0">
              <a:spcAft>
                <a:spcPts val="200"/>
              </a:spcAft>
              <a:buNone/>
            </a:pPr>
            <a:r>
              <a:rPr lang="en-US" sz="1250" b="1" dirty="0">
                <a:solidFill>
                  <a:srgbClr val="FFFFFF"/>
                </a:solidFill>
                <a:latin typeface="Calibri" pitchFamily="34" charset="0"/>
                <a:ea typeface="Calibri" pitchFamily="34" charset="-122"/>
                <a:cs typeface="Calibri" pitchFamily="34" charset="-120"/>
              </a:rPr>
              <a:t>Budget : ≈ 19 K€ engagés (audit) · ≈ 45 K€ si les tests sont lancés</a:t>
            </a:r>
            <a:endParaRPr lang="en-US" sz="950" dirty="0"/>
          </a:p>
          <a:p>
            <a:pPr indent="0" marL="0">
              <a:spcAft>
                <a:spcPts val="200"/>
              </a:spcAft>
              <a:buNone/>
            </a:pPr>
            <a:r>
              <a:rPr lang="en-US" sz="950" dirty="0">
                <a:solidFill>
                  <a:srgbClr val="FFFFFF"/>
                </a:solidFill>
                <a:latin typeface="Calibri" pitchFamily="34" charset="0"/>
                <a:ea typeface="Calibri" pitchFamily="34" charset="-122"/>
                <a:cs typeface="Calibri" pitchFamily="34" charset="-120"/>
              </a:rPr>
              <a:t>Audit : 22 j × 540 € + 11 j × 650 € = 19 K€  ·  Tests : 43 j × 540 € = 23 K€  ·  Pilotage : 6 j × 540 € = 3 K€</a:t>
            </a:r>
            <a:endParaRPr lang="en-US" sz="950" dirty="0"/>
          </a:p>
          <a:p>
            <a:pPr indent="0" marL="0">
              <a:spcAft>
                <a:spcPts val="200"/>
              </a:spcAft>
              <a:buNone/>
            </a:pPr>
            <a:r>
              <a:rPr lang="en-US" sz="800" dirty="0">
                <a:solidFill>
                  <a:srgbClr val="C9CCDA"/>
                </a:solidFill>
                <a:latin typeface="Calibri" pitchFamily="34" charset="0"/>
                <a:ea typeface="Calibri" pitchFamily="34" charset="-122"/>
                <a:cs typeface="Calibri" pitchFamily="34" charset="-120"/>
              </a:rPr>
              <a:t>TJM médians 2026 : 540 €/j analyste, 650 €/j ingénieur (tjmetre.fr, 1 186 freelances, 01/10/2026) · fourchette 39 à 51 K€ · hors développement</a:t>
            </a:r>
            <a:endParaRPr lang="en-US" sz="950" dirty="0"/>
          </a:p>
        </p:txBody>
      </p:sp>
      <p:sp>
        <p:nvSpPr>
          <p:cNvPr id="21" name="Text 19"/>
          <p:cNvSpPr txBox="1"/>
          <p:nvPr/>
        </p:nvSpPr>
        <p:spPr>
          <a:xfrm>
            <a:off x="457200" y="4389120"/>
            <a:ext cx="8229600" cy="347472"/>
          </a:xfrm>
          <a:prstGeom prst="rect">
            <a:avLst/>
          </a:prstGeom>
          <a:noFill/>
          <a:ln/>
        </p:spPr>
        <p:txBody>
          <a:bodyPr wrap="square" lIns="0" tIns="0" rIns="0" bIns="0" rtlCol="0" anchor="ctr"/>
          <a:lstStyle/>
          <a:p>
            <a:pPr indent="0" marL="0">
              <a:buNone/>
            </a:pPr>
            <a:r>
              <a:rPr lang="en-US" sz="850" b="1" dirty="0">
                <a:solidFill>
                  <a:srgbClr val="1F2233"/>
                </a:solidFill>
                <a:latin typeface="Calibri" pitchFamily="34" charset="0"/>
                <a:ea typeface="Calibri" pitchFamily="34" charset="-122"/>
                <a:cs typeface="Calibri" pitchFamily="34" charset="-120"/>
              </a:rPr>
              <a:t>Stack : </a:t>
            </a:r>
            <a:pPr indent="0" marL="0">
              <a:buNone/>
            </a:pPr>
            <a:r>
              <a:rPr lang="en-US" sz="850" dirty="0">
                <a:solidFill>
                  <a:srgbClr val="1F2233"/>
                </a:solidFill>
                <a:latin typeface="Calibri" pitchFamily="34" charset="0"/>
                <a:ea typeface="Calibri" pitchFamily="34" charset="-122"/>
                <a:cs typeface="Calibri" pitchFamily="34" charset="-120"/>
              </a:rPr>
              <a:t>télémétrie in-game existante → entrepôt existant (type BigQuery ou Snowflake ; requêtes ≈ 6,25 $ par To au-delà de 1 To gratuit par mois) → BI existante (type Looker ou Tableau).</a:t>
            </a:r>
            <a:endParaRPr lang="en-US" sz="850" dirty="0"/>
          </a:p>
        </p:txBody>
      </p:sp>
      <p:sp>
        <p:nvSpPr>
          <p:cNvPr id="22" name="Text 2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(§5 et §7)</a:t>
            </a:r>
            <a:endParaRPr lang="en-US" sz="850" dirty="0"/>
          </a:p>
        </p:txBody>
      </p:sp>
      <p:sp>
        <p:nvSpPr>
          <p:cNvPr id="23" name="Text 2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classés après au moins 60 jours d'absence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test des matchs de recalibrage (cause C)</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Rang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en tout si les tests sont lancés ; aucune licence nouvelle ; requêtes ≈ 6,25 $ par To au-delà de 1 To gratuit.</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Text 17"/>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2026-10-02T06:43:27Z</dcterms:created>
  <dcterms:modified xsi:type="dcterms:W3CDTF">2026-10-02T06:43:27Z</dcterms:modified>
</cp:coreProperties>
</file>