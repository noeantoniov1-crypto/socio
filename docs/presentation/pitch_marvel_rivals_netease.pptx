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F2233"/>
                </a:solidFill>
                <a:latin typeface="Calibri"/>
              </a:defRPr>
            </a:pPr>
            <a:r>
              <a:rPr sz="1100" b="0" i="0" u="none" strike="noStrike">
                <a:solidFill>
                  <a:srgbClr val="1F2233"/>
                </a:solidFill>
                <a:latin typeface="Calibri"/>
              </a:rPr>
              <a:t>Joueurs simultanés, moyenne mensuelle (milliers)</a:t>
            </a:r>
          </a:p>
        </c:rich>
      </c:tx>
      <c:layout/>
      <c:overlay val="0"/>
    </c:title>
    <c:autoTitleDeleted val="0"/>
    <c:plotArea>
      <c:layout/>
      <c:areaChart>
        <c:varyColors val="0"/>
        <c:ser>
          <c:idx val="0"/>
          <c:order val="0"/>
          <c:tx>
            <c:strRef>
              <c:f>Sheet1!$B$1</c:f>
              <c:strCache>
                <c:ptCount val="1"/>
                <c:pt idx="0">
                  <c:v>Joueurs simultanés (milliers)</c:v>
                </c:pt>
              </c:strCache>
            </c:strRef>
          </c:tx>
          <c:spPr>
            <a:solidFill>
              <a:srgbClr val="E62429">
                <a:alpha val="55000"/>
              </a:srgbClr>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Sheet1!$A$2:$A$23</c:f>
              <c:multiLvlStrCache>
                <c:ptCount val="22"/>
                <c:lvl>
                  <c:pt idx="0">
                    <c:v>Déc. 24</c:v>
                  </c:pt>
                  <c:pt idx="1">
                    <c:v>Janv.</c:v>
                  </c:pt>
                  <c:pt idx="2">
                    <c:v>Févr.</c:v>
                  </c:pt>
                  <c:pt idx="3">
                    <c:v>Mars</c:v>
                  </c:pt>
                  <c:pt idx="4">
                    <c:v>Avr.</c:v>
                  </c:pt>
                  <c:pt idx="5">
                    <c:v>Mai</c:v>
                  </c:pt>
                  <c:pt idx="6">
                    <c:v>Juin</c:v>
                  </c:pt>
                  <c:pt idx="7">
                    <c:v>Juil.</c:v>
                  </c:pt>
                  <c:pt idx="8">
                    <c:v>Août</c:v>
                  </c:pt>
                  <c:pt idx="9">
                    <c:v>Sept.</c:v>
                  </c:pt>
                  <c:pt idx="10">
                    <c:v>Oct.</c:v>
                  </c:pt>
                  <c:pt idx="11">
                    <c:v>Nov.</c:v>
                  </c:pt>
                  <c:pt idx="12">
                    <c:v>Déc.</c:v>
                  </c:pt>
                  <c:pt idx="13">
                    <c:v>Janv. 26</c:v>
                  </c:pt>
                  <c:pt idx="14">
                    <c:v>Févr.</c:v>
                  </c:pt>
                  <c:pt idx="15">
                    <c:v>Mars</c:v>
                  </c:pt>
                  <c:pt idx="16">
                    <c:v>Avr.</c:v>
                  </c:pt>
                  <c:pt idx="17">
                    <c:v>Mai</c:v>
                  </c:pt>
                  <c:pt idx="18">
                    <c:v>Juin</c:v>
                  </c:pt>
                  <c:pt idx="19">
                    <c:v>Juil.</c:v>
                  </c:pt>
                  <c:pt idx="20">
                    <c:v>Août</c:v>
                  </c:pt>
                  <c:pt idx="21">
                    <c:v>Sept.*</c:v>
                  </c:pt>
                </c:lvl>
              </c:multiLvlStrCache>
            </c:multiLvlStrRef>
          </c:cat>
          <c:val>
            <c:numRef>
              <c:f>Sheet1!$B$2:$B$23</c:f>
              <c:numCache>
                <c:formatCode>General</c:formatCode>
                <c:ptCount val="22"/>
                <c:pt idx="0">
                  <c:v>279</c:v>
                </c:pt>
                <c:pt idx="1">
                  <c:v>306</c:v>
                </c:pt>
                <c:pt idx="2">
                  <c:v>228</c:v>
                </c:pt>
                <c:pt idx="3">
                  <c:v>144</c:v>
                </c:pt>
                <c:pt idx="4">
                  <c:v>134</c:v>
                </c:pt>
                <c:pt idx="5">
                  <c:v>102</c:v>
                </c:pt>
                <c:pt idx="6">
                  <c:v>80</c:v>
                </c:pt>
                <c:pt idx="7">
                  <c:v>83</c:v>
                </c:pt>
                <c:pt idx="8">
                  <c:v>78</c:v>
                </c:pt>
                <c:pt idx="9">
                  <c:v>64</c:v>
                </c:pt>
                <c:pt idx="10">
                  <c:v>64</c:v>
                </c:pt>
                <c:pt idx="11">
                  <c:v>65</c:v>
                </c:pt>
                <c:pt idx="12">
                  <c:v>75</c:v>
                </c:pt>
                <c:pt idx="13">
                  <c:v>89</c:v>
                </c:pt>
                <c:pt idx="14">
                  <c:v>81</c:v>
                </c:pt>
                <c:pt idx="15">
                  <c:v>65</c:v>
                </c:pt>
                <c:pt idx="16">
                  <c:v>70</c:v>
                </c:pt>
                <c:pt idx="17">
                  <c:v>68</c:v>
                </c:pt>
                <c:pt idx="18">
                  <c:v>70</c:v>
                </c:pt>
                <c:pt idx="19">
                  <c:v>84</c:v>
                </c:pt>
                <c:pt idx="20">
                  <c:v>80</c:v>
                </c:pt>
                <c:pt idx="21">
                  <c:v>68</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axId val="2094734554"/>
        <c:axId val="2094734552"/>
        <c:axId val="2094734556"/>
      </c:area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700" b="0" i="0" u="none" strike="noStrike">
                <a:solidFill>
                  <a:srgbClr val="5E6378"/>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3E5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5E6378"/>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F2233"/>
                </a:solidFill>
                <a:latin typeface="Calibri"/>
              </a:defRPr>
            </a:pPr>
            <a:r>
              <a:rPr sz="1100" b="0" i="0" u="none" strike="noStrike">
                <a:solidFill>
                  <a:srgbClr val="1F2233"/>
                </a:solidFill>
                <a:latin typeface="Calibri"/>
              </a:rPr>
              <a:t>% des avis Steam négatifs qui citent le matchmaking</a:t>
            </a:r>
          </a:p>
        </c:rich>
      </c:tx>
      <c:layout/>
      <c:overlay val="0"/>
    </c:title>
    <c:autoTitleDeleted val="0"/>
    <c:plotArea>
      <c:layout/>
      <c:barChart>
        <c:barDir val="col"/>
        <c:grouping val="clustered"/>
        <c:varyColors val="0"/>
        <c:ser>
          <c:idx val="0"/>
          <c:order val="0"/>
          <c:tx>
            <c:strRef>
              <c:f>Sheet1!$B$1</c:f>
              <c:strCache>
                <c:ptCount val="1"/>
                <c:pt idx="0">
                  <c:v>% des avis négatifs citant le matchmaking</c:v>
                </c:pt>
              </c:strCache>
            </c:strRef>
          </c:tx>
          <c:spPr>
            <a:solidFill>
              <a:srgbClr val="FFC72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Sheet1!$A$2:$A$23</c:f>
              <c:multiLvlStrCache>
                <c:ptCount val="22"/>
                <c:lvl>
                  <c:pt idx="0">
                    <c:v>Déc. 24</c:v>
                  </c:pt>
                  <c:pt idx="1">
                    <c:v>Janv.</c:v>
                  </c:pt>
                  <c:pt idx="2">
                    <c:v>Févr.</c:v>
                  </c:pt>
                  <c:pt idx="3">
                    <c:v>Mars</c:v>
                  </c:pt>
                  <c:pt idx="4">
                    <c:v>Avr.</c:v>
                  </c:pt>
                  <c:pt idx="5">
                    <c:v>Mai</c:v>
                  </c:pt>
                  <c:pt idx="6">
                    <c:v>Juin</c:v>
                  </c:pt>
                  <c:pt idx="7">
                    <c:v>Juil.</c:v>
                  </c:pt>
                  <c:pt idx="8">
                    <c:v>Août</c:v>
                  </c:pt>
                  <c:pt idx="9">
                    <c:v>Sept.</c:v>
                  </c:pt>
                  <c:pt idx="10">
                    <c:v>Oct.</c:v>
                  </c:pt>
                  <c:pt idx="11">
                    <c:v>Nov.</c:v>
                  </c:pt>
                  <c:pt idx="12">
                    <c:v>Déc.</c:v>
                  </c:pt>
                  <c:pt idx="13">
                    <c:v>Janv. 26</c:v>
                  </c:pt>
                  <c:pt idx="14">
                    <c:v>Févr.</c:v>
                  </c:pt>
                  <c:pt idx="15">
                    <c:v>Mars</c:v>
                  </c:pt>
                  <c:pt idx="16">
                    <c:v>Avr.</c:v>
                  </c:pt>
                  <c:pt idx="17">
                    <c:v>Mai</c:v>
                  </c:pt>
                  <c:pt idx="18">
                    <c:v>Juin</c:v>
                  </c:pt>
                  <c:pt idx="19">
                    <c:v>Juil.</c:v>
                  </c:pt>
                  <c:pt idx="20">
                    <c:v>Août</c:v>
                  </c:pt>
                  <c:pt idx="21">
                    <c:v>Sept.*</c:v>
                  </c:pt>
                </c:lvl>
              </c:multiLvlStrCache>
            </c:multiLvlStrRef>
          </c:cat>
          <c:val>
            <c:numRef>
              <c:f>Sheet1!$B$2:$B$23</c:f>
              <c:numCache>
                <c:formatCode>General</c:formatCode>
                <c:ptCount val="22"/>
                <c:pt idx="0">
                  <c:v>7.4</c:v>
                </c:pt>
                <c:pt idx="1">
                  <c:v>10.9</c:v>
                </c:pt>
                <c:pt idx="2">
                  <c:v>12.1</c:v>
                </c:pt>
                <c:pt idx="3">
                  <c:v>20.3</c:v>
                </c:pt>
                <c:pt idx="4">
                  <c:v>21.1</c:v>
                </c:pt>
                <c:pt idx="5">
                  <c:v>29.1</c:v>
                </c:pt>
                <c:pt idx="6">
                  <c:v>27.6</c:v>
                </c:pt>
                <c:pt idx="7">
                  <c:v>37</c:v>
                </c:pt>
                <c:pt idx="8">
                  <c:v>41</c:v>
                </c:pt>
                <c:pt idx="9">
                  <c:v>33.9</c:v>
                </c:pt>
                <c:pt idx="10">
                  <c:v>25.9</c:v>
                </c:pt>
                <c:pt idx="11">
                  <c:v>17.3</c:v>
                </c:pt>
                <c:pt idx="12">
                  <c:v>18.2</c:v>
                </c:pt>
                <c:pt idx="13">
                  <c:v>15.4</c:v>
                </c:pt>
                <c:pt idx="14">
                  <c:v>15.6</c:v>
                </c:pt>
                <c:pt idx="15">
                  <c:v>13.4</c:v>
                </c:pt>
                <c:pt idx="16">
                  <c:v>14.4</c:v>
                </c:pt>
                <c:pt idx="17">
                  <c:v>14.7</c:v>
                </c:pt>
                <c:pt idx="18">
                  <c:v>14.2</c:v>
                </c:pt>
                <c:pt idx="19">
                  <c:v>8.8</c:v>
                </c:pt>
                <c:pt idx="20">
                  <c:v>13.4</c:v>
                </c:pt>
                <c:pt idx="21">
                  <c:v>10.5</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3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700" b="0" i="0" u="none" strike="noStrike">
                <a:solidFill>
                  <a:srgbClr val="5E6378"/>
                </a:solidFill>
                <a:latin typeface="Arial"/>
              </a:defRPr>
            </a:pPr>
            <a:endParaRPr lang="en-US"/>
          </a:p>
        </c:txPr>
        <c:crossAx val="2094734552"/>
        <c:crosses val="autoZero"/>
        <c:auto val="1"/>
        <c:lblAlgn val="ctr"/>
        <c:noMultiLvlLbl val="1"/>
      </c:catAx>
      <c:valAx>
        <c:axId val="2094734552"/>
        <c:scaling>
          <c:orientation val="minMax"/>
          <c:max val="45"/>
        </c:scaling>
        <c:delete val="0"/>
        <c:axPos val="l"/>
        <c:majorGridlines>
          <c:spPr>
            <a:ln w="6350" cap="flat">
              <a:solidFill>
                <a:srgbClr val="E3E5EE"/>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5E6378"/>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s] 644 000 joueurs en janvier 2025, 98 000 dix mois plus tard. Votre comité m'a demandé pourquoi les joueurs ne restent pas.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s] Le problème business : Marvel Rivals perd ses joueurs et ne parvient plus à en regagner. Les preuves : moins 85 % de pic à pic. Chaque saison ramène des joueurs, repartis en deux mois. Et ceux qui partent accusent le matchmaking : de 7 à 41 % des avis négatifs, au point que NetEase a dû démentir un matchmaking truqué.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s] Pourquoi ? Notre hypothèse : nouveaux et revenants subissent des écarts de niveau non compensés, et partent. En partie rapide, faute de joueurs, le jeu accepte des écarts plus grands, NetEase l'a reconnu. En classé, un joueur qui revient retrouve un rang à peine abaissé, perd et repart. L'origine probable : au lancement, des vétérans d'Overwatch face à un grand public venu pour Marvel. Plausible, mais invérifiable : aucune décision n'en dépend.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D'abord mesurer. L'objectif : d'ici fin mars 2027, un joueur qui perd au début ne doit pas partir plus de 1,2 fois plus souvent que les autres, nouveau ou de retour. Sept données d'abord : la première mesure l'objectif, la deuxième dit où jouent les nouveaux, quatre testent les causes, dont deux pour les joueurs de retour, en classé et hors classé, car un revenant ne rejoue pas forcément en classé. La dernière exploite une expérience déjà faite en saison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s] Chaque donnée est notée sur l'impact, la confiance et la facilité ; le score est leur produit. Quinze dépassent 80, toutes déjà dans votre télémétrie. Le chat ou le téléphone tombent sous 30 : risque RGPD sans décision.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 s] On ne teste que si le ratio dépasse 1,2, et seulement les causes que l'audit confirme : une, deux ou les trois, chacune avec son levier. Démarrage à froid : niveau de départ plus prudent. Manque de joueurs : écart resserré aux heures creuses, arrêté si l'attente dépasse 3 minutes. Niveau périmé : recalibrage au retour, en classé comme en partie rapide. Toujours avec un groupe témoin.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s] Nous avons volontairement écarté les données personnelles qu'aucune décision n'exige, le benchmark Newzoo, trop biaisé, et les rôles imposés, contraires à l'identité du jeu.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Phase 1 : trente jours d'audit par un data analyst et un data engineer ; rien ne change pour les joueurs. Si un ratio dépasse 1,2, phase 2 : votre équipe matchmaking teste le réglage de chaque cause confirmée sur des joueurs tirés au sort. Un réglage n'est gardé que s'il réduit les départs sans dépasser 3 minutes d'attente. Phase 3 : les gagnants passent à tous, annoncés dans les notes de patch.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s] Seuls 19 000 euros sont engagés aujourd'hui. Si les tests sont lancés, 45 000 euros d'analyse et moins de 4 000 dollars d'outils. Nous n'achetons ni SDK, ni CDP, ni CRM : votre stack suffit.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 Chaque KPI dit comment il se calcule et ce qu'il déclenche. Le principal : la part des nouveaux qui perdent au début et ne reviennent pas sous 7 jours, comparée aux autres ; au-delà de 1,2, on teste. Même calcul pour les revenants. 3 minutes d'attente arrêtent le resserrement : au-delà, un hero shooter paraît mort. Base légale : contrat et intérêt légitime documenté. Pour démarrer : signer l'accord de sous-traitance et lancer l'audit. Merci.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Annexe, à montrer seulement si on vous demande une source.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Annexe pour les questions. Question imposée du jury, sans carte à l'écran : « Où avez-vous utilisé l'IA ? ». Réponse : 10 usages tracés en annexe du rapport (outil, prompt, réponse, analyse critique), plus à l'oral un élément critique que vous avez fait sans IA (par exemple le choix final de l'hypothèse ou la vérification des chiffres), si c'est le cas.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www.forbes.com/sites/paultassi/2025/10/12/marvel-rivals-has-lost-85-of-its-players-in-10-months/" TargetMode="External"/><Relationship Id="rId1" Type="http://schemas.openxmlformats.org/officeDocument/2006/relationships/image" Target="../media/image-1-1.jpg"/><Relationship Id="rId2" Type="http://schemas.openxmlformats.org/officeDocument/2006/relationships/image" Target="../media/image-1-2.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4" Type="http://schemas.openxmlformats.org/officeDocument/2006/relationships/hyperlink" Target="https://www.forbes.com/sites/paultassi/2025/10/12/marvel-rivals-has-lost-85-of-its-players-in-10-months/" TargetMode="External"/><Relationship Id="rId5" Type="http://schemas.openxmlformats.org/officeDocument/2006/relationships/hyperlink" Target="https://steamcharts.com/app/2767030" TargetMode="External"/><Relationship Id="rId6" Type="http://schemas.openxmlformats.org/officeDocument/2006/relationships/hyperlink" Target="https://store.steampowered.com/appreviews/2767030?json=1" TargetMode="External"/><Relationship Id="rId7" Type="http://schemas.openxmlformats.org/officeDocument/2006/relationships/hyperlink" Target="https://x.com/MarvelRivals/status/1955117077561593877" TargetMode="External"/><Relationship Id="rId2" Type="http://schemas.openxmlformats.org/officeDocument/2006/relationships/chart" Target="/ppt/charts/chart1.xml"/><Relationship Id="rId3" Type="http://schemas.openxmlformats.org/officeDocument/2006/relationships/chart" Target="/ppt/charts/chart2.xml"/><Relationship Id="rId1" Type="http://schemas.openxmlformats.org/officeDocument/2006/relationships/image" Target="../media/image-2-1.png"/><Relationship Id="rId8" Type="http://schemas.openxmlformats.org/officeDocument/2006/relationships/slideLayout" Target="../slideLayouts/slideLayout1.xml"/><Relationship Id="rId9"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4" Type="http://schemas.openxmlformats.org/officeDocument/2006/relationships/hyperlink" Target="https://x.com/MarvelRivals/status/1958627668536311945" TargetMode="External"/><Relationship Id="rId5" Type="http://schemas.openxmlformats.org/officeDocument/2006/relationships/hyperlink" Target="https://www.marvelrivals.com/devdiaries/20250210/40954_1210988.html" TargetMode="External"/><Relationship Id="rId6" Type="http://schemas.openxmlformats.org/officeDocument/2006/relationships/hyperlink" Target="https://timesaver.gg/blog/marvel-rivals-season-10-rank-reset" TargetMode="External"/><Relationship Id="rId7" Type="http://schemas.openxmlformats.org/officeDocument/2006/relationships/hyperlink" Target="https://steamcharts.com/app/2767030" TargetMode="External"/><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8" Type="http://schemas.openxmlformats.org/officeDocument/2006/relationships/slideLayout" Target="../slideLayouts/slideLayout1.xml"/><Relationship Id="rId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hyperlink" Target="https://docs.google.com/document/d/1nOhcAL2wfeAHOK6x6UZH-Hg5yh9Ofxxko7FY47r5Vzc/edit" TargetMode="External"/><Relationship Id="rId3" Type="http://schemas.openxmlformats.org/officeDocument/2006/relationships/hyperlink" Target="https://www.marvelrivals.com/20251114/41525_1270590.html" TargetMode="External"/><Relationship Id="rId1" Type="http://schemas.openxmlformats.org/officeDocument/2006/relationships/image" Target="../media/image-4-1.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hyperlink" Target="https://docs.google.com/document/d/1nOhcAL2wfeAHOK6x6UZH-Hg5yh9Ofxxko7FY47r5Vzc/edit" TargetMode="External"/><Relationship Id="rId1" Type="http://schemas.openxmlformats.org/officeDocument/2006/relationships/image" Target="../media/image-5-1.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5" Type="http://schemas.openxmlformats.org/officeDocument/2006/relationships/hyperlink" Target="https://x.com/MarvelRivals/status/1958627668536311945" TargetMode="External"/><Relationship Id="rId6" Type="http://schemas.openxmlformats.org/officeDocument/2006/relationships/hyperlink" Target="https://www.marvelrivals.com/devdiaries/20250210/40954_1210988.html" TargetMode="External"/><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7" Type="http://schemas.openxmlformats.org/officeDocument/2006/relationships/slideLayout" Target="../slideLayouts/slideLayout1.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7" Type="http://schemas.openxmlformats.org/officeDocument/2006/relationships/hyperlink" Target="https://eur-lex.europa.eu/eli/reg/2016/679/oj" TargetMode="External"/><Relationship Id="rId8" Type="http://schemas.openxmlformats.org/officeDocument/2006/relationships/hyperlink" Target="https://docs.google.com/document/d/1nOhcAL2wfeAHOK6x6UZH-Hg5yh9Ofxxko7FY47r5Vzc/edit" TargetMode="External"/><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9" Type="http://schemas.openxmlformats.org/officeDocument/2006/relationships/slideLayout" Target="../slideLayouts/slideLayout1.xml"/><Relationship Id="rId10"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2" Type="http://schemas.openxmlformats.org/officeDocument/2006/relationships/hyperlink" Target="https://docs.google.com/document/d/1nOhcAL2wfeAHOK6x6UZH-Hg5yh9Ofxxko7FY47r5Vzc/edit" TargetMode="External"/><Relationship Id="rId1" Type="http://schemas.openxmlformats.org/officeDocument/2006/relationships/image" Target="../media/image-8-1.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2" Type="http://schemas.openxmlformats.org/officeDocument/2006/relationships/hyperlink" Target="https://tjmetre.fr/barometre/data" TargetMode="External"/><Relationship Id="rId3" Type="http://schemas.openxmlformats.org/officeDocument/2006/relationships/hyperlink" Target="https://cloud.google.com/bigquery/pricing" TargetMode="External"/><Relationship Id="rId4" Type="http://schemas.openxmlformats.org/officeDocument/2006/relationships/hyperlink" Target="https://www.microsoft.com/en-us/power-platform/products/power-bi/pricing" TargetMode="External"/><Relationship Id="rId5" Type="http://schemas.openxmlformats.org/officeDocument/2006/relationships/hyperlink" Target="https://docs.google.com/document/d/1nOhcAL2wfeAHOK6x6UZH-Hg5yh9Ofxxko7FY47r5Vzc/edit" TargetMode="External"/><Relationship Id="rId1" Type="http://schemas.openxmlformats.org/officeDocument/2006/relationships/image" Target="../media/image-9-1.pn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2" Type="http://schemas.openxmlformats.org/officeDocument/2006/relationships/hyperlink" Target="https://eur-lex.europa.eu/eli/reg/2016/679/oj" TargetMode="External"/><Relationship Id="rId3" Type="http://schemas.openxmlformats.org/officeDocument/2006/relationships/hyperlink" Target="https://eur-lex.europa.eu/eli/reg/2024/1689/oj" TargetMode="External"/><Relationship Id="rId4" Type="http://schemas.openxmlformats.org/officeDocument/2006/relationships/hyperlink" Target="https://docs.google.com/document/d/1nOhcAL2wfeAHOK6x6UZH-Hg5yh9Ofxxko7FY47r5Vzc/edit" TargetMode="External"/><Relationship Id="rId1" Type="http://schemas.openxmlformats.org/officeDocument/2006/relationships/image" Target="../media/image-10-1.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2" Type="http://schemas.openxmlformats.org/officeDocument/2006/relationships/hyperlink" Target="https://www.forbes.com/sites/paultassi/2025/10/12/marvel-rivals-has-lost-85-of-its-players-in-10-months/" TargetMode="External"/><Relationship Id="rId3" Type="http://schemas.openxmlformats.org/officeDocument/2006/relationships/hyperlink" Target="https://steamcharts.com/app/2767030" TargetMode="External"/><Relationship Id="rId4" Type="http://schemas.openxmlformats.org/officeDocument/2006/relationships/hyperlink" Target="https://gameworldobserver.com/2025/02/20/marvel-rivals-40-million-players-netease-fy24-report" TargetMode="External"/><Relationship Id="rId5" Type="http://schemas.openxmlformats.org/officeDocument/2006/relationships/hyperlink" Target="https://store.steampowered.com/appreviews/2767030?json=1" TargetMode="External"/><Relationship Id="rId6" Type="http://schemas.openxmlformats.org/officeDocument/2006/relationships/hyperlink" Target="https://x.com/MarvelRivals/status/1955117077561593877" TargetMode="External"/><Relationship Id="rId7" Type="http://schemas.openxmlformats.org/officeDocument/2006/relationships/hyperlink" Target="https://x.com/MarvelRivals/status/1958627668536311945" TargetMode="External"/><Relationship Id="rId8" Type="http://schemas.openxmlformats.org/officeDocument/2006/relationships/hyperlink" Target="https://www.marvelrivals.com/20251114/41525_1270590.html" TargetMode="External"/><Relationship Id="rId9" Type="http://schemas.openxmlformats.org/officeDocument/2006/relationships/hyperlink" Target="https://www.pcgamesn.com/marvel-rivals/ranks-competitive" TargetMode="External"/><Relationship Id="rId10" Type="http://schemas.openxmlformats.org/officeDocument/2006/relationships/hyperlink" Target="https://www.marvelrivals.com/devdiaries/20250210/40954_1210988.html" TargetMode="External"/><Relationship Id="rId11" Type="http://schemas.openxmlformats.org/officeDocument/2006/relationships/hyperlink" Target="https://timesaver.gg/blog/marvel-rivals-season-10-rank-reset" TargetMode="External"/><Relationship Id="rId12" Type="http://schemas.openxmlformats.org/officeDocument/2006/relationships/hyperlink" Target="https://insider-gaming.com/almost-half-of-players-who-quit-overwatch-jumped-to-marvel-rivals/" TargetMode="External"/><Relationship Id="rId13" Type="http://schemas.openxmlformats.org/officeDocument/2006/relationships/hyperlink" Target="https://www.videogameschronicle.com/news/overwatch-2s-average-pc-player-count-has-dropped-39-since-marvel-rivals-was-released/" TargetMode="External"/><Relationship Id="rId14" Type="http://schemas.openxmlformats.org/officeDocument/2006/relationships/hyperlink" Target="https://www.thegamer.com/marvel-rivals-no-longer-casual-friendly-black-panther-matchmaking/" TargetMode="External"/><Relationship Id="rId15" Type="http://schemas.openxmlformats.org/officeDocument/2006/relationships/hyperlink" Target="https://cloud.google.com/bigquery/pricing" TargetMode="External"/><Relationship Id="rId16" Type="http://schemas.openxmlformats.org/officeDocument/2006/relationships/hyperlink" Target="https://www.microsoft.com/en-us/power-platform/products/power-bi/pricing" TargetMode="External"/><Relationship Id="rId17" Type="http://schemas.openxmlformats.org/officeDocument/2006/relationships/hyperlink" Target="https://tjmetre.fr/barometre/data" TargetMode="External"/><Relationship Id="rId18" Type="http://schemas.openxmlformats.org/officeDocument/2006/relationships/hyperlink" Target="https://eur-lex.europa.eu/eli/reg/2016/679/oj" TargetMode="External"/><Relationship Id="rId19" Type="http://schemas.openxmlformats.org/officeDocument/2006/relationships/hyperlink" Target="https://eur-lex.europa.eu/eli/reg/2024/1689/oj" TargetMode="External"/><Relationship Id="rId20" Type="http://schemas.openxmlformats.org/officeDocument/2006/relationships/hyperlink" Target="https://docs.google.com/document/d/1nOhcAL2wfeAHOK6x6UZH-Hg5yh9Ofxxko7FY47r5Vzc/edit" TargetMode="External"/><Relationship Id="rId1" Type="http://schemas.openxmlformats.org/officeDocument/2006/relationships/image" Target="../media/image-11-1.png"/><Relationship Id="rId21" Type="http://schemas.openxmlformats.org/officeDocument/2006/relationships/slideLayout" Target="../slideLayouts/slideLayout1.xml"/><Relationship Id="rId2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020"/>
        </a:solidFill>
      </p:bgPr>
    </p:bg>
    <p:spTree>
      <p:nvGrpSpPr>
        <p:cNvPr id="1" name=""/>
        <p:cNvGrpSpPr/>
        <p:nvPr/>
      </p:nvGrpSpPr>
      <p:grpSpPr>
        <a:xfrm>
          <a:off x="0" y="0"/>
          <a:ext cx="0" cy="0"/>
          <a:chOff x="0" y="0"/>
          <a:chExt cx="0" cy="0"/>
        </a:xfrm>
      </p:grpSpPr>
      <p:pic>
        <p:nvPicPr>
          <p:cNvPr id="2" name="Image 0" descr="/tmp/claude-0/-home-user-SOCIO/dd1a12ff-0491-58c5-8c13-7e8ef7d55990/scratchpad/brand/cover.jpg">    </p:cNvPr>
          <p:cNvPicPr>
            <a:picLocks noChangeAspect="1"/>
          </p:cNvPicPr>
          <p:nvPr/>
        </p:nvPicPr>
        <p:blipFill>
          <a:blip r:embed="rId1"/>
          <a:stretch>
            <a:fillRect/>
          </a:stretch>
        </p:blipFill>
        <p:spPr>
          <a:xfrm>
            <a:off x="0" y="0"/>
            <a:ext cx="9144000" cy="5143500"/>
          </a:xfrm>
          <a:prstGeom prst="rect">
            <a:avLst/>
          </a:prstGeom>
        </p:spPr>
      </p:pic>
      <p:sp>
        <p:nvSpPr>
          <p:cNvPr id="3" name="Shape 0"/>
          <p:cNvSpPr/>
          <p:nvPr/>
        </p:nvSpPr>
        <p:spPr>
          <a:xfrm>
            <a:off x="0" y="0"/>
            <a:ext cx="9144000" cy="5143500"/>
          </a:xfrm>
          <a:prstGeom prst="rect">
            <a:avLst/>
          </a:prstGeom>
          <a:solidFill>
            <a:srgbClr val="0D1020">
              <a:alpha val="50000"/>
            </a:srgbClr>
          </a:solidFill>
          <a:ln w="12700">
            <a:solidFill>
              <a:srgbClr val="0D1020">
                <a:alpha val="0"/>
              </a:srgbClr>
            </a:solidFill>
            <a:prstDash val="solid"/>
          </a:ln>
        </p:spPr>
      </p:sp>
      <p:sp>
        <p:nvSpPr>
          <p:cNvPr id="4" name="Shape 1"/>
          <p:cNvSpPr/>
          <p:nvPr/>
        </p:nvSpPr>
        <p:spPr>
          <a:xfrm>
            <a:off x="0" y="0"/>
            <a:ext cx="6400800" cy="5143500"/>
          </a:xfrm>
          <a:prstGeom prst="rect">
            <a:avLst/>
          </a:prstGeom>
          <a:solidFill>
            <a:srgbClr val="0D1020">
              <a:alpha val="75000"/>
            </a:srgbClr>
          </a:solidFill>
          <a:ln w="12700">
            <a:solidFill>
              <a:srgbClr val="0D1020">
                <a:alpha val="0"/>
              </a:srgbClr>
            </a:solidFill>
            <a:prstDash val="solid"/>
          </a:ln>
        </p:spPr>
      </p:sp>
      <p:pic>
        <p:nvPicPr>
          <p:cNvPr id="5" name="Image 1" descr="/tmp/claude-0/-home-user-SOCIO/dd1a12ff-0491-58c5-8c13-7e8ef7d55990/scratchpad/brand/logo.png">    </p:cNvPr>
          <p:cNvPicPr>
            <a:picLocks noChangeAspect="1"/>
          </p:cNvPicPr>
          <p:nvPr/>
        </p:nvPicPr>
        <p:blipFill>
          <a:blip r:embed="rId2"/>
          <a:stretch>
            <a:fillRect/>
          </a:stretch>
        </p:blipFill>
        <p:spPr>
          <a:xfrm>
            <a:off x="457200" y="320040"/>
            <a:ext cx="1920240" cy="804672"/>
          </a:xfrm>
          <a:prstGeom prst="rect">
            <a:avLst/>
          </a:prstGeom>
        </p:spPr>
      </p:pic>
      <p:sp>
        <p:nvSpPr>
          <p:cNvPr id="6" name="Shape 2"/>
          <p:cNvSpPr/>
          <p:nvPr/>
        </p:nvSpPr>
        <p:spPr>
          <a:xfrm>
            <a:off x="320040" y="1371600"/>
            <a:ext cx="5120640" cy="868680"/>
          </a:xfrm>
          <a:prstGeom prst="parallelogram">
            <a:avLst/>
          </a:prstGeom>
          <a:solidFill>
            <a:srgbClr val="E62429"/>
          </a:solidFill>
          <a:ln w="12700">
            <a:solidFill>
              <a:srgbClr val="E62429"/>
            </a:solidFill>
            <a:prstDash val="solid"/>
          </a:ln>
        </p:spPr>
      </p:sp>
      <p:sp>
        <p:nvSpPr>
          <p:cNvPr id="7" name="Text 3"/>
          <p:cNvSpPr txBox="1"/>
          <p:nvPr/>
        </p:nvSpPr>
        <p:spPr>
          <a:xfrm>
            <a:off x="502920" y="1371600"/>
            <a:ext cx="4846320" cy="868680"/>
          </a:xfrm>
          <a:prstGeom prst="rect">
            <a:avLst/>
          </a:prstGeom>
          <a:noFill/>
          <a:ln/>
        </p:spPr>
        <p:txBody>
          <a:bodyPr wrap="square" lIns="0" tIns="0" rIns="0" bIns="0" rtlCol="0" anchor="ctr"/>
          <a:lstStyle/>
          <a:p>
            <a:pPr indent="0" marL="0">
              <a:buNone/>
            </a:pPr>
            <a:r>
              <a:rPr lang="en-US" sz="3800" b="1" dirty="0">
                <a:solidFill>
                  <a:srgbClr val="FFFFFF"/>
                </a:solidFill>
                <a:latin typeface="Arial Black" pitchFamily="34" charset="0"/>
                <a:ea typeface="Arial Black" pitchFamily="34" charset="-122"/>
                <a:cs typeface="Arial Black" pitchFamily="34" charset="-120"/>
              </a:rPr>
              <a:t>644 000 → 98 000</a:t>
            </a:r>
            <a:endParaRPr lang="en-US" sz="3800" dirty="0"/>
          </a:p>
        </p:txBody>
      </p:sp>
      <p:sp>
        <p:nvSpPr>
          <p:cNvPr id="8" name="Text 4"/>
          <p:cNvSpPr txBox="1"/>
          <p:nvPr/>
        </p:nvSpPr>
        <p:spPr>
          <a:xfrm>
            <a:off x="502920" y="2286000"/>
            <a:ext cx="5120640" cy="320040"/>
          </a:xfrm>
          <a:prstGeom prst="rect">
            <a:avLst/>
          </a:prstGeom>
          <a:noFill/>
          <a:ln/>
        </p:spPr>
        <p:txBody>
          <a:bodyPr wrap="square" lIns="0" tIns="0" rIns="0" bIns="0" rtlCol="0" anchor="ctr"/>
          <a:lstStyle/>
          <a:p>
            <a:pPr indent="0" marL="0">
              <a:buNone/>
            </a:pPr>
            <a:r>
              <a:rPr lang="en-US" sz="1600" dirty="0">
                <a:solidFill>
                  <a:srgbClr val="FFC72C"/>
                </a:solidFill>
                <a:latin typeface="Calibri" pitchFamily="34" charset="0"/>
                <a:ea typeface="Calibri" pitchFamily="34" charset="-122"/>
                <a:cs typeface="Calibri" pitchFamily="34" charset="-120"/>
              </a:rPr>
              <a:t>joueurs simultanés sur Steam, en dix mois</a:t>
            </a:r>
            <a:endParaRPr lang="en-US" sz="1600" dirty="0"/>
          </a:p>
        </p:txBody>
      </p:sp>
      <p:sp>
        <p:nvSpPr>
          <p:cNvPr id="9" name="Text 5"/>
          <p:cNvSpPr txBox="1"/>
          <p:nvPr/>
        </p:nvSpPr>
        <p:spPr>
          <a:xfrm>
            <a:off x="502920" y="2788920"/>
            <a:ext cx="6035040" cy="50292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Pourquoi les joueurs ne restent pas</a:t>
            </a:r>
            <a:endParaRPr lang="en-US" sz="2400" dirty="0"/>
          </a:p>
        </p:txBody>
      </p:sp>
      <p:sp>
        <p:nvSpPr>
          <p:cNvPr id="10" name="Text 6"/>
          <p:cNvSpPr txBox="1"/>
          <p:nvPr/>
        </p:nvSpPr>
        <p:spPr>
          <a:xfrm>
            <a:off x="502920" y="3310128"/>
            <a:ext cx="6035040" cy="320040"/>
          </a:xfrm>
          <a:prstGeom prst="rect">
            <a:avLst/>
          </a:prstGeom>
          <a:noFill/>
          <a:ln/>
        </p:spPr>
        <p:txBody>
          <a:bodyPr wrap="square" lIns="0" tIns="0" rIns="0" bIns="0" rtlCol="0" anchor="ctr"/>
          <a:lstStyle/>
          <a:p>
            <a:pPr indent="0" marL="0">
              <a:buNone/>
            </a:pPr>
            <a:r>
              <a:rPr lang="en-US" sz="1300" dirty="0">
                <a:solidFill>
                  <a:srgbClr val="C9CCDA"/>
                </a:solidFill>
                <a:latin typeface="Calibri" pitchFamily="34" charset="0"/>
                <a:ea typeface="Calibri" pitchFamily="34" charset="-122"/>
                <a:cs typeface="Calibri" pitchFamily="34" charset="-120"/>
              </a:rPr>
              <a:t>Plan de collecte data pour le comité de direction de NetEase Games</a:t>
            </a:r>
            <a:endParaRPr lang="en-US" sz="1300" dirty="0"/>
          </a:p>
        </p:txBody>
      </p:sp>
      <p:sp>
        <p:nvSpPr>
          <p:cNvPr id="11" name="Shape 7"/>
          <p:cNvSpPr/>
          <p:nvPr/>
        </p:nvSpPr>
        <p:spPr>
          <a:xfrm>
            <a:off x="320040" y="4224528"/>
            <a:ext cx="2011680" cy="64008"/>
          </a:xfrm>
          <a:prstGeom prst="parallelogram">
            <a:avLst/>
          </a:prstGeom>
          <a:solidFill>
            <a:srgbClr val="FFC72C"/>
          </a:solidFill>
          <a:ln w="12700">
            <a:solidFill>
              <a:srgbClr val="FFC72C"/>
            </a:solidFill>
            <a:prstDash val="solid"/>
          </a:ln>
        </p:spPr>
      </p:sp>
      <p:sp>
        <p:nvSpPr>
          <p:cNvPr id="12" name="Text 8"/>
          <p:cNvSpPr txBox="1"/>
          <p:nvPr/>
        </p:nvSpPr>
        <p:spPr>
          <a:xfrm>
            <a:off x="502920" y="4343400"/>
            <a:ext cx="4572000" cy="274320"/>
          </a:xfrm>
          <a:prstGeom prst="rect">
            <a:avLst/>
          </a:prstGeom>
          <a:noFill/>
          <a:ln/>
        </p:spPr>
        <p:txBody>
          <a:bodyPr wrap="square" lIns="0" tIns="0" rIns="0" bIns="0" rtlCol="0" anchor="ctr"/>
          <a:lstStyle/>
          <a:p>
            <a:pPr indent="0" marL="0">
              <a:buNone/>
            </a:pPr>
            <a:r>
              <a:rPr lang="en-US" sz="1200" dirty="0">
                <a:solidFill>
                  <a:srgbClr val="FFFFFF"/>
                </a:solidFill>
                <a:latin typeface="Calibri" pitchFamily="34" charset="0"/>
                <a:ea typeface="Calibri" pitchFamily="34" charset="-122"/>
                <a:cs typeface="Calibri" pitchFamily="34" charset="-120"/>
              </a:rPr>
              <a:t>Noé, consultant · 2 octobre 2026</a:t>
            </a:r>
            <a:endParaRPr lang="en-US" sz="1200" dirty="0"/>
          </a:p>
        </p:txBody>
      </p:sp>
      <p:sp>
        <p:nvSpPr>
          <p:cNvPr id="13" name="Text 9"/>
          <p:cNvSpPr txBox="1"/>
          <p:nvPr/>
        </p:nvSpPr>
        <p:spPr>
          <a:xfrm>
            <a:off x="4572000" y="4754880"/>
            <a:ext cx="4389120" cy="256032"/>
          </a:xfrm>
          <a:prstGeom prst="rect">
            <a:avLst/>
          </a:prstGeom>
          <a:noFill/>
          <a:ln/>
        </p:spPr>
        <p:txBody>
          <a:bodyPr wrap="square" lIns="0" tIns="0" rIns="0" bIns="0" rtlCol="0" anchor="ctr"/>
          <a:lstStyle/>
          <a:p>
            <a:pPr algn="r" indent="0" marL="0">
              <a:buNone/>
            </a:pPr>
            <a:r>
              <a:rPr lang="en-US" sz="900" u="sng" dirty="0">
                <a:solidFill>
                  <a:srgbClr val="FFC72C"/>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Forbes, 12/10/2025</a:t>
            </a:r>
            <a:pPr algn="r" indent="0" marL="0">
              <a:buNone/>
            </a:pPr>
            <a:r>
              <a:rPr lang="en-US" sz="900" dirty="0">
                <a:solidFill>
                  <a:srgbClr val="C9CCDA"/>
                </a:solidFill>
                <a:latin typeface="Calibri" pitchFamily="34" charset="0"/>
                <a:ea typeface="Calibri" pitchFamily="34" charset="-122"/>
                <a:cs typeface="Calibri" pitchFamily="34" charset="-120"/>
              </a:rPr>
              <a:t> · visuel et logo : marvelrivals.com</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1024128"/>
          </a:xfrm>
          <a:prstGeom prst="rect">
            <a:avLst/>
          </a:prstGeom>
          <a:solidFill>
            <a:srgbClr val="0D1020"/>
          </a:solidFill>
          <a:ln w="12700">
            <a:solidFill>
              <a:srgbClr val="0D1020"/>
            </a:solidFill>
            <a:prstDash val="solid"/>
          </a:ln>
        </p:spPr>
      </p:sp>
      <p:sp>
        <p:nvSpPr>
          <p:cNvPr id="3" name="Shape 1"/>
          <p:cNvSpPr/>
          <p:nvPr/>
        </p:nvSpPr>
        <p:spPr>
          <a:xfrm>
            <a:off x="-137160" y="1024128"/>
            <a:ext cx="3840480" cy="64008"/>
          </a:xfrm>
          <a:prstGeom prst="parallelogram">
            <a:avLst/>
          </a:prstGeom>
          <a:solidFill>
            <a:srgbClr val="E62429"/>
          </a:solidFill>
          <a:ln w="12700">
            <a:solidFill>
              <a:srgbClr val="E62429"/>
            </a:solidFill>
            <a:prstDash val="solid"/>
          </a:ln>
        </p:spPr>
      </p:sp>
      <p:sp>
        <p:nvSpPr>
          <p:cNvPr id="4" name="Shape 2"/>
          <p:cNvSpPr/>
          <p:nvPr/>
        </p:nvSpPr>
        <p:spPr>
          <a:xfrm>
            <a:off x="3611880" y="1024128"/>
            <a:ext cx="1463040" cy="64008"/>
          </a:xfrm>
          <a:prstGeom prst="parallelogram">
            <a:avLst/>
          </a:prstGeom>
          <a:solidFill>
            <a:srgbClr val="FFC72C"/>
          </a:solidFill>
          <a:ln w="12700">
            <a:solidFill>
              <a:srgbClr val="FFC72C"/>
            </a:solidFill>
            <a:prstDash val="solid"/>
          </a:ln>
        </p:spPr>
      </p:sp>
      <p:sp>
        <p:nvSpPr>
          <p:cNvPr id="5" name="Shape 3"/>
          <p:cNvSpPr/>
          <p:nvPr/>
        </p:nvSpPr>
        <p:spPr>
          <a:xfrm>
            <a:off x="292608" y="329184"/>
            <a:ext cx="146304" cy="420624"/>
          </a:xfrm>
          <a:prstGeom prst="parallelogram">
            <a:avLst/>
          </a:prstGeom>
          <a:solidFill>
            <a:srgbClr val="E62429"/>
          </a:solidFill>
          <a:ln w="12700">
            <a:solidFill>
              <a:srgbClr val="E62429"/>
            </a:solidFill>
            <a:prstDash val="solid"/>
          </a:ln>
        </p:spPr>
      </p:sp>
      <p:sp>
        <p:nvSpPr>
          <p:cNvPr id="6" name="Shape 4"/>
          <p:cNvSpPr/>
          <p:nvPr/>
        </p:nvSpPr>
        <p:spPr>
          <a:xfrm>
            <a:off x="502920" y="109728"/>
            <a:ext cx="822960" cy="201168"/>
          </a:xfrm>
          <a:prstGeom prst="parallelogram">
            <a:avLst/>
          </a:prstGeom>
          <a:solidFill>
            <a:srgbClr val="FFC72C"/>
          </a:solidFill>
          <a:ln w="12700">
            <a:solidFill>
              <a:srgbClr val="FFC72C"/>
            </a:solidFill>
            <a:prstDash val="solid"/>
          </a:ln>
        </p:spPr>
      </p:sp>
      <p:sp>
        <p:nvSpPr>
          <p:cNvPr id="7" name="Text 5"/>
          <p:cNvSpPr txBox="1"/>
          <p:nvPr/>
        </p:nvSpPr>
        <p:spPr>
          <a:xfrm>
            <a:off x="502920" y="109728"/>
            <a:ext cx="822960" cy="201168"/>
          </a:xfrm>
          <a:prstGeom prst="rect">
            <a:avLst/>
          </a:prstGeom>
          <a:noFill/>
          <a:ln/>
        </p:spPr>
        <p:txBody>
          <a:bodyPr wrap="square" lIns="0" tIns="0" rIns="0" bIns="0" rtlCol="0" anchor="ctr"/>
          <a:lstStyle/>
          <a:p>
            <a:pPr algn="ctr" indent="0" marL="0">
              <a:buNone/>
            </a:pPr>
            <a:r>
              <a:rPr lang="en-US" sz="800" b="1" spc="100" kern="0" dirty="0">
                <a:solidFill>
                  <a:srgbClr val="0D1020"/>
                </a:solidFill>
                <a:latin typeface="Arial" pitchFamily="34" charset="0"/>
                <a:ea typeface="Arial" pitchFamily="34" charset="-122"/>
                <a:cs typeface="Arial" pitchFamily="34" charset="-120"/>
              </a:rPr>
              <a:t>CONTEXTE</a:t>
            </a:r>
            <a:endParaRPr lang="en-US" sz="800" dirty="0"/>
          </a:p>
        </p:txBody>
      </p:sp>
      <p:sp>
        <p:nvSpPr>
          <p:cNvPr id="8" name="Text 6"/>
          <p:cNvSpPr txBox="1"/>
          <p:nvPr/>
        </p:nvSpPr>
        <p:spPr>
          <a:xfrm>
            <a:off x="548640" y="310896"/>
            <a:ext cx="722376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Le problème business</a:t>
            </a:r>
            <a:endParaRPr lang="en-US" sz="2200" dirty="0"/>
          </a:p>
        </p:txBody>
      </p:sp>
      <p:sp>
        <p:nvSpPr>
          <p:cNvPr id="9" name="Text 7"/>
          <p:cNvSpPr txBox="1"/>
          <p:nvPr/>
        </p:nvSpPr>
        <p:spPr>
          <a:xfrm>
            <a:off x="548640" y="749808"/>
            <a:ext cx="7315200" cy="237744"/>
          </a:xfrm>
          <a:prstGeom prst="rect">
            <a:avLst/>
          </a:prstGeom>
          <a:noFill/>
          <a:ln/>
        </p:spPr>
        <p:txBody>
          <a:bodyPr wrap="square" lIns="0" tIns="0" rIns="0" bIns="0" rtlCol="0" anchor="ctr"/>
          <a:lstStyle/>
          <a:p>
            <a:pPr indent="0" marL="0">
              <a:buNone/>
            </a:pPr>
            <a:r>
              <a:rPr lang="en-US" sz="1100" dirty="0">
                <a:solidFill>
                  <a:srgbClr val="FFC72C"/>
                </a:solidFill>
                <a:latin typeface="Calibri" pitchFamily="34" charset="0"/>
                <a:ea typeface="Calibri" pitchFamily="34" charset="-122"/>
                <a:cs typeface="Calibri" pitchFamily="34" charset="-120"/>
              </a:rPr>
              <a:t>le B du BODAK, prouvé par les données (Steam = PC uniquement)</a:t>
            </a:r>
            <a:endParaRPr lang="en-US" sz="1100" dirty="0"/>
          </a:p>
        </p:txBody>
      </p:sp>
      <p:pic>
        <p:nvPicPr>
          <p:cNvPr id="10" name="Image 0" descr="/tmp/claude-0/-home-user-SOCIO/dd1a12ff-0491-58c5-8c13-7e8ef7d55990/scratchpad/brand/logo.png">    </p:cNvPr>
          <p:cNvPicPr>
            <a:picLocks noChangeAspect="1"/>
          </p:cNvPicPr>
          <p:nvPr/>
        </p:nvPicPr>
        <p:blipFill>
          <a:blip r:embed="rId1"/>
          <a:stretch>
            <a:fillRect/>
          </a:stretch>
        </p:blipFill>
        <p:spPr>
          <a:xfrm>
            <a:off x="7973568" y="201168"/>
            <a:ext cx="960120" cy="402336"/>
          </a:xfrm>
          <a:prstGeom prst="rect">
            <a:avLst/>
          </a:prstGeom>
        </p:spPr>
      </p:pic>
      <p:sp>
        <p:nvSpPr>
          <p:cNvPr id="11" name="Shape 8"/>
          <p:cNvSpPr/>
          <p:nvPr/>
        </p:nvSpPr>
        <p:spPr>
          <a:xfrm>
            <a:off x="365760" y="1161288"/>
            <a:ext cx="8412480" cy="548640"/>
          </a:xfrm>
          <a:prstGeom prst="parallelogram">
            <a:avLst/>
          </a:prstGeom>
          <a:solidFill>
            <a:srgbClr val="E62429"/>
          </a:solidFill>
          <a:ln w="12700">
            <a:solidFill>
              <a:srgbClr val="E62429"/>
            </a:solidFill>
            <a:prstDash val="solid"/>
          </a:ln>
        </p:spPr>
      </p:sp>
      <p:sp>
        <p:nvSpPr>
          <p:cNvPr id="12" name="Text 9"/>
          <p:cNvSpPr txBox="1"/>
          <p:nvPr/>
        </p:nvSpPr>
        <p:spPr>
          <a:xfrm>
            <a:off x="685800" y="1170432"/>
            <a:ext cx="7772400" cy="530352"/>
          </a:xfrm>
          <a:prstGeom prst="rect">
            <a:avLst/>
          </a:prstGeom>
          <a:noFill/>
          <a:ln/>
        </p:spPr>
        <p:txBody>
          <a:bodyPr wrap="square" lIns="0" tIns="0" rIns="0" bIns="0" rtlCol="0" anchor="ctr"/>
          <a:lstStyle/>
          <a:p>
            <a:pPr indent="0" marL="0">
              <a:buNone/>
            </a:pPr>
            <a:r>
              <a:rPr lang="en-US" sz="1300" b="1" dirty="0">
                <a:solidFill>
                  <a:srgbClr val="FFC72C"/>
                </a:solidFill>
                <a:latin typeface="Calibri" pitchFamily="34" charset="0"/>
                <a:ea typeface="Calibri" pitchFamily="34" charset="-122"/>
                <a:cs typeface="Calibri" pitchFamily="34" charset="-120"/>
              </a:rPr>
              <a:t>B : </a:t>
            </a:r>
            <a:pPr indent="0" marL="0">
              <a:buNone/>
            </a:pPr>
            <a:r>
              <a:rPr lang="en-US" sz="1300" b="1" dirty="0">
                <a:solidFill>
                  <a:srgbClr val="FFFFFF"/>
                </a:solidFill>
                <a:latin typeface="Calibri" pitchFamily="34" charset="0"/>
                <a:ea typeface="Calibri" pitchFamily="34" charset="-122"/>
                <a:cs typeface="Calibri" pitchFamily="34" charset="-120"/>
              </a:rPr>
              <a:t>Marvel Rivals perd ses joueurs et ne parvient plus à en regagner ; ceux qui partent accusent d'abord le matchmaking.</a:t>
            </a:r>
            <a:endParaRPr lang="en-US" sz="1300" dirty="0"/>
          </a:p>
        </p:txBody>
      </p:sp>
      <p:graphicFrame>
        <p:nvGraphicFramePr>
          <p:cNvPr id="13" name="Chart 0" descr=""/>
          <p:cNvGraphicFramePr/>
          <p:nvPr/>
        </p:nvGraphicFramePr>
        <p:xfrm>
          <a:off x="320040" y="1783080"/>
          <a:ext cx="4251960" cy="1965960"/>
        </p:xfrm>
        <a:graphic xmlns:a="http://schemas.openxmlformats.org/drawingml/2006/main">
          <a:graphicData uri="http://schemas.openxmlformats.org/drawingml/2006/chart">
            <c:chart xmlns:c="http://schemas.openxmlformats.org/drawingml/2006/chart" r:id="rId2"/>
          </a:graphicData>
        </a:graphic>
      </p:graphicFrame>
      <p:graphicFrame>
        <p:nvGraphicFramePr>
          <p:cNvPr id="14" name="Chart 1" descr=""/>
          <p:cNvGraphicFramePr/>
          <p:nvPr/>
        </p:nvGraphicFramePr>
        <p:xfrm>
          <a:off x="4572000" y="1783080"/>
          <a:ext cx="4251960" cy="1965960"/>
        </p:xfrm>
        <a:graphic xmlns:a="http://schemas.openxmlformats.org/drawingml/2006/main">
          <a:graphicData uri="http://schemas.openxmlformats.org/drawingml/2006/chart">
            <c:chart xmlns:c="http://schemas.openxmlformats.org/drawingml/2006/chart" r:id="rId3"/>
          </a:graphicData>
        </a:graphic>
      </p:graphicFrame>
      <p:sp>
        <p:nvSpPr>
          <p:cNvPr id="15" name="Text 10"/>
          <p:cNvSpPr txBox="1"/>
          <p:nvPr/>
        </p:nvSpPr>
        <p:spPr>
          <a:xfrm>
            <a:off x="457200" y="3794760"/>
            <a:ext cx="2651760" cy="384048"/>
          </a:xfrm>
          <a:prstGeom prst="rect">
            <a:avLst/>
          </a:prstGeom>
          <a:noFill/>
          <a:ln/>
        </p:spPr>
        <p:txBody>
          <a:bodyPr wrap="square" lIns="0" tIns="0" rIns="0" bIns="0" rtlCol="0" anchor="ctr"/>
          <a:lstStyle/>
          <a:p>
            <a:pPr indent="0" marL="0">
              <a:buNone/>
            </a:pPr>
            <a:r>
              <a:rPr lang="en-US" sz="2000" b="1" dirty="0">
                <a:solidFill>
                  <a:srgbClr val="E62429"/>
                </a:solidFill>
                <a:latin typeface="Arial" pitchFamily="34" charset="0"/>
                <a:ea typeface="Arial" pitchFamily="34" charset="-122"/>
                <a:cs typeface="Arial" pitchFamily="34" charset="-120"/>
              </a:rPr>
              <a:t>−85 %</a:t>
            </a:r>
            <a:endParaRPr lang="en-US" sz="2000" dirty="0"/>
          </a:p>
        </p:txBody>
      </p:sp>
      <p:sp>
        <p:nvSpPr>
          <p:cNvPr id="16" name="Text 11"/>
          <p:cNvSpPr txBox="1"/>
          <p:nvPr/>
        </p:nvSpPr>
        <p:spPr>
          <a:xfrm>
            <a:off x="457200" y="4178808"/>
            <a:ext cx="2651760" cy="548640"/>
          </a:xfrm>
          <a:prstGeom prst="rect">
            <a:avLst/>
          </a:prstGeom>
          <a:noFill/>
          <a:ln/>
        </p:spPr>
        <p:txBody>
          <a:bodyPr wrap="square" lIns="0" tIns="0" rIns="0" bIns="0" rtlCol="0" anchor="t"/>
          <a:lstStyle/>
          <a:p>
            <a:pPr indent="0" marL="0">
              <a:buNone/>
            </a:pPr>
            <a:r>
              <a:rPr lang="en-US" sz="950" dirty="0">
                <a:solidFill>
                  <a:srgbClr val="1F2233"/>
                </a:solidFill>
                <a:latin typeface="Calibri" pitchFamily="34" charset="0"/>
                <a:ea typeface="Calibri" pitchFamily="34" charset="-122"/>
                <a:cs typeface="Calibri" pitchFamily="34" charset="-120"/>
              </a:rPr>
              <a:t>de pic à pic (644 K → 98 K) ; −76 % en moyenne depuis la sortie</a:t>
            </a:r>
            <a:endParaRPr lang="en-US" sz="950" dirty="0"/>
          </a:p>
        </p:txBody>
      </p:sp>
      <p:sp>
        <p:nvSpPr>
          <p:cNvPr id="17" name="Text 12"/>
          <p:cNvSpPr txBox="1"/>
          <p:nvPr/>
        </p:nvSpPr>
        <p:spPr>
          <a:xfrm>
            <a:off x="3246120" y="3794760"/>
            <a:ext cx="2651760" cy="384048"/>
          </a:xfrm>
          <a:prstGeom prst="rect">
            <a:avLst/>
          </a:prstGeom>
          <a:noFill/>
          <a:ln/>
        </p:spPr>
        <p:txBody>
          <a:bodyPr wrap="square" lIns="0" tIns="0" rIns="0" bIns="0" rtlCol="0" anchor="ctr"/>
          <a:lstStyle/>
          <a:p>
            <a:pPr indent="0" marL="0">
              <a:buNone/>
            </a:pPr>
            <a:r>
              <a:rPr lang="en-US" sz="2000" b="1" dirty="0">
                <a:solidFill>
                  <a:srgbClr val="E62429"/>
                </a:solidFill>
                <a:latin typeface="Arial" pitchFamily="34" charset="0"/>
                <a:ea typeface="Arial" pitchFamily="34" charset="-122"/>
                <a:cs typeface="Arial" pitchFamily="34" charset="-120"/>
              </a:rPr>
              <a:t>2 mois</a:t>
            </a:r>
            <a:endParaRPr lang="en-US" sz="2000" dirty="0"/>
          </a:p>
        </p:txBody>
      </p:sp>
      <p:sp>
        <p:nvSpPr>
          <p:cNvPr id="18" name="Text 13"/>
          <p:cNvSpPr txBox="1"/>
          <p:nvPr/>
        </p:nvSpPr>
        <p:spPr>
          <a:xfrm>
            <a:off x="3246120" y="4178808"/>
            <a:ext cx="2651760" cy="548640"/>
          </a:xfrm>
          <a:prstGeom prst="rect">
            <a:avLst/>
          </a:prstGeom>
          <a:noFill/>
          <a:ln/>
        </p:spPr>
        <p:txBody>
          <a:bodyPr wrap="square" lIns="0" tIns="0" rIns="0" bIns="0" rtlCol="0" anchor="t"/>
          <a:lstStyle/>
          <a:p>
            <a:pPr indent="0" marL="0">
              <a:buNone/>
            </a:pPr>
            <a:r>
              <a:rPr lang="en-US" sz="950" dirty="0">
                <a:solidFill>
                  <a:srgbClr val="1F2233"/>
                </a:solidFill>
                <a:latin typeface="Calibri" pitchFamily="34" charset="0"/>
                <a:ea typeface="Calibri" pitchFamily="34" charset="-122"/>
                <a:cs typeface="Calibri" pitchFamily="34" charset="-120"/>
              </a:rPr>
              <a:t>pour perdre les joueurs ramenés par une saison (+18 % en janv. 2026, +21 % en juil.)</a:t>
            </a:r>
            <a:endParaRPr lang="en-US" sz="950" dirty="0"/>
          </a:p>
        </p:txBody>
      </p:sp>
      <p:sp>
        <p:nvSpPr>
          <p:cNvPr id="19" name="Text 14"/>
          <p:cNvSpPr txBox="1"/>
          <p:nvPr/>
        </p:nvSpPr>
        <p:spPr>
          <a:xfrm>
            <a:off x="6035040" y="3794760"/>
            <a:ext cx="2651760" cy="384048"/>
          </a:xfrm>
          <a:prstGeom prst="rect">
            <a:avLst/>
          </a:prstGeom>
          <a:noFill/>
          <a:ln/>
        </p:spPr>
        <p:txBody>
          <a:bodyPr wrap="square" lIns="0" tIns="0" rIns="0" bIns="0" rtlCol="0" anchor="ctr"/>
          <a:lstStyle/>
          <a:p>
            <a:pPr indent="0" marL="0">
              <a:buNone/>
            </a:pPr>
            <a:r>
              <a:rPr lang="en-US" sz="2000" b="1" dirty="0">
                <a:solidFill>
                  <a:srgbClr val="E62429"/>
                </a:solidFill>
                <a:latin typeface="Arial" pitchFamily="34" charset="0"/>
                <a:ea typeface="Arial" pitchFamily="34" charset="-122"/>
                <a:cs typeface="Arial" pitchFamily="34" charset="-120"/>
              </a:rPr>
              <a:t>7 → 41 %</a:t>
            </a:r>
            <a:endParaRPr lang="en-US" sz="2000" dirty="0"/>
          </a:p>
        </p:txBody>
      </p:sp>
      <p:sp>
        <p:nvSpPr>
          <p:cNvPr id="20" name="Text 15"/>
          <p:cNvSpPr txBox="1"/>
          <p:nvPr/>
        </p:nvSpPr>
        <p:spPr>
          <a:xfrm>
            <a:off x="6035040" y="4178808"/>
            <a:ext cx="2651760" cy="548640"/>
          </a:xfrm>
          <a:prstGeom prst="rect">
            <a:avLst/>
          </a:prstGeom>
          <a:noFill/>
          <a:ln/>
        </p:spPr>
        <p:txBody>
          <a:bodyPr wrap="square" lIns="0" tIns="0" rIns="0" bIns="0" rtlCol="0" anchor="t"/>
          <a:lstStyle/>
          <a:p>
            <a:pPr indent="0" marL="0">
              <a:buNone/>
            </a:pPr>
            <a:r>
              <a:rPr lang="en-US" sz="950" dirty="0">
                <a:solidFill>
                  <a:srgbClr val="1F2233"/>
                </a:solidFill>
                <a:latin typeface="Calibri" pitchFamily="34" charset="0"/>
                <a:ea typeface="Calibri" pitchFamily="34" charset="-122"/>
                <a:cs typeface="Calibri" pitchFamily="34" charset="-120"/>
              </a:rPr>
              <a:t>des avis négatifs accusent le matchmaking ; NetEase a dû démentir un matchmaking truqué</a:t>
            </a:r>
            <a:endParaRPr lang="en-US" sz="950" dirty="0"/>
          </a:p>
        </p:txBody>
      </p:sp>
      <p:sp>
        <p:nvSpPr>
          <p:cNvPr id="21" name="Text 16"/>
          <p:cNvSpPr txBox="1"/>
          <p:nvPr/>
        </p:nvSpPr>
        <p:spPr>
          <a:xfrm>
            <a:off x="457200" y="4773168"/>
            <a:ext cx="7863840" cy="256032"/>
          </a:xfrm>
          <a:prstGeom prst="rect">
            <a:avLst/>
          </a:prstGeom>
          <a:noFill/>
          <a:ln/>
        </p:spPr>
        <p:txBody>
          <a:bodyPr wrap="square" lIns="0" tIns="0" rIns="0" bIns="0" rtlCol="0" anchor="ctr"/>
          <a:lstStyle/>
          <a:p>
            <a:pPr indent="0" marL="0">
              <a:buNone/>
            </a:pPr>
            <a:r>
              <a:rPr lang="en-US" sz="850" dirty="0">
                <a:solidFill>
                  <a:srgbClr val="5E6378"/>
                </a:solidFill>
                <a:latin typeface="Calibri" pitchFamily="34" charset="0"/>
                <a:ea typeface="Calibri" pitchFamily="34" charset="-122"/>
                <a:cs typeface="Calibri" pitchFamily="34" charset="-120"/>
              </a:rPr>
              <a:t>Sources : </a:t>
            </a:r>
            <a:pPr indent="0" marL="0">
              <a:buNone/>
            </a:pPr>
            <a:r>
              <a:rPr lang="en-US" sz="850" u="sng" dirty="0">
                <a:solidFill>
                  <a:srgbClr val="2F3C7E"/>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Forbes (12/10/2025)</a:t>
            </a:r>
            <a:pPr indent="0" marL="0">
              <a:buNone/>
            </a:pPr>
            <a:r>
              <a:rPr lang="en-US" sz="850" dirty="0">
                <a:solidFill>
                  <a:srgbClr val="5E6378"/>
                </a:solidFill>
                <a:latin typeface="Calibri" pitchFamily="34" charset="0"/>
                <a:ea typeface="Calibri" pitchFamily="34" charset="-122"/>
                <a:cs typeface="Calibri" pitchFamily="34" charset="-120"/>
              </a:rPr>
              <a:t> · </a:t>
            </a:r>
            <a:pPr indent="0" marL="0">
              <a:buNone/>
            </a:pPr>
            <a:r>
              <a:rPr lang="en-US" sz="850" u="sng" dirty="0">
                <a:solidFill>
                  <a:srgbClr val="2F3C7E"/>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Steam Charts (30/09/2026 ; * = 30 derniers jours)</a:t>
            </a:r>
            <a:pPr indent="0" marL="0">
              <a:buNone/>
            </a:pPr>
            <a:r>
              <a:rPr lang="en-US" sz="850" dirty="0">
                <a:solidFill>
                  <a:srgbClr val="5E6378"/>
                </a:solidFill>
                <a:latin typeface="Calibri" pitchFamily="34" charset="0"/>
                <a:ea typeface="Calibri" pitchFamily="34" charset="-122"/>
                <a:cs typeface="Calibri" pitchFamily="34" charset="-120"/>
              </a:rPr>
              <a:t> · </a:t>
            </a:r>
            <a:pPr indent="0" marL="0">
              <a:buNone/>
            </a:pPr>
            <a:r>
              <a:rPr lang="en-US" sz="850" u="sng" dirty="0">
                <a:solidFill>
                  <a:srgbClr val="2F3C7E"/>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avis Steam, notre collecte</a:t>
            </a:r>
            <a:pPr indent="0" marL="0">
              <a:buNone/>
            </a:pPr>
            <a:r>
              <a:rPr lang="en-US" sz="850" dirty="0">
                <a:solidFill>
                  <a:srgbClr val="5E6378"/>
                </a:solidFill>
                <a:latin typeface="Calibri" pitchFamily="34" charset="0"/>
                <a:ea typeface="Calibri" pitchFamily="34" charset="-122"/>
                <a:cs typeface="Calibri" pitchFamily="34" charset="-120"/>
              </a:rPr>
              <a:t> · </a:t>
            </a:r>
            <a:pPr indent="0" marL="0">
              <a:buNone/>
            </a:pPr>
            <a:r>
              <a:rPr lang="en-US" sz="850" u="sng" dirty="0">
                <a:solidFill>
                  <a:srgbClr val="2F3C7E"/>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démenti EOMM</a:t>
            </a:r>
            <a:endParaRPr lang="en-US" sz="850" dirty="0"/>
          </a:p>
        </p:txBody>
      </p:sp>
      <p:sp>
        <p:nvSpPr>
          <p:cNvPr id="22" name="Shape 17"/>
          <p:cNvSpPr/>
          <p:nvPr/>
        </p:nvSpPr>
        <p:spPr>
          <a:xfrm>
            <a:off x="8458200" y="4800600"/>
            <a:ext cx="502920" cy="219456"/>
          </a:xfrm>
          <a:prstGeom prst="parallelogram">
            <a:avLst/>
          </a:prstGeom>
          <a:solidFill>
            <a:srgbClr val="E62429"/>
          </a:solidFill>
          <a:ln w="12700">
            <a:solidFill>
              <a:srgbClr val="E62429"/>
            </a:solidFill>
            <a:prstDash val="solid"/>
          </a:ln>
        </p:spPr>
      </p:sp>
      <p:sp>
        <p:nvSpPr>
          <p:cNvPr id="23" name="Text 18"/>
          <p:cNvSpPr txBox="1"/>
          <p:nvPr/>
        </p:nvSpPr>
        <p:spPr>
          <a:xfrm>
            <a:off x="8458200" y="4800600"/>
            <a:ext cx="502920" cy="219456"/>
          </a:xfrm>
          <a:prstGeom prst="rect">
            <a:avLst/>
          </a:prstGeom>
          <a:noFill/>
          <a:ln/>
        </p:spPr>
        <p:txBody>
          <a:bodyPr wrap="square" lIns="0" tIns="0" rIns="0" bIns="0" rtlCol="0" anchor="ctr"/>
          <a:lstStyle/>
          <a:p>
            <a:pPr algn="ctr" indent="0" marL="0">
              <a:buNone/>
            </a:pPr>
            <a:r>
              <a:rPr lang="en-US" sz="900" b="1" dirty="0">
                <a:solidFill>
                  <a:srgbClr val="FFFFFF"/>
                </a:solidFill>
                <a:latin typeface="Arial" pitchFamily="34" charset="0"/>
                <a:ea typeface="Arial" pitchFamily="34" charset="-122"/>
                <a:cs typeface="Arial"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1024128"/>
          </a:xfrm>
          <a:prstGeom prst="rect">
            <a:avLst/>
          </a:prstGeom>
          <a:solidFill>
            <a:srgbClr val="0D1020"/>
          </a:solidFill>
          <a:ln w="12700">
            <a:solidFill>
              <a:srgbClr val="0D1020"/>
            </a:solidFill>
            <a:prstDash val="solid"/>
          </a:ln>
        </p:spPr>
      </p:sp>
      <p:sp>
        <p:nvSpPr>
          <p:cNvPr id="3" name="Shape 1"/>
          <p:cNvSpPr/>
          <p:nvPr/>
        </p:nvSpPr>
        <p:spPr>
          <a:xfrm>
            <a:off x="-137160" y="1024128"/>
            <a:ext cx="3840480" cy="64008"/>
          </a:xfrm>
          <a:prstGeom prst="parallelogram">
            <a:avLst/>
          </a:prstGeom>
          <a:solidFill>
            <a:srgbClr val="E62429"/>
          </a:solidFill>
          <a:ln w="12700">
            <a:solidFill>
              <a:srgbClr val="E62429"/>
            </a:solidFill>
            <a:prstDash val="solid"/>
          </a:ln>
        </p:spPr>
      </p:sp>
      <p:sp>
        <p:nvSpPr>
          <p:cNvPr id="4" name="Shape 2"/>
          <p:cNvSpPr/>
          <p:nvPr/>
        </p:nvSpPr>
        <p:spPr>
          <a:xfrm>
            <a:off x="3611880" y="1024128"/>
            <a:ext cx="1463040" cy="64008"/>
          </a:xfrm>
          <a:prstGeom prst="parallelogram">
            <a:avLst/>
          </a:prstGeom>
          <a:solidFill>
            <a:srgbClr val="FFC72C"/>
          </a:solidFill>
          <a:ln w="12700">
            <a:solidFill>
              <a:srgbClr val="FFC72C"/>
            </a:solidFill>
            <a:prstDash val="solid"/>
          </a:ln>
        </p:spPr>
      </p:sp>
      <p:sp>
        <p:nvSpPr>
          <p:cNvPr id="5" name="Shape 3"/>
          <p:cNvSpPr/>
          <p:nvPr/>
        </p:nvSpPr>
        <p:spPr>
          <a:xfrm>
            <a:off x="292608" y="329184"/>
            <a:ext cx="146304" cy="420624"/>
          </a:xfrm>
          <a:prstGeom prst="parallelogram">
            <a:avLst/>
          </a:prstGeom>
          <a:solidFill>
            <a:srgbClr val="E62429"/>
          </a:solidFill>
          <a:ln w="12700">
            <a:solidFill>
              <a:srgbClr val="E62429"/>
            </a:solidFill>
            <a:prstDash val="solid"/>
          </a:ln>
        </p:spPr>
      </p:sp>
      <p:sp>
        <p:nvSpPr>
          <p:cNvPr id="6" name="Shape 4"/>
          <p:cNvSpPr/>
          <p:nvPr/>
        </p:nvSpPr>
        <p:spPr>
          <a:xfrm>
            <a:off x="502920" y="109728"/>
            <a:ext cx="978408" cy="201168"/>
          </a:xfrm>
          <a:prstGeom prst="parallelogram">
            <a:avLst/>
          </a:prstGeom>
          <a:solidFill>
            <a:srgbClr val="FFC72C"/>
          </a:solidFill>
          <a:ln w="12700">
            <a:solidFill>
              <a:srgbClr val="FFC72C"/>
            </a:solidFill>
            <a:prstDash val="solid"/>
          </a:ln>
        </p:spPr>
      </p:sp>
      <p:sp>
        <p:nvSpPr>
          <p:cNvPr id="7" name="Text 5"/>
          <p:cNvSpPr txBox="1"/>
          <p:nvPr/>
        </p:nvSpPr>
        <p:spPr>
          <a:xfrm>
            <a:off x="502920" y="109728"/>
            <a:ext cx="978408" cy="201168"/>
          </a:xfrm>
          <a:prstGeom prst="rect">
            <a:avLst/>
          </a:prstGeom>
          <a:noFill/>
          <a:ln/>
        </p:spPr>
        <p:txBody>
          <a:bodyPr wrap="square" lIns="0" tIns="0" rIns="0" bIns="0" rtlCol="0" anchor="ctr"/>
          <a:lstStyle/>
          <a:p>
            <a:pPr algn="ctr" indent="0" marL="0">
              <a:buNone/>
            </a:pPr>
            <a:r>
              <a:rPr lang="en-US" sz="800" b="1" spc="100" kern="0" dirty="0">
                <a:solidFill>
                  <a:srgbClr val="0D1020"/>
                </a:solidFill>
                <a:latin typeface="Arial" pitchFamily="34" charset="0"/>
                <a:ea typeface="Arial" pitchFamily="34" charset="-122"/>
                <a:cs typeface="Arial" pitchFamily="34" charset="-120"/>
              </a:rPr>
              <a:t>DIAGNOSTIC</a:t>
            </a:r>
            <a:endParaRPr lang="en-US" sz="800" dirty="0"/>
          </a:p>
        </p:txBody>
      </p:sp>
      <p:sp>
        <p:nvSpPr>
          <p:cNvPr id="8" name="Text 6"/>
          <p:cNvSpPr txBox="1"/>
          <p:nvPr/>
        </p:nvSpPr>
        <p:spPr>
          <a:xfrm>
            <a:off x="548640" y="310896"/>
            <a:ext cx="722376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Hypothèse : un écart de niveau qui fait partir</a:t>
            </a:r>
            <a:endParaRPr lang="en-US" sz="2200" dirty="0"/>
          </a:p>
        </p:txBody>
      </p:sp>
      <p:sp>
        <p:nvSpPr>
          <p:cNvPr id="9" name="Text 7"/>
          <p:cNvSpPr txBox="1"/>
          <p:nvPr/>
        </p:nvSpPr>
        <p:spPr>
          <a:xfrm>
            <a:off x="548640" y="749808"/>
            <a:ext cx="7315200" cy="237744"/>
          </a:xfrm>
          <a:prstGeom prst="rect">
            <a:avLst/>
          </a:prstGeom>
          <a:noFill/>
          <a:ln/>
        </p:spPr>
        <p:txBody>
          <a:bodyPr wrap="square" lIns="0" tIns="0" rIns="0" bIns="0" rtlCol="0" anchor="ctr"/>
          <a:lstStyle/>
          <a:p>
            <a:pPr indent="0" marL="0">
              <a:buNone/>
            </a:pPr>
            <a:r>
              <a:rPr lang="en-US" sz="1100" dirty="0">
                <a:solidFill>
                  <a:srgbClr val="FFC72C"/>
                </a:solidFill>
                <a:latin typeface="Calibri" pitchFamily="34" charset="0"/>
                <a:ea typeface="Calibri" pitchFamily="34" charset="-122"/>
                <a:cs typeface="Calibri" pitchFamily="34" charset="-120"/>
              </a:rPr>
              <a:t>H5 : nouveaux et revenants subissent des écarts non compensés (testable)</a:t>
            </a:r>
            <a:endParaRPr lang="en-US" sz="1100" dirty="0"/>
          </a:p>
        </p:txBody>
      </p:sp>
      <p:pic>
        <p:nvPicPr>
          <p:cNvPr id="10" name="Image 0" descr="/tmp/claude-0/-home-user-SOCIO/dd1a12ff-0491-58c5-8c13-7e8ef7d55990/scratchpad/brand/logo.png">    </p:cNvPr>
          <p:cNvPicPr>
            <a:picLocks noChangeAspect="1"/>
          </p:cNvPicPr>
          <p:nvPr/>
        </p:nvPicPr>
        <p:blipFill>
          <a:blip r:embed="rId1"/>
          <a:stretch>
            <a:fillRect/>
          </a:stretch>
        </p:blipFill>
        <p:spPr>
          <a:xfrm>
            <a:off x="7973568" y="201168"/>
            <a:ext cx="960120" cy="402336"/>
          </a:xfrm>
          <a:prstGeom prst="rect">
            <a:avLst/>
          </a:prstGeom>
        </p:spPr>
      </p:pic>
      <p:sp>
        <p:nvSpPr>
          <p:cNvPr id="11" name="Shape 8"/>
          <p:cNvSpPr/>
          <p:nvPr/>
        </p:nvSpPr>
        <p:spPr>
          <a:xfrm>
            <a:off x="457200" y="1188720"/>
            <a:ext cx="4023360" cy="2926080"/>
          </a:xfrm>
          <a:prstGeom prst="roundRect">
            <a:avLst>
              <a:gd name="adj" fmla="val 2500"/>
            </a:avLst>
          </a:prstGeom>
          <a:solidFill>
            <a:srgbClr val="F4F5F9"/>
          </a:solidFill>
          <a:ln w="12700">
            <a:solidFill>
              <a:srgbClr val="F4F5F9"/>
            </a:solidFill>
            <a:prstDash val="solid"/>
          </a:ln>
        </p:spPr>
      </p:sp>
      <p:sp>
        <p:nvSpPr>
          <p:cNvPr id="12" name="Shape 9"/>
          <p:cNvSpPr/>
          <p:nvPr/>
        </p:nvSpPr>
        <p:spPr>
          <a:xfrm>
            <a:off x="640080" y="1298448"/>
            <a:ext cx="384048" cy="384048"/>
          </a:xfrm>
          <a:prstGeom prst="ellipse">
            <a:avLst/>
          </a:prstGeom>
          <a:solidFill>
            <a:srgbClr val="E62429"/>
          </a:solidFill>
          <a:ln w="12700">
            <a:solidFill>
              <a:srgbClr val="E62429"/>
            </a:solidFill>
            <a:prstDash val="solid"/>
          </a:ln>
        </p:spPr>
      </p:sp>
      <p:pic>
        <p:nvPicPr>
          <p:cNvPr id="13" name="Image 1" descr="preencoded.png">    </p:cNvPr>
          <p:cNvPicPr>
            <a:picLocks noChangeAspect="1"/>
          </p:cNvPicPr>
          <p:nvPr/>
        </p:nvPicPr>
        <p:blipFill>
          <a:blip r:embed="rId2"/>
          <a:stretch>
            <a:fillRect/>
          </a:stretch>
        </p:blipFill>
        <p:spPr>
          <a:xfrm>
            <a:off x="736092" y="1394460"/>
            <a:ext cx="192024" cy="192024"/>
          </a:xfrm>
          <a:prstGeom prst="rect">
            <a:avLst/>
          </a:prstGeom>
        </p:spPr>
      </p:pic>
      <p:sp>
        <p:nvSpPr>
          <p:cNvPr id="14" name="Text 10"/>
          <p:cNvSpPr txBox="1"/>
          <p:nvPr/>
        </p:nvSpPr>
        <p:spPr>
          <a:xfrm>
            <a:off x="1143000" y="1298448"/>
            <a:ext cx="3200400" cy="384048"/>
          </a:xfrm>
          <a:prstGeom prst="rect">
            <a:avLst/>
          </a:prstGeom>
          <a:noFill/>
          <a:ln/>
        </p:spPr>
        <p:txBody>
          <a:bodyPr wrap="square" lIns="0" tIns="0" rIns="0" bIns="0" rtlCol="0" anchor="ctr"/>
          <a:lstStyle/>
          <a:p>
            <a:pPr indent="0" marL="0">
              <a:buNone/>
            </a:pPr>
            <a:r>
              <a:rPr lang="en-US" sz="1300" b="1" dirty="0">
                <a:solidFill>
                  <a:srgbClr val="1F2233"/>
                </a:solidFill>
                <a:latin typeface="Arial" pitchFamily="34" charset="0"/>
                <a:ea typeface="Arial" pitchFamily="34" charset="-122"/>
                <a:cs typeface="Arial" pitchFamily="34" charset="-120"/>
              </a:rPr>
              <a:t>H5b · Les nouveaux, en partie rapide</a:t>
            </a:r>
            <a:endParaRPr lang="en-US" sz="1300" dirty="0"/>
          </a:p>
        </p:txBody>
      </p:sp>
      <p:sp>
        <p:nvSpPr>
          <p:cNvPr id="15" name="Text 11"/>
          <p:cNvSpPr txBox="1"/>
          <p:nvPr/>
        </p:nvSpPr>
        <p:spPr>
          <a:xfrm>
            <a:off x="640080" y="1783080"/>
            <a:ext cx="3657600" cy="2286000"/>
          </a:xfrm>
          <a:prstGeom prst="rect">
            <a:avLst/>
          </a:prstGeom>
          <a:noFill/>
          <a:ln/>
        </p:spPr>
        <p:txBody>
          <a:bodyPr wrap="square" lIns="0" tIns="0" rIns="0" bIns="0" rtlCol="0" anchor="t"/>
          <a:lstStyle/>
          <a:p>
            <a:pPr indent="0" marL="0">
              <a:buNone/>
            </a:pPr>
            <a:r>
              <a:rPr lang="en-US" sz="1050" b="1" dirty="0">
                <a:solidFill>
                  <a:srgbClr val="E62429"/>
                </a:solidFill>
                <a:latin typeface="Calibri" pitchFamily="34" charset="0"/>
                <a:ea typeface="Calibri" pitchFamily="34" charset="-122"/>
                <a:cs typeface="Calibri" pitchFamily="34" charset="-120"/>
              </a:rPr>
              <a:t>Mécanisme : </a:t>
            </a:r>
            <a:pPr indent="0" marL="0">
              <a:buNone/>
            </a:pPr>
            <a:r>
              <a:rPr lang="en-US" sz="1050" dirty="0">
                <a:solidFill>
                  <a:srgbClr val="1F2233"/>
                </a:solidFill>
                <a:latin typeface="Calibri" pitchFamily="34" charset="0"/>
                <a:ea typeface="Calibri" pitchFamily="34" charset="-122"/>
                <a:cs typeface="Calibri" pitchFamily="34" charset="-120"/>
              </a:rPr>
              <a:t>Faute de joueurs en file, le matchmaking accepte des écarts de niveau plus grands pour lancer la partie : NetEase le reconnaît (vidéo du 21/08/2025).</a:t>
            </a:r>
            <a:endParaRPr lang="en-US" sz="1050" dirty="0"/>
          </a:p>
          <a:p>
            <a:pPr indent="0" marL="0">
              <a:buNone/>
            </a:pPr>
            <a:r>
              <a:rPr lang="en-US" sz="400" dirty="0">
                <a:solidFill>
                  <a:srgbClr val="000000"/>
                </a:solidFill>
                <a:latin typeface="Calibri" pitchFamily="34" charset="0"/>
                <a:ea typeface="Calibri" pitchFamily="34" charset="-122"/>
                <a:cs typeface="Calibri" pitchFamily="34" charset="-120"/>
              </a:rPr>
              <a:t> </a:t>
            </a:r>
            <a:endParaRPr lang="en-US" sz="1050" dirty="0"/>
          </a:p>
          <a:p>
            <a:pPr indent="0" marL="0">
              <a:buNone/>
            </a:pPr>
            <a:r>
              <a:rPr lang="en-US" sz="1050" b="1" dirty="0">
                <a:solidFill>
                  <a:srgbClr val="E62429"/>
                </a:solidFill>
                <a:latin typeface="Calibri" pitchFamily="34" charset="0"/>
                <a:ea typeface="Calibri" pitchFamily="34" charset="-122"/>
                <a:cs typeface="Calibri" pitchFamily="34" charset="-120"/>
              </a:rPr>
              <a:t>Conséquence : </a:t>
            </a:r>
            <a:pPr indent="0" marL="0">
              <a:buNone/>
            </a:pPr>
            <a:r>
              <a:rPr lang="en-US" sz="1050" dirty="0">
                <a:solidFill>
                  <a:srgbClr val="1F2233"/>
                </a:solidFill>
                <a:latin typeface="Calibri" pitchFamily="34" charset="0"/>
                <a:ea typeface="Calibri" pitchFamily="34" charset="-122"/>
                <a:cs typeface="Calibri" pitchFamily="34" charset="-120"/>
              </a:rPr>
              <a:t>Le nouveau tombe sur les vétérans restants, perd et part : la base ne se renouvelle pas.</a:t>
            </a:r>
            <a:endParaRPr lang="en-US" sz="1050" dirty="0"/>
          </a:p>
          <a:p>
            <a:pPr indent="0" marL="0">
              <a:buNone/>
            </a:pPr>
            <a:r>
              <a:rPr lang="en-US" sz="400" dirty="0">
                <a:solidFill>
                  <a:srgbClr val="000000"/>
                </a:solidFill>
                <a:latin typeface="Calibri" pitchFamily="34" charset="0"/>
                <a:ea typeface="Calibri" pitchFamily="34" charset="-122"/>
                <a:cs typeface="Calibri" pitchFamily="34" charset="-120"/>
              </a:rPr>
              <a:t> </a:t>
            </a:r>
            <a:endParaRPr lang="en-US" sz="1050" dirty="0"/>
          </a:p>
          <a:p>
            <a:pPr indent="0" marL="0">
              <a:buNone/>
            </a:pPr>
            <a:r>
              <a:rPr lang="en-US" sz="1050" b="1" dirty="0">
                <a:solidFill>
                  <a:srgbClr val="E62429"/>
                </a:solidFill>
                <a:latin typeface="Calibri" pitchFamily="34" charset="0"/>
                <a:ea typeface="Calibri" pitchFamily="34" charset="-122"/>
                <a:cs typeface="Calibri" pitchFamily="34" charset="-120"/>
              </a:rPr>
              <a:t>Indice : </a:t>
            </a:r>
            <a:pPr indent="0" marL="0">
              <a:buNone/>
            </a:pPr>
            <a:r>
              <a:rPr lang="en-US" sz="1050" dirty="0">
                <a:solidFill>
                  <a:srgbClr val="1F2233"/>
                </a:solidFill>
                <a:latin typeface="Calibri" pitchFamily="34" charset="0"/>
                <a:ea typeface="Calibri" pitchFamily="34" charset="-122"/>
                <a:cs typeface="Calibri" pitchFamily="34" charset="-120"/>
              </a:rPr>
              <a:t>Aucune correction publiée pour la partie rapide, où passe chaque nouveau avant le niveau 15.</a:t>
            </a:r>
            <a:endParaRPr lang="en-US" sz="1050" dirty="0"/>
          </a:p>
        </p:txBody>
      </p:sp>
      <p:sp>
        <p:nvSpPr>
          <p:cNvPr id="16" name="Shape 12"/>
          <p:cNvSpPr/>
          <p:nvPr/>
        </p:nvSpPr>
        <p:spPr>
          <a:xfrm>
            <a:off x="4663440" y="1188720"/>
            <a:ext cx="4023360" cy="2926080"/>
          </a:xfrm>
          <a:prstGeom prst="roundRect">
            <a:avLst>
              <a:gd name="adj" fmla="val 2500"/>
            </a:avLst>
          </a:prstGeom>
          <a:solidFill>
            <a:srgbClr val="F4F5F9"/>
          </a:solidFill>
          <a:ln w="12700">
            <a:solidFill>
              <a:srgbClr val="F4F5F9"/>
            </a:solidFill>
            <a:prstDash val="solid"/>
          </a:ln>
        </p:spPr>
      </p:sp>
      <p:sp>
        <p:nvSpPr>
          <p:cNvPr id="17" name="Shape 13"/>
          <p:cNvSpPr/>
          <p:nvPr/>
        </p:nvSpPr>
        <p:spPr>
          <a:xfrm>
            <a:off x="4846320" y="1298448"/>
            <a:ext cx="384048" cy="384048"/>
          </a:xfrm>
          <a:prstGeom prst="ellipse">
            <a:avLst/>
          </a:prstGeom>
          <a:solidFill>
            <a:srgbClr val="0D1020"/>
          </a:solidFill>
          <a:ln w="12700">
            <a:solidFill>
              <a:srgbClr val="0D1020"/>
            </a:solidFill>
            <a:prstDash val="solid"/>
          </a:ln>
        </p:spPr>
      </p:sp>
      <p:pic>
        <p:nvPicPr>
          <p:cNvPr id="18" name="Image 2" descr="preencoded.png">    </p:cNvPr>
          <p:cNvPicPr>
            <a:picLocks noChangeAspect="1"/>
          </p:cNvPicPr>
          <p:nvPr/>
        </p:nvPicPr>
        <p:blipFill>
          <a:blip r:embed="rId3"/>
          <a:stretch>
            <a:fillRect/>
          </a:stretch>
        </p:blipFill>
        <p:spPr>
          <a:xfrm>
            <a:off x="4942332" y="1394460"/>
            <a:ext cx="192024" cy="192024"/>
          </a:xfrm>
          <a:prstGeom prst="rect">
            <a:avLst/>
          </a:prstGeom>
        </p:spPr>
      </p:pic>
      <p:sp>
        <p:nvSpPr>
          <p:cNvPr id="19" name="Text 14"/>
          <p:cNvSpPr txBox="1"/>
          <p:nvPr/>
        </p:nvSpPr>
        <p:spPr>
          <a:xfrm>
            <a:off x="5349240" y="1298448"/>
            <a:ext cx="3200400" cy="384048"/>
          </a:xfrm>
          <a:prstGeom prst="rect">
            <a:avLst/>
          </a:prstGeom>
          <a:noFill/>
          <a:ln/>
        </p:spPr>
        <p:txBody>
          <a:bodyPr wrap="square" lIns="0" tIns="0" rIns="0" bIns="0" rtlCol="0" anchor="ctr"/>
          <a:lstStyle/>
          <a:p>
            <a:pPr indent="0" marL="0">
              <a:buNone/>
            </a:pPr>
            <a:r>
              <a:rPr lang="en-US" sz="1300" b="1" dirty="0">
                <a:solidFill>
                  <a:srgbClr val="1F2233"/>
                </a:solidFill>
                <a:latin typeface="Arial" pitchFamily="34" charset="0"/>
                <a:ea typeface="Arial" pitchFamily="34" charset="-122"/>
                <a:cs typeface="Arial" pitchFamily="34" charset="-120"/>
              </a:rPr>
              <a:t>H5c · Les joueurs de retour</a:t>
            </a:r>
            <a:endParaRPr lang="en-US" sz="1300" dirty="0"/>
          </a:p>
        </p:txBody>
      </p:sp>
      <p:sp>
        <p:nvSpPr>
          <p:cNvPr id="20" name="Text 15"/>
          <p:cNvSpPr txBox="1"/>
          <p:nvPr/>
        </p:nvSpPr>
        <p:spPr>
          <a:xfrm>
            <a:off x="4846320" y="1783080"/>
            <a:ext cx="3657600" cy="2286000"/>
          </a:xfrm>
          <a:prstGeom prst="rect">
            <a:avLst/>
          </a:prstGeom>
          <a:noFill/>
          <a:ln/>
        </p:spPr>
        <p:txBody>
          <a:bodyPr wrap="square" lIns="0" tIns="0" rIns="0" bIns="0" rtlCol="0" anchor="t"/>
          <a:lstStyle/>
          <a:p>
            <a:pPr indent="0" marL="0">
              <a:buNone/>
            </a:pPr>
            <a:r>
              <a:rPr lang="en-US" sz="1050" b="1" dirty="0">
                <a:solidFill>
                  <a:srgbClr val="0D1020"/>
                </a:solidFill>
                <a:latin typeface="Calibri" pitchFamily="34" charset="0"/>
                <a:ea typeface="Calibri" pitchFamily="34" charset="-122"/>
                <a:cs typeface="Calibri" pitchFamily="34" charset="-120"/>
              </a:rPr>
              <a:t>Mécanisme : </a:t>
            </a:r>
            <a:pPr indent="0" marL="0">
              <a:buNone/>
            </a:pPr>
            <a:r>
              <a:rPr lang="en-US" sz="1050" dirty="0">
                <a:solidFill>
                  <a:srgbClr val="1F2233"/>
                </a:solidFill>
                <a:latin typeface="Calibri" pitchFamily="34" charset="0"/>
                <a:ea typeface="Calibri" pitchFamily="34" charset="-122"/>
                <a:cs typeface="Calibri" pitchFamily="34" charset="-120"/>
              </a:rPr>
              <a:t>En classé, le rang n'est abaissé que de 6 divisions par saison, quelle que soit l'absence (Dev Talk Vol.10). En partie rapide, rien n'indique que le niveau caché baisse (à vérifier).</a:t>
            </a:r>
            <a:endParaRPr lang="en-US" sz="1050" dirty="0"/>
          </a:p>
          <a:p>
            <a:pPr indent="0" marL="0">
              <a:buNone/>
            </a:pPr>
            <a:r>
              <a:rPr lang="en-US" sz="400" dirty="0">
                <a:solidFill>
                  <a:srgbClr val="000000"/>
                </a:solidFill>
                <a:latin typeface="Calibri" pitchFamily="34" charset="0"/>
                <a:ea typeface="Calibri" pitchFamily="34" charset="-122"/>
                <a:cs typeface="Calibri" pitchFamily="34" charset="-120"/>
              </a:rPr>
              <a:t> </a:t>
            </a:r>
            <a:endParaRPr lang="en-US" sz="1050" dirty="0"/>
          </a:p>
          <a:p>
            <a:pPr indent="0" marL="0">
              <a:buNone/>
            </a:pPr>
            <a:r>
              <a:rPr lang="en-US" sz="1050" b="1" dirty="0">
                <a:solidFill>
                  <a:srgbClr val="0D1020"/>
                </a:solidFill>
                <a:latin typeface="Calibri" pitchFamily="34" charset="0"/>
                <a:ea typeface="Calibri" pitchFamily="34" charset="-122"/>
                <a:cs typeface="Calibri" pitchFamily="34" charset="-120"/>
              </a:rPr>
              <a:t>Conséquence : </a:t>
            </a:r>
            <a:pPr indent="0" marL="0">
              <a:buNone/>
            </a:pPr>
            <a:r>
              <a:rPr lang="en-US" sz="1050" dirty="0">
                <a:solidFill>
                  <a:srgbClr val="1F2233"/>
                </a:solidFill>
                <a:latin typeface="Calibri" pitchFamily="34" charset="0"/>
                <a:ea typeface="Calibri" pitchFamily="34" charset="-122"/>
                <a:cs typeface="Calibri" pitchFamily="34" charset="-120"/>
              </a:rPr>
              <a:t>Un joueur absent plusieurs mois affronte des joueurs restés actifs, plus en forme : il perd et repart.</a:t>
            </a:r>
            <a:endParaRPr lang="en-US" sz="1050" dirty="0"/>
          </a:p>
          <a:p>
            <a:pPr indent="0" marL="0">
              <a:buNone/>
            </a:pPr>
            <a:r>
              <a:rPr lang="en-US" sz="400" dirty="0">
                <a:solidFill>
                  <a:srgbClr val="000000"/>
                </a:solidFill>
                <a:latin typeface="Calibri" pitchFamily="34" charset="0"/>
                <a:ea typeface="Calibri" pitchFamily="34" charset="-122"/>
                <a:cs typeface="Calibri" pitchFamily="34" charset="-120"/>
              </a:rPr>
              <a:t> </a:t>
            </a:r>
            <a:endParaRPr lang="en-US" sz="1050" dirty="0"/>
          </a:p>
          <a:p>
            <a:pPr indent="0" marL="0">
              <a:buNone/>
            </a:pPr>
            <a:r>
              <a:rPr lang="en-US" sz="1050" b="1" dirty="0">
                <a:solidFill>
                  <a:srgbClr val="0D1020"/>
                </a:solidFill>
                <a:latin typeface="Calibri" pitchFamily="34" charset="0"/>
                <a:ea typeface="Calibri" pitchFamily="34" charset="-122"/>
                <a:cs typeface="Calibri" pitchFamily="34" charset="-120"/>
              </a:rPr>
              <a:t>Indice : </a:t>
            </a:r>
            <a:pPr indent="0" marL="0">
              <a:buNone/>
            </a:pPr>
            <a:r>
              <a:rPr lang="en-US" sz="1050" dirty="0">
                <a:solidFill>
                  <a:srgbClr val="1F2233"/>
                </a:solidFill>
                <a:latin typeface="Calibri" pitchFamily="34" charset="0"/>
                <a:ea typeface="Calibri" pitchFamily="34" charset="-122"/>
                <a:cs typeface="Calibri" pitchFamily="34" charset="-120"/>
              </a:rPr>
              <a:t>Les saisons ramènent des joueurs (+18 %, +21 %), qui repartent en deux mois.</a:t>
            </a:r>
            <a:endParaRPr lang="en-US" sz="1050" dirty="0"/>
          </a:p>
        </p:txBody>
      </p:sp>
      <p:sp>
        <p:nvSpPr>
          <p:cNvPr id="21" name="Text 16"/>
          <p:cNvSpPr txBox="1"/>
          <p:nvPr/>
        </p:nvSpPr>
        <p:spPr>
          <a:xfrm>
            <a:off x="457200" y="4206240"/>
            <a:ext cx="8229600" cy="502920"/>
          </a:xfrm>
          <a:prstGeom prst="rect">
            <a:avLst/>
          </a:prstGeom>
          <a:noFill/>
          <a:ln/>
        </p:spPr>
        <p:txBody>
          <a:bodyPr wrap="square" lIns="0" tIns="0" rIns="0" bIns="0" rtlCol="0" anchor="ctr"/>
          <a:lstStyle/>
          <a:p>
            <a:pPr indent="0" marL="0">
              <a:buNone/>
            </a:pPr>
            <a:r>
              <a:rPr lang="en-US" sz="1100" b="1" dirty="0">
                <a:solidFill>
                  <a:srgbClr val="E62429"/>
                </a:solidFill>
                <a:latin typeface="Calibri" pitchFamily="34" charset="0"/>
                <a:ea typeface="Calibri" pitchFamily="34" charset="-122"/>
                <a:cs typeface="Calibri" pitchFamily="34" charset="-120"/>
              </a:rPr>
              <a:t>Ce qu'on teste : </a:t>
            </a:r>
            <a:pPr indent="0" marL="0">
              <a:buNone/>
            </a:pPr>
            <a:r>
              <a:rPr lang="en-US" sz="1100" dirty="0">
                <a:solidFill>
                  <a:srgbClr val="1F2233"/>
                </a:solidFill>
                <a:latin typeface="Calibri" pitchFamily="34" charset="0"/>
                <a:ea typeface="Calibri" pitchFamily="34" charset="-122"/>
                <a:cs typeface="Calibri" pitchFamily="34" charset="-120"/>
              </a:rPr>
              <a:t>l'écart de niveau subi par les nouveaux et les revenants, et s'il les fait partir dans les 7 jours. Tout se mesure dans votre télémétrie, sans savoir d'où viennent les joueurs.</a:t>
            </a:r>
            <a:endParaRPr lang="en-US" sz="1100" dirty="0"/>
          </a:p>
        </p:txBody>
      </p:sp>
      <p:sp>
        <p:nvSpPr>
          <p:cNvPr id="22" name="Text 17"/>
          <p:cNvSpPr txBox="1"/>
          <p:nvPr/>
        </p:nvSpPr>
        <p:spPr>
          <a:xfrm>
            <a:off x="457200" y="4773168"/>
            <a:ext cx="7863840" cy="256032"/>
          </a:xfrm>
          <a:prstGeom prst="rect">
            <a:avLst/>
          </a:prstGeom>
          <a:noFill/>
          <a:ln/>
        </p:spPr>
        <p:txBody>
          <a:bodyPr wrap="square" lIns="0" tIns="0" rIns="0" bIns="0" rtlCol="0" anchor="ctr"/>
          <a:lstStyle/>
          <a:p>
            <a:pPr indent="0" marL="0">
              <a:buNone/>
            </a:pPr>
            <a:r>
              <a:rPr lang="en-US" sz="850" dirty="0">
                <a:solidFill>
                  <a:srgbClr val="5E6378"/>
                </a:solidFill>
                <a:latin typeface="Calibri" pitchFamily="34" charset="0"/>
                <a:ea typeface="Calibri" pitchFamily="34" charset="-122"/>
                <a:cs typeface="Calibri" pitchFamily="34" charset="-120"/>
              </a:rPr>
              <a:t>Sources : </a:t>
            </a:r>
            <a:pPr indent="0" marL="0">
              <a:buNone/>
            </a:pPr>
            <a:r>
              <a:rPr lang="en-US" sz="850" u="sng" dirty="0">
                <a:solidFill>
                  <a:srgbClr val="2F3C7E"/>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vidéo NetEase du 21/08/2025</a:t>
            </a:r>
            <a:pPr indent="0" marL="0">
              <a:buNone/>
            </a:pPr>
            <a:r>
              <a:rPr lang="en-US" sz="850" dirty="0">
                <a:solidFill>
                  <a:srgbClr val="5E6378"/>
                </a:solidFill>
                <a:latin typeface="Calibri" pitchFamily="34" charset="0"/>
                <a:ea typeface="Calibri" pitchFamily="34" charset="-122"/>
                <a:cs typeface="Calibri" pitchFamily="34" charset="-120"/>
              </a:rPr>
              <a:t> · </a:t>
            </a:r>
            <a:pPr indent="0" marL="0">
              <a:buNone/>
            </a:pPr>
            <a:r>
              <a:rPr lang="en-US" sz="850" u="sng" dirty="0">
                <a:solidFill>
                  <a:srgbClr val="2F3C7E"/>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Dev Talk Vol.10</a:t>
            </a:r>
            <a:pPr indent="0" marL="0">
              <a:buNone/>
            </a:pPr>
            <a:r>
              <a:rPr lang="en-US" sz="850" dirty="0">
                <a:solidFill>
                  <a:srgbClr val="5E6378"/>
                </a:solidFill>
                <a:latin typeface="Calibri" pitchFamily="34" charset="0"/>
                <a:ea typeface="Calibri" pitchFamily="34" charset="-122"/>
                <a:cs typeface="Calibri" pitchFamily="34" charset="-120"/>
              </a:rPr>
              <a:t> · </a:t>
            </a:r>
            <a:pPr indent="0" marL="0">
              <a:buNone/>
            </a:pPr>
            <a:r>
              <a:rPr lang="en-US" sz="850" u="sng" dirty="0">
                <a:solidFill>
                  <a:srgbClr val="2F3C7E"/>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inactivité (source tierce)</a:t>
            </a:r>
            <a:pPr indent="0" marL="0">
              <a:buNone/>
            </a:pPr>
            <a:r>
              <a:rPr lang="en-US" sz="850" dirty="0">
                <a:solidFill>
                  <a:srgbClr val="5E6378"/>
                </a:solidFill>
                <a:latin typeface="Calibri" pitchFamily="34" charset="0"/>
                <a:ea typeface="Calibri" pitchFamily="34" charset="-122"/>
                <a:cs typeface="Calibri" pitchFamily="34" charset="-120"/>
              </a:rPr>
              <a:t> · </a:t>
            </a:r>
            <a:pPr indent="0" marL="0">
              <a:buNone/>
            </a:pPr>
            <a:r>
              <a:rPr lang="en-US" sz="850" u="sng" dirty="0">
                <a:solidFill>
                  <a:srgbClr val="2F3C7E"/>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Steam Charts</a:t>
            </a:r>
            <a:endParaRPr lang="en-US" sz="850" dirty="0"/>
          </a:p>
        </p:txBody>
      </p:sp>
      <p:sp>
        <p:nvSpPr>
          <p:cNvPr id="23" name="Shape 18"/>
          <p:cNvSpPr/>
          <p:nvPr/>
        </p:nvSpPr>
        <p:spPr>
          <a:xfrm>
            <a:off x="8458200" y="4800600"/>
            <a:ext cx="502920" cy="219456"/>
          </a:xfrm>
          <a:prstGeom prst="parallelogram">
            <a:avLst/>
          </a:prstGeom>
          <a:solidFill>
            <a:srgbClr val="E62429"/>
          </a:solidFill>
          <a:ln w="12700">
            <a:solidFill>
              <a:srgbClr val="E62429"/>
            </a:solidFill>
            <a:prstDash val="solid"/>
          </a:ln>
        </p:spPr>
      </p:sp>
      <p:sp>
        <p:nvSpPr>
          <p:cNvPr id="24" name="Text 19"/>
          <p:cNvSpPr txBox="1"/>
          <p:nvPr/>
        </p:nvSpPr>
        <p:spPr>
          <a:xfrm>
            <a:off x="8458200" y="4800600"/>
            <a:ext cx="502920" cy="219456"/>
          </a:xfrm>
          <a:prstGeom prst="rect">
            <a:avLst/>
          </a:prstGeom>
          <a:noFill/>
          <a:ln/>
        </p:spPr>
        <p:txBody>
          <a:bodyPr wrap="square" lIns="0" tIns="0" rIns="0" bIns="0" rtlCol="0" anchor="ctr"/>
          <a:lstStyle/>
          <a:p>
            <a:pPr algn="ctr" indent="0" marL="0">
              <a:buNone/>
            </a:pPr>
            <a:r>
              <a:rPr lang="en-US" sz="900" b="1" dirty="0">
                <a:solidFill>
                  <a:srgbClr val="FFFFFF"/>
                </a:solidFill>
                <a:latin typeface="Arial" pitchFamily="34" charset="0"/>
                <a:ea typeface="Arial" pitchFamily="34" charset="-122"/>
                <a:cs typeface="Arial"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5F9"/>
        </a:solidFill>
      </p:bgPr>
    </p:bg>
    <p:spTree>
      <p:nvGrpSpPr>
        <p:cNvPr id="1" name=""/>
        <p:cNvGrpSpPr/>
        <p:nvPr/>
      </p:nvGrpSpPr>
      <p:grpSpPr>
        <a:xfrm>
          <a:off x="0" y="0"/>
          <a:ext cx="0" cy="0"/>
          <a:chOff x="0" y="0"/>
          <a:chExt cx="0" cy="0"/>
        </a:xfrm>
      </p:grpSpPr>
      <p:sp>
        <p:nvSpPr>
          <p:cNvPr id="2" name="Shape 0"/>
          <p:cNvSpPr/>
          <p:nvPr/>
        </p:nvSpPr>
        <p:spPr>
          <a:xfrm>
            <a:off x="0" y="0"/>
            <a:ext cx="9144000" cy="1024128"/>
          </a:xfrm>
          <a:prstGeom prst="rect">
            <a:avLst/>
          </a:prstGeom>
          <a:solidFill>
            <a:srgbClr val="0D1020"/>
          </a:solidFill>
          <a:ln w="12700">
            <a:solidFill>
              <a:srgbClr val="0D1020"/>
            </a:solidFill>
            <a:prstDash val="solid"/>
          </a:ln>
        </p:spPr>
      </p:sp>
      <p:sp>
        <p:nvSpPr>
          <p:cNvPr id="3" name="Shape 1"/>
          <p:cNvSpPr/>
          <p:nvPr/>
        </p:nvSpPr>
        <p:spPr>
          <a:xfrm>
            <a:off x="-137160" y="1024128"/>
            <a:ext cx="3840480" cy="64008"/>
          </a:xfrm>
          <a:prstGeom prst="parallelogram">
            <a:avLst/>
          </a:prstGeom>
          <a:solidFill>
            <a:srgbClr val="E62429"/>
          </a:solidFill>
          <a:ln w="12700">
            <a:solidFill>
              <a:srgbClr val="E62429"/>
            </a:solidFill>
            <a:prstDash val="solid"/>
          </a:ln>
        </p:spPr>
      </p:sp>
      <p:sp>
        <p:nvSpPr>
          <p:cNvPr id="4" name="Shape 2"/>
          <p:cNvSpPr/>
          <p:nvPr/>
        </p:nvSpPr>
        <p:spPr>
          <a:xfrm>
            <a:off x="3611880" y="1024128"/>
            <a:ext cx="1463040" cy="64008"/>
          </a:xfrm>
          <a:prstGeom prst="parallelogram">
            <a:avLst/>
          </a:prstGeom>
          <a:solidFill>
            <a:srgbClr val="FFC72C"/>
          </a:solidFill>
          <a:ln w="12700">
            <a:solidFill>
              <a:srgbClr val="FFC72C"/>
            </a:solidFill>
            <a:prstDash val="solid"/>
          </a:ln>
        </p:spPr>
      </p:sp>
      <p:sp>
        <p:nvSpPr>
          <p:cNvPr id="5" name="Shape 3"/>
          <p:cNvSpPr/>
          <p:nvPr/>
        </p:nvSpPr>
        <p:spPr>
          <a:xfrm>
            <a:off x="292608" y="329184"/>
            <a:ext cx="146304" cy="420624"/>
          </a:xfrm>
          <a:prstGeom prst="parallelogram">
            <a:avLst/>
          </a:prstGeom>
          <a:solidFill>
            <a:srgbClr val="E62429"/>
          </a:solidFill>
          <a:ln w="12700">
            <a:solidFill>
              <a:srgbClr val="E62429"/>
            </a:solidFill>
            <a:prstDash val="solid"/>
          </a:ln>
        </p:spPr>
      </p:sp>
      <p:sp>
        <p:nvSpPr>
          <p:cNvPr id="6" name="Shape 4"/>
          <p:cNvSpPr/>
          <p:nvPr/>
        </p:nvSpPr>
        <p:spPr>
          <a:xfrm>
            <a:off x="502920" y="109728"/>
            <a:ext cx="1289304" cy="201168"/>
          </a:xfrm>
          <a:prstGeom prst="parallelogram">
            <a:avLst/>
          </a:prstGeom>
          <a:solidFill>
            <a:srgbClr val="FFC72C"/>
          </a:solidFill>
          <a:ln w="12700">
            <a:solidFill>
              <a:srgbClr val="FFC72C"/>
            </a:solidFill>
            <a:prstDash val="solid"/>
          </a:ln>
        </p:spPr>
      </p:sp>
      <p:sp>
        <p:nvSpPr>
          <p:cNvPr id="7" name="Text 5"/>
          <p:cNvSpPr txBox="1"/>
          <p:nvPr/>
        </p:nvSpPr>
        <p:spPr>
          <a:xfrm>
            <a:off x="502920" y="109728"/>
            <a:ext cx="1289304" cy="201168"/>
          </a:xfrm>
          <a:prstGeom prst="rect">
            <a:avLst/>
          </a:prstGeom>
          <a:noFill/>
          <a:ln/>
        </p:spPr>
        <p:txBody>
          <a:bodyPr wrap="square" lIns="0" tIns="0" rIns="0" bIns="0" rtlCol="0" anchor="ctr"/>
          <a:lstStyle/>
          <a:p>
            <a:pPr algn="ctr" indent="0" marL="0">
              <a:buNone/>
            </a:pPr>
            <a:r>
              <a:rPr lang="en-US" sz="800" b="1" spc="100" kern="0" dirty="0">
                <a:solidFill>
                  <a:srgbClr val="0D1020"/>
                </a:solidFill>
                <a:latin typeface="Arial" pitchFamily="34" charset="0"/>
                <a:ea typeface="Arial" pitchFamily="34" charset="-122"/>
                <a:cs typeface="Arial" pitchFamily="34" charset="-120"/>
              </a:rPr>
              <a:t>RECOMMANDATION</a:t>
            </a:r>
            <a:endParaRPr lang="en-US" sz="800" dirty="0"/>
          </a:p>
        </p:txBody>
      </p:sp>
      <p:sp>
        <p:nvSpPr>
          <p:cNvPr id="8" name="Text 6"/>
          <p:cNvSpPr txBox="1"/>
          <p:nvPr/>
        </p:nvSpPr>
        <p:spPr>
          <a:xfrm>
            <a:off x="548640" y="310896"/>
            <a:ext cx="722376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D'abord mesurer : 30 jours d'audit</a:t>
            </a:r>
            <a:endParaRPr lang="en-US" sz="2200" dirty="0"/>
          </a:p>
        </p:txBody>
      </p:sp>
      <p:sp>
        <p:nvSpPr>
          <p:cNvPr id="9" name="Text 7"/>
          <p:cNvSpPr txBox="1"/>
          <p:nvPr/>
        </p:nvSpPr>
        <p:spPr>
          <a:xfrm>
            <a:off x="548640" y="749808"/>
            <a:ext cx="7315200" cy="237744"/>
          </a:xfrm>
          <a:prstGeom prst="rect">
            <a:avLst/>
          </a:prstGeom>
          <a:noFill/>
          <a:ln/>
        </p:spPr>
        <p:txBody>
          <a:bodyPr wrap="square" lIns="0" tIns="0" rIns="0" bIns="0" rtlCol="0" anchor="ctr"/>
          <a:lstStyle/>
          <a:p>
            <a:pPr indent="0" marL="0">
              <a:buNone/>
            </a:pPr>
            <a:r>
              <a:rPr lang="en-US" sz="1100" dirty="0">
                <a:solidFill>
                  <a:srgbClr val="FFC72C"/>
                </a:solidFill>
                <a:latin typeface="Calibri" pitchFamily="34" charset="0"/>
                <a:ea typeface="Calibri" pitchFamily="34" charset="-122"/>
                <a:cs typeface="Calibri" pitchFamily="34" charset="-120"/>
              </a:rPr>
              <a:t>objectif SMART et données à extraire en priorité, et pourquoi</a:t>
            </a:r>
            <a:endParaRPr lang="en-US" sz="1100" dirty="0"/>
          </a:p>
        </p:txBody>
      </p:sp>
      <p:pic>
        <p:nvPicPr>
          <p:cNvPr id="10" name="Image 0" descr="/tmp/claude-0/-home-user-SOCIO/dd1a12ff-0491-58c5-8c13-7e8ef7d55990/scratchpad/brand/logo.png">    </p:cNvPr>
          <p:cNvPicPr>
            <a:picLocks noChangeAspect="1"/>
          </p:cNvPicPr>
          <p:nvPr/>
        </p:nvPicPr>
        <p:blipFill>
          <a:blip r:embed="rId1"/>
          <a:stretch>
            <a:fillRect/>
          </a:stretch>
        </p:blipFill>
        <p:spPr>
          <a:xfrm>
            <a:off x="7973568" y="201168"/>
            <a:ext cx="960120" cy="402336"/>
          </a:xfrm>
          <a:prstGeom prst="rect">
            <a:avLst/>
          </a:prstGeom>
        </p:spPr>
      </p:pic>
      <p:sp>
        <p:nvSpPr>
          <p:cNvPr id="11" name="Shape 8"/>
          <p:cNvSpPr/>
          <p:nvPr/>
        </p:nvSpPr>
        <p:spPr>
          <a:xfrm>
            <a:off x="457200" y="1143000"/>
            <a:ext cx="8229600" cy="658368"/>
          </a:xfrm>
          <a:prstGeom prst="roundRect">
            <a:avLst>
              <a:gd name="adj" fmla="val 11111"/>
            </a:avLst>
          </a:prstGeom>
          <a:solidFill>
            <a:srgbClr val="0D1020"/>
          </a:solidFill>
          <a:ln w="12700">
            <a:solidFill>
              <a:srgbClr val="0D1020"/>
            </a:solidFill>
            <a:prstDash val="solid"/>
          </a:ln>
        </p:spPr>
      </p:sp>
      <p:sp>
        <p:nvSpPr>
          <p:cNvPr id="12" name="Text 9"/>
          <p:cNvSpPr txBox="1"/>
          <p:nvPr/>
        </p:nvSpPr>
        <p:spPr>
          <a:xfrm>
            <a:off x="640080" y="1161288"/>
            <a:ext cx="7863840" cy="621792"/>
          </a:xfrm>
          <a:prstGeom prst="rect">
            <a:avLst/>
          </a:prstGeom>
          <a:noFill/>
          <a:ln/>
        </p:spPr>
        <p:txBody>
          <a:bodyPr wrap="square" lIns="0" tIns="0" rIns="0" bIns="0" rtlCol="0" anchor="ctr"/>
          <a:lstStyle/>
          <a:p>
            <a:pPr indent="0" marL="0">
              <a:buNone/>
            </a:pPr>
            <a:r>
              <a:rPr lang="en-US" sz="1150" b="1" dirty="0">
                <a:solidFill>
                  <a:srgbClr val="E62429"/>
                </a:solidFill>
                <a:latin typeface="Calibri" pitchFamily="34" charset="0"/>
                <a:ea typeface="Calibri" pitchFamily="34" charset="-122"/>
                <a:cs typeface="Calibri" pitchFamily="34" charset="-120"/>
              </a:rPr>
              <a:t>Objectif : </a:t>
            </a:r>
            <a:pPr indent="0" marL="0">
              <a:buNone/>
            </a:pPr>
            <a:r>
              <a:rPr lang="en-US" sz="1150" dirty="0">
                <a:solidFill>
                  <a:srgbClr val="FFFFFF"/>
                </a:solidFill>
                <a:latin typeface="Calibri" pitchFamily="34" charset="0"/>
                <a:ea typeface="Calibri" pitchFamily="34" charset="-122"/>
                <a:cs typeface="Calibri" pitchFamily="34" charset="-120"/>
              </a:rPr>
              <a:t>d'ici le 31/03/2027, qu'un joueur qui perd au moins 7 de ses 10 premiers matchs ne parte pas plus de 1,2 fois plus souvent dans la semaine que les autres, chez les nouveaux comme chez les joueurs de retour.</a:t>
            </a:r>
            <a:endParaRPr lang="en-US" sz="11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1901952"/>
          <a:ext cx="8229600" cy="914400"/>
        </p:xfrm>
        <a:graphic>
          <a:graphicData uri="http://schemas.openxmlformats.org/drawingml/2006/table">
            <a:tbl>
              <a:tblPr/>
              <a:tblGrid>
                <a:gridCol w="3611880"/>
                <a:gridCol w="2194560"/>
                <a:gridCol w="2423160"/>
              </a:tblGrid>
              <a:tr h="228600">
                <a:tc>
                  <a:txBody>
                    <a:bodyPr/>
                    <a:lstStyle/>
                    <a:p>
                      <a:pPr indent="0" marL="0">
                        <a:buNone/>
                      </a:pPr>
                      <a:r>
                        <a:rPr lang="en-US" sz="1000" b="1" dirty="0">
                          <a:solidFill>
                            <a:srgbClr val="FFFFFF"/>
                          </a:solidFill>
                          <a:latin typeface="Arial" pitchFamily="34" charset="0"/>
                          <a:ea typeface="Arial" pitchFamily="34" charset="-122"/>
                          <a:cs typeface="Arial" pitchFamily="34" charset="-120"/>
                        </a:rPr>
                        <a:t>Donnée à extraire</a:t>
                      </a:r>
                      <a:endParaRPr lang="en-US" sz="1000" dirty="0">
                        <a:latin typeface="Arial" charset="0"/>
                        <a:ea typeface="Arial" charset="0"/>
                        <a:cs typeface="Arial"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E62429"/>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Ce qu'elle nous dit</a:t>
                      </a:r>
                      <a:endParaRPr lang="en-US" sz="1000" dirty="0">
                        <a:latin typeface="Arial" charset="0"/>
                        <a:ea typeface="Arial" charset="0"/>
                        <a:cs typeface="Arial"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E62429"/>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Pourquoi en priorité</a:t>
                      </a:r>
                      <a:endParaRPr lang="en-US" sz="1000" dirty="0">
                        <a:latin typeface="Arial" charset="0"/>
                        <a:ea typeface="Arial" charset="0"/>
                        <a:cs typeface="Arial"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E62429"/>
                    </a:solidFill>
                  </a:tcPr>
                </a:tc>
              </a:tr>
              <a:tr h="256032">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Résultats des 10 premiers matchs et départ à 7 jours</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Si perdre au début fait partir</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C'est la mesure de l'objectif</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r>
              <a:tr h="256032">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Mode et plateforme de ces 10 premiers matchs</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Où jouent les nouveaux</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Dit quel mode corriger en premier (Steam = PC seul)</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r>
              <a:tr h="256032">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Niveau de départ attribué / niveau réel après 50 matchs</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Si le jeu place mal un nouveau</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Teste la cause A (démarrage à froid)</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r>
              <a:tr h="256032">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Écart de niveau par match, selon les joueurs en file, l'heure, la région</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Si l'écart grandit quand la file se vide</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Teste la cause B (manque de joueurs)</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r>
              <a:tr h="256032">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Revenants en classé : absence, rang avant / après, bilan, départ à 7 jours</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Si le rang au retour est périmé</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Teste la cause C en classé</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r>
              <a:tr h="256032">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Revenants hors classé : mode rejoué ; en partie rapide, écart subi, bilan, départ</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Si un revenant est mal placé en partie rapide</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Teste C hors classé (il ne rejoue pas forcément en classé)</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r>
              <a:tr h="256032">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Départs en classé avant / après les placements de la saison 5</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Si mieux placer les joueurs les a retenus</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Expérience déjà faite : la preuve la moins chère</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r>
            </a:tbl>
          </a:graphicData>
        </a:graphic>
      </p:graphicFrame>
      <p:sp>
        <p:nvSpPr>
          <p:cNvPr id="14" name="Text 10"/>
          <p:cNvSpPr txBox="1"/>
          <p:nvPr/>
        </p:nvSpPr>
        <p:spPr>
          <a:xfrm>
            <a:off x="457200" y="4443984"/>
            <a:ext cx="8229600" cy="301752"/>
          </a:xfrm>
          <a:prstGeom prst="rect">
            <a:avLst/>
          </a:prstGeom>
          <a:noFill/>
          <a:ln/>
        </p:spPr>
        <p:txBody>
          <a:bodyPr wrap="square" lIns="0" tIns="0" rIns="0" bIns="0" rtlCol="0" anchor="ctr"/>
          <a:lstStyle/>
          <a:p>
            <a:pPr indent="0" marL="0">
              <a:buNone/>
            </a:pPr>
            <a:r>
              <a:rPr lang="en-US" sz="900" i="1" dirty="0">
                <a:solidFill>
                  <a:srgbClr val="5E6378"/>
                </a:solidFill>
                <a:latin typeface="Calibri" pitchFamily="34" charset="0"/>
                <a:ea typeface="Calibri" pitchFamily="34" charset="-122"/>
                <a:cs typeface="Calibri" pitchFamily="34" charset="-120"/>
              </a:rPr>
              <a:t>Ensuite, pour écarter les autres explications : héros joué, parties avec bots, joueurs en groupe, comptes arrivés en 2025. Tout existe déjà dans vos serveurs.</a:t>
            </a:r>
            <a:endParaRPr lang="en-US" sz="900" dirty="0"/>
          </a:p>
        </p:txBody>
      </p:sp>
      <p:sp>
        <p:nvSpPr>
          <p:cNvPr id="15" name="Text 11"/>
          <p:cNvSpPr txBox="1"/>
          <p:nvPr/>
        </p:nvSpPr>
        <p:spPr>
          <a:xfrm>
            <a:off x="457200" y="4773168"/>
            <a:ext cx="7863840" cy="256032"/>
          </a:xfrm>
          <a:prstGeom prst="rect">
            <a:avLst/>
          </a:prstGeom>
          <a:noFill/>
          <a:ln/>
        </p:spPr>
        <p:txBody>
          <a:bodyPr wrap="square" lIns="0" tIns="0" rIns="0" bIns="0" rtlCol="0" anchor="ctr"/>
          <a:lstStyle/>
          <a:p>
            <a:pPr indent="0" marL="0">
              <a:buNone/>
            </a:pPr>
            <a:r>
              <a:rPr lang="en-US" sz="850" dirty="0">
                <a:solidFill>
                  <a:srgbClr val="5E6378"/>
                </a:solidFill>
                <a:latin typeface="Calibri" pitchFamily="34" charset="0"/>
                <a:ea typeface="Calibri" pitchFamily="34" charset="-122"/>
                <a:cs typeface="Calibri" pitchFamily="34" charset="-120"/>
              </a:rPr>
              <a:t>Sources : </a:t>
            </a:r>
            <a:pPr indent="0" marL="0">
              <a:buNone/>
            </a:pPr>
            <a:r>
              <a:rPr lang="en-US" sz="850" u="sng" dirty="0">
                <a:solidFill>
                  <a:srgbClr val="2F3C7E"/>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plan de collecte complet (matrice ICE)</a:t>
            </a:r>
            <a:pPr indent="0" marL="0">
              <a:buNone/>
            </a:pPr>
            <a:r>
              <a:rPr lang="en-US" sz="850" dirty="0">
                <a:solidFill>
                  <a:srgbClr val="5E6378"/>
                </a:solidFill>
                <a:latin typeface="Calibri" pitchFamily="34" charset="0"/>
                <a:ea typeface="Calibri" pitchFamily="34" charset="-122"/>
                <a:cs typeface="Calibri" pitchFamily="34" charset="-120"/>
              </a:rPr>
              <a:t> · </a:t>
            </a:r>
            <a:pPr indent="0" marL="0">
              <a:buNone/>
            </a:pPr>
            <a:r>
              <a:rPr lang="en-US" sz="850" u="sng" dirty="0">
                <a:solidFill>
                  <a:srgbClr val="2F3C7E"/>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notes de patch S5</a:t>
            </a:r>
            <a:endParaRPr lang="en-US" sz="850" dirty="0"/>
          </a:p>
        </p:txBody>
      </p:sp>
      <p:sp>
        <p:nvSpPr>
          <p:cNvPr id="16" name="Shape 12"/>
          <p:cNvSpPr/>
          <p:nvPr/>
        </p:nvSpPr>
        <p:spPr>
          <a:xfrm>
            <a:off x="8458200" y="4800600"/>
            <a:ext cx="502920" cy="219456"/>
          </a:xfrm>
          <a:prstGeom prst="parallelogram">
            <a:avLst/>
          </a:prstGeom>
          <a:solidFill>
            <a:srgbClr val="E62429"/>
          </a:solidFill>
          <a:ln w="12700">
            <a:solidFill>
              <a:srgbClr val="E62429"/>
            </a:solidFill>
            <a:prstDash val="solid"/>
          </a:ln>
        </p:spPr>
      </p:sp>
      <p:sp>
        <p:nvSpPr>
          <p:cNvPr id="17" name="Text 13"/>
          <p:cNvSpPr txBox="1"/>
          <p:nvPr/>
        </p:nvSpPr>
        <p:spPr>
          <a:xfrm>
            <a:off x="8458200" y="4800600"/>
            <a:ext cx="502920" cy="219456"/>
          </a:xfrm>
          <a:prstGeom prst="rect">
            <a:avLst/>
          </a:prstGeom>
          <a:noFill/>
          <a:ln/>
        </p:spPr>
        <p:txBody>
          <a:bodyPr wrap="square" lIns="0" tIns="0" rIns="0" bIns="0" rtlCol="0" anchor="ctr"/>
          <a:lstStyle/>
          <a:p>
            <a:pPr algn="ctr" indent="0" marL="0">
              <a:buNone/>
            </a:pPr>
            <a:r>
              <a:rPr lang="en-US" sz="900" b="1" dirty="0">
                <a:solidFill>
                  <a:srgbClr val="FFFFFF"/>
                </a:solidFill>
                <a:latin typeface="Arial" pitchFamily="34" charset="0"/>
                <a:ea typeface="Arial" pitchFamily="34" charset="-122"/>
                <a:cs typeface="Arial"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1024128"/>
          </a:xfrm>
          <a:prstGeom prst="rect">
            <a:avLst/>
          </a:prstGeom>
          <a:solidFill>
            <a:srgbClr val="0D1020"/>
          </a:solidFill>
          <a:ln w="12700">
            <a:solidFill>
              <a:srgbClr val="0D1020"/>
            </a:solidFill>
            <a:prstDash val="solid"/>
          </a:ln>
        </p:spPr>
      </p:sp>
      <p:sp>
        <p:nvSpPr>
          <p:cNvPr id="3" name="Shape 1"/>
          <p:cNvSpPr/>
          <p:nvPr/>
        </p:nvSpPr>
        <p:spPr>
          <a:xfrm>
            <a:off x="-137160" y="1024128"/>
            <a:ext cx="3840480" cy="64008"/>
          </a:xfrm>
          <a:prstGeom prst="parallelogram">
            <a:avLst/>
          </a:prstGeom>
          <a:solidFill>
            <a:srgbClr val="E62429"/>
          </a:solidFill>
          <a:ln w="12700">
            <a:solidFill>
              <a:srgbClr val="E62429"/>
            </a:solidFill>
            <a:prstDash val="solid"/>
          </a:ln>
        </p:spPr>
      </p:sp>
      <p:sp>
        <p:nvSpPr>
          <p:cNvPr id="4" name="Shape 2"/>
          <p:cNvSpPr/>
          <p:nvPr/>
        </p:nvSpPr>
        <p:spPr>
          <a:xfrm>
            <a:off x="3611880" y="1024128"/>
            <a:ext cx="1463040" cy="64008"/>
          </a:xfrm>
          <a:prstGeom prst="parallelogram">
            <a:avLst/>
          </a:prstGeom>
          <a:solidFill>
            <a:srgbClr val="FFC72C"/>
          </a:solidFill>
          <a:ln w="12700">
            <a:solidFill>
              <a:srgbClr val="FFC72C"/>
            </a:solidFill>
            <a:prstDash val="solid"/>
          </a:ln>
        </p:spPr>
      </p:sp>
      <p:sp>
        <p:nvSpPr>
          <p:cNvPr id="5" name="Shape 3"/>
          <p:cNvSpPr/>
          <p:nvPr/>
        </p:nvSpPr>
        <p:spPr>
          <a:xfrm>
            <a:off x="292608" y="329184"/>
            <a:ext cx="146304" cy="420624"/>
          </a:xfrm>
          <a:prstGeom prst="parallelogram">
            <a:avLst/>
          </a:prstGeom>
          <a:solidFill>
            <a:srgbClr val="E62429"/>
          </a:solidFill>
          <a:ln w="12700">
            <a:solidFill>
              <a:srgbClr val="E62429"/>
            </a:solidFill>
            <a:prstDash val="solid"/>
          </a:ln>
        </p:spPr>
      </p:sp>
      <p:sp>
        <p:nvSpPr>
          <p:cNvPr id="6" name="Shape 4"/>
          <p:cNvSpPr/>
          <p:nvPr/>
        </p:nvSpPr>
        <p:spPr>
          <a:xfrm>
            <a:off x="502920" y="109728"/>
            <a:ext cx="1289304" cy="201168"/>
          </a:xfrm>
          <a:prstGeom prst="parallelogram">
            <a:avLst/>
          </a:prstGeom>
          <a:solidFill>
            <a:srgbClr val="FFC72C"/>
          </a:solidFill>
          <a:ln w="12700">
            <a:solidFill>
              <a:srgbClr val="FFC72C"/>
            </a:solidFill>
            <a:prstDash val="solid"/>
          </a:ln>
        </p:spPr>
      </p:sp>
      <p:sp>
        <p:nvSpPr>
          <p:cNvPr id="7" name="Text 5"/>
          <p:cNvSpPr txBox="1"/>
          <p:nvPr/>
        </p:nvSpPr>
        <p:spPr>
          <a:xfrm>
            <a:off x="502920" y="109728"/>
            <a:ext cx="1289304" cy="201168"/>
          </a:xfrm>
          <a:prstGeom prst="rect">
            <a:avLst/>
          </a:prstGeom>
          <a:noFill/>
          <a:ln/>
        </p:spPr>
        <p:txBody>
          <a:bodyPr wrap="square" lIns="0" tIns="0" rIns="0" bIns="0" rtlCol="0" anchor="ctr"/>
          <a:lstStyle/>
          <a:p>
            <a:pPr algn="ctr" indent="0" marL="0">
              <a:buNone/>
            </a:pPr>
            <a:r>
              <a:rPr lang="en-US" sz="800" b="1" spc="100" kern="0" dirty="0">
                <a:solidFill>
                  <a:srgbClr val="0D1020"/>
                </a:solidFill>
                <a:latin typeface="Arial" pitchFamily="34" charset="0"/>
                <a:ea typeface="Arial" pitchFamily="34" charset="-122"/>
                <a:cs typeface="Arial" pitchFamily="34" charset="-120"/>
              </a:rPr>
              <a:t>RECOMMANDATION</a:t>
            </a:r>
            <a:endParaRPr lang="en-US" sz="800" dirty="0"/>
          </a:p>
        </p:txBody>
      </p:sp>
      <p:sp>
        <p:nvSpPr>
          <p:cNvPr id="8" name="Text 6"/>
          <p:cNvSpPr txBox="1"/>
          <p:nvPr/>
        </p:nvSpPr>
        <p:spPr>
          <a:xfrm>
            <a:off x="548640" y="310896"/>
            <a:ext cx="722376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Matrice ICE : 15 données indispensables</a:t>
            </a:r>
            <a:endParaRPr lang="en-US" sz="2200" dirty="0"/>
          </a:p>
        </p:txBody>
      </p:sp>
      <p:sp>
        <p:nvSpPr>
          <p:cNvPr id="9" name="Text 7"/>
          <p:cNvSpPr txBox="1"/>
          <p:nvPr/>
        </p:nvSpPr>
        <p:spPr>
          <a:xfrm>
            <a:off x="548640" y="749808"/>
            <a:ext cx="7315200" cy="237744"/>
          </a:xfrm>
          <a:prstGeom prst="rect">
            <a:avLst/>
          </a:prstGeom>
          <a:noFill/>
          <a:ln/>
        </p:spPr>
        <p:txBody>
          <a:bodyPr wrap="square" lIns="0" tIns="0" rIns="0" bIns="0" rtlCol="0" anchor="ctr"/>
          <a:lstStyle/>
          <a:p>
            <a:pPr indent="0" marL="0">
              <a:buNone/>
            </a:pPr>
            <a:r>
              <a:rPr lang="en-US" sz="1100" dirty="0">
                <a:solidFill>
                  <a:srgbClr val="FFC72C"/>
                </a:solidFill>
                <a:latin typeface="Calibri" pitchFamily="34" charset="0"/>
                <a:ea typeface="Calibri" pitchFamily="34" charset="-122"/>
                <a:cs typeface="Calibri" pitchFamily="34" charset="-120"/>
              </a:rPr>
              <a:t>Impact × Confiance × Facilité, chacun sur 5 = score sur 125 · coupe sous 30</a:t>
            </a:r>
            <a:endParaRPr lang="en-US" sz="1100" dirty="0"/>
          </a:p>
        </p:txBody>
      </p:sp>
      <p:pic>
        <p:nvPicPr>
          <p:cNvPr id="10" name="Image 0" descr="/tmp/claude-0/-home-user-SOCIO/dd1a12ff-0491-58c5-8c13-7e8ef7d55990/scratchpad/brand/logo.png">    </p:cNvPr>
          <p:cNvPicPr>
            <a:picLocks noChangeAspect="1"/>
          </p:cNvPicPr>
          <p:nvPr/>
        </p:nvPicPr>
        <p:blipFill>
          <a:blip r:embed="rId1"/>
          <a:stretch>
            <a:fillRect/>
          </a:stretch>
        </p:blipFill>
        <p:spPr>
          <a:xfrm>
            <a:off x="7973568" y="201168"/>
            <a:ext cx="960120" cy="402336"/>
          </a:xfrm>
          <a:prstGeom prst="rect">
            <a:avLst/>
          </a:prstGeom>
        </p:spPr>
      </p:pic>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3566160"/>
                <a:gridCol w="548640"/>
                <a:gridCol w="548640"/>
                <a:gridCol w="548640"/>
                <a:gridCol w="685800"/>
                <a:gridCol w="2331720"/>
              </a:tblGrid>
              <a:tr h="214884">
                <a:tc>
                  <a:txBody>
                    <a:bodyPr/>
                    <a:lstStyle/>
                    <a:p>
                      <a:pPr algn="ctr" indent="0" marL="0">
                        <a:buNone/>
                      </a:pPr>
                      <a:r>
                        <a:rPr lang="en-US" sz="950" b="1" dirty="0">
                          <a:solidFill>
                            <a:srgbClr val="FFFFFF"/>
                          </a:solidFill>
                          <a:latin typeface="Arial" pitchFamily="34" charset="0"/>
                          <a:ea typeface="Arial" pitchFamily="34" charset="-122"/>
                          <a:cs typeface="Arial" pitchFamily="34" charset="-120"/>
                        </a:rPr>
                        <a:t>Donnée candidate</a:t>
                      </a:r>
                      <a:endParaRPr lang="en-US" sz="95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0D1020"/>
                    </a:solidFill>
                  </a:tcPr>
                </a:tc>
                <a:tc>
                  <a:txBody>
                    <a:bodyPr/>
                    <a:lstStyle/>
                    <a:p>
                      <a:pPr algn="ctr" indent="0" marL="0">
                        <a:buNone/>
                      </a:pPr>
                      <a:r>
                        <a:rPr lang="en-US" sz="950" b="1" dirty="0">
                          <a:solidFill>
                            <a:srgbClr val="FFFFFF"/>
                          </a:solidFill>
                          <a:latin typeface="Arial" pitchFamily="34" charset="0"/>
                          <a:ea typeface="Arial" pitchFamily="34" charset="-122"/>
                          <a:cs typeface="Arial" pitchFamily="34" charset="-120"/>
                        </a:rPr>
                        <a:t>I /5</a:t>
                      </a:r>
                      <a:endParaRPr lang="en-US" sz="95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0D1020"/>
                    </a:solidFill>
                  </a:tcPr>
                </a:tc>
                <a:tc>
                  <a:txBody>
                    <a:bodyPr/>
                    <a:lstStyle/>
                    <a:p>
                      <a:pPr algn="ctr" indent="0" marL="0">
                        <a:buNone/>
                      </a:pPr>
                      <a:r>
                        <a:rPr lang="en-US" sz="950" b="1" dirty="0">
                          <a:solidFill>
                            <a:srgbClr val="FFFFFF"/>
                          </a:solidFill>
                          <a:latin typeface="Arial" pitchFamily="34" charset="0"/>
                          <a:ea typeface="Arial" pitchFamily="34" charset="-122"/>
                          <a:cs typeface="Arial" pitchFamily="34" charset="-120"/>
                        </a:rPr>
                        <a:t>C /5</a:t>
                      </a:r>
                      <a:endParaRPr lang="en-US" sz="95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0D1020"/>
                    </a:solidFill>
                  </a:tcPr>
                </a:tc>
                <a:tc>
                  <a:txBody>
                    <a:bodyPr/>
                    <a:lstStyle/>
                    <a:p>
                      <a:pPr algn="ctr" indent="0" marL="0">
                        <a:buNone/>
                      </a:pPr>
                      <a:r>
                        <a:rPr lang="en-US" sz="950" b="1" dirty="0">
                          <a:solidFill>
                            <a:srgbClr val="FFFFFF"/>
                          </a:solidFill>
                          <a:latin typeface="Arial" pitchFamily="34" charset="0"/>
                          <a:ea typeface="Arial" pitchFamily="34" charset="-122"/>
                          <a:cs typeface="Arial" pitchFamily="34" charset="-120"/>
                        </a:rPr>
                        <a:t>E /5</a:t>
                      </a:r>
                      <a:endParaRPr lang="en-US" sz="95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0D1020"/>
                    </a:solidFill>
                  </a:tcPr>
                </a:tc>
                <a:tc>
                  <a:txBody>
                    <a:bodyPr/>
                    <a:lstStyle/>
                    <a:p>
                      <a:pPr algn="ctr" indent="0" marL="0">
                        <a:buNone/>
                      </a:pPr>
                      <a:r>
                        <a:rPr lang="en-US" sz="950" b="1" dirty="0">
                          <a:solidFill>
                            <a:srgbClr val="FFFFFF"/>
                          </a:solidFill>
                          <a:latin typeface="Arial" pitchFamily="34" charset="0"/>
                          <a:ea typeface="Arial" pitchFamily="34" charset="-122"/>
                          <a:cs typeface="Arial" pitchFamily="34" charset="-120"/>
                        </a:rPr>
                        <a:t>Score</a:t>
                      </a:r>
                      <a:endParaRPr lang="en-US" sz="95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0D1020"/>
                    </a:solidFill>
                  </a:tcPr>
                </a:tc>
                <a:tc>
                  <a:txBody>
                    <a:bodyPr/>
                    <a:lstStyle/>
                    <a:p>
                      <a:pPr algn="ctr" indent="0" marL="0">
                        <a:buNone/>
                      </a:pPr>
                      <a:r>
                        <a:rPr lang="en-US" sz="950" b="1" dirty="0">
                          <a:solidFill>
                            <a:srgbClr val="FFFFFF"/>
                          </a:solidFill>
                          <a:latin typeface="Arial" pitchFamily="34" charset="0"/>
                          <a:ea typeface="Arial" pitchFamily="34" charset="-122"/>
                          <a:cs typeface="Arial" pitchFamily="34" charset="-120"/>
                        </a:rPr>
                        <a:t>Décision</a:t>
                      </a:r>
                      <a:endParaRPr lang="en-US" sz="95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0D1020"/>
                    </a:solidFill>
                  </a:tcPr>
                </a:tc>
              </a:tr>
              <a:tr h="214884">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Mode et plateforme des 10 premiers matchs</a:t>
                      </a:r>
                      <a:endParaRPr lang="en-US" sz="900" dirty="0">
                        <a:latin typeface="Calibri" charset="0"/>
                        <a:ea typeface="Calibri" charset="0"/>
                        <a:cs typeface="Calibri"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1E8C93"/>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C2185B"/>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C98A00"/>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1050" b="1" dirty="0">
                          <a:solidFill>
                            <a:srgbClr val="1F2233"/>
                          </a:solidFill>
                          <a:latin typeface="Arial" pitchFamily="34" charset="0"/>
                          <a:ea typeface="Arial" pitchFamily="34" charset="-122"/>
                          <a:cs typeface="Arial" pitchFamily="34" charset="-120"/>
                        </a:rPr>
                        <a:t>125</a:t>
                      </a:r>
                      <a:endParaRPr lang="en-US" sz="105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Indispensable</a:t>
                      </a:r>
                      <a:endParaRPr lang="en-US" sz="850" dirty="0">
                        <a:latin typeface="Calibri" charset="0"/>
                        <a:ea typeface="Calibri" charset="0"/>
                        <a:cs typeface="Calibri"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2E7D5B"/>
                    </a:solidFill>
                  </a:tcPr>
                </a:tc>
              </a:tr>
              <a:tr h="214884">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Écart de niveau accepté × joueurs en file (heure, région)</a:t>
                      </a:r>
                      <a:endParaRPr lang="en-US" sz="900" dirty="0">
                        <a:latin typeface="Calibri" charset="0"/>
                        <a:ea typeface="Calibri" charset="0"/>
                        <a:cs typeface="Calibri"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1E8C93"/>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C2185B"/>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C98A00"/>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1050" b="1" dirty="0">
                          <a:solidFill>
                            <a:srgbClr val="1F2233"/>
                          </a:solidFill>
                          <a:latin typeface="Arial" pitchFamily="34" charset="0"/>
                          <a:ea typeface="Arial" pitchFamily="34" charset="-122"/>
                          <a:cs typeface="Arial" pitchFamily="34" charset="-120"/>
                        </a:rPr>
                        <a:t>125</a:t>
                      </a:r>
                      <a:endParaRPr lang="en-US" sz="105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Indispensable · cause B</a:t>
                      </a:r>
                      <a:endParaRPr lang="en-US" sz="850" dirty="0">
                        <a:latin typeface="Calibri" charset="0"/>
                        <a:ea typeface="Calibri" charset="0"/>
                        <a:cs typeface="Calibri"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2E7D5B"/>
                    </a:solidFill>
                  </a:tcPr>
                </a:tc>
              </a:tr>
              <a:tr h="214884">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Départ à 7 jours × bilan des 10 premiers matchs</a:t>
                      </a:r>
                      <a:endParaRPr lang="en-US" sz="900" dirty="0">
                        <a:latin typeface="Calibri" charset="0"/>
                        <a:ea typeface="Calibri" charset="0"/>
                        <a:cs typeface="Calibri"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1E8C93"/>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C2185B"/>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C98A00"/>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1050" b="1" dirty="0">
                          <a:solidFill>
                            <a:srgbClr val="1F2233"/>
                          </a:solidFill>
                          <a:latin typeface="Arial" pitchFamily="34" charset="0"/>
                          <a:ea typeface="Arial" pitchFamily="34" charset="-122"/>
                          <a:cs typeface="Arial" pitchFamily="34" charset="-120"/>
                        </a:rPr>
                        <a:t>100</a:t>
                      </a:r>
                      <a:endParaRPr lang="en-US" sz="105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Indispensable · mesure l'objectif</a:t>
                      </a:r>
                      <a:endParaRPr lang="en-US" sz="850" dirty="0">
                        <a:latin typeface="Calibri" charset="0"/>
                        <a:ea typeface="Calibri" charset="0"/>
                        <a:cs typeface="Calibri"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2E7D5B"/>
                    </a:solidFill>
                  </a:tcPr>
                </a:tc>
              </a:tr>
              <a:tr h="214884">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Niveau de départ et vitesse de convergence</a:t>
                      </a:r>
                      <a:endParaRPr lang="en-US" sz="900" dirty="0">
                        <a:latin typeface="Calibri" charset="0"/>
                        <a:ea typeface="Calibri" charset="0"/>
                        <a:cs typeface="Calibri"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1E8C93"/>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C2185B"/>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C98A00"/>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1050" b="1" dirty="0">
                          <a:solidFill>
                            <a:srgbClr val="1F2233"/>
                          </a:solidFill>
                          <a:latin typeface="Arial" pitchFamily="34" charset="0"/>
                          <a:ea typeface="Arial" pitchFamily="34" charset="-122"/>
                          <a:cs typeface="Arial" pitchFamily="34" charset="-120"/>
                        </a:rPr>
                        <a:t>100</a:t>
                      </a:r>
                      <a:endParaRPr lang="en-US" sz="105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Indispensable · cause A</a:t>
                      </a:r>
                      <a:endParaRPr lang="en-US" sz="850" dirty="0">
                        <a:latin typeface="Calibri" charset="0"/>
                        <a:ea typeface="Calibri" charset="0"/>
                        <a:cs typeface="Calibri"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2E7D5B"/>
                    </a:solidFill>
                  </a:tcPr>
                </a:tc>
              </a:tr>
              <a:tr h="214884">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Revenants en classé : absence × rang au retour × bilan</a:t>
                      </a:r>
                      <a:endParaRPr lang="en-US" sz="900" dirty="0">
                        <a:latin typeface="Calibri" charset="0"/>
                        <a:ea typeface="Calibri" charset="0"/>
                        <a:cs typeface="Calibri"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1E8C93"/>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C2185B"/>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C98A00"/>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1050" b="1" dirty="0">
                          <a:solidFill>
                            <a:srgbClr val="1F2233"/>
                          </a:solidFill>
                          <a:latin typeface="Arial" pitchFamily="34" charset="0"/>
                          <a:ea typeface="Arial" pitchFamily="34" charset="-122"/>
                          <a:cs typeface="Arial" pitchFamily="34" charset="-120"/>
                        </a:rPr>
                        <a:t>100</a:t>
                      </a:r>
                      <a:endParaRPr lang="en-US" sz="105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Indispensable · cause C</a:t>
                      </a:r>
                      <a:endParaRPr lang="en-US" sz="850" dirty="0">
                        <a:latin typeface="Calibri" charset="0"/>
                        <a:ea typeface="Calibri" charset="0"/>
                        <a:cs typeface="Calibri"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2E7D5B"/>
                    </a:solidFill>
                  </a:tcPr>
                </a:tc>
              </a:tr>
              <a:tr h="214884">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Revenants : mode rejoué au retour</a:t>
                      </a:r>
                      <a:endParaRPr lang="en-US" sz="900" dirty="0">
                        <a:latin typeface="Calibri" charset="0"/>
                        <a:ea typeface="Calibri" charset="0"/>
                        <a:cs typeface="Calibri"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1E8C93"/>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C2185B"/>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C98A00"/>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1050" b="1" dirty="0">
                          <a:solidFill>
                            <a:srgbClr val="1F2233"/>
                          </a:solidFill>
                          <a:latin typeface="Arial" pitchFamily="34" charset="0"/>
                          <a:ea typeface="Arial" pitchFamily="34" charset="-122"/>
                          <a:cs typeface="Arial" pitchFamily="34" charset="-120"/>
                        </a:rPr>
                        <a:t>100</a:t>
                      </a:r>
                      <a:endParaRPr lang="en-US" sz="105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Indispensable · où agir pour C</a:t>
                      </a:r>
                      <a:endParaRPr lang="en-US" sz="850" dirty="0">
                        <a:latin typeface="Calibri" charset="0"/>
                        <a:ea typeface="Calibri" charset="0"/>
                        <a:cs typeface="Calibri"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2E7D5B"/>
                    </a:solidFill>
                  </a:tcPr>
                </a:tc>
              </a:tr>
              <a:tr h="214884">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Revenants en partie rapide : écart subi × bilan</a:t>
                      </a:r>
                      <a:endParaRPr lang="en-US" sz="900" dirty="0">
                        <a:latin typeface="Calibri" charset="0"/>
                        <a:ea typeface="Calibri" charset="0"/>
                        <a:cs typeface="Calibri"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1E8C93"/>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C2185B"/>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C98A00"/>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1050" b="1" dirty="0">
                          <a:solidFill>
                            <a:srgbClr val="1F2233"/>
                          </a:solidFill>
                          <a:latin typeface="Arial" pitchFamily="34" charset="0"/>
                          <a:ea typeface="Arial" pitchFamily="34" charset="-122"/>
                          <a:cs typeface="Arial" pitchFamily="34" charset="-120"/>
                        </a:rPr>
                        <a:t>100</a:t>
                      </a:r>
                      <a:endParaRPr lang="en-US" sz="105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Indispensable · cause C hors classé</a:t>
                      </a:r>
                      <a:endParaRPr lang="en-US" sz="850" dirty="0">
                        <a:latin typeface="Calibri" charset="0"/>
                        <a:ea typeface="Calibri" charset="0"/>
                        <a:cs typeface="Calibri"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2E7D5B"/>
                    </a:solidFill>
                  </a:tcPr>
                </a:tc>
              </a:tr>
              <a:tr h="214884">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Performance des comptes neufs (smurfs)</a:t>
                      </a:r>
                      <a:endParaRPr lang="en-US" sz="900" dirty="0">
                        <a:latin typeface="Calibri" charset="0"/>
                        <a:ea typeface="Calibri" charset="0"/>
                        <a:cs typeface="Calibri"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1E8C93"/>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C2185B"/>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C98A00"/>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1050" b="1" dirty="0">
                          <a:solidFill>
                            <a:srgbClr val="1F2233"/>
                          </a:solidFill>
                          <a:latin typeface="Arial" pitchFamily="34" charset="0"/>
                          <a:ea typeface="Arial" pitchFamily="34" charset="-122"/>
                          <a:cs typeface="Arial" pitchFamily="34" charset="-120"/>
                        </a:rPr>
                        <a:t>64</a:t>
                      </a:r>
                      <a:endParaRPr lang="en-US" sz="105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Utile</a:t>
                      </a:r>
                      <a:endParaRPr lang="en-US" sz="850" dirty="0">
                        <a:latin typeface="Calibri" charset="0"/>
                        <a:ea typeface="Calibri" charset="0"/>
                        <a:cs typeface="Calibri"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B7791F"/>
                    </a:solidFill>
                  </a:tcPr>
                </a:tc>
              </a:tr>
              <a:tr h="214884">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Avis Steam agrégés (collecte déjà faite)</a:t>
                      </a:r>
                      <a:endParaRPr lang="en-US" sz="900" dirty="0">
                        <a:latin typeface="Calibri" charset="0"/>
                        <a:ea typeface="Calibri" charset="0"/>
                        <a:cs typeface="Calibri"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1E8C93"/>
                          </a:solidFill>
                          <a:latin typeface="Arial" pitchFamily="34" charset="0"/>
                          <a:ea typeface="Arial" pitchFamily="34" charset="-122"/>
                          <a:cs typeface="Arial" pitchFamily="34" charset="-120"/>
                        </a:rPr>
                        <a:t>3</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C2185B"/>
                          </a:solidFill>
                          <a:latin typeface="Arial" pitchFamily="34" charset="0"/>
                          <a:ea typeface="Arial" pitchFamily="34" charset="-122"/>
                          <a:cs typeface="Arial" pitchFamily="34" charset="-120"/>
                        </a:rPr>
                        <a:t>3</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C98A00"/>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1050" b="1" dirty="0">
                          <a:solidFill>
                            <a:srgbClr val="1F2233"/>
                          </a:solidFill>
                          <a:latin typeface="Arial" pitchFamily="34" charset="0"/>
                          <a:ea typeface="Arial" pitchFamily="34" charset="-122"/>
                          <a:cs typeface="Arial" pitchFamily="34" charset="-120"/>
                        </a:rPr>
                        <a:t>45</a:t>
                      </a:r>
                      <a:endParaRPr lang="en-US" sz="105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Utile · contrôle</a:t>
                      </a:r>
                      <a:endParaRPr lang="en-US" sz="850" dirty="0">
                        <a:latin typeface="Calibri" charset="0"/>
                        <a:ea typeface="Calibri" charset="0"/>
                        <a:cs typeface="Calibri"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B7791F"/>
                    </a:solidFill>
                  </a:tcPr>
                </a:tc>
              </a:tr>
              <a:tr h="214884">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Sondage d'équité perçue (1 match sur 10)</a:t>
                      </a:r>
                      <a:endParaRPr lang="en-US" sz="900" dirty="0">
                        <a:latin typeface="Calibri" charset="0"/>
                        <a:ea typeface="Calibri" charset="0"/>
                        <a:cs typeface="Calibri"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1E8C93"/>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C2185B"/>
                          </a:solidFill>
                          <a:latin typeface="Arial" pitchFamily="34" charset="0"/>
                          <a:ea typeface="Arial" pitchFamily="34" charset="-122"/>
                          <a:cs typeface="Arial" pitchFamily="34" charset="-120"/>
                        </a:rPr>
                        <a:t>3</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C98A00"/>
                          </a:solidFill>
                          <a:latin typeface="Arial" pitchFamily="34" charset="0"/>
                          <a:ea typeface="Arial" pitchFamily="34" charset="-122"/>
                          <a:cs typeface="Arial" pitchFamily="34" charset="-120"/>
                        </a:rPr>
                        <a:t>3</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1050" b="1" dirty="0">
                          <a:solidFill>
                            <a:srgbClr val="1F2233"/>
                          </a:solidFill>
                          <a:latin typeface="Arial" pitchFamily="34" charset="0"/>
                          <a:ea typeface="Arial" pitchFamily="34" charset="-122"/>
                          <a:cs typeface="Arial" pitchFamily="34" charset="-120"/>
                        </a:rPr>
                        <a:t>36</a:t>
                      </a:r>
                      <a:endParaRPr lang="en-US" sz="105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Utile · après l'audit</a:t>
                      </a:r>
                      <a:endParaRPr lang="en-US" sz="850" dirty="0">
                        <a:latin typeface="Calibri" charset="0"/>
                        <a:ea typeface="Calibri" charset="0"/>
                        <a:cs typeface="Calibri"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B7791F"/>
                    </a:solidFill>
                  </a:tcPr>
                </a:tc>
              </a:tr>
              <a:tr h="214884">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Benchmark Newzoo (panel biaisé)</a:t>
                      </a:r>
                      <a:endParaRPr lang="en-US" sz="900" dirty="0">
                        <a:latin typeface="Calibri" charset="0"/>
                        <a:ea typeface="Calibri" charset="0"/>
                        <a:cs typeface="Calibri"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1E8C93"/>
                          </a:solidFill>
                          <a:latin typeface="Arial" pitchFamily="34" charset="0"/>
                          <a:ea typeface="Arial" pitchFamily="34" charset="-122"/>
                          <a:cs typeface="Arial" pitchFamily="34" charset="-120"/>
                        </a:rPr>
                        <a:t>2</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C2185B"/>
                          </a:solidFill>
                          <a:latin typeface="Arial" pitchFamily="34" charset="0"/>
                          <a:ea typeface="Arial" pitchFamily="34" charset="-122"/>
                          <a:cs typeface="Arial" pitchFamily="34" charset="-120"/>
                        </a:rPr>
                        <a:t>2</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C98A00"/>
                          </a:solidFill>
                          <a:latin typeface="Arial" pitchFamily="34" charset="0"/>
                          <a:ea typeface="Arial" pitchFamily="34" charset="-122"/>
                          <a:cs typeface="Arial" pitchFamily="34" charset="-120"/>
                        </a:rPr>
                        <a:t>3</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1050" b="1" dirty="0">
                          <a:solidFill>
                            <a:srgbClr val="1F2233"/>
                          </a:solidFill>
                          <a:latin typeface="Arial" pitchFamily="34" charset="0"/>
                          <a:ea typeface="Arial" pitchFamily="34" charset="-122"/>
                          <a:cs typeface="Arial" pitchFamily="34" charset="-120"/>
                        </a:rPr>
                        <a:t>12</a:t>
                      </a:r>
                      <a:endParaRPr lang="en-US" sz="105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Écartée · sous 30</a:t>
                      </a:r>
                      <a:endParaRPr lang="en-US" sz="850" dirty="0">
                        <a:latin typeface="Calibri" charset="0"/>
                        <a:ea typeface="Calibri" charset="0"/>
                        <a:cs typeface="Calibri"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8A8FA3"/>
                    </a:solidFill>
                  </a:tcPr>
                </a:tc>
              </a:tr>
              <a:tr h="214884">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Chat vocal ou texte complet</a:t>
                      </a:r>
                      <a:endParaRPr lang="en-US" sz="900" dirty="0">
                        <a:latin typeface="Calibri" charset="0"/>
                        <a:ea typeface="Calibri" charset="0"/>
                        <a:cs typeface="Calibri"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1E8C93"/>
                          </a:solidFill>
                          <a:latin typeface="Arial" pitchFamily="34" charset="0"/>
                          <a:ea typeface="Arial" pitchFamily="34" charset="-122"/>
                          <a:cs typeface="Arial" pitchFamily="34" charset="-120"/>
                        </a:rPr>
                        <a:t>3</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C2185B"/>
                          </a:solidFill>
                          <a:latin typeface="Arial" pitchFamily="34" charset="0"/>
                          <a:ea typeface="Arial" pitchFamily="34" charset="-122"/>
                          <a:cs typeface="Arial" pitchFamily="34" charset="-120"/>
                        </a:rPr>
                        <a:t>3</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C98A00"/>
                          </a:solidFill>
                          <a:latin typeface="Arial" pitchFamily="34" charset="0"/>
                          <a:ea typeface="Arial" pitchFamily="34" charset="-122"/>
                          <a:cs typeface="Arial" pitchFamily="34" charset="-120"/>
                        </a:rPr>
                        <a:t>1</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1050" b="1" dirty="0">
                          <a:solidFill>
                            <a:srgbClr val="1F2233"/>
                          </a:solidFill>
                          <a:latin typeface="Arial" pitchFamily="34" charset="0"/>
                          <a:ea typeface="Arial" pitchFamily="34" charset="-122"/>
                          <a:cs typeface="Arial" pitchFamily="34" charset="-120"/>
                        </a:rPr>
                        <a:t>9</a:t>
                      </a:r>
                      <a:endParaRPr lang="en-US" sz="105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Écartée · RGPD lourd</a:t>
                      </a:r>
                      <a:endParaRPr lang="en-US" sz="850" dirty="0">
                        <a:latin typeface="Calibri" charset="0"/>
                        <a:ea typeface="Calibri" charset="0"/>
                        <a:cs typeface="Calibri"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8A8FA3"/>
                    </a:solidFill>
                  </a:tcPr>
                </a:tc>
              </a:tr>
              <a:tr h="214884">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Numéro de téléphone (anti-smurf)</a:t>
                      </a:r>
                      <a:endParaRPr lang="en-US" sz="900" dirty="0">
                        <a:latin typeface="Calibri" charset="0"/>
                        <a:ea typeface="Calibri" charset="0"/>
                        <a:cs typeface="Calibri"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1E8C93"/>
                          </a:solidFill>
                          <a:latin typeface="Arial" pitchFamily="34" charset="0"/>
                          <a:ea typeface="Arial" pitchFamily="34" charset="-122"/>
                          <a:cs typeface="Arial" pitchFamily="34" charset="-120"/>
                        </a:rPr>
                        <a:t>2</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C2185B"/>
                          </a:solidFill>
                          <a:latin typeface="Arial" pitchFamily="34" charset="0"/>
                          <a:ea typeface="Arial" pitchFamily="34" charset="-122"/>
                          <a:cs typeface="Arial" pitchFamily="34" charset="-120"/>
                        </a:rPr>
                        <a:t>2</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C98A00"/>
                          </a:solidFill>
                          <a:latin typeface="Arial" pitchFamily="34" charset="0"/>
                          <a:ea typeface="Arial" pitchFamily="34" charset="-122"/>
                          <a:cs typeface="Arial" pitchFamily="34" charset="-120"/>
                        </a:rPr>
                        <a:t>1</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1050" b="1" dirty="0">
                          <a:solidFill>
                            <a:srgbClr val="1F2233"/>
                          </a:solidFill>
                          <a:latin typeface="Arial" pitchFamily="34" charset="0"/>
                          <a:ea typeface="Arial" pitchFamily="34" charset="-122"/>
                          <a:cs typeface="Arial" pitchFamily="34" charset="-120"/>
                        </a:rPr>
                        <a:t>4</a:t>
                      </a:r>
                      <a:endParaRPr lang="en-US" sz="105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Écartée · disproportionné</a:t>
                      </a:r>
                      <a:endParaRPr lang="en-US" sz="850" dirty="0">
                        <a:latin typeface="Calibri" charset="0"/>
                        <a:ea typeface="Calibri" charset="0"/>
                        <a:cs typeface="Calibri"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8A8FA3"/>
                    </a:solidFill>
                  </a:tcPr>
                </a:tc>
              </a:tr>
            </a:tbl>
          </a:graphicData>
        </a:graphic>
      </p:graphicFrame>
      <p:sp>
        <p:nvSpPr>
          <p:cNvPr id="12" name="Text 8"/>
          <p:cNvSpPr txBox="1"/>
          <p:nvPr/>
        </p:nvSpPr>
        <p:spPr>
          <a:xfrm>
            <a:off x="457200" y="4270248"/>
            <a:ext cx="8229600" cy="411480"/>
          </a:xfrm>
          <a:prstGeom prst="rect">
            <a:avLst/>
          </a:prstGeom>
          <a:noFill/>
          <a:ln/>
        </p:spPr>
        <p:txBody>
          <a:bodyPr wrap="square" lIns="0" tIns="0" rIns="0" bIns="0" rtlCol="0" anchor="ctr"/>
          <a:lstStyle/>
          <a:p>
            <a:pPr indent="0" marL="0">
              <a:buNone/>
            </a:pPr>
            <a:r>
              <a:rPr lang="en-US" sz="950" b="1" dirty="0">
                <a:solidFill>
                  <a:srgbClr val="1F2233"/>
                </a:solidFill>
                <a:latin typeface="Calibri" pitchFamily="34" charset="0"/>
                <a:ea typeface="Calibri" pitchFamily="34" charset="-122"/>
                <a:cs typeface="Calibri" pitchFamily="34" charset="-120"/>
              </a:rPr>
              <a:t>Les 15 indispensables existent déjà dans votre télémétrie : </a:t>
            </a:r>
            <a:pPr indent="0" marL="0">
              <a:buNone/>
            </a:pPr>
            <a:r>
              <a:rPr lang="en-US" sz="950" dirty="0">
                <a:solidFill>
                  <a:srgbClr val="1F2233"/>
                </a:solidFill>
                <a:latin typeface="Calibri" pitchFamily="34" charset="0"/>
                <a:ea typeface="Calibri" pitchFamily="34" charset="-122"/>
                <a:cs typeface="Calibri" pitchFamily="34" charset="-120"/>
              </a:rPr>
              <a:t>aucune nouvelle collecte pour l'audit. Extrait de la matrice : 8 autres indispensables (ICE 80 à 100) et 5 autres utiles sont notés dans le plan de collecte.</a:t>
            </a:r>
            <a:endParaRPr lang="en-US" sz="950" dirty="0"/>
          </a:p>
        </p:txBody>
      </p:sp>
      <p:sp>
        <p:nvSpPr>
          <p:cNvPr id="13" name="Text 9"/>
          <p:cNvSpPr txBox="1"/>
          <p:nvPr/>
        </p:nvSpPr>
        <p:spPr>
          <a:xfrm>
            <a:off x="457200" y="4773168"/>
            <a:ext cx="7863840" cy="256032"/>
          </a:xfrm>
          <a:prstGeom prst="rect">
            <a:avLst/>
          </a:prstGeom>
          <a:noFill/>
          <a:ln/>
        </p:spPr>
        <p:txBody>
          <a:bodyPr wrap="square" lIns="0" tIns="0" rIns="0" bIns="0" rtlCol="0" anchor="ctr"/>
          <a:lstStyle/>
          <a:p>
            <a:pPr indent="0" marL="0">
              <a:buNone/>
            </a:pPr>
            <a:r>
              <a:rPr lang="en-US" sz="850" dirty="0">
                <a:solidFill>
                  <a:srgbClr val="5E6378"/>
                </a:solidFill>
                <a:latin typeface="Calibri" pitchFamily="34" charset="0"/>
                <a:ea typeface="Calibri" pitchFamily="34" charset="-122"/>
                <a:cs typeface="Calibri" pitchFamily="34" charset="-120"/>
              </a:rPr>
              <a:t>Sources : </a:t>
            </a:r>
            <a:pPr indent="0" marL="0">
              <a:buNone/>
            </a:pPr>
            <a:r>
              <a:rPr lang="en-US" sz="850" u="sng" dirty="0">
                <a:solidFill>
                  <a:srgbClr val="2F3C7E"/>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plan de collecte complet (justification de chaque note)</a:t>
            </a:r>
            <a:endParaRPr lang="en-US" sz="850" dirty="0"/>
          </a:p>
        </p:txBody>
      </p:sp>
      <p:sp>
        <p:nvSpPr>
          <p:cNvPr id="14" name="Shape 10"/>
          <p:cNvSpPr/>
          <p:nvPr/>
        </p:nvSpPr>
        <p:spPr>
          <a:xfrm>
            <a:off x="8458200" y="4800600"/>
            <a:ext cx="502920" cy="219456"/>
          </a:xfrm>
          <a:prstGeom prst="parallelogram">
            <a:avLst/>
          </a:prstGeom>
          <a:solidFill>
            <a:srgbClr val="E62429"/>
          </a:solidFill>
          <a:ln w="12700">
            <a:solidFill>
              <a:srgbClr val="E62429"/>
            </a:solidFill>
            <a:prstDash val="solid"/>
          </a:ln>
        </p:spPr>
      </p:sp>
      <p:sp>
        <p:nvSpPr>
          <p:cNvPr id="15" name="Text 11"/>
          <p:cNvSpPr txBox="1"/>
          <p:nvPr/>
        </p:nvSpPr>
        <p:spPr>
          <a:xfrm>
            <a:off x="8458200" y="4800600"/>
            <a:ext cx="502920" cy="219456"/>
          </a:xfrm>
          <a:prstGeom prst="rect">
            <a:avLst/>
          </a:prstGeom>
          <a:noFill/>
          <a:ln/>
        </p:spPr>
        <p:txBody>
          <a:bodyPr wrap="square" lIns="0" tIns="0" rIns="0" bIns="0" rtlCol="0" anchor="ctr"/>
          <a:lstStyle/>
          <a:p>
            <a:pPr algn="ctr" indent="0" marL="0">
              <a:buNone/>
            </a:pPr>
            <a:r>
              <a:rPr lang="en-US" sz="900" b="1" dirty="0">
                <a:solidFill>
                  <a:srgbClr val="FFFFFF"/>
                </a:solidFill>
                <a:latin typeface="Arial" pitchFamily="34" charset="0"/>
                <a:ea typeface="Arial" pitchFamily="34" charset="-122"/>
                <a:cs typeface="Arial"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5F9"/>
        </a:solidFill>
      </p:bgPr>
    </p:bg>
    <p:spTree>
      <p:nvGrpSpPr>
        <p:cNvPr id="1" name=""/>
        <p:cNvGrpSpPr/>
        <p:nvPr/>
      </p:nvGrpSpPr>
      <p:grpSpPr>
        <a:xfrm>
          <a:off x="0" y="0"/>
          <a:ext cx="0" cy="0"/>
          <a:chOff x="0" y="0"/>
          <a:chExt cx="0" cy="0"/>
        </a:xfrm>
      </p:grpSpPr>
      <p:sp>
        <p:nvSpPr>
          <p:cNvPr id="2" name="Shape 0"/>
          <p:cNvSpPr/>
          <p:nvPr/>
        </p:nvSpPr>
        <p:spPr>
          <a:xfrm>
            <a:off x="0" y="0"/>
            <a:ext cx="9144000" cy="1024128"/>
          </a:xfrm>
          <a:prstGeom prst="rect">
            <a:avLst/>
          </a:prstGeom>
          <a:solidFill>
            <a:srgbClr val="0D1020"/>
          </a:solidFill>
          <a:ln w="12700">
            <a:solidFill>
              <a:srgbClr val="0D1020"/>
            </a:solidFill>
            <a:prstDash val="solid"/>
          </a:ln>
        </p:spPr>
      </p:sp>
      <p:sp>
        <p:nvSpPr>
          <p:cNvPr id="3" name="Shape 1"/>
          <p:cNvSpPr/>
          <p:nvPr/>
        </p:nvSpPr>
        <p:spPr>
          <a:xfrm>
            <a:off x="-137160" y="1024128"/>
            <a:ext cx="3840480" cy="64008"/>
          </a:xfrm>
          <a:prstGeom prst="parallelogram">
            <a:avLst/>
          </a:prstGeom>
          <a:solidFill>
            <a:srgbClr val="E62429"/>
          </a:solidFill>
          <a:ln w="12700">
            <a:solidFill>
              <a:srgbClr val="E62429"/>
            </a:solidFill>
            <a:prstDash val="solid"/>
          </a:ln>
        </p:spPr>
      </p:sp>
      <p:sp>
        <p:nvSpPr>
          <p:cNvPr id="4" name="Shape 2"/>
          <p:cNvSpPr/>
          <p:nvPr/>
        </p:nvSpPr>
        <p:spPr>
          <a:xfrm>
            <a:off x="3611880" y="1024128"/>
            <a:ext cx="1463040" cy="64008"/>
          </a:xfrm>
          <a:prstGeom prst="parallelogram">
            <a:avLst/>
          </a:prstGeom>
          <a:solidFill>
            <a:srgbClr val="FFC72C"/>
          </a:solidFill>
          <a:ln w="12700">
            <a:solidFill>
              <a:srgbClr val="FFC72C"/>
            </a:solidFill>
            <a:prstDash val="solid"/>
          </a:ln>
        </p:spPr>
      </p:sp>
      <p:sp>
        <p:nvSpPr>
          <p:cNvPr id="5" name="Shape 3"/>
          <p:cNvSpPr/>
          <p:nvPr/>
        </p:nvSpPr>
        <p:spPr>
          <a:xfrm>
            <a:off x="292608" y="329184"/>
            <a:ext cx="146304" cy="420624"/>
          </a:xfrm>
          <a:prstGeom prst="parallelogram">
            <a:avLst/>
          </a:prstGeom>
          <a:solidFill>
            <a:srgbClr val="E62429"/>
          </a:solidFill>
          <a:ln w="12700">
            <a:solidFill>
              <a:srgbClr val="E62429"/>
            </a:solidFill>
            <a:prstDash val="solid"/>
          </a:ln>
        </p:spPr>
      </p:sp>
      <p:sp>
        <p:nvSpPr>
          <p:cNvPr id="6" name="Shape 4"/>
          <p:cNvSpPr/>
          <p:nvPr/>
        </p:nvSpPr>
        <p:spPr>
          <a:xfrm>
            <a:off x="502920" y="109728"/>
            <a:ext cx="1289304" cy="201168"/>
          </a:xfrm>
          <a:prstGeom prst="parallelogram">
            <a:avLst/>
          </a:prstGeom>
          <a:solidFill>
            <a:srgbClr val="FFC72C"/>
          </a:solidFill>
          <a:ln w="12700">
            <a:solidFill>
              <a:srgbClr val="FFC72C"/>
            </a:solidFill>
            <a:prstDash val="solid"/>
          </a:ln>
        </p:spPr>
      </p:sp>
      <p:sp>
        <p:nvSpPr>
          <p:cNvPr id="7" name="Text 5"/>
          <p:cNvSpPr txBox="1"/>
          <p:nvPr/>
        </p:nvSpPr>
        <p:spPr>
          <a:xfrm>
            <a:off x="502920" y="109728"/>
            <a:ext cx="1289304" cy="201168"/>
          </a:xfrm>
          <a:prstGeom prst="rect">
            <a:avLst/>
          </a:prstGeom>
          <a:noFill/>
          <a:ln/>
        </p:spPr>
        <p:txBody>
          <a:bodyPr wrap="square" lIns="0" tIns="0" rIns="0" bIns="0" rtlCol="0" anchor="ctr"/>
          <a:lstStyle/>
          <a:p>
            <a:pPr algn="ctr" indent="0" marL="0">
              <a:buNone/>
            </a:pPr>
            <a:r>
              <a:rPr lang="en-US" sz="800" b="1" spc="100" kern="0" dirty="0">
                <a:solidFill>
                  <a:srgbClr val="0D1020"/>
                </a:solidFill>
                <a:latin typeface="Arial" pitchFamily="34" charset="0"/>
                <a:ea typeface="Arial" pitchFamily="34" charset="-122"/>
                <a:cs typeface="Arial" pitchFamily="34" charset="-120"/>
              </a:rPr>
              <a:t>RECOMMANDATION</a:t>
            </a:r>
            <a:endParaRPr lang="en-US" sz="800" dirty="0"/>
          </a:p>
        </p:txBody>
      </p:sp>
      <p:sp>
        <p:nvSpPr>
          <p:cNvPr id="8" name="Text 6"/>
          <p:cNvSpPr txBox="1"/>
          <p:nvPr/>
        </p:nvSpPr>
        <p:spPr>
          <a:xfrm>
            <a:off x="548640" y="310896"/>
            <a:ext cx="722376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Puis tester le levier de chaque cause confirmée</a:t>
            </a:r>
            <a:endParaRPr lang="en-US" sz="2200" dirty="0"/>
          </a:p>
        </p:txBody>
      </p:sp>
      <p:sp>
        <p:nvSpPr>
          <p:cNvPr id="9" name="Text 7"/>
          <p:cNvSpPr txBox="1"/>
          <p:nvPr/>
        </p:nvSpPr>
        <p:spPr>
          <a:xfrm>
            <a:off x="548640" y="749808"/>
            <a:ext cx="7315200" cy="237744"/>
          </a:xfrm>
          <a:prstGeom prst="rect">
            <a:avLst/>
          </a:prstGeom>
          <a:noFill/>
          <a:ln/>
        </p:spPr>
        <p:txBody>
          <a:bodyPr wrap="square" lIns="0" tIns="0" rIns="0" bIns="0" rtlCol="0" anchor="ctr"/>
          <a:lstStyle/>
          <a:p>
            <a:pPr indent="0" marL="0">
              <a:buNone/>
            </a:pPr>
            <a:r>
              <a:rPr lang="en-US" sz="1100" dirty="0">
                <a:solidFill>
                  <a:srgbClr val="FFC72C"/>
                </a:solidFill>
                <a:latin typeface="Calibri" pitchFamily="34" charset="0"/>
                <a:ea typeface="Calibri" pitchFamily="34" charset="-122"/>
                <a:cs typeface="Calibri" pitchFamily="34" charset="-120"/>
              </a:rPr>
              <a:t>tests A/B de 60 jours si le ratio dépasse 1,2 ; les causes peuvent se cumuler</a:t>
            </a:r>
            <a:endParaRPr lang="en-US" sz="1100" dirty="0"/>
          </a:p>
        </p:txBody>
      </p:sp>
      <p:pic>
        <p:nvPicPr>
          <p:cNvPr id="10" name="Image 0" descr="/tmp/claude-0/-home-user-SOCIO/dd1a12ff-0491-58c5-8c13-7e8ef7d55990/scratchpad/brand/logo.png">    </p:cNvPr>
          <p:cNvPicPr>
            <a:picLocks noChangeAspect="1"/>
          </p:cNvPicPr>
          <p:nvPr/>
        </p:nvPicPr>
        <p:blipFill>
          <a:blip r:embed="rId1"/>
          <a:stretch>
            <a:fillRect/>
          </a:stretch>
        </p:blipFill>
        <p:spPr>
          <a:xfrm>
            <a:off x="7973568" y="201168"/>
            <a:ext cx="960120" cy="402336"/>
          </a:xfrm>
          <a:prstGeom prst="rect">
            <a:avLst/>
          </a:prstGeom>
        </p:spPr>
      </p:pic>
      <p:sp>
        <p:nvSpPr>
          <p:cNvPr id="11" name="Shape 8"/>
          <p:cNvSpPr/>
          <p:nvPr/>
        </p:nvSpPr>
        <p:spPr>
          <a:xfrm>
            <a:off x="457200" y="1170432"/>
            <a:ext cx="2651760" cy="2926080"/>
          </a:xfrm>
          <a:prstGeom prst="roundRect">
            <a:avLst>
              <a:gd name="adj" fmla="val 2759"/>
            </a:avLst>
          </a:prstGeom>
          <a:solidFill>
            <a:srgbClr val="FFFFFF"/>
          </a:solidFill>
          <a:ln w="12700">
            <a:solidFill>
              <a:srgbClr val="E3E5EE"/>
            </a:solidFill>
            <a:prstDash val="solid"/>
          </a:ln>
        </p:spPr>
      </p:sp>
      <p:sp>
        <p:nvSpPr>
          <p:cNvPr id="12" name="Shape 9"/>
          <p:cNvSpPr/>
          <p:nvPr/>
        </p:nvSpPr>
        <p:spPr>
          <a:xfrm>
            <a:off x="594360" y="1280160"/>
            <a:ext cx="365760" cy="365760"/>
          </a:xfrm>
          <a:prstGeom prst="ellipse">
            <a:avLst/>
          </a:prstGeom>
          <a:solidFill>
            <a:srgbClr val="E62429"/>
          </a:solidFill>
          <a:ln w="12700">
            <a:solidFill>
              <a:srgbClr val="E62429"/>
            </a:solidFill>
            <a:prstDash val="solid"/>
          </a:ln>
        </p:spPr>
      </p:sp>
      <p:pic>
        <p:nvPicPr>
          <p:cNvPr id="13" name="Image 1" descr="preencoded.png">    </p:cNvPr>
          <p:cNvPicPr>
            <a:picLocks noChangeAspect="1"/>
          </p:cNvPicPr>
          <p:nvPr/>
        </p:nvPicPr>
        <p:blipFill>
          <a:blip r:embed="rId2"/>
          <a:stretch>
            <a:fillRect/>
          </a:stretch>
        </p:blipFill>
        <p:spPr>
          <a:xfrm>
            <a:off x="685800" y="1371600"/>
            <a:ext cx="182880" cy="182880"/>
          </a:xfrm>
          <a:prstGeom prst="rect">
            <a:avLst/>
          </a:prstGeom>
        </p:spPr>
      </p:pic>
      <p:sp>
        <p:nvSpPr>
          <p:cNvPr id="14" name="Text 10"/>
          <p:cNvSpPr txBox="1"/>
          <p:nvPr/>
        </p:nvSpPr>
        <p:spPr>
          <a:xfrm>
            <a:off x="1024128" y="1280160"/>
            <a:ext cx="2011680" cy="365760"/>
          </a:xfrm>
          <a:prstGeom prst="rect">
            <a:avLst/>
          </a:prstGeom>
          <a:noFill/>
          <a:ln/>
        </p:spPr>
        <p:txBody>
          <a:bodyPr wrap="square" lIns="0" tIns="0" rIns="0" bIns="0" rtlCol="0" anchor="ctr"/>
          <a:lstStyle/>
          <a:p>
            <a:pPr indent="0" marL="0">
              <a:buNone/>
            </a:pPr>
            <a:r>
              <a:rPr lang="en-US" sz="1200" b="1" dirty="0">
                <a:solidFill>
                  <a:srgbClr val="1F2233"/>
                </a:solidFill>
                <a:latin typeface="Arial" pitchFamily="34" charset="0"/>
                <a:ea typeface="Arial" pitchFamily="34" charset="-122"/>
                <a:cs typeface="Arial" pitchFamily="34" charset="-120"/>
              </a:rPr>
              <a:t>A · Démarrage à froid</a:t>
            </a:r>
            <a:endParaRPr lang="en-US" sz="1200" dirty="0"/>
          </a:p>
        </p:txBody>
      </p:sp>
      <p:sp>
        <p:nvSpPr>
          <p:cNvPr id="15" name="Text 11"/>
          <p:cNvSpPr txBox="1"/>
          <p:nvPr/>
        </p:nvSpPr>
        <p:spPr>
          <a:xfrm>
            <a:off x="594360" y="1737360"/>
            <a:ext cx="2377440" cy="566928"/>
          </a:xfrm>
          <a:prstGeom prst="rect">
            <a:avLst/>
          </a:prstGeom>
          <a:noFill/>
          <a:ln/>
        </p:spPr>
        <p:txBody>
          <a:bodyPr wrap="square" lIns="0" tIns="0" rIns="0" bIns="0" rtlCol="0" anchor="t"/>
          <a:lstStyle/>
          <a:p>
            <a:pPr indent="0" marL="0">
              <a:buNone/>
            </a:pPr>
            <a:r>
              <a:rPr lang="en-US" sz="1000" dirty="0">
                <a:solidFill>
                  <a:srgbClr val="1F2233"/>
                </a:solidFill>
                <a:latin typeface="Calibri" pitchFamily="34" charset="0"/>
                <a:ea typeface="Calibri" pitchFamily="34" charset="-122"/>
                <a:cs typeface="Calibri" pitchFamily="34" charset="-120"/>
              </a:rPr>
              <a:t>Le jeu ne connaît pas le niveau d'un nouveau compte et le place mal.</a:t>
            </a:r>
            <a:endParaRPr lang="en-US" sz="1000" dirty="0"/>
          </a:p>
        </p:txBody>
      </p:sp>
      <p:sp>
        <p:nvSpPr>
          <p:cNvPr id="16" name="Text 12"/>
          <p:cNvSpPr txBox="1"/>
          <p:nvPr/>
        </p:nvSpPr>
        <p:spPr>
          <a:xfrm>
            <a:off x="594360" y="2331720"/>
            <a:ext cx="2377440" cy="566928"/>
          </a:xfrm>
          <a:prstGeom prst="rect">
            <a:avLst/>
          </a:prstGeom>
          <a:noFill/>
          <a:ln/>
        </p:spPr>
        <p:txBody>
          <a:bodyPr wrap="square" lIns="0" tIns="0" rIns="0" bIns="0" rtlCol="0" anchor="t"/>
          <a:lstStyle/>
          <a:p>
            <a:pPr indent="0" marL="0">
              <a:buNone/>
            </a:pPr>
            <a:r>
              <a:rPr lang="en-US" sz="950" b="1" dirty="0">
                <a:solidFill>
                  <a:srgbClr val="E62429"/>
                </a:solidFill>
                <a:latin typeface="Calibri" pitchFamily="34" charset="0"/>
                <a:ea typeface="Calibri" pitchFamily="34" charset="-122"/>
                <a:cs typeface="Calibri" pitchFamily="34" charset="-120"/>
              </a:rPr>
              <a:t>Signe : </a:t>
            </a:r>
            <a:pPr indent="0" marL="0">
              <a:buNone/>
            </a:pPr>
            <a:r>
              <a:rPr lang="en-US" sz="950" i="1" dirty="0">
                <a:solidFill>
                  <a:srgbClr val="5E6378"/>
                </a:solidFill>
                <a:latin typeface="Calibri" pitchFamily="34" charset="0"/>
                <a:ea typeface="Calibri" pitchFamily="34" charset="-122"/>
                <a:cs typeface="Calibri" pitchFamily="34" charset="-120"/>
              </a:rPr>
              <a:t>Écart déjà fort aux heures pleines, quand la file est remplie.</a:t>
            </a:r>
            <a:endParaRPr lang="en-US" sz="950" dirty="0"/>
          </a:p>
        </p:txBody>
      </p:sp>
      <p:sp>
        <p:nvSpPr>
          <p:cNvPr id="17" name="Text 13"/>
          <p:cNvSpPr txBox="1"/>
          <p:nvPr/>
        </p:nvSpPr>
        <p:spPr>
          <a:xfrm>
            <a:off x="548640" y="2971800"/>
            <a:ext cx="2468880" cy="1051560"/>
          </a:xfrm>
          <a:prstGeom prst="rect">
            <a:avLst/>
          </a:prstGeom>
          <a:noFill/>
          <a:ln/>
        </p:spPr>
        <p:txBody>
          <a:bodyPr wrap="square" lIns="0" tIns="0" rIns="0" bIns="0" rtlCol="0" anchor="t"/>
          <a:lstStyle/>
          <a:p>
            <a:pPr indent="0" marL="0">
              <a:buNone/>
            </a:pPr>
            <a:r>
              <a:rPr lang="en-US" sz="1000" b="1" dirty="0">
                <a:solidFill>
                  <a:srgbClr val="E62429"/>
                </a:solidFill>
                <a:latin typeface="Calibri" pitchFamily="34" charset="0"/>
                <a:ea typeface="Calibri" pitchFamily="34" charset="-122"/>
                <a:cs typeface="Calibri" pitchFamily="34" charset="-120"/>
              </a:rPr>
              <a:t>Leviers à tester</a:t>
            </a:r>
            <a:endParaRPr lang="en-US" sz="1000" dirty="0"/>
          </a:p>
          <a:p>
            <a:pPr marL="342900" indent="-342900">
              <a:buSzPct val="100000"/>
              <a:buChar char="•"/>
            </a:pPr>
            <a:r>
              <a:rPr lang="en-US" sz="1000" dirty="0">
                <a:solidFill>
                  <a:srgbClr val="1F2233"/>
                </a:solidFill>
                <a:latin typeface="Calibri" pitchFamily="34" charset="0"/>
                <a:ea typeface="Calibri" pitchFamily="34" charset="-122"/>
                <a:cs typeface="Calibri" pitchFamily="34" charset="-120"/>
              </a:rPr>
              <a:t>Niveau de départ plus prudent</a:t>
            </a:r>
            <a:endParaRPr lang="en-US" sz="1000" dirty="0"/>
          </a:p>
          <a:p>
            <a:pPr marL="342900" indent="-342900">
              <a:buSzPct val="100000"/>
              <a:buChar char="•"/>
            </a:pPr>
            <a:r>
              <a:rPr lang="en-US" sz="1000" dirty="0">
                <a:solidFill>
                  <a:srgbClr val="1F2233"/>
                </a:solidFill>
                <a:latin typeface="Calibri" pitchFamily="34" charset="0"/>
                <a:ea typeface="Calibri" pitchFamily="34" charset="-122"/>
                <a:cs typeface="Calibri" pitchFamily="34" charset="-120"/>
              </a:rPr>
              <a:t>File débutants jusqu'au niveau 15</a:t>
            </a:r>
            <a:endParaRPr lang="en-US" sz="1000" dirty="0"/>
          </a:p>
        </p:txBody>
      </p:sp>
      <p:sp>
        <p:nvSpPr>
          <p:cNvPr id="18" name="Shape 14"/>
          <p:cNvSpPr/>
          <p:nvPr/>
        </p:nvSpPr>
        <p:spPr>
          <a:xfrm>
            <a:off x="3246120" y="1170432"/>
            <a:ext cx="2651760" cy="2926080"/>
          </a:xfrm>
          <a:prstGeom prst="roundRect">
            <a:avLst>
              <a:gd name="adj" fmla="val 2759"/>
            </a:avLst>
          </a:prstGeom>
          <a:solidFill>
            <a:srgbClr val="FFFFFF"/>
          </a:solidFill>
          <a:ln w="12700">
            <a:solidFill>
              <a:srgbClr val="E3E5EE"/>
            </a:solidFill>
            <a:prstDash val="solid"/>
          </a:ln>
        </p:spPr>
      </p:sp>
      <p:sp>
        <p:nvSpPr>
          <p:cNvPr id="19" name="Shape 15"/>
          <p:cNvSpPr/>
          <p:nvPr/>
        </p:nvSpPr>
        <p:spPr>
          <a:xfrm>
            <a:off x="3383280" y="1280160"/>
            <a:ext cx="365760" cy="365760"/>
          </a:xfrm>
          <a:prstGeom prst="ellipse">
            <a:avLst/>
          </a:prstGeom>
          <a:solidFill>
            <a:srgbClr val="0D1020"/>
          </a:solidFill>
          <a:ln w="12700">
            <a:solidFill>
              <a:srgbClr val="0D1020"/>
            </a:solidFill>
            <a:prstDash val="solid"/>
          </a:ln>
        </p:spPr>
      </p:sp>
      <p:pic>
        <p:nvPicPr>
          <p:cNvPr id="20" name="Image 2" descr="preencoded.png">    </p:cNvPr>
          <p:cNvPicPr>
            <a:picLocks noChangeAspect="1"/>
          </p:cNvPicPr>
          <p:nvPr/>
        </p:nvPicPr>
        <p:blipFill>
          <a:blip r:embed="rId3"/>
          <a:stretch>
            <a:fillRect/>
          </a:stretch>
        </p:blipFill>
        <p:spPr>
          <a:xfrm>
            <a:off x="3474720" y="1371600"/>
            <a:ext cx="182880" cy="182880"/>
          </a:xfrm>
          <a:prstGeom prst="rect">
            <a:avLst/>
          </a:prstGeom>
        </p:spPr>
      </p:pic>
      <p:sp>
        <p:nvSpPr>
          <p:cNvPr id="21" name="Text 16"/>
          <p:cNvSpPr txBox="1"/>
          <p:nvPr/>
        </p:nvSpPr>
        <p:spPr>
          <a:xfrm>
            <a:off x="3813048" y="1280160"/>
            <a:ext cx="2011680" cy="365760"/>
          </a:xfrm>
          <a:prstGeom prst="rect">
            <a:avLst/>
          </a:prstGeom>
          <a:noFill/>
          <a:ln/>
        </p:spPr>
        <p:txBody>
          <a:bodyPr wrap="square" lIns="0" tIns="0" rIns="0" bIns="0" rtlCol="0" anchor="ctr"/>
          <a:lstStyle/>
          <a:p>
            <a:pPr indent="0" marL="0">
              <a:buNone/>
            </a:pPr>
            <a:r>
              <a:rPr lang="en-US" sz="1200" b="1" dirty="0">
                <a:solidFill>
                  <a:srgbClr val="1F2233"/>
                </a:solidFill>
                <a:latin typeface="Arial" pitchFamily="34" charset="0"/>
                <a:ea typeface="Arial" pitchFamily="34" charset="-122"/>
                <a:cs typeface="Arial" pitchFamily="34" charset="-120"/>
              </a:rPr>
              <a:t>B · Manque de joueurs</a:t>
            </a:r>
            <a:endParaRPr lang="en-US" sz="1200" dirty="0"/>
          </a:p>
        </p:txBody>
      </p:sp>
      <p:sp>
        <p:nvSpPr>
          <p:cNvPr id="22" name="Text 17"/>
          <p:cNvSpPr txBox="1"/>
          <p:nvPr/>
        </p:nvSpPr>
        <p:spPr>
          <a:xfrm>
            <a:off x="3383280" y="1737360"/>
            <a:ext cx="2377440" cy="566928"/>
          </a:xfrm>
          <a:prstGeom prst="rect">
            <a:avLst/>
          </a:prstGeom>
          <a:noFill/>
          <a:ln/>
        </p:spPr>
        <p:txBody>
          <a:bodyPr wrap="square" lIns="0" tIns="0" rIns="0" bIns="0" rtlCol="0" anchor="t"/>
          <a:lstStyle/>
          <a:p>
            <a:pPr indent="0" marL="0">
              <a:buNone/>
            </a:pPr>
            <a:r>
              <a:rPr lang="en-US" sz="1000" dirty="0">
                <a:solidFill>
                  <a:srgbClr val="1F2233"/>
                </a:solidFill>
                <a:latin typeface="Calibri" pitchFamily="34" charset="0"/>
                <a:ea typeface="Calibri" pitchFamily="34" charset="-122"/>
                <a:cs typeface="Calibri" pitchFamily="34" charset="-120"/>
              </a:rPr>
              <a:t>File vide : le jeu accepte des écarts plus grands pour lancer la partie.</a:t>
            </a:r>
            <a:endParaRPr lang="en-US" sz="1000" dirty="0"/>
          </a:p>
        </p:txBody>
      </p:sp>
      <p:sp>
        <p:nvSpPr>
          <p:cNvPr id="23" name="Text 18"/>
          <p:cNvSpPr txBox="1"/>
          <p:nvPr/>
        </p:nvSpPr>
        <p:spPr>
          <a:xfrm>
            <a:off x="3383280" y="2331720"/>
            <a:ext cx="2377440" cy="566928"/>
          </a:xfrm>
          <a:prstGeom prst="rect">
            <a:avLst/>
          </a:prstGeom>
          <a:noFill/>
          <a:ln/>
        </p:spPr>
        <p:txBody>
          <a:bodyPr wrap="square" lIns="0" tIns="0" rIns="0" bIns="0" rtlCol="0" anchor="t"/>
          <a:lstStyle/>
          <a:p>
            <a:pPr indent="0" marL="0">
              <a:buNone/>
            </a:pPr>
            <a:r>
              <a:rPr lang="en-US" sz="950" b="1" dirty="0">
                <a:solidFill>
                  <a:srgbClr val="0D1020"/>
                </a:solidFill>
                <a:latin typeface="Calibri" pitchFamily="34" charset="0"/>
                <a:ea typeface="Calibri" pitchFamily="34" charset="-122"/>
                <a:cs typeface="Calibri" pitchFamily="34" charset="-120"/>
              </a:rPr>
              <a:t>Signe : </a:t>
            </a:r>
            <a:pPr indent="0" marL="0">
              <a:buNone/>
            </a:pPr>
            <a:r>
              <a:rPr lang="en-US" sz="950" i="1" dirty="0">
                <a:solidFill>
                  <a:srgbClr val="5E6378"/>
                </a:solidFill>
                <a:latin typeface="Calibri" pitchFamily="34" charset="0"/>
                <a:ea typeface="Calibri" pitchFamily="34" charset="-122"/>
                <a:cs typeface="Calibri" pitchFamily="34" charset="-120"/>
              </a:rPr>
              <a:t>Écart en plus aux heures creuses, quand la file se vide.</a:t>
            </a:r>
            <a:endParaRPr lang="en-US" sz="950" dirty="0"/>
          </a:p>
        </p:txBody>
      </p:sp>
      <p:sp>
        <p:nvSpPr>
          <p:cNvPr id="24" name="Text 19"/>
          <p:cNvSpPr txBox="1"/>
          <p:nvPr/>
        </p:nvSpPr>
        <p:spPr>
          <a:xfrm>
            <a:off x="3337560" y="2971800"/>
            <a:ext cx="2468880" cy="1051560"/>
          </a:xfrm>
          <a:prstGeom prst="rect">
            <a:avLst/>
          </a:prstGeom>
          <a:noFill/>
          <a:ln/>
        </p:spPr>
        <p:txBody>
          <a:bodyPr wrap="square" lIns="0" tIns="0" rIns="0" bIns="0" rtlCol="0" anchor="t"/>
          <a:lstStyle/>
          <a:p>
            <a:pPr indent="0" marL="0">
              <a:buNone/>
            </a:pPr>
            <a:r>
              <a:rPr lang="en-US" sz="1000" b="1" dirty="0">
                <a:solidFill>
                  <a:srgbClr val="0D1020"/>
                </a:solidFill>
                <a:latin typeface="Calibri" pitchFamily="34" charset="0"/>
                <a:ea typeface="Calibri" pitchFamily="34" charset="-122"/>
                <a:cs typeface="Calibri" pitchFamily="34" charset="-120"/>
              </a:rPr>
              <a:t>Leviers à tester</a:t>
            </a:r>
            <a:endParaRPr lang="en-US" sz="1000" dirty="0"/>
          </a:p>
          <a:p>
            <a:pPr marL="342900" indent="-342900">
              <a:buSzPct val="100000"/>
              <a:buChar char="•"/>
            </a:pPr>
            <a:r>
              <a:rPr lang="en-US" sz="1000" dirty="0">
                <a:solidFill>
                  <a:srgbClr val="1F2233"/>
                </a:solidFill>
                <a:latin typeface="Calibri" pitchFamily="34" charset="0"/>
                <a:ea typeface="Calibri" pitchFamily="34" charset="-122"/>
                <a:cs typeface="Calibri" pitchFamily="34" charset="-120"/>
              </a:rPr>
              <a:t>Écart resserré aux heures creuses</a:t>
            </a:r>
            <a:endParaRPr lang="en-US" sz="1000" dirty="0"/>
          </a:p>
          <a:p>
            <a:pPr marL="342900" indent="-342900">
              <a:buSzPct val="100000"/>
              <a:buChar char="•"/>
            </a:pPr>
            <a:r>
              <a:rPr lang="en-US" sz="1000" dirty="0">
                <a:solidFill>
                  <a:srgbClr val="1F2233"/>
                </a:solidFill>
                <a:latin typeface="Calibri" pitchFamily="34" charset="0"/>
                <a:ea typeface="Calibri" pitchFamily="34" charset="-122"/>
                <a:cs typeface="Calibri" pitchFamily="34" charset="-120"/>
              </a:rPr>
              <a:t>Arrêt si 10 % attendent plus de 3 min</a:t>
            </a:r>
            <a:endParaRPr lang="en-US" sz="1000" dirty="0"/>
          </a:p>
        </p:txBody>
      </p:sp>
      <p:sp>
        <p:nvSpPr>
          <p:cNvPr id="25" name="Shape 20"/>
          <p:cNvSpPr/>
          <p:nvPr/>
        </p:nvSpPr>
        <p:spPr>
          <a:xfrm>
            <a:off x="6035040" y="1170432"/>
            <a:ext cx="2651760" cy="2926080"/>
          </a:xfrm>
          <a:prstGeom prst="roundRect">
            <a:avLst>
              <a:gd name="adj" fmla="val 2759"/>
            </a:avLst>
          </a:prstGeom>
          <a:solidFill>
            <a:srgbClr val="FFFFFF"/>
          </a:solidFill>
          <a:ln w="12700">
            <a:solidFill>
              <a:srgbClr val="E3E5EE"/>
            </a:solidFill>
            <a:prstDash val="solid"/>
          </a:ln>
        </p:spPr>
      </p:sp>
      <p:sp>
        <p:nvSpPr>
          <p:cNvPr id="26" name="Shape 21"/>
          <p:cNvSpPr/>
          <p:nvPr/>
        </p:nvSpPr>
        <p:spPr>
          <a:xfrm>
            <a:off x="6172200" y="1280160"/>
            <a:ext cx="365760" cy="365760"/>
          </a:xfrm>
          <a:prstGeom prst="ellipse">
            <a:avLst/>
          </a:prstGeom>
          <a:solidFill>
            <a:srgbClr val="B7791F"/>
          </a:solidFill>
          <a:ln w="12700">
            <a:solidFill>
              <a:srgbClr val="B7791F"/>
            </a:solidFill>
            <a:prstDash val="solid"/>
          </a:ln>
        </p:spPr>
      </p:sp>
      <p:pic>
        <p:nvPicPr>
          <p:cNvPr id="27" name="Image 3" descr="preencoded.png">    </p:cNvPr>
          <p:cNvPicPr>
            <a:picLocks noChangeAspect="1"/>
          </p:cNvPicPr>
          <p:nvPr/>
        </p:nvPicPr>
        <p:blipFill>
          <a:blip r:embed="rId4"/>
          <a:stretch>
            <a:fillRect/>
          </a:stretch>
        </p:blipFill>
        <p:spPr>
          <a:xfrm>
            <a:off x="6263640" y="1371600"/>
            <a:ext cx="182880" cy="182880"/>
          </a:xfrm>
          <a:prstGeom prst="rect">
            <a:avLst/>
          </a:prstGeom>
        </p:spPr>
      </p:pic>
      <p:sp>
        <p:nvSpPr>
          <p:cNvPr id="28" name="Text 22"/>
          <p:cNvSpPr txBox="1"/>
          <p:nvPr/>
        </p:nvSpPr>
        <p:spPr>
          <a:xfrm>
            <a:off x="6601968" y="1280160"/>
            <a:ext cx="2011680" cy="365760"/>
          </a:xfrm>
          <a:prstGeom prst="rect">
            <a:avLst/>
          </a:prstGeom>
          <a:noFill/>
          <a:ln/>
        </p:spPr>
        <p:txBody>
          <a:bodyPr wrap="square" lIns="0" tIns="0" rIns="0" bIns="0" rtlCol="0" anchor="ctr"/>
          <a:lstStyle/>
          <a:p>
            <a:pPr indent="0" marL="0">
              <a:buNone/>
            </a:pPr>
            <a:r>
              <a:rPr lang="en-US" sz="1200" b="1" dirty="0">
                <a:solidFill>
                  <a:srgbClr val="1F2233"/>
                </a:solidFill>
                <a:latin typeface="Arial" pitchFamily="34" charset="0"/>
                <a:ea typeface="Arial" pitchFamily="34" charset="-122"/>
                <a:cs typeface="Arial" pitchFamily="34" charset="-120"/>
              </a:rPr>
              <a:t>C · Niveau périmé au retour</a:t>
            </a:r>
            <a:endParaRPr lang="en-US" sz="1200" dirty="0"/>
          </a:p>
        </p:txBody>
      </p:sp>
      <p:sp>
        <p:nvSpPr>
          <p:cNvPr id="29" name="Text 23"/>
          <p:cNvSpPr txBox="1"/>
          <p:nvPr/>
        </p:nvSpPr>
        <p:spPr>
          <a:xfrm>
            <a:off x="6172200" y="1737360"/>
            <a:ext cx="2377440" cy="566928"/>
          </a:xfrm>
          <a:prstGeom prst="rect">
            <a:avLst/>
          </a:prstGeom>
          <a:noFill/>
          <a:ln/>
        </p:spPr>
        <p:txBody>
          <a:bodyPr wrap="square" lIns="0" tIns="0" rIns="0" bIns="0" rtlCol="0" anchor="t"/>
          <a:lstStyle/>
          <a:p>
            <a:pPr indent="0" marL="0">
              <a:buNone/>
            </a:pPr>
            <a:r>
              <a:rPr lang="en-US" sz="1000" dirty="0">
                <a:solidFill>
                  <a:srgbClr val="1F2233"/>
                </a:solidFill>
                <a:latin typeface="Calibri" pitchFamily="34" charset="0"/>
                <a:ea typeface="Calibri" pitchFamily="34" charset="-122"/>
                <a:cs typeface="Calibri" pitchFamily="34" charset="-120"/>
              </a:rPr>
              <a:t>Le rang (classé) et le niveau caché (partie rapide) ignorent la durée d'absence.</a:t>
            </a:r>
            <a:endParaRPr lang="en-US" sz="1000" dirty="0"/>
          </a:p>
        </p:txBody>
      </p:sp>
      <p:sp>
        <p:nvSpPr>
          <p:cNvPr id="30" name="Text 24"/>
          <p:cNvSpPr txBox="1"/>
          <p:nvPr/>
        </p:nvSpPr>
        <p:spPr>
          <a:xfrm>
            <a:off x="6172200" y="2331720"/>
            <a:ext cx="2377440" cy="566928"/>
          </a:xfrm>
          <a:prstGeom prst="rect">
            <a:avLst/>
          </a:prstGeom>
          <a:noFill/>
          <a:ln/>
        </p:spPr>
        <p:txBody>
          <a:bodyPr wrap="square" lIns="0" tIns="0" rIns="0" bIns="0" rtlCol="0" anchor="t"/>
          <a:lstStyle/>
          <a:p>
            <a:pPr indent="0" marL="0">
              <a:buNone/>
            </a:pPr>
            <a:r>
              <a:rPr lang="en-US" sz="950" b="1" dirty="0">
                <a:solidFill>
                  <a:srgbClr val="B7791F"/>
                </a:solidFill>
                <a:latin typeface="Calibri" pitchFamily="34" charset="0"/>
                <a:ea typeface="Calibri" pitchFamily="34" charset="-122"/>
                <a:cs typeface="Calibri" pitchFamily="34" charset="-120"/>
              </a:rPr>
              <a:t>Signe : </a:t>
            </a:r>
            <a:pPr indent="0" marL="0">
              <a:buNone/>
            </a:pPr>
            <a:r>
              <a:rPr lang="en-US" sz="950" i="1" dirty="0">
                <a:solidFill>
                  <a:srgbClr val="5E6378"/>
                </a:solidFill>
                <a:latin typeface="Calibri" pitchFamily="34" charset="0"/>
                <a:ea typeface="Calibri" pitchFamily="34" charset="-122"/>
                <a:cs typeface="Calibri" pitchFamily="34" charset="-120"/>
              </a:rPr>
              <a:t>Les revenants perdent plus, d'autant plus que l'absence a été longue.</a:t>
            </a:r>
            <a:endParaRPr lang="en-US" sz="950" dirty="0"/>
          </a:p>
        </p:txBody>
      </p:sp>
      <p:sp>
        <p:nvSpPr>
          <p:cNvPr id="31" name="Text 25"/>
          <p:cNvSpPr txBox="1"/>
          <p:nvPr/>
        </p:nvSpPr>
        <p:spPr>
          <a:xfrm>
            <a:off x="6126480" y="2971800"/>
            <a:ext cx="2468880" cy="1051560"/>
          </a:xfrm>
          <a:prstGeom prst="rect">
            <a:avLst/>
          </a:prstGeom>
          <a:noFill/>
          <a:ln/>
        </p:spPr>
        <p:txBody>
          <a:bodyPr wrap="square" lIns="0" tIns="0" rIns="0" bIns="0" rtlCol="0" anchor="t"/>
          <a:lstStyle/>
          <a:p>
            <a:pPr indent="0" marL="0">
              <a:buNone/>
            </a:pPr>
            <a:r>
              <a:rPr lang="en-US" sz="1000" b="1" dirty="0">
                <a:solidFill>
                  <a:srgbClr val="B7791F"/>
                </a:solidFill>
                <a:latin typeface="Calibri" pitchFamily="34" charset="0"/>
                <a:ea typeface="Calibri" pitchFamily="34" charset="-122"/>
                <a:cs typeface="Calibri" pitchFamily="34" charset="-120"/>
              </a:rPr>
              <a:t>Leviers à tester</a:t>
            </a:r>
            <a:endParaRPr lang="en-US" sz="1000" dirty="0"/>
          </a:p>
          <a:p>
            <a:pPr marL="342900" indent="-342900">
              <a:buSzPct val="100000"/>
              <a:buChar char="•"/>
            </a:pPr>
            <a:r>
              <a:rPr lang="en-US" sz="1000" dirty="0">
                <a:solidFill>
                  <a:srgbClr val="1F2233"/>
                </a:solidFill>
                <a:latin typeface="Calibri" pitchFamily="34" charset="0"/>
                <a:ea typeface="Calibri" pitchFamily="34" charset="-122"/>
                <a:cs typeface="Calibri" pitchFamily="34" charset="-120"/>
              </a:rPr>
              <a:t>Matchs de recalibrage au retour</a:t>
            </a:r>
            <a:endParaRPr lang="en-US" sz="1000" dirty="0"/>
          </a:p>
          <a:p>
            <a:pPr marL="342900" indent="-342900">
              <a:buSzPct val="100000"/>
              <a:buChar char="•"/>
            </a:pPr>
            <a:r>
              <a:rPr lang="en-US" sz="1000" dirty="0">
                <a:solidFill>
                  <a:srgbClr val="1F2233"/>
                </a:solidFill>
                <a:latin typeface="Calibri" pitchFamily="34" charset="0"/>
                <a:ea typeface="Calibri" pitchFamily="34" charset="-122"/>
                <a:cs typeface="Calibri" pitchFamily="34" charset="-120"/>
              </a:rPr>
              <a:t>Niveau ajusté selon l'absence, dans les deux modes</a:t>
            </a:r>
            <a:endParaRPr lang="en-US" sz="1000" dirty="0"/>
          </a:p>
        </p:txBody>
      </p:sp>
      <p:sp>
        <p:nvSpPr>
          <p:cNvPr id="32" name="Text 26"/>
          <p:cNvSpPr txBox="1"/>
          <p:nvPr/>
        </p:nvSpPr>
        <p:spPr>
          <a:xfrm>
            <a:off x="457200" y="4206240"/>
            <a:ext cx="8229600" cy="502920"/>
          </a:xfrm>
          <a:prstGeom prst="rect">
            <a:avLst/>
          </a:prstGeom>
          <a:noFill/>
          <a:ln/>
        </p:spPr>
        <p:txBody>
          <a:bodyPr wrap="square" lIns="0" tIns="0" rIns="0" bIns="0" rtlCol="0" anchor="ctr"/>
          <a:lstStyle/>
          <a:p>
            <a:pPr indent="0" marL="0">
              <a:buNone/>
            </a:pPr>
            <a:r>
              <a:rPr lang="en-US" sz="1050" b="1" dirty="0">
                <a:solidFill>
                  <a:srgbClr val="1F2233"/>
                </a:solidFill>
                <a:latin typeface="Calibri" pitchFamily="34" charset="0"/>
                <a:ea typeface="Calibri" pitchFamily="34" charset="-122"/>
                <a:cs typeface="Calibri" pitchFamily="34" charset="-120"/>
              </a:rPr>
              <a:t>Dans tous les cas : </a:t>
            </a:r>
            <a:pPr indent="0" marL="0">
              <a:buNone/>
            </a:pPr>
            <a:r>
              <a:rPr lang="en-US" sz="1050" dirty="0">
                <a:solidFill>
                  <a:srgbClr val="1F2233"/>
                </a:solidFill>
                <a:latin typeface="Calibri" pitchFamily="34" charset="0"/>
                <a:ea typeface="Calibri" pitchFamily="34" charset="-122"/>
                <a:cs typeface="Calibri" pitchFamily="34" charset="-120"/>
              </a:rPr>
              <a:t>groupes séparés des joueurs seuls pour les nouveaux, étiquette « match d'entraînement » sur les parties avec bots, groupe témoin tiré au sort.</a:t>
            </a:r>
            <a:endParaRPr lang="en-US" sz="1050" dirty="0"/>
          </a:p>
        </p:txBody>
      </p:sp>
      <p:sp>
        <p:nvSpPr>
          <p:cNvPr id="33" name="Text 27"/>
          <p:cNvSpPr txBox="1"/>
          <p:nvPr/>
        </p:nvSpPr>
        <p:spPr>
          <a:xfrm>
            <a:off x="457200" y="4773168"/>
            <a:ext cx="7863840" cy="256032"/>
          </a:xfrm>
          <a:prstGeom prst="rect">
            <a:avLst/>
          </a:prstGeom>
          <a:noFill/>
          <a:ln/>
        </p:spPr>
        <p:txBody>
          <a:bodyPr wrap="square" lIns="0" tIns="0" rIns="0" bIns="0" rtlCol="0" anchor="ctr"/>
          <a:lstStyle/>
          <a:p>
            <a:pPr indent="0" marL="0">
              <a:buNone/>
            </a:pPr>
            <a:r>
              <a:rPr lang="en-US" sz="850" dirty="0">
                <a:solidFill>
                  <a:srgbClr val="5E6378"/>
                </a:solidFill>
                <a:latin typeface="Calibri" pitchFamily="34" charset="0"/>
                <a:ea typeface="Calibri" pitchFamily="34" charset="-122"/>
                <a:cs typeface="Calibri" pitchFamily="34" charset="-120"/>
              </a:rPr>
              <a:t>Sources : </a:t>
            </a:r>
            <a:pPr indent="0" marL="0">
              <a:buNone/>
            </a:pPr>
            <a:r>
              <a:rPr lang="en-US" sz="850" u="sng" dirty="0">
                <a:solidFill>
                  <a:srgbClr val="2F3C7E"/>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vidéo NetEase du 21/08/2025</a:t>
            </a:r>
            <a:pPr indent="0" marL="0">
              <a:buNone/>
            </a:pPr>
            <a:r>
              <a:rPr lang="en-US" sz="850" dirty="0">
                <a:solidFill>
                  <a:srgbClr val="5E6378"/>
                </a:solidFill>
                <a:latin typeface="Calibri" pitchFamily="34" charset="0"/>
                <a:ea typeface="Calibri" pitchFamily="34" charset="-122"/>
                <a:cs typeface="Calibri" pitchFamily="34" charset="-120"/>
              </a:rPr>
              <a:t> · </a:t>
            </a:r>
            <a:pPr indent="0" marL="0">
              <a:buNone/>
            </a:pPr>
            <a:r>
              <a:rPr lang="en-US" sz="850" u="sng" dirty="0">
                <a:solidFill>
                  <a:srgbClr val="2F3C7E"/>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Dev Talk Vol.10</a:t>
            </a:r>
            <a:endParaRPr lang="en-US" sz="850" dirty="0"/>
          </a:p>
        </p:txBody>
      </p:sp>
      <p:sp>
        <p:nvSpPr>
          <p:cNvPr id="34" name="Shape 28"/>
          <p:cNvSpPr/>
          <p:nvPr/>
        </p:nvSpPr>
        <p:spPr>
          <a:xfrm>
            <a:off x="8458200" y="4800600"/>
            <a:ext cx="502920" cy="219456"/>
          </a:xfrm>
          <a:prstGeom prst="parallelogram">
            <a:avLst/>
          </a:prstGeom>
          <a:solidFill>
            <a:srgbClr val="E62429"/>
          </a:solidFill>
          <a:ln w="12700">
            <a:solidFill>
              <a:srgbClr val="E62429"/>
            </a:solidFill>
            <a:prstDash val="solid"/>
          </a:ln>
        </p:spPr>
      </p:sp>
      <p:sp>
        <p:nvSpPr>
          <p:cNvPr id="35" name="Text 29"/>
          <p:cNvSpPr txBox="1"/>
          <p:nvPr/>
        </p:nvSpPr>
        <p:spPr>
          <a:xfrm>
            <a:off x="8458200" y="4800600"/>
            <a:ext cx="502920" cy="219456"/>
          </a:xfrm>
          <a:prstGeom prst="rect">
            <a:avLst/>
          </a:prstGeom>
          <a:noFill/>
          <a:ln/>
        </p:spPr>
        <p:txBody>
          <a:bodyPr wrap="square" lIns="0" tIns="0" rIns="0" bIns="0" rtlCol="0" anchor="ctr"/>
          <a:lstStyle/>
          <a:p>
            <a:pPr algn="ctr" indent="0" marL="0">
              <a:buNone/>
            </a:pPr>
            <a:r>
              <a:rPr lang="en-US" sz="900" b="1" dirty="0">
                <a:solidFill>
                  <a:srgbClr val="FFFFFF"/>
                </a:solidFill>
                <a:latin typeface="Arial" pitchFamily="34" charset="0"/>
                <a:ea typeface="Arial" pitchFamily="34" charset="-122"/>
                <a:cs typeface="Arial"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1024128"/>
          </a:xfrm>
          <a:prstGeom prst="rect">
            <a:avLst/>
          </a:prstGeom>
          <a:solidFill>
            <a:srgbClr val="0D1020"/>
          </a:solidFill>
          <a:ln w="12700">
            <a:solidFill>
              <a:srgbClr val="0D1020"/>
            </a:solidFill>
            <a:prstDash val="solid"/>
          </a:ln>
        </p:spPr>
      </p:sp>
      <p:sp>
        <p:nvSpPr>
          <p:cNvPr id="3" name="Shape 1"/>
          <p:cNvSpPr/>
          <p:nvPr/>
        </p:nvSpPr>
        <p:spPr>
          <a:xfrm>
            <a:off x="-137160" y="1024128"/>
            <a:ext cx="3840480" cy="64008"/>
          </a:xfrm>
          <a:prstGeom prst="parallelogram">
            <a:avLst/>
          </a:prstGeom>
          <a:solidFill>
            <a:srgbClr val="E62429"/>
          </a:solidFill>
          <a:ln w="12700">
            <a:solidFill>
              <a:srgbClr val="E62429"/>
            </a:solidFill>
            <a:prstDash val="solid"/>
          </a:ln>
        </p:spPr>
      </p:sp>
      <p:sp>
        <p:nvSpPr>
          <p:cNvPr id="4" name="Shape 2"/>
          <p:cNvSpPr/>
          <p:nvPr/>
        </p:nvSpPr>
        <p:spPr>
          <a:xfrm>
            <a:off x="3611880" y="1024128"/>
            <a:ext cx="1463040" cy="64008"/>
          </a:xfrm>
          <a:prstGeom prst="parallelogram">
            <a:avLst/>
          </a:prstGeom>
          <a:solidFill>
            <a:srgbClr val="FFC72C"/>
          </a:solidFill>
          <a:ln w="12700">
            <a:solidFill>
              <a:srgbClr val="FFC72C"/>
            </a:solidFill>
            <a:prstDash val="solid"/>
          </a:ln>
        </p:spPr>
      </p:sp>
      <p:sp>
        <p:nvSpPr>
          <p:cNvPr id="5" name="Shape 3"/>
          <p:cNvSpPr/>
          <p:nvPr/>
        </p:nvSpPr>
        <p:spPr>
          <a:xfrm>
            <a:off x="292608" y="329184"/>
            <a:ext cx="146304" cy="420624"/>
          </a:xfrm>
          <a:prstGeom prst="parallelogram">
            <a:avLst/>
          </a:prstGeom>
          <a:solidFill>
            <a:srgbClr val="E62429"/>
          </a:solidFill>
          <a:ln w="12700">
            <a:solidFill>
              <a:srgbClr val="E62429"/>
            </a:solidFill>
            <a:prstDash val="solid"/>
          </a:ln>
        </p:spPr>
      </p:sp>
      <p:sp>
        <p:nvSpPr>
          <p:cNvPr id="6" name="Shape 4"/>
          <p:cNvSpPr/>
          <p:nvPr/>
        </p:nvSpPr>
        <p:spPr>
          <a:xfrm>
            <a:off x="502920" y="109728"/>
            <a:ext cx="1289304" cy="201168"/>
          </a:xfrm>
          <a:prstGeom prst="parallelogram">
            <a:avLst/>
          </a:prstGeom>
          <a:solidFill>
            <a:srgbClr val="FFC72C"/>
          </a:solidFill>
          <a:ln w="12700">
            <a:solidFill>
              <a:srgbClr val="FFC72C"/>
            </a:solidFill>
            <a:prstDash val="solid"/>
          </a:ln>
        </p:spPr>
      </p:sp>
      <p:sp>
        <p:nvSpPr>
          <p:cNvPr id="7" name="Text 5"/>
          <p:cNvSpPr txBox="1"/>
          <p:nvPr/>
        </p:nvSpPr>
        <p:spPr>
          <a:xfrm>
            <a:off x="502920" y="109728"/>
            <a:ext cx="1289304" cy="201168"/>
          </a:xfrm>
          <a:prstGeom prst="rect">
            <a:avLst/>
          </a:prstGeom>
          <a:noFill/>
          <a:ln/>
        </p:spPr>
        <p:txBody>
          <a:bodyPr wrap="square" lIns="0" tIns="0" rIns="0" bIns="0" rtlCol="0" anchor="ctr"/>
          <a:lstStyle/>
          <a:p>
            <a:pPr algn="ctr" indent="0" marL="0">
              <a:buNone/>
            </a:pPr>
            <a:r>
              <a:rPr lang="en-US" sz="800" b="1" spc="100" kern="0" dirty="0">
                <a:solidFill>
                  <a:srgbClr val="0D1020"/>
                </a:solidFill>
                <a:latin typeface="Arial" pitchFamily="34" charset="0"/>
                <a:ea typeface="Arial" pitchFamily="34" charset="-122"/>
                <a:cs typeface="Arial" pitchFamily="34" charset="-120"/>
              </a:rPr>
              <a:t>RECOMMANDATION</a:t>
            </a:r>
            <a:endParaRPr lang="en-US" sz="800" dirty="0"/>
          </a:p>
        </p:txBody>
      </p:sp>
      <p:sp>
        <p:nvSpPr>
          <p:cNvPr id="8" name="Text 6"/>
          <p:cNvSpPr txBox="1"/>
          <p:nvPr/>
        </p:nvSpPr>
        <p:spPr>
          <a:xfrm>
            <a:off x="548640" y="310896"/>
            <a:ext cx="722376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Ce que nous avons volontairement écarté</a:t>
            </a:r>
            <a:endParaRPr lang="en-US" sz="2200" dirty="0"/>
          </a:p>
        </p:txBody>
      </p:sp>
      <p:sp>
        <p:nvSpPr>
          <p:cNvPr id="9" name="Text 7"/>
          <p:cNvSpPr txBox="1"/>
          <p:nvPr/>
        </p:nvSpPr>
        <p:spPr>
          <a:xfrm>
            <a:off x="548640" y="749808"/>
            <a:ext cx="7315200" cy="237744"/>
          </a:xfrm>
          <a:prstGeom prst="rect">
            <a:avLst/>
          </a:prstGeom>
          <a:noFill/>
          <a:ln/>
        </p:spPr>
        <p:txBody>
          <a:bodyPr wrap="square" lIns="0" tIns="0" rIns="0" bIns="0" rtlCol="0" anchor="ctr"/>
          <a:lstStyle/>
          <a:p>
            <a:pPr indent="0" marL="0">
              <a:buNone/>
            </a:pPr>
            <a:r>
              <a:rPr lang="en-US" sz="1100" dirty="0">
                <a:solidFill>
                  <a:srgbClr val="FFC72C"/>
                </a:solidFill>
                <a:latin typeface="Calibri" pitchFamily="34" charset="0"/>
                <a:ea typeface="Calibri" pitchFamily="34" charset="-122"/>
                <a:cs typeface="Calibri" pitchFamily="34" charset="-120"/>
              </a:rPr>
              <a:t>arbitrages : moins de données, mieux choisies</a:t>
            </a:r>
            <a:endParaRPr lang="en-US" sz="1100" dirty="0"/>
          </a:p>
        </p:txBody>
      </p:sp>
      <p:pic>
        <p:nvPicPr>
          <p:cNvPr id="10" name="Image 0" descr="/tmp/claude-0/-home-user-SOCIO/dd1a12ff-0491-58c5-8c13-7e8ef7d55990/scratchpad/brand/logo.png">    </p:cNvPr>
          <p:cNvPicPr>
            <a:picLocks noChangeAspect="1"/>
          </p:cNvPicPr>
          <p:nvPr/>
        </p:nvPicPr>
        <p:blipFill>
          <a:blip r:embed="rId1"/>
          <a:stretch>
            <a:fillRect/>
          </a:stretch>
        </p:blipFill>
        <p:spPr>
          <a:xfrm>
            <a:off x="7973568" y="201168"/>
            <a:ext cx="960120" cy="402336"/>
          </a:xfrm>
          <a:prstGeom prst="rect">
            <a:avLst/>
          </a:prstGeom>
        </p:spPr>
      </p:pic>
      <p:sp>
        <p:nvSpPr>
          <p:cNvPr id="11" name="Shape 8"/>
          <p:cNvSpPr/>
          <p:nvPr/>
        </p:nvSpPr>
        <p:spPr>
          <a:xfrm>
            <a:off x="457200" y="1234440"/>
            <a:ext cx="411480" cy="411480"/>
          </a:xfrm>
          <a:prstGeom prst="ellipse">
            <a:avLst/>
          </a:prstGeom>
          <a:solidFill>
            <a:srgbClr val="E62429"/>
          </a:solidFill>
          <a:ln w="12700">
            <a:solidFill>
              <a:srgbClr val="E62429"/>
            </a:solidFill>
            <a:prstDash val="solid"/>
          </a:ln>
        </p:spPr>
      </p:sp>
      <p:pic>
        <p:nvPicPr>
          <p:cNvPr id="12" name="Image 1" descr="preencoded.png">    </p:cNvPr>
          <p:cNvPicPr>
            <a:picLocks noChangeAspect="1"/>
          </p:cNvPicPr>
          <p:nvPr/>
        </p:nvPicPr>
        <p:blipFill>
          <a:blip r:embed="rId2"/>
          <a:stretch>
            <a:fillRect/>
          </a:stretch>
        </p:blipFill>
        <p:spPr>
          <a:xfrm>
            <a:off x="560070" y="1337310"/>
            <a:ext cx="205740" cy="205740"/>
          </a:xfrm>
          <a:prstGeom prst="rect">
            <a:avLst/>
          </a:prstGeom>
        </p:spPr>
      </p:pic>
      <p:sp>
        <p:nvSpPr>
          <p:cNvPr id="13" name="Text 9"/>
          <p:cNvSpPr txBox="1"/>
          <p:nvPr/>
        </p:nvSpPr>
        <p:spPr>
          <a:xfrm>
            <a:off x="1005840" y="1188720"/>
            <a:ext cx="7680960" cy="274320"/>
          </a:xfrm>
          <a:prstGeom prst="rect">
            <a:avLst/>
          </a:prstGeom>
          <a:noFill/>
          <a:ln/>
        </p:spPr>
        <p:txBody>
          <a:bodyPr wrap="square" lIns="0" tIns="0" rIns="0" bIns="0" rtlCol="0" anchor="ctr"/>
          <a:lstStyle/>
          <a:p>
            <a:pPr indent="0" marL="0">
              <a:buNone/>
            </a:pPr>
            <a:r>
              <a:rPr lang="en-US" sz="1200" b="1" dirty="0">
                <a:solidFill>
                  <a:srgbClr val="1F2233"/>
                </a:solidFill>
                <a:latin typeface="Arial" pitchFamily="34" charset="0"/>
                <a:ea typeface="Arial" pitchFamily="34" charset="-122"/>
                <a:cs typeface="Arial" pitchFamily="34" charset="-120"/>
              </a:rPr>
              <a:t>Historique sur d'autres jeux, chat complet, âge exact, téléphone</a:t>
            </a:r>
            <a:endParaRPr lang="en-US" sz="1200" dirty="0"/>
          </a:p>
        </p:txBody>
      </p:sp>
      <p:sp>
        <p:nvSpPr>
          <p:cNvPr id="14" name="Text 10"/>
          <p:cNvSpPr txBox="1"/>
          <p:nvPr/>
        </p:nvSpPr>
        <p:spPr>
          <a:xfrm>
            <a:off x="1005840" y="1463040"/>
            <a:ext cx="7680960" cy="274320"/>
          </a:xfrm>
          <a:prstGeom prst="rect">
            <a:avLst/>
          </a:prstGeom>
          <a:noFill/>
          <a:ln/>
        </p:spPr>
        <p:txBody>
          <a:bodyPr wrap="square" lIns="0" tIns="0" rIns="0" bIns="0" rtlCol="0" anchor="ctr"/>
          <a:lstStyle/>
          <a:p>
            <a:pPr indent="0" marL="0">
              <a:buNone/>
            </a:pPr>
            <a:r>
              <a:rPr lang="en-US" sz="1050" dirty="0">
                <a:solidFill>
                  <a:srgbClr val="5E6378"/>
                </a:solidFill>
                <a:latin typeface="Calibri" pitchFamily="34" charset="0"/>
                <a:ea typeface="Calibri" pitchFamily="34" charset="-122"/>
                <a:cs typeface="Calibri" pitchFamily="34" charset="-120"/>
              </a:rPr>
              <a:t>Aucune décision ne les exige ; risque RGPD élevé (minimisation, Art. 5.1.c).</a:t>
            </a:r>
            <a:endParaRPr lang="en-US" sz="1050" dirty="0"/>
          </a:p>
        </p:txBody>
      </p:sp>
      <p:sp>
        <p:nvSpPr>
          <p:cNvPr id="15" name="Shape 11"/>
          <p:cNvSpPr/>
          <p:nvPr/>
        </p:nvSpPr>
        <p:spPr>
          <a:xfrm>
            <a:off x="457200" y="1920240"/>
            <a:ext cx="411480" cy="411480"/>
          </a:xfrm>
          <a:prstGeom prst="ellipse">
            <a:avLst/>
          </a:prstGeom>
          <a:solidFill>
            <a:srgbClr val="0D1020"/>
          </a:solidFill>
          <a:ln w="12700">
            <a:solidFill>
              <a:srgbClr val="0D1020"/>
            </a:solidFill>
            <a:prstDash val="solid"/>
          </a:ln>
        </p:spPr>
      </p:sp>
      <p:pic>
        <p:nvPicPr>
          <p:cNvPr id="16" name="Image 2" descr="preencoded.png">    </p:cNvPr>
          <p:cNvPicPr>
            <a:picLocks noChangeAspect="1"/>
          </p:cNvPicPr>
          <p:nvPr/>
        </p:nvPicPr>
        <p:blipFill>
          <a:blip r:embed="rId3"/>
          <a:stretch>
            <a:fillRect/>
          </a:stretch>
        </p:blipFill>
        <p:spPr>
          <a:xfrm>
            <a:off x="560070" y="2023110"/>
            <a:ext cx="205740" cy="205740"/>
          </a:xfrm>
          <a:prstGeom prst="rect">
            <a:avLst/>
          </a:prstGeom>
        </p:spPr>
      </p:pic>
      <p:sp>
        <p:nvSpPr>
          <p:cNvPr id="17" name="Text 12"/>
          <p:cNvSpPr txBox="1"/>
          <p:nvPr/>
        </p:nvSpPr>
        <p:spPr>
          <a:xfrm>
            <a:off x="1005840" y="1874520"/>
            <a:ext cx="7680960" cy="274320"/>
          </a:xfrm>
          <a:prstGeom prst="rect">
            <a:avLst/>
          </a:prstGeom>
          <a:noFill/>
          <a:ln/>
        </p:spPr>
        <p:txBody>
          <a:bodyPr wrap="square" lIns="0" tIns="0" rIns="0" bIns="0" rtlCol="0" anchor="ctr"/>
          <a:lstStyle/>
          <a:p>
            <a:pPr indent="0" marL="0">
              <a:buNone/>
            </a:pPr>
            <a:r>
              <a:rPr lang="en-US" sz="1200" b="1" dirty="0">
                <a:solidFill>
                  <a:srgbClr val="1F2233"/>
                </a:solidFill>
                <a:latin typeface="Arial" pitchFamily="34" charset="0"/>
                <a:ea typeface="Arial" pitchFamily="34" charset="-122"/>
                <a:cs typeface="Arial" pitchFamily="34" charset="-120"/>
              </a:rPr>
              <a:t>Benchmark Newzoo des flux entre jeux</a:t>
            </a:r>
            <a:endParaRPr lang="en-US" sz="1200" dirty="0"/>
          </a:p>
        </p:txBody>
      </p:sp>
      <p:sp>
        <p:nvSpPr>
          <p:cNvPr id="18" name="Text 13"/>
          <p:cNvSpPr txBox="1"/>
          <p:nvPr/>
        </p:nvSpPr>
        <p:spPr>
          <a:xfrm>
            <a:off x="1005840" y="2148840"/>
            <a:ext cx="7680960" cy="274320"/>
          </a:xfrm>
          <a:prstGeom prst="rect">
            <a:avLst/>
          </a:prstGeom>
          <a:noFill/>
          <a:ln/>
        </p:spPr>
        <p:txBody>
          <a:bodyPr wrap="square" lIns="0" tIns="0" rIns="0" bIns="0" rtlCol="0" anchor="ctr"/>
          <a:lstStyle/>
          <a:p>
            <a:pPr indent="0" marL="0">
              <a:buNone/>
            </a:pPr>
            <a:r>
              <a:rPr lang="en-US" sz="1050" dirty="0">
                <a:solidFill>
                  <a:srgbClr val="5E6378"/>
                </a:solidFill>
                <a:latin typeface="Calibri" pitchFamily="34" charset="0"/>
                <a:ea typeface="Calibri" pitchFamily="34" charset="-122"/>
                <a:cs typeface="Calibri" pitchFamily="34" charset="-120"/>
              </a:rPr>
              <a:t>Panel biaisé vers les joueurs engagés : inutilisable pour des débutants (ICE 12).</a:t>
            </a:r>
            <a:endParaRPr lang="en-US" sz="1050" dirty="0"/>
          </a:p>
        </p:txBody>
      </p:sp>
      <p:sp>
        <p:nvSpPr>
          <p:cNvPr id="19" name="Shape 14"/>
          <p:cNvSpPr/>
          <p:nvPr/>
        </p:nvSpPr>
        <p:spPr>
          <a:xfrm>
            <a:off x="457200" y="2606040"/>
            <a:ext cx="411480" cy="411480"/>
          </a:xfrm>
          <a:prstGeom prst="ellipse">
            <a:avLst/>
          </a:prstGeom>
          <a:solidFill>
            <a:srgbClr val="E62429"/>
          </a:solidFill>
          <a:ln w="12700">
            <a:solidFill>
              <a:srgbClr val="E62429"/>
            </a:solidFill>
            <a:prstDash val="solid"/>
          </a:ln>
        </p:spPr>
      </p:sp>
      <p:pic>
        <p:nvPicPr>
          <p:cNvPr id="20" name="Image 3" descr="preencoded.png">    </p:cNvPr>
          <p:cNvPicPr>
            <a:picLocks noChangeAspect="1"/>
          </p:cNvPicPr>
          <p:nvPr/>
        </p:nvPicPr>
        <p:blipFill>
          <a:blip r:embed="rId4"/>
          <a:stretch>
            <a:fillRect/>
          </a:stretch>
        </p:blipFill>
        <p:spPr>
          <a:xfrm>
            <a:off x="560070" y="2708910"/>
            <a:ext cx="205740" cy="205740"/>
          </a:xfrm>
          <a:prstGeom prst="rect">
            <a:avLst/>
          </a:prstGeom>
        </p:spPr>
      </p:pic>
      <p:sp>
        <p:nvSpPr>
          <p:cNvPr id="21" name="Text 15"/>
          <p:cNvSpPr txBox="1"/>
          <p:nvPr/>
        </p:nvSpPr>
        <p:spPr>
          <a:xfrm>
            <a:off x="1005840" y="2560320"/>
            <a:ext cx="7680960" cy="274320"/>
          </a:xfrm>
          <a:prstGeom prst="rect">
            <a:avLst/>
          </a:prstGeom>
          <a:noFill/>
          <a:ln/>
        </p:spPr>
        <p:txBody>
          <a:bodyPr wrap="square" lIns="0" tIns="0" rIns="0" bIns="0" rtlCol="0" anchor="ctr"/>
          <a:lstStyle/>
          <a:p>
            <a:pPr indent="0" marL="0">
              <a:buNone/>
            </a:pPr>
            <a:r>
              <a:rPr lang="en-US" sz="1200" b="1" dirty="0">
                <a:solidFill>
                  <a:srgbClr val="1F2233"/>
                </a:solidFill>
                <a:latin typeface="Arial" pitchFamily="34" charset="0"/>
                <a:ea typeface="Arial" pitchFamily="34" charset="-122"/>
                <a:cs typeface="Arial" pitchFamily="34" charset="-120"/>
              </a:rPr>
              <a:t>Rôles imposés (role queue)</a:t>
            </a:r>
            <a:endParaRPr lang="en-US" sz="1200" dirty="0"/>
          </a:p>
        </p:txBody>
      </p:sp>
      <p:sp>
        <p:nvSpPr>
          <p:cNvPr id="22" name="Text 16"/>
          <p:cNvSpPr txBox="1"/>
          <p:nvPr/>
        </p:nvSpPr>
        <p:spPr>
          <a:xfrm>
            <a:off x="1005840" y="2834640"/>
            <a:ext cx="7680960" cy="274320"/>
          </a:xfrm>
          <a:prstGeom prst="rect">
            <a:avLst/>
          </a:prstGeom>
          <a:noFill/>
          <a:ln/>
        </p:spPr>
        <p:txBody>
          <a:bodyPr wrap="square" lIns="0" tIns="0" rIns="0" bIns="0" rtlCol="0" anchor="ctr"/>
          <a:lstStyle/>
          <a:p>
            <a:pPr indent="0" marL="0">
              <a:buNone/>
            </a:pPr>
            <a:r>
              <a:rPr lang="en-US" sz="1050" dirty="0">
                <a:solidFill>
                  <a:srgbClr val="5E6378"/>
                </a:solidFill>
                <a:latin typeface="Calibri" pitchFamily="34" charset="0"/>
                <a:ea typeface="Calibri" pitchFamily="34" charset="-122"/>
                <a:cs typeface="Calibri" pitchFamily="34" charset="-120"/>
              </a:rPr>
              <a:t>Contraire à l'identité du jeu, assumée par NetEase : alerte au producteur, pas de test sans son accord.</a:t>
            </a:r>
            <a:endParaRPr lang="en-US" sz="1050" dirty="0"/>
          </a:p>
        </p:txBody>
      </p:sp>
      <p:sp>
        <p:nvSpPr>
          <p:cNvPr id="23" name="Shape 17"/>
          <p:cNvSpPr/>
          <p:nvPr/>
        </p:nvSpPr>
        <p:spPr>
          <a:xfrm>
            <a:off x="457200" y="3291840"/>
            <a:ext cx="411480" cy="411480"/>
          </a:xfrm>
          <a:prstGeom prst="ellipse">
            <a:avLst/>
          </a:prstGeom>
          <a:solidFill>
            <a:srgbClr val="0D1020"/>
          </a:solidFill>
          <a:ln w="12700">
            <a:solidFill>
              <a:srgbClr val="0D1020"/>
            </a:solidFill>
            <a:prstDash val="solid"/>
          </a:ln>
        </p:spPr>
      </p:sp>
      <p:pic>
        <p:nvPicPr>
          <p:cNvPr id="24" name="Image 4" descr="preencoded.png">    </p:cNvPr>
          <p:cNvPicPr>
            <a:picLocks noChangeAspect="1"/>
          </p:cNvPicPr>
          <p:nvPr/>
        </p:nvPicPr>
        <p:blipFill>
          <a:blip r:embed="rId5"/>
          <a:stretch>
            <a:fillRect/>
          </a:stretch>
        </p:blipFill>
        <p:spPr>
          <a:xfrm>
            <a:off x="560070" y="3394710"/>
            <a:ext cx="205740" cy="205740"/>
          </a:xfrm>
          <a:prstGeom prst="rect">
            <a:avLst/>
          </a:prstGeom>
        </p:spPr>
      </p:pic>
      <p:sp>
        <p:nvSpPr>
          <p:cNvPr id="25" name="Text 18"/>
          <p:cNvSpPr txBox="1"/>
          <p:nvPr/>
        </p:nvSpPr>
        <p:spPr>
          <a:xfrm>
            <a:off x="1005840" y="3246120"/>
            <a:ext cx="7680960" cy="274320"/>
          </a:xfrm>
          <a:prstGeom prst="rect">
            <a:avLst/>
          </a:prstGeom>
          <a:noFill/>
          <a:ln/>
        </p:spPr>
        <p:txBody>
          <a:bodyPr wrap="square" lIns="0" tIns="0" rIns="0" bIns="0" rtlCol="0" anchor="ctr"/>
          <a:lstStyle/>
          <a:p>
            <a:pPr indent="0" marL="0">
              <a:buNone/>
            </a:pPr>
            <a:r>
              <a:rPr lang="en-US" sz="1200" b="1" dirty="0">
                <a:solidFill>
                  <a:srgbClr val="1F2233"/>
                </a:solidFill>
                <a:latin typeface="Arial" pitchFamily="34" charset="0"/>
                <a:ea typeface="Arial" pitchFamily="34" charset="-122"/>
                <a:cs typeface="Arial" pitchFamily="34" charset="-120"/>
              </a:rPr>
              <a:t>Toxicité</a:t>
            </a:r>
            <a:endParaRPr lang="en-US" sz="1200" dirty="0"/>
          </a:p>
        </p:txBody>
      </p:sp>
      <p:sp>
        <p:nvSpPr>
          <p:cNvPr id="26" name="Text 19"/>
          <p:cNvSpPr txBox="1"/>
          <p:nvPr/>
        </p:nvSpPr>
        <p:spPr>
          <a:xfrm>
            <a:off x="1005840" y="3520440"/>
            <a:ext cx="7680960" cy="274320"/>
          </a:xfrm>
          <a:prstGeom prst="rect">
            <a:avLst/>
          </a:prstGeom>
          <a:noFill/>
          <a:ln/>
        </p:spPr>
        <p:txBody>
          <a:bodyPr wrap="square" lIns="0" tIns="0" rIns="0" bIns="0" rtlCol="0" anchor="ctr"/>
          <a:lstStyle/>
          <a:p>
            <a:pPr indent="0" marL="0">
              <a:buNone/>
            </a:pPr>
            <a:r>
              <a:rPr lang="en-US" sz="1050" dirty="0">
                <a:solidFill>
                  <a:srgbClr val="5E6378"/>
                </a:solidFill>
                <a:latin typeface="Calibri" pitchFamily="34" charset="0"/>
                <a:ea typeface="Calibri" pitchFamily="34" charset="-122"/>
                <a:cs typeface="Calibri" pitchFamily="34" charset="-120"/>
              </a:rPr>
              <a:t>Hors du périmètre matchmaking ; le tirage au sort des tests neutralise son effet sur la mesure.</a:t>
            </a:r>
            <a:endParaRPr lang="en-US" sz="1050" dirty="0"/>
          </a:p>
        </p:txBody>
      </p:sp>
      <p:sp>
        <p:nvSpPr>
          <p:cNvPr id="27" name="Shape 20"/>
          <p:cNvSpPr/>
          <p:nvPr/>
        </p:nvSpPr>
        <p:spPr>
          <a:xfrm>
            <a:off x="457200" y="3977640"/>
            <a:ext cx="411480" cy="411480"/>
          </a:xfrm>
          <a:prstGeom prst="ellipse">
            <a:avLst/>
          </a:prstGeom>
          <a:solidFill>
            <a:srgbClr val="E62429"/>
          </a:solidFill>
          <a:ln w="12700">
            <a:solidFill>
              <a:srgbClr val="E62429"/>
            </a:solidFill>
            <a:prstDash val="solid"/>
          </a:ln>
        </p:spPr>
      </p:sp>
      <p:pic>
        <p:nvPicPr>
          <p:cNvPr id="28" name="Image 5" descr="preencoded.png">    </p:cNvPr>
          <p:cNvPicPr>
            <a:picLocks noChangeAspect="1"/>
          </p:cNvPicPr>
          <p:nvPr/>
        </p:nvPicPr>
        <p:blipFill>
          <a:blip r:embed="rId6"/>
          <a:stretch>
            <a:fillRect/>
          </a:stretch>
        </p:blipFill>
        <p:spPr>
          <a:xfrm>
            <a:off x="560070" y="4080510"/>
            <a:ext cx="205740" cy="205740"/>
          </a:xfrm>
          <a:prstGeom prst="rect">
            <a:avLst/>
          </a:prstGeom>
        </p:spPr>
      </p:pic>
      <p:sp>
        <p:nvSpPr>
          <p:cNvPr id="29" name="Text 21"/>
          <p:cNvSpPr txBox="1"/>
          <p:nvPr/>
        </p:nvSpPr>
        <p:spPr>
          <a:xfrm>
            <a:off x="1005840" y="3931920"/>
            <a:ext cx="7680960" cy="274320"/>
          </a:xfrm>
          <a:prstGeom prst="rect">
            <a:avLst/>
          </a:prstGeom>
          <a:noFill/>
          <a:ln/>
        </p:spPr>
        <p:txBody>
          <a:bodyPr wrap="square" lIns="0" tIns="0" rIns="0" bIns="0" rtlCol="0" anchor="ctr"/>
          <a:lstStyle/>
          <a:p>
            <a:pPr indent="0" marL="0">
              <a:buNone/>
            </a:pPr>
            <a:r>
              <a:rPr lang="en-US" sz="1200" b="1" dirty="0">
                <a:solidFill>
                  <a:srgbClr val="1F2233"/>
                </a:solidFill>
                <a:latin typeface="Arial" pitchFamily="34" charset="0"/>
                <a:ea typeface="Arial" pitchFamily="34" charset="-122"/>
                <a:cs typeface="Arial" pitchFamily="34" charset="-120"/>
              </a:rPr>
              <a:t>Avis Steam comme preuve</a:t>
            </a:r>
            <a:endParaRPr lang="en-US" sz="1200" dirty="0"/>
          </a:p>
        </p:txBody>
      </p:sp>
      <p:sp>
        <p:nvSpPr>
          <p:cNvPr id="30" name="Text 22"/>
          <p:cNvSpPr txBox="1"/>
          <p:nvPr/>
        </p:nvSpPr>
        <p:spPr>
          <a:xfrm>
            <a:off x="1005840" y="4206240"/>
            <a:ext cx="7680960" cy="274320"/>
          </a:xfrm>
          <a:prstGeom prst="rect">
            <a:avLst/>
          </a:prstGeom>
          <a:noFill/>
          <a:ln/>
        </p:spPr>
        <p:txBody>
          <a:bodyPr wrap="square" lIns="0" tIns="0" rIns="0" bIns="0" rtlCol="0" anchor="ctr"/>
          <a:lstStyle/>
          <a:p>
            <a:pPr indent="0" marL="0">
              <a:buNone/>
            </a:pPr>
            <a:r>
              <a:rPr lang="en-US" sz="1050" dirty="0">
                <a:solidFill>
                  <a:srgbClr val="5E6378"/>
                </a:solidFill>
                <a:latin typeface="Calibri" pitchFamily="34" charset="0"/>
                <a:ea typeface="Calibri" pitchFamily="34" charset="-122"/>
                <a:cs typeface="Calibri" pitchFamily="34" charset="-120"/>
              </a:rPr>
              <a:t>Gardés comme contrôle de perception seulement : PC, anglais, biais du survivant.</a:t>
            </a:r>
            <a:endParaRPr lang="en-US" sz="1050" dirty="0"/>
          </a:p>
        </p:txBody>
      </p:sp>
      <p:sp>
        <p:nvSpPr>
          <p:cNvPr id="31" name="Text 23"/>
          <p:cNvSpPr txBox="1"/>
          <p:nvPr/>
        </p:nvSpPr>
        <p:spPr>
          <a:xfrm>
            <a:off x="457200" y="4773168"/>
            <a:ext cx="7863840" cy="256032"/>
          </a:xfrm>
          <a:prstGeom prst="rect">
            <a:avLst/>
          </a:prstGeom>
          <a:noFill/>
          <a:ln/>
        </p:spPr>
        <p:txBody>
          <a:bodyPr wrap="square" lIns="0" tIns="0" rIns="0" bIns="0" rtlCol="0" anchor="ctr"/>
          <a:lstStyle/>
          <a:p>
            <a:pPr indent="0" marL="0">
              <a:buNone/>
            </a:pPr>
            <a:r>
              <a:rPr lang="en-US" sz="850" dirty="0">
                <a:solidFill>
                  <a:srgbClr val="5E6378"/>
                </a:solidFill>
                <a:latin typeface="Calibri" pitchFamily="34" charset="0"/>
                <a:ea typeface="Calibri" pitchFamily="34" charset="-122"/>
                <a:cs typeface="Calibri" pitchFamily="34" charset="-120"/>
              </a:rPr>
              <a:t>Sources : </a:t>
            </a:r>
            <a:pPr indent="0" marL="0">
              <a:buNone/>
            </a:pPr>
            <a:r>
              <a:rPr lang="en-US" sz="850" u="sng" dirty="0">
                <a:solidFill>
                  <a:srgbClr val="2F3C7E"/>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RGPD Art. 5</a:t>
            </a:r>
            <a:pPr indent="0" marL="0">
              <a:buNone/>
            </a:pPr>
            <a:r>
              <a:rPr lang="en-US" sz="850" dirty="0">
                <a:solidFill>
                  <a:srgbClr val="5E6378"/>
                </a:solidFill>
                <a:latin typeface="Calibri" pitchFamily="34" charset="0"/>
                <a:ea typeface="Calibri" pitchFamily="34" charset="-122"/>
                <a:cs typeface="Calibri" pitchFamily="34" charset="-120"/>
              </a:rPr>
              <a:t> · </a:t>
            </a:r>
            <a:pPr indent="0" marL="0">
              <a:buNone/>
            </a:pPr>
            <a:r>
              <a:rPr lang="en-US" sz="850" u="sng" dirty="0">
                <a:solidFill>
                  <a:srgbClr val="2F3C7E"/>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plan de collecte complet</a:t>
            </a:r>
            <a:endParaRPr lang="en-US" sz="850" dirty="0"/>
          </a:p>
        </p:txBody>
      </p:sp>
      <p:sp>
        <p:nvSpPr>
          <p:cNvPr id="32" name="Shape 24"/>
          <p:cNvSpPr/>
          <p:nvPr/>
        </p:nvSpPr>
        <p:spPr>
          <a:xfrm>
            <a:off x="8458200" y="4800600"/>
            <a:ext cx="502920" cy="219456"/>
          </a:xfrm>
          <a:prstGeom prst="parallelogram">
            <a:avLst/>
          </a:prstGeom>
          <a:solidFill>
            <a:srgbClr val="E62429"/>
          </a:solidFill>
          <a:ln w="12700">
            <a:solidFill>
              <a:srgbClr val="E62429"/>
            </a:solidFill>
            <a:prstDash val="solid"/>
          </a:ln>
        </p:spPr>
      </p:sp>
      <p:sp>
        <p:nvSpPr>
          <p:cNvPr id="33" name="Text 25"/>
          <p:cNvSpPr txBox="1"/>
          <p:nvPr/>
        </p:nvSpPr>
        <p:spPr>
          <a:xfrm>
            <a:off x="8458200" y="4800600"/>
            <a:ext cx="502920" cy="219456"/>
          </a:xfrm>
          <a:prstGeom prst="rect">
            <a:avLst/>
          </a:prstGeom>
          <a:noFill/>
          <a:ln/>
        </p:spPr>
        <p:txBody>
          <a:bodyPr wrap="square" lIns="0" tIns="0" rIns="0" bIns="0" rtlCol="0" anchor="ctr"/>
          <a:lstStyle/>
          <a:p>
            <a:pPr algn="ctr" indent="0" marL="0">
              <a:buNone/>
            </a:pPr>
            <a:r>
              <a:rPr lang="en-US" sz="900" b="1" dirty="0">
                <a:solidFill>
                  <a:srgbClr val="FFFFFF"/>
                </a:solidFill>
                <a:latin typeface="Arial" pitchFamily="34" charset="0"/>
                <a:ea typeface="Arial" pitchFamily="34" charset="-122"/>
                <a:cs typeface="Arial"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5F9"/>
        </a:solidFill>
      </p:bgPr>
    </p:bg>
    <p:spTree>
      <p:nvGrpSpPr>
        <p:cNvPr id="1" name=""/>
        <p:cNvGrpSpPr/>
        <p:nvPr/>
      </p:nvGrpSpPr>
      <p:grpSpPr>
        <a:xfrm>
          <a:off x="0" y="0"/>
          <a:ext cx="0" cy="0"/>
          <a:chOff x="0" y="0"/>
          <a:chExt cx="0" cy="0"/>
        </a:xfrm>
      </p:grpSpPr>
      <p:sp>
        <p:nvSpPr>
          <p:cNvPr id="2" name="Shape 0"/>
          <p:cNvSpPr/>
          <p:nvPr/>
        </p:nvSpPr>
        <p:spPr>
          <a:xfrm>
            <a:off x="0" y="0"/>
            <a:ext cx="9144000" cy="1024128"/>
          </a:xfrm>
          <a:prstGeom prst="rect">
            <a:avLst/>
          </a:prstGeom>
          <a:solidFill>
            <a:srgbClr val="0D1020"/>
          </a:solidFill>
          <a:ln w="12700">
            <a:solidFill>
              <a:srgbClr val="0D1020"/>
            </a:solidFill>
            <a:prstDash val="solid"/>
          </a:ln>
        </p:spPr>
      </p:sp>
      <p:sp>
        <p:nvSpPr>
          <p:cNvPr id="3" name="Shape 1"/>
          <p:cNvSpPr/>
          <p:nvPr/>
        </p:nvSpPr>
        <p:spPr>
          <a:xfrm>
            <a:off x="-137160" y="1024128"/>
            <a:ext cx="3840480" cy="64008"/>
          </a:xfrm>
          <a:prstGeom prst="parallelogram">
            <a:avLst/>
          </a:prstGeom>
          <a:solidFill>
            <a:srgbClr val="E62429"/>
          </a:solidFill>
          <a:ln w="12700">
            <a:solidFill>
              <a:srgbClr val="E62429"/>
            </a:solidFill>
            <a:prstDash val="solid"/>
          </a:ln>
        </p:spPr>
      </p:sp>
      <p:sp>
        <p:nvSpPr>
          <p:cNvPr id="4" name="Shape 2"/>
          <p:cNvSpPr/>
          <p:nvPr/>
        </p:nvSpPr>
        <p:spPr>
          <a:xfrm>
            <a:off x="3611880" y="1024128"/>
            <a:ext cx="1463040" cy="64008"/>
          </a:xfrm>
          <a:prstGeom prst="parallelogram">
            <a:avLst/>
          </a:prstGeom>
          <a:solidFill>
            <a:srgbClr val="FFC72C"/>
          </a:solidFill>
          <a:ln w="12700">
            <a:solidFill>
              <a:srgbClr val="FFC72C"/>
            </a:solidFill>
            <a:prstDash val="solid"/>
          </a:ln>
        </p:spPr>
      </p:sp>
      <p:sp>
        <p:nvSpPr>
          <p:cNvPr id="5" name="Shape 3"/>
          <p:cNvSpPr/>
          <p:nvPr/>
        </p:nvSpPr>
        <p:spPr>
          <a:xfrm>
            <a:off x="292608" y="329184"/>
            <a:ext cx="146304" cy="420624"/>
          </a:xfrm>
          <a:prstGeom prst="parallelogram">
            <a:avLst/>
          </a:prstGeom>
          <a:solidFill>
            <a:srgbClr val="E62429"/>
          </a:solidFill>
          <a:ln w="12700">
            <a:solidFill>
              <a:srgbClr val="E62429"/>
            </a:solidFill>
            <a:prstDash val="solid"/>
          </a:ln>
        </p:spPr>
      </p:sp>
      <p:sp>
        <p:nvSpPr>
          <p:cNvPr id="6" name="Shape 4"/>
          <p:cNvSpPr/>
          <p:nvPr/>
        </p:nvSpPr>
        <p:spPr>
          <a:xfrm>
            <a:off x="502920" y="109728"/>
            <a:ext cx="745236" cy="201168"/>
          </a:xfrm>
          <a:prstGeom prst="parallelogram">
            <a:avLst/>
          </a:prstGeom>
          <a:solidFill>
            <a:srgbClr val="FFC72C"/>
          </a:solidFill>
          <a:ln w="12700">
            <a:solidFill>
              <a:srgbClr val="FFC72C"/>
            </a:solidFill>
            <a:prstDash val="solid"/>
          </a:ln>
        </p:spPr>
      </p:sp>
      <p:sp>
        <p:nvSpPr>
          <p:cNvPr id="7" name="Text 5"/>
          <p:cNvSpPr txBox="1"/>
          <p:nvPr/>
        </p:nvSpPr>
        <p:spPr>
          <a:xfrm>
            <a:off x="502920" y="109728"/>
            <a:ext cx="745236" cy="201168"/>
          </a:xfrm>
          <a:prstGeom prst="rect">
            <a:avLst/>
          </a:prstGeom>
          <a:noFill/>
          <a:ln/>
        </p:spPr>
        <p:txBody>
          <a:bodyPr wrap="square" lIns="0" tIns="0" rIns="0" bIns="0" rtlCol="0" anchor="ctr"/>
          <a:lstStyle/>
          <a:p>
            <a:pPr algn="ctr" indent="0" marL="0">
              <a:buNone/>
            </a:pPr>
            <a:r>
              <a:rPr lang="en-US" sz="800" b="1" spc="100" kern="0" dirty="0">
                <a:solidFill>
                  <a:srgbClr val="0D1020"/>
                </a:solidFill>
                <a:latin typeface="Arial" pitchFamily="34" charset="0"/>
                <a:ea typeface="Arial" pitchFamily="34" charset="-122"/>
                <a:cs typeface="Arial" pitchFamily="34" charset="-120"/>
              </a:rPr>
              <a:t>ROADMAP</a:t>
            </a:r>
            <a:endParaRPr lang="en-US" sz="800" dirty="0"/>
          </a:p>
        </p:txBody>
      </p:sp>
      <p:sp>
        <p:nvSpPr>
          <p:cNvPr id="8" name="Text 6"/>
          <p:cNvSpPr txBox="1"/>
          <p:nvPr/>
        </p:nvSpPr>
        <p:spPr>
          <a:xfrm>
            <a:off x="548640" y="310896"/>
            <a:ext cx="722376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Roadmap : qui agit, ce que vit le joueur</a:t>
            </a:r>
            <a:endParaRPr lang="en-US" sz="2200" dirty="0"/>
          </a:p>
        </p:txBody>
      </p:sp>
      <p:sp>
        <p:nvSpPr>
          <p:cNvPr id="9" name="Text 7"/>
          <p:cNvSpPr txBox="1"/>
          <p:nvPr/>
        </p:nvSpPr>
        <p:spPr>
          <a:xfrm>
            <a:off x="548640" y="749808"/>
            <a:ext cx="7315200" cy="237744"/>
          </a:xfrm>
          <a:prstGeom prst="rect">
            <a:avLst/>
          </a:prstGeom>
          <a:noFill/>
          <a:ln/>
        </p:spPr>
        <p:txBody>
          <a:bodyPr wrap="square" lIns="0" tIns="0" rIns="0" bIns="0" rtlCol="0" anchor="ctr"/>
          <a:lstStyle/>
          <a:p>
            <a:pPr indent="0" marL="0">
              <a:buNone/>
            </a:pPr>
            <a:r>
              <a:rPr lang="en-US" sz="1100" dirty="0">
                <a:solidFill>
                  <a:srgbClr val="FFC72C"/>
                </a:solidFill>
                <a:latin typeface="Calibri" pitchFamily="34" charset="0"/>
                <a:ea typeface="Calibri" pitchFamily="34" charset="-122"/>
                <a:cs typeface="Calibri" pitchFamily="34" charset="-120"/>
              </a:rPr>
              <a:t>trois phases ; chaque résultat ouvre ou ferme la phase suivante</a:t>
            </a:r>
            <a:endParaRPr lang="en-US" sz="1100" dirty="0"/>
          </a:p>
        </p:txBody>
      </p:sp>
      <p:pic>
        <p:nvPicPr>
          <p:cNvPr id="10" name="Image 0" descr="/tmp/claude-0/-home-user-SOCIO/dd1a12ff-0491-58c5-8c13-7e8ef7d55990/scratchpad/brand/logo.png">    </p:cNvPr>
          <p:cNvPicPr>
            <a:picLocks noChangeAspect="1"/>
          </p:cNvPicPr>
          <p:nvPr/>
        </p:nvPicPr>
        <p:blipFill>
          <a:blip r:embed="rId1"/>
          <a:stretch>
            <a:fillRect/>
          </a:stretch>
        </p:blipFill>
        <p:spPr>
          <a:xfrm>
            <a:off x="7973568" y="201168"/>
            <a:ext cx="960120" cy="402336"/>
          </a:xfrm>
          <a:prstGeom prst="rect">
            <a:avLst/>
          </a:prstGeom>
        </p:spPr>
      </p:pic>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57200" y="1115568"/>
          <a:ext cx="8229600" cy="914400"/>
        </p:xfrm>
        <a:graphic>
          <a:graphicData uri="http://schemas.openxmlformats.org/drawingml/2006/table">
            <a:tbl>
              <a:tblPr/>
              <a:tblGrid>
                <a:gridCol w="1188720"/>
                <a:gridCol w="1737360"/>
                <a:gridCol w="2514600"/>
                <a:gridCol w="2788920"/>
              </a:tblGrid>
              <a:tr h="246888">
                <a:tc>
                  <a:txBody>
                    <a:bodyPr/>
                    <a:lstStyle/>
                    <a:p>
                      <a:pPr indent="0" marL="0">
                        <a:buNone/>
                      </a:pPr>
                      <a:r>
                        <a:rPr lang="en-US" sz="950" b="1" dirty="0">
                          <a:solidFill>
                            <a:srgbClr val="FFFFFF"/>
                          </a:solidFill>
                          <a:latin typeface="Arial" pitchFamily="34" charset="0"/>
                          <a:ea typeface="Arial" pitchFamily="34" charset="-122"/>
                          <a:cs typeface="Arial" pitchFamily="34" charset="-120"/>
                        </a:rPr>
                        <a:t>Phase</a:t>
                      </a:r>
                      <a:endParaRPr lang="en-US" sz="950" dirty="0">
                        <a:latin typeface="Arial" charset="0"/>
                        <a:ea typeface="Arial" charset="0"/>
                        <a:cs typeface="Arial" charset="0"/>
                      </a:endParaRPr>
                    </a:p>
                  </a:txBody>
                  <a:tcPr marL="63500" marR="63500" marT="25400" marB="254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0D1020"/>
                    </a:solidFill>
                  </a:tcPr>
                </a:tc>
                <a:tc>
                  <a:txBody>
                    <a:bodyPr/>
                    <a:lstStyle/>
                    <a:p>
                      <a:pPr indent="0" marL="0">
                        <a:buNone/>
                      </a:pPr>
                      <a:r>
                        <a:rPr lang="en-US" sz="950" b="1" dirty="0">
                          <a:solidFill>
                            <a:srgbClr val="FFFFFF"/>
                          </a:solidFill>
                          <a:latin typeface="Arial" pitchFamily="34" charset="0"/>
                          <a:ea typeface="Arial" pitchFamily="34" charset="-122"/>
                          <a:cs typeface="Arial" pitchFamily="34" charset="-120"/>
                        </a:rPr>
                        <a:t>Qui s'en occupe</a:t>
                      </a:r>
                      <a:endParaRPr lang="en-US" sz="950" dirty="0">
                        <a:latin typeface="Arial" charset="0"/>
                        <a:ea typeface="Arial" charset="0"/>
                        <a:cs typeface="Arial" charset="0"/>
                      </a:endParaRPr>
                    </a:p>
                  </a:txBody>
                  <a:tcPr marL="63500" marR="63500" marT="25400" marB="254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0D1020"/>
                    </a:solidFill>
                  </a:tcPr>
                </a:tc>
                <a:tc>
                  <a:txBody>
                    <a:bodyPr/>
                    <a:lstStyle/>
                    <a:p>
                      <a:pPr indent="0" marL="0">
                        <a:buNone/>
                      </a:pPr>
                      <a:r>
                        <a:rPr lang="en-US" sz="950" b="1" dirty="0">
                          <a:solidFill>
                            <a:srgbClr val="FFFFFF"/>
                          </a:solidFill>
                          <a:latin typeface="Arial" pitchFamily="34" charset="0"/>
                          <a:ea typeface="Arial" pitchFamily="34" charset="-122"/>
                          <a:cs typeface="Arial" pitchFamily="34" charset="-120"/>
                        </a:rPr>
                        <a:t>Ce qui change pour le joueur</a:t>
                      </a:r>
                      <a:endParaRPr lang="en-US" sz="950" dirty="0">
                        <a:latin typeface="Arial" charset="0"/>
                        <a:ea typeface="Arial" charset="0"/>
                        <a:cs typeface="Arial" charset="0"/>
                      </a:endParaRPr>
                    </a:p>
                  </a:txBody>
                  <a:tcPr marL="63500" marR="63500" marT="25400" marB="254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0D1020"/>
                    </a:solidFill>
                  </a:tcPr>
                </a:tc>
                <a:tc>
                  <a:txBody>
                    <a:bodyPr/>
                    <a:lstStyle/>
                    <a:p>
                      <a:pPr indent="0" marL="0">
                        <a:buNone/>
                      </a:pPr>
                      <a:r>
                        <a:rPr lang="en-US" sz="950" b="1" dirty="0">
                          <a:solidFill>
                            <a:srgbClr val="FFFFFF"/>
                          </a:solidFill>
                          <a:latin typeface="Arial" pitchFamily="34" charset="0"/>
                          <a:ea typeface="Arial" pitchFamily="34" charset="-122"/>
                          <a:cs typeface="Arial" pitchFamily="34" charset="-120"/>
                        </a:rPr>
                        <a:t>Résultat → changement</a:t>
                      </a:r>
                      <a:endParaRPr lang="en-US" sz="950" dirty="0">
                        <a:latin typeface="Arial" charset="0"/>
                        <a:ea typeface="Arial" charset="0"/>
                        <a:cs typeface="Arial" charset="0"/>
                      </a:endParaRPr>
                    </a:p>
                  </a:txBody>
                  <a:tcPr marL="63500" marR="63500" marT="25400" marB="254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0D1020"/>
                    </a:solidFill>
                  </a:tcPr>
                </a:tc>
              </a:tr>
              <a:tr h="868680">
                <a:tc>
                  <a:txBody>
                    <a:bodyPr/>
                    <a:lstStyle/>
                    <a:p>
                      <a:pPr indent="0" marL="0">
                        <a:buNone/>
                      </a:pPr>
                      <a:r>
                        <a:rPr lang="en-US" sz="1050" b="1" dirty="0">
                          <a:solidFill>
                            <a:srgbClr val="E62429"/>
                          </a:solidFill>
                          <a:latin typeface="Arial" pitchFamily="34" charset="0"/>
                          <a:ea typeface="Arial" pitchFamily="34" charset="-122"/>
                          <a:cs typeface="Arial" pitchFamily="34" charset="-120"/>
                        </a:rPr>
                        <a:t>1 · Audit</a:t>
                      </a:r>
                      <a:endParaRPr lang="en-US" sz="850" dirty="0">
                        <a:latin typeface="Calibri" charset="0"/>
                        <a:ea typeface="Calibri" charset="0"/>
                        <a:cs typeface="Calibri" charset="0"/>
                      </a:endParaRPr>
                    </a:p>
                    <a:p>
                      <a:pPr indent="0" marL="0">
                        <a:buNone/>
                      </a:pPr>
                      <a:r>
                        <a:rPr lang="en-US" sz="900" dirty="0">
                          <a:solidFill>
                            <a:srgbClr val="5E6378"/>
                          </a:solidFill>
                          <a:latin typeface="Calibri" pitchFamily="34" charset="0"/>
                          <a:ea typeface="Calibri" pitchFamily="34" charset="-122"/>
                          <a:cs typeface="Calibri" pitchFamily="34" charset="-120"/>
                        </a:rPr>
                        <a:t>0-30 j</a:t>
                      </a:r>
                      <a:endParaRPr lang="en-US" sz="850" dirty="0">
                        <a:latin typeface="Calibri" charset="0"/>
                        <a:ea typeface="Calibri" charset="0"/>
                        <a:cs typeface="Calibri" charset="0"/>
                      </a:endParaRPr>
                    </a:p>
                  </a:txBody>
                  <a:tcPr marL="63500" marR="63500" marT="25400" marB="254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1 data analyst (temps plein) et 1 data engineer (mi-temps) ; DPO de NetEase : accord de sous-traitance et hachage</a:t>
                      </a:r>
                      <a:endParaRPr lang="en-US" sz="850" dirty="0">
                        <a:latin typeface="Calibri" charset="0"/>
                        <a:ea typeface="Calibri" charset="0"/>
                        <a:cs typeface="Calibri" charset="0"/>
                      </a:endParaRPr>
                    </a:p>
                  </a:txBody>
                  <a:tcPr marL="63500" marR="63500" marT="25400" marB="254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Rien en jeu : on analyse les matchs déjà enregistrés, identifiants hachés.</a:t>
                      </a:r>
                      <a:endParaRPr lang="en-US" sz="850" dirty="0">
                        <a:latin typeface="Calibri" charset="0"/>
                        <a:ea typeface="Calibri" charset="0"/>
                        <a:cs typeface="Calibri" charset="0"/>
                      </a:endParaRPr>
                    </a:p>
                  </a:txBody>
                  <a:tcPr marL="63500" marR="63500" marT="25400" marB="254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b="1" dirty="0">
                          <a:solidFill>
                            <a:srgbClr val="1F2233"/>
                          </a:solidFill>
                          <a:latin typeface="Calibri" pitchFamily="34" charset="0"/>
                          <a:ea typeface="Calibri" pitchFamily="34" charset="-122"/>
                          <a:cs typeface="Calibri" pitchFamily="34" charset="-120"/>
                        </a:rPr>
                        <a:t>Nouveaux &gt; 1,2 → </a:t>
                      </a:r>
                      <a:pPr indent="0" marL="0">
                        <a:buNone/>
                      </a:pPr>
                      <a:r>
                        <a:rPr lang="en-US" sz="850" dirty="0">
                          <a:solidFill>
                            <a:srgbClr val="1F2233"/>
                          </a:solidFill>
                          <a:latin typeface="Calibri" pitchFamily="34" charset="0"/>
                          <a:ea typeface="Calibri" pitchFamily="34" charset="-122"/>
                          <a:cs typeface="Calibri" pitchFamily="34" charset="-120"/>
                        </a:rPr>
                        <a:t>tests A et/ou B (écart aux heures pleines = A, surplus aux heures creuses = B)</a:t>
                      </a:r>
                      <a:endParaRPr lang="en-US" sz="850" dirty="0">
                        <a:latin typeface="Calibri" charset="0"/>
                        <a:ea typeface="Calibri" charset="0"/>
                        <a:cs typeface="Calibri" charset="0"/>
                      </a:endParaRPr>
                    </a:p>
                    <a:p>
                      <a:pPr indent="0" marL="0">
                        <a:buNone/>
                      </a:pPr>
                      <a:r>
                        <a:rPr lang="en-US" sz="850" b="1" dirty="0">
                          <a:solidFill>
                            <a:srgbClr val="1F2233"/>
                          </a:solidFill>
                          <a:latin typeface="Calibri" pitchFamily="34" charset="0"/>
                          <a:ea typeface="Calibri" pitchFamily="34" charset="-122"/>
                          <a:cs typeface="Calibri" pitchFamily="34" charset="-120"/>
                        </a:rPr>
                        <a:t>Revenants &gt; 1,2 → </a:t>
                      </a:r>
                      <a:pPr indent="0" marL="0">
                        <a:buNone/>
                      </a:pPr>
                      <a:r>
                        <a:rPr lang="en-US" sz="850" dirty="0">
                          <a:solidFill>
                            <a:srgbClr val="1F2233"/>
                          </a:solidFill>
                          <a:latin typeface="Calibri" pitchFamily="34" charset="0"/>
                          <a:ea typeface="Calibri" pitchFamily="34" charset="-122"/>
                          <a:cs typeface="Calibri" pitchFamily="34" charset="-120"/>
                        </a:rPr>
                        <a:t>test C</a:t>
                      </a:r>
                      <a:endParaRPr lang="en-US" sz="850" dirty="0">
                        <a:latin typeface="Calibri" charset="0"/>
                        <a:ea typeface="Calibri" charset="0"/>
                        <a:cs typeface="Calibri" charset="0"/>
                      </a:endParaRPr>
                    </a:p>
                    <a:p>
                      <a:pPr indent="0" marL="0">
                        <a:buNone/>
                      </a:pPr>
                      <a:r>
                        <a:rPr lang="en-US" sz="850" b="1" dirty="0">
                          <a:solidFill>
                            <a:srgbClr val="1F2233"/>
                          </a:solidFill>
                          <a:latin typeface="Calibri" pitchFamily="34" charset="0"/>
                          <a:ea typeface="Calibri" pitchFamily="34" charset="-122"/>
                          <a:cs typeface="Calibri" pitchFamily="34" charset="-120"/>
                        </a:rPr>
                        <a:t>Les deux ≤ 1,2 → </a:t>
                      </a:r>
                      <a:pPr indent="0" marL="0">
                        <a:buNone/>
                      </a:pPr>
                      <a:r>
                        <a:rPr lang="en-US" sz="850" dirty="0">
                          <a:solidFill>
                            <a:srgbClr val="1F2233"/>
                          </a:solidFill>
                          <a:latin typeface="Calibri" pitchFamily="34" charset="0"/>
                          <a:ea typeface="Calibri" pitchFamily="34" charset="-122"/>
                          <a:cs typeface="Calibri" pitchFamily="34" charset="-120"/>
                        </a:rPr>
                        <a:t>plan B, on ne touche pas au matchmaking</a:t>
                      </a:r>
                      <a:endParaRPr lang="en-US" sz="850" dirty="0">
                        <a:latin typeface="Calibri" charset="0"/>
                        <a:ea typeface="Calibri" charset="0"/>
                        <a:cs typeface="Calibri" charset="0"/>
                      </a:endParaRPr>
                    </a:p>
                  </a:txBody>
                  <a:tcPr marL="63500" marR="63500" marT="25400" marB="254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r>
              <a:tr h="1024128">
                <a:tc>
                  <a:txBody>
                    <a:bodyPr/>
                    <a:lstStyle/>
                    <a:p>
                      <a:pPr indent="0" marL="0">
                        <a:buNone/>
                      </a:pPr>
                      <a:r>
                        <a:rPr lang="en-US" sz="1050" b="1" dirty="0">
                          <a:solidFill>
                            <a:srgbClr val="E62429"/>
                          </a:solidFill>
                          <a:latin typeface="Arial" pitchFamily="34" charset="0"/>
                          <a:ea typeface="Arial" pitchFamily="34" charset="-122"/>
                          <a:cs typeface="Arial" pitchFamily="34" charset="-120"/>
                        </a:rPr>
                        <a:t>2 · Tests</a:t>
                      </a:r>
                      <a:endParaRPr lang="en-US" sz="850" dirty="0">
                        <a:latin typeface="Calibri" charset="0"/>
                        <a:ea typeface="Calibri" charset="0"/>
                        <a:cs typeface="Calibri" charset="0"/>
                      </a:endParaRPr>
                    </a:p>
                    <a:p>
                      <a:pPr indent="0" marL="0">
                        <a:buNone/>
                      </a:pPr>
                      <a:r>
                        <a:rPr lang="en-US" sz="900" dirty="0">
                          <a:solidFill>
                            <a:srgbClr val="5E6378"/>
                          </a:solidFill>
                          <a:latin typeface="Calibri" pitchFamily="34" charset="0"/>
                          <a:ea typeface="Calibri" pitchFamily="34" charset="-122"/>
                          <a:cs typeface="Calibri" pitchFamily="34" charset="-120"/>
                        </a:rPr>
                        <a:t>30-90 j, si un ratio &gt; 1,2</a:t>
                      </a:r>
                      <a:endParaRPr lang="en-US" sz="850" dirty="0">
                        <a:latin typeface="Calibri" charset="0"/>
                        <a:ea typeface="Calibri" charset="0"/>
                        <a:cs typeface="Calibri" charset="0"/>
                      </a:endParaRPr>
                    </a:p>
                  </a:txBody>
                  <a:tcPr marL="63500" marR="63500" marT="25400" marB="254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Équipe matchmaking NetEase (code les réglages) ; analyste (mesure) ; live-ops (annonce)</a:t>
                      </a:r>
                      <a:endParaRPr lang="en-US" sz="850" dirty="0">
                        <a:latin typeface="Calibri" charset="0"/>
                        <a:ea typeface="Calibri" charset="0"/>
                        <a:cs typeface="Calibri" charset="0"/>
                      </a:endParaRPr>
                    </a:p>
                  </a:txBody>
                  <a:tcPr marL="63500" marR="63500" marT="25400" marB="254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Une partie des joueurs, tirée au sort, reçoit le nouveau réglage, les autres servent de témoin. A : nouveaux placés plus bas, entre débutants jusqu'au niveau 15. B : matchs plus serrés aux heures creuses. C : matchs de recalibrage au retour.</a:t>
                      </a:r>
                      <a:endParaRPr lang="en-US" sz="850" dirty="0">
                        <a:latin typeface="Calibri" charset="0"/>
                        <a:ea typeface="Calibri" charset="0"/>
                        <a:cs typeface="Calibri" charset="0"/>
                      </a:endParaRPr>
                    </a:p>
                  </a:txBody>
                  <a:tcPr marL="63500" marR="63500" marT="25400" marB="254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b="1" dirty="0">
                          <a:solidFill>
                            <a:srgbClr val="1F2233"/>
                          </a:solidFill>
                          <a:latin typeface="Calibri" pitchFamily="34" charset="0"/>
                          <a:ea typeface="Calibri" pitchFamily="34" charset="-122"/>
                          <a:cs typeface="Calibri" pitchFamily="34" charset="-120"/>
                        </a:rPr>
                        <a:t>Départs en baisse face au témoin → </a:t>
                      </a:r>
                      <a:pPr indent="0" marL="0">
                        <a:buNone/>
                      </a:pPr>
                      <a:r>
                        <a:rPr lang="en-US" sz="850" dirty="0">
                          <a:solidFill>
                            <a:srgbClr val="1F2233"/>
                          </a:solidFill>
                          <a:latin typeface="Calibri" pitchFamily="34" charset="0"/>
                          <a:ea typeface="Calibri" pitchFamily="34" charset="-122"/>
                          <a:cs typeface="Calibri" pitchFamily="34" charset="-120"/>
                        </a:rPr>
                        <a:t>réglage gardé</a:t>
                      </a:r>
                      <a:endParaRPr lang="en-US" sz="850" dirty="0">
                        <a:latin typeface="Calibri" charset="0"/>
                        <a:ea typeface="Calibri" charset="0"/>
                        <a:cs typeface="Calibri" charset="0"/>
                      </a:endParaRPr>
                    </a:p>
                    <a:p>
                      <a:pPr indent="0" marL="0">
                        <a:buNone/>
                      </a:pPr>
                      <a:r>
                        <a:rPr lang="en-US" sz="850" b="1" dirty="0">
                          <a:solidFill>
                            <a:srgbClr val="1F2233"/>
                          </a:solidFill>
                          <a:latin typeface="Calibri" pitchFamily="34" charset="0"/>
                          <a:ea typeface="Calibri" pitchFamily="34" charset="-122"/>
                          <a:cs typeface="Calibri" pitchFamily="34" charset="-120"/>
                        </a:rPr>
                        <a:t>Attente p90 &gt; 3 min → </a:t>
                      </a:r>
                      <a:pPr indent="0" marL="0">
                        <a:buNone/>
                      </a:pPr>
                      <a:r>
                        <a:rPr lang="en-US" sz="850" dirty="0">
                          <a:solidFill>
                            <a:srgbClr val="1F2233"/>
                          </a:solidFill>
                          <a:latin typeface="Calibri" pitchFamily="34" charset="0"/>
                          <a:ea typeface="Calibri" pitchFamily="34" charset="-122"/>
                          <a:cs typeface="Calibri" pitchFamily="34" charset="-120"/>
                        </a:rPr>
                        <a:t>arrêt immédiat du réglage B</a:t>
                      </a:r>
                      <a:endParaRPr lang="en-US" sz="850" dirty="0">
                        <a:latin typeface="Calibri" charset="0"/>
                        <a:ea typeface="Calibri" charset="0"/>
                        <a:cs typeface="Calibri" charset="0"/>
                      </a:endParaRPr>
                    </a:p>
                    <a:p>
                      <a:pPr indent="0" marL="0">
                        <a:buNone/>
                      </a:pPr>
                      <a:r>
                        <a:rPr lang="en-US" sz="850" b="1" dirty="0">
                          <a:solidFill>
                            <a:srgbClr val="1F2233"/>
                          </a:solidFill>
                          <a:latin typeface="Calibri" pitchFamily="34" charset="0"/>
                          <a:ea typeface="Calibri" pitchFamily="34" charset="-122"/>
                          <a:cs typeface="Calibri" pitchFamily="34" charset="-120"/>
                        </a:rPr>
                        <a:t>Aucune baisse → </a:t>
                      </a:r>
                      <a:pPr indent="0" marL="0">
                        <a:buNone/>
                      </a:pPr>
                      <a:r>
                        <a:rPr lang="en-US" sz="850" dirty="0">
                          <a:solidFill>
                            <a:srgbClr val="1F2233"/>
                          </a:solidFill>
                          <a:latin typeface="Calibri" pitchFamily="34" charset="0"/>
                          <a:ea typeface="Calibri" pitchFamily="34" charset="-122"/>
                          <a:cs typeface="Calibri" pitchFamily="34" charset="-120"/>
                        </a:rPr>
                        <a:t>réglage abandonné</a:t>
                      </a:r>
                      <a:endParaRPr lang="en-US" sz="850" dirty="0">
                        <a:latin typeface="Calibri" charset="0"/>
                        <a:ea typeface="Calibri" charset="0"/>
                        <a:cs typeface="Calibri" charset="0"/>
                      </a:endParaRPr>
                    </a:p>
                  </a:txBody>
                  <a:tcPr marL="63500" marR="63500" marT="25400" marB="254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r>
              <a:tr h="868680">
                <a:tc>
                  <a:txBody>
                    <a:bodyPr/>
                    <a:lstStyle/>
                    <a:p>
                      <a:pPr indent="0" marL="0">
                        <a:buNone/>
                      </a:pPr>
                      <a:r>
                        <a:rPr lang="en-US" sz="1050" b="1" dirty="0">
                          <a:solidFill>
                            <a:srgbClr val="E62429"/>
                          </a:solidFill>
                          <a:latin typeface="Arial" pitchFamily="34" charset="0"/>
                          <a:ea typeface="Arial" pitchFamily="34" charset="-122"/>
                          <a:cs typeface="Arial" pitchFamily="34" charset="-120"/>
                        </a:rPr>
                        <a:t>3 · Déploiement</a:t>
                      </a:r>
                      <a:endParaRPr lang="en-US" sz="850" dirty="0">
                        <a:latin typeface="Calibri" charset="0"/>
                        <a:ea typeface="Calibri" charset="0"/>
                        <a:cs typeface="Calibri" charset="0"/>
                      </a:endParaRPr>
                    </a:p>
                    <a:p>
                      <a:pPr indent="0" marL="0">
                        <a:buNone/>
                      </a:pPr>
                      <a:r>
                        <a:rPr lang="en-US" sz="900" dirty="0">
                          <a:solidFill>
                            <a:srgbClr val="5E6378"/>
                          </a:solidFill>
                          <a:latin typeface="Calibri" pitchFamily="34" charset="0"/>
                          <a:ea typeface="Calibri" pitchFamily="34" charset="-122"/>
                          <a:cs typeface="Calibri" pitchFamily="34" charset="-120"/>
                        </a:rPr>
                        <a:t>90-180 j</a:t>
                      </a:r>
                      <a:endParaRPr lang="en-US" sz="850" dirty="0">
                        <a:latin typeface="Calibri" charset="0"/>
                        <a:ea typeface="Calibri" charset="0"/>
                        <a:cs typeface="Calibri" charset="0"/>
                      </a:endParaRPr>
                    </a:p>
                  </a:txBody>
                  <a:tcPr marL="63500" marR="63500" marT="25400" marB="254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Équipe matchmaking (mise en production) ; live-ops et communication ; analyste 2 j par mois</a:t>
                      </a:r>
                      <a:endParaRPr lang="en-US" sz="850" dirty="0">
                        <a:latin typeface="Calibri" charset="0"/>
                        <a:ea typeface="Calibri" charset="0"/>
                        <a:cs typeface="Calibri" charset="0"/>
                      </a:endParaRPr>
                    </a:p>
                  </a:txBody>
                  <a:tcPr marL="63500" marR="63500" marT="25400" marB="254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Les réglages gagnants passent à tous, annoncés dans les notes de patch ; page publique « comment fonctionne le matchmaking ».</a:t>
                      </a:r>
                      <a:endParaRPr lang="en-US" sz="850" dirty="0">
                        <a:latin typeface="Calibri" charset="0"/>
                        <a:ea typeface="Calibri" charset="0"/>
                        <a:cs typeface="Calibri" charset="0"/>
                      </a:endParaRPr>
                    </a:p>
                  </a:txBody>
                  <a:tcPr marL="63500" marR="63500" marT="25400" marB="254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b="1" dirty="0">
                          <a:solidFill>
                            <a:srgbClr val="1F2233"/>
                          </a:solidFill>
                          <a:latin typeface="Calibri" pitchFamily="34" charset="0"/>
                          <a:ea typeface="Calibri" pitchFamily="34" charset="-122"/>
                          <a:cs typeface="Calibri" pitchFamily="34" charset="-120"/>
                        </a:rPr>
                        <a:t>31/03/2027 : ratio ≤ 1,2 et avis &lt; 8 % → </a:t>
                      </a:r>
                      <a:pPr indent="0" marL="0">
                        <a:buNone/>
                      </a:pPr>
                      <a:r>
                        <a:rPr lang="en-US" sz="850" dirty="0">
                          <a:solidFill>
                            <a:srgbClr val="1F2233"/>
                          </a:solidFill>
                          <a:latin typeface="Calibri" pitchFamily="34" charset="0"/>
                          <a:ea typeface="Calibri" pitchFamily="34" charset="-122"/>
                          <a:cs typeface="Calibri" pitchFamily="34" charset="-120"/>
                        </a:rPr>
                        <a:t>objectif atteint</a:t>
                      </a:r>
                      <a:endParaRPr lang="en-US" sz="850" dirty="0">
                        <a:latin typeface="Calibri" charset="0"/>
                        <a:ea typeface="Calibri" charset="0"/>
                        <a:cs typeface="Calibri" charset="0"/>
                      </a:endParaRPr>
                    </a:p>
                    <a:p>
                      <a:pPr indent="0" marL="0">
                        <a:buNone/>
                      </a:pPr>
                      <a:r>
                        <a:rPr lang="en-US" sz="850" b="1" dirty="0">
                          <a:solidFill>
                            <a:srgbClr val="1F2233"/>
                          </a:solidFill>
                          <a:latin typeface="Calibri" pitchFamily="34" charset="0"/>
                          <a:ea typeface="Calibri" pitchFamily="34" charset="-122"/>
                          <a:cs typeface="Calibri" pitchFamily="34" charset="-120"/>
                        </a:rPr>
                        <a:t>Ratio bon, avis &gt; 8 % → </a:t>
                      </a:r>
                      <a:pPr indent="0" marL="0">
                        <a:buNone/>
                      </a:pPr>
                      <a:r>
                        <a:rPr lang="en-US" sz="850" dirty="0">
                          <a:solidFill>
                            <a:srgbClr val="1F2233"/>
                          </a:solidFill>
                          <a:latin typeface="Calibri" pitchFamily="34" charset="0"/>
                          <a:ea typeface="Calibri" pitchFamily="34" charset="-122"/>
                          <a:cs typeface="Calibri" pitchFamily="34" charset="-120"/>
                        </a:rPr>
                        <a:t>problème de perception : plus de transparence</a:t>
                      </a:r>
                      <a:endParaRPr lang="en-US" sz="850" dirty="0">
                        <a:latin typeface="Calibri" charset="0"/>
                        <a:ea typeface="Calibri" charset="0"/>
                        <a:cs typeface="Calibri" charset="0"/>
                      </a:endParaRPr>
                    </a:p>
                    <a:p>
                      <a:pPr indent="0" marL="0">
                        <a:buNone/>
                      </a:pPr>
                      <a:r>
                        <a:rPr lang="en-US" sz="850" b="1" dirty="0">
                          <a:solidFill>
                            <a:srgbClr val="1F2233"/>
                          </a:solidFill>
                          <a:latin typeface="Calibri" pitchFamily="34" charset="0"/>
                          <a:ea typeface="Calibri" pitchFamily="34" charset="-122"/>
                          <a:cs typeface="Calibri" pitchFamily="34" charset="-120"/>
                        </a:rPr>
                        <a:t>Ratio qui remonte → </a:t>
                      </a:r>
                      <a:pPr indent="0" marL="0">
                        <a:buNone/>
                      </a:pPr>
                      <a:r>
                        <a:rPr lang="en-US" sz="850" dirty="0">
                          <a:solidFill>
                            <a:srgbClr val="1F2233"/>
                          </a:solidFill>
                          <a:latin typeface="Calibri" pitchFamily="34" charset="0"/>
                          <a:ea typeface="Calibri" pitchFamily="34" charset="-122"/>
                          <a:cs typeface="Calibri" pitchFamily="34" charset="-120"/>
                        </a:rPr>
                        <a:t>retour en phase 2</a:t>
                      </a:r>
                      <a:endParaRPr lang="en-US" sz="850" dirty="0">
                        <a:latin typeface="Calibri" charset="0"/>
                        <a:ea typeface="Calibri" charset="0"/>
                        <a:cs typeface="Calibri" charset="0"/>
                      </a:endParaRPr>
                    </a:p>
                  </a:txBody>
                  <a:tcPr marL="63500" marR="63500" marT="25400" marB="254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r>
            </a:tbl>
          </a:graphicData>
        </a:graphic>
      </p:graphicFrame>
      <p:sp>
        <p:nvSpPr>
          <p:cNvPr id="12" name="Shape 8"/>
          <p:cNvSpPr/>
          <p:nvPr/>
        </p:nvSpPr>
        <p:spPr>
          <a:xfrm>
            <a:off x="457200" y="4224528"/>
            <a:ext cx="8229600" cy="457200"/>
          </a:xfrm>
          <a:prstGeom prst="roundRect">
            <a:avLst>
              <a:gd name="adj" fmla="val 12000"/>
            </a:avLst>
          </a:prstGeom>
          <a:solidFill>
            <a:srgbClr val="0D1020"/>
          </a:solidFill>
          <a:ln w="12700">
            <a:solidFill>
              <a:srgbClr val="0D1020"/>
            </a:solidFill>
            <a:prstDash val="solid"/>
          </a:ln>
        </p:spPr>
      </p:sp>
      <p:sp>
        <p:nvSpPr>
          <p:cNvPr id="13" name="Text 9"/>
          <p:cNvSpPr txBox="1"/>
          <p:nvPr/>
        </p:nvSpPr>
        <p:spPr>
          <a:xfrm>
            <a:off x="640080" y="4224528"/>
            <a:ext cx="7863840" cy="45720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Budget : ≈ 19 K€ engagés (audit) · ≈ 45 K€ si les tests sont lancés</a:t>
            </a:r>
            <a:pPr indent="0" marL="0">
              <a:buNone/>
            </a:pPr>
            <a:r>
              <a:rPr lang="en-US" sz="1000" dirty="0">
                <a:solidFill>
                  <a:srgbClr val="C9CCDA"/>
                </a:solidFill>
                <a:latin typeface="Calibri" pitchFamily="34" charset="0"/>
                <a:ea typeface="Calibri" pitchFamily="34" charset="-122"/>
                <a:cs typeface="Calibri" pitchFamily="34" charset="-120"/>
              </a:rPr>
              <a:t>  ·  détail du calcul slide suivante</a:t>
            </a:r>
            <a:endParaRPr lang="en-US" sz="1200" dirty="0"/>
          </a:p>
        </p:txBody>
      </p:sp>
      <p:sp>
        <p:nvSpPr>
          <p:cNvPr id="14" name="Text 10"/>
          <p:cNvSpPr txBox="1"/>
          <p:nvPr/>
        </p:nvSpPr>
        <p:spPr>
          <a:xfrm>
            <a:off x="457200" y="4773168"/>
            <a:ext cx="7863840" cy="256032"/>
          </a:xfrm>
          <a:prstGeom prst="rect">
            <a:avLst/>
          </a:prstGeom>
          <a:noFill/>
          <a:ln/>
        </p:spPr>
        <p:txBody>
          <a:bodyPr wrap="square" lIns="0" tIns="0" rIns="0" bIns="0" rtlCol="0" anchor="ctr"/>
          <a:lstStyle/>
          <a:p>
            <a:pPr indent="0" marL="0">
              <a:buNone/>
            </a:pPr>
            <a:r>
              <a:rPr lang="en-US" sz="850" dirty="0">
                <a:solidFill>
                  <a:srgbClr val="5E6378"/>
                </a:solidFill>
                <a:latin typeface="Calibri" pitchFamily="34" charset="0"/>
                <a:ea typeface="Calibri" pitchFamily="34" charset="-122"/>
                <a:cs typeface="Calibri" pitchFamily="34" charset="-120"/>
              </a:rPr>
              <a:t>Sources : </a:t>
            </a:r>
            <a:pPr indent="0" marL="0">
              <a:buNone/>
            </a:pPr>
            <a:r>
              <a:rPr lang="en-US" sz="850" u="sng" dirty="0">
                <a:solidFill>
                  <a:srgbClr val="2F3C7E"/>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plan de collecte complet (§7)</a:t>
            </a:r>
            <a:endParaRPr lang="en-US" sz="850" dirty="0"/>
          </a:p>
        </p:txBody>
      </p:sp>
      <p:sp>
        <p:nvSpPr>
          <p:cNvPr id="15" name="Shape 11"/>
          <p:cNvSpPr/>
          <p:nvPr/>
        </p:nvSpPr>
        <p:spPr>
          <a:xfrm>
            <a:off x="8458200" y="4800600"/>
            <a:ext cx="502920" cy="219456"/>
          </a:xfrm>
          <a:prstGeom prst="parallelogram">
            <a:avLst/>
          </a:prstGeom>
          <a:solidFill>
            <a:srgbClr val="E62429"/>
          </a:solidFill>
          <a:ln w="12700">
            <a:solidFill>
              <a:srgbClr val="E62429"/>
            </a:solidFill>
            <a:prstDash val="solid"/>
          </a:ln>
        </p:spPr>
      </p:sp>
      <p:sp>
        <p:nvSpPr>
          <p:cNvPr id="16" name="Text 12"/>
          <p:cNvSpPr txBox="1"/>
          <p:nvPr/>
        </p:nvSpPr>
        <p:spPr>
          <a:xfrm>
            <a:off x="8458200" y="4800600"/>
            <a:ext cx="502920" cy="219456"/>
          </a:xfrm>
          <a:prstGeom prst="rect">
            <a:avLst/>
          </a:prstGeom>
          <a:noFill/>
          <a:ln/>
        </p:spPr>
        <p:txBody>
          <a:bodyPr wrap="square" lIns="0" tIns="0" rIns="0" bIns="0" rtlCol="0" anchor="ctr"/>
          <a:lstStyle/>
          <a:p>
            <a:pPr algn="ctr" indent="0" marL="0">
              <a:buNone/>
            </a:pPr>
            <a:r>
              <a:rPr lang="en-US" sz="900" b="1" dirty="0">
                <a:solidFill>
                  <a:srgbClr val="FFFFFF"/>
                </a:solidFill>
                <a:latin typeface="Arial" pitchFamily="34" charset="0"/>
                <a:ea typeface="Arial" pitchFamily="34" charset="-122"/>
                <a:cs typeface="Arial"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1024128"/>
          </a:xfrm>
          <a:prstGeom prst="rect">
            <a:avLst/>
          </a:prstGeom>
          <a:solidFill>
            <a:srgbClr val="0D1020"/>
          </a:solidFill>
          <a:ln w="12700">
            <a:solidFill>
              <a:srgbClr val="0D1020"/>
            </a:solidFill>
            <a:prstDash val="solid"/>
          </a:ln>
        </p:spPr>
      </p:sp>
      <p:sp>
        <p:nvSpPr>
          <p:cNvPr id="3" name="Shape 1"/>
          <p:cNvSpPr/>
          <p:nvPr/>
        </p:nvSpPr>
        <p:spPr>
          <a:xfrm>
            <a:off x="-137160" y="1024128"/>
            <a:ext cx="3840480" cy="64008"/>
          </a:xfrm>
          <a:prstGeom prst="parallelogram">
            <a:avLst/>
          </a:prstGeom>
          <a:solidFill>
            <a:srgbClr val="E62429"/>
          </a:solidFill>
          <a:ln w="12700">
            <a:solidFill>
              <a:srgbClr val="E62429"/>
            </a:solidFill>
            <a:prstDash val="solid"/>
          </a:ln>
        </p:spPr>
      </p:sp>
      <p:sp>
        <p:nvSpPr>
          <p:cNvPr id="4" name="Shape 2"/>
          <p:cNvSpPr/>
          <p:nvPr/>
        </p:nvSpPr>
        <p:spPr>
          <a:xfrm>
            <a:off x="3611880" y="1024128"/>
            <a:ext cx="1463040" cy="64008"/>
          </a:xfrm>
          <a:prstGeom prst="parallelogram">
            <a:avLst/>
          </a:prstGeom>
          <a:solidFill>
            <a:srgbClr val="FFC72C"/>
          </a:solidFill>
          <a:ln w="12700">
            <a:solidFill>
              <a:srgbClr val="FFC72C"/>
            </a:solidFill>
            <a:prstDash val="solid"/>
          </a:ln>
        </p:spPr>
      </p:sp>
      <p:sp>
        <p:nvSpPr>
          <p:cNvPr id="5" name="Shape 3"/>
          <p:cNvSpPr/>
          <p:nvPr/>
        </p:nvSpPr>
        <p:spPr>
          <a:xfrm>
            <a:off x="292608" y="329184"/>
            <a:ext cx="146304" cy="420624"/>
          </a:xfrm>
          <a:prstGeom prst="parallelogram">
            <a:avLst/>
          </a:prstGeom>
          <a:solidFill>
            <a:srgbClr val="E62429"/>
          </a:solidFill>
          <a:ln w="12700">
            <a:solidFill>
              <a:srgbClr val="E62429"/>
            </a:solidFill>
            <a:prstDash val="solid"/>
          </a:ln>
        </p:spPr>
      </p:sp>
      <p:sp>
        <p:nvSpPr>
          <p:cNvPr id="6" name="Shape 4"/>
          <p:cNvSpPr/>
          <p:nvPr/>
        </p:nvSpPr>
        <p:spPr>
          <a:xfrm>
            <a:off x="502920" y="109728"/>
            <a:ext cx="745236" cy="201168"/>
          </a:xfrm>
          <a:prstGeom prst="parallelogram">
            <a:avLst/>
          </a:prstGeom>
          <a:solidFill>
            <a:srgbClr val="FFC72C"/>
          </a:solidFill>
          <a:ln w="12700">
            <a:solidFill>
              <a:srgbClr val="FFC72C"/>
            </a:solidFill>
            <a:prstDash val="solid"/>
          </a:ln>
        </p:spPr>
      </p:sp>
      <p:sp>
        <p:nvSpPr>
          <p:cNvPr id="7" name="Text 5"/>
          <p:cNvSpPr txBox="1"/>
          <p:nvPr/>
        </p:nvSpPr>
        <p:spPr>
          <a:xfrm>
            <a:off x="502920" y="109728"/>
            <a:ext cx="745236" cy="201168"/>
          </a:xfrm>
          <a:prstGeom prst="rect">
            <a:avLst/>
          </a:prstGeom>
          <a:noFill/>
          <a:ln/>
        </p:spPr>
        <p:txBody>
          <a:bodyPr wrap="square" lIns="0" tIns="0" rIns="0" bIns="0" rtlCol="0" anchor="ctr"/>
          <a:lstStyle/>
          <a:p>
            <a:pPr algn="ctr" indent="0" marL="0">
              <a:buNone/>
            </a:pPr>
            <a:r>
              <a:rPr lang="en-US" sz="800" b="1" spc="100" kern="0" dirty="0">
                <a:solidFill>
                  <a:srgbClr val="0D1020"/>
                </a:solidFill>
                <a:latin typeface="Arial" pitchFamily="34" charset="0"/>
                <a:ea typeface="Arial" pitchFamily="34" charset="-122"/>
                <a:cs typeface="Arial" pitchFamily="34" charset="-120"/>
              </a:rPr>
              <a:t>ROADMAP</a:t>
            </a:r>
            <a:endParaRPr lang="en-US" sz="800" dirty="0"/>
          </a:p>
        </p:txBody>
      </p:sp>
      <p:sp>
        <p:nvSpPr>
          <p:cNvPr id="8" name="Text 6"/>
          <p:cNvSpPr txBox="1"/>
          <p:nvPr/>
        </p:nvSpPr>
        <p:spPr>
          <a:xfrm>
            <a:off x="548640" y="310896"/>
            <a:ext cx="722376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Combien : 19 K€ engagés, 45 K€ au total</a:t>
            </a:r>
            <a:endParaRPr lang="en-US" sz="2200" dirty="0"/>
          </a:p>
        </p:txBody>
      </p:sp>
      <p:sp>
        <p:nvSpPr>
          <p:cNvPr id="9" name="Text 7"/>
          <p:cNvSpPr txBox="1"/>
          <p:nvPr/>
        </p:nvSpPr>
        <p:spPr>
          <a:xfrm>
            <a:off x="548640" y="749808"/>
            <a:ext cx="7315200" cy="237744"/>
          </a:xfrm>
          <a:prstGeom prst="rect">
            <a:avLst/>
          </a:prstGeom>
          <a:noFill/>
          <a:ln/>
        </p:spPr>
        <p:txBody>
          <a:bodyPr wrap="square" lIns="0" tIns="0" rIns="0" bIns="0" rtlCol="0" anchor="ctr"/>
          <a:lstStyle/>
          <a:p>
            <a:pPr indent="0" marL="0">
              <a:buNone/>
            </a:pPr>
            <a:r>
              <a:rPr lang="en-US" sz="1100" dirty="0">
                <a:solidFill>
                  <a:srgbClr val="FFC72C"/>
                </a:solidFill>
                <a:latin typeface="Calibri" pitchFamily="34" charset="0"/>
                <a:ea typeface="Calibri" pitchFamily="34" charset="-122"/>
                <a:cs typeface="Calibri" pitchFamily="34" charset="-120"/>
              </a:rPr>
              <a:t>personnes aux TJM médians du marché, outils aux tarifs publics</a:t>
            </a:r>
            <a:endParaRPr lang="en-US" sz="1100" dirty="0"/>
          </a:p>
        </p:txBody>
      </p:sp>
      <p:pic>
        <p:nvPicPr>
          <p:cNvPr id="10" name="Image 0" descr="/tmp/claude-0/-home-user-SOCIO/dd1a12ff-0491-58c5-8c13-7e8ef7d55990/scratchpad/brand/logo.png">    </p:cNvPr>
          <p:cNvPicPr>
            <a:picLocks noChangeAspect="1"/>
          </p:cNvPicPr>
          <p:nvPr/>
        </p:nvPicPr>
        <p:blipFill>
          <a:blip r:embed="rId1"/>
          <a:stretch>
            <a:fillRect/>
          </a:stretch>
        </p:blipFill>
        <p:spPr>
          <a:xfrm>
            <a:off x="7973568" y="201168"/>
            <a:ext cx="960120" cy="402336"/>
          </a:xfrm>
          <a:prstGeom prst="rect">
            <a:avLst/>
          </a:prstGeom>
        </p:spPr>
      </p:pic>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57200" y="1115568"/>
          <a:ext cx="8229600" cy="914400"/>
        </p:xfrm>
        <a:graphic>
          <a:graphicData uri="http://schemas.openxmlformats.org/drawingml/2006/table">
            <a:tbl>
              <a:tblPr/>
              <a:tblGrid>
                <a:gridCol w="2377440"/>
                <a:gridCol w="3291840"/>
                <a:gridCol w="1234440"/>
                <a:gridCol w="1325880"/>
              </a:tblGrid>
              <a:tr h="237744">
                <a:tc>
                  <a:txBody>
                    <a:bodyPr/>
                    <a:lstStyle/>
                    <a:p>
                      <a:pPr indent="0" marL="0">
                        <a:buNone/>
                      </a:pPr>
                      <a:r>
                        <a:rPr lang="en-US" sz="950" b="1" dirty="0">
                          <a:solidFill>
                            <a:srgbClr val="FFFFFF"/>
                          </a:solidFill>
                          <a:latin typeface="Arial" pitchFamily="34" charset="0"/>
                          <a:ea typeface="Arial" pitchFamily="34" charset="-122"/>
                          <a:cs typeface="Arial" pitchFamily="34" charset="-120"/>
                        </a:rPr>
                        <a:t>Poste</a:t>
                      </a:r>
                      <a:endParaRPr lang="en-US" sz="950" dirty="0">
                        <a:latin typeface="Arial" charset="0"/>
                        <a:ea typeface="Arial" charset="0"/>
                        <a:cs typeface="Arial"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0D1020"/>
                    </a:solidFill>
                  </a:tcPr>
                </a:tc>
                <a:tc>
                  <a:txBody>
                    <a:bodyPr/>
                    <a:lstStyle/>
                    <a:p>
                      <a:pPr indent="0" marL="0">
                        <a:buNone/>
                      </a:pPr>
                      <a:r>
                        <a:rPr lang="en-US" sz="950" b="1" dirty="0">
                          <a:solidFill>
                            <a:srgbClr val="FFFFFF"/>
                          </a:solidFill>
                          <a:latin typeface="Arial" pitchFamily="34" charset="0"/>
                          <a:ea typeface="Arial" pitchFamily="34" charset="-122"/>
                          <a:cs typeface="Arial" pitchFamily="34" charset="-120"/>
                        </a:rPr>
                        <a:t>Calcul</a:t>
                      </a:r>
                      <a:endParaRPr lang="en-US" sz="950" dirty="0">
                        <a:latin typeface="Arial" charset="0"/>
                        <a:ea typeface="Arial" charset="0"/>
                        <a:cs typeface="Arial"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0D1020"/>
                    </a:solidFill>
                  </a:tcPr>
                </a:tc>
                <a:tc>
                  <a:txBody>
                    <a:bodyPr/>
                    <a:lstStyle/>
                    <a:p>
                      <a:pPr indent="0" marL="0">
                        <a:buNone/>
                      </a:pPr>
                      <a:r>
                        <a:rPr lang="en-US" sz="950" b="1" dirty="0">
                          <a:solidFill>
                            <a:srgbClr val="FFFFFF"/>
                          </a:solidFill>
                          <a:latin typeface="Arial" pitchFamily="34" charset="0"/>
                          <a:ea typeface="Arial" pitchFamily="34" charset="-122"/>
                          <a:cs typeface="Arial" pitchFamily="34" charset="-120"/>
                        </a:rPr>
                        <a:t>Montant</a:t>
                      </a:r>
                      <a:endParaRPr lang="en-US" sz="950" dirty="0">
                        <a:latin typeface="Arial" charset="0"/>
                        <a:ea typeface="Arial" charset="0"/>
                        <a:cs typeface="Arial"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0D1020"/>
                    </a:solidFill>
                  </a:tcPr>
                </a:tc>
                <a:tc>
                  <a:txBody>
                    <a:bodyPr/>
                    <a:lstStyle/>
                    <a:p>
                      <a:pPr indent="0" marL="0">
                        <a:buNone/>
                      </a:pPr>
                      <a:r>
                        <a:rPr lang="en-US" sz="950" b="1" dirty="0">
                          <a:solidFill>
                            <a:srgbClr val="FFFFFF"/>
                          </a:solidFill>
                          <a:latin typeface="Arial" pitchFamily="34" charset="0"/>
                          <a:ea typeface="Arial" pitchFamily="34" charset="-122"/>
                          <a:cs typeface="Arial" pitchFamily="34" charset="-120"/>
                        </a:rPr>
                        <a:t>Source</a:t>
                      </a:r>
                      <a:endParaRPr lang="en-US" sz="950" dirty="0">
                        <a:latin typeface="Arial" charset="0"/>
                        <a:ea typeface="Arial" charset="0"/>
                        <a:cs typeface="Arial"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0D1020"/>
                    </a:solidFill>
                  </a:tcPr>
                </a:tc>
              </a:tr>
              <a:tr h="274320">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Audit, 0-30 j : analyste et ingénieur</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22 j × 540 € + 11 j × 650 €</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E62429"/>
                          </a:solidFill>
                          <a:latin typeface="Arial" pitchFamily="34" charset="0"/>
                          <a:ea typeface="Arial" pitchFamily="34" charset="-122"/>
                          <a:cs typeface="Arial" pitchFamily="34" charset="-120"/>
                        </a:rPr>
                        <a:t>19 K€</a:t>
                      </a:r>
                      <a:endParaRPr lang="en-US" sz="1000" dirty="0">
                        <a:latin typeface="Arial" charset="0"/>
                        <a:ea typeface="Arial" charset="0"/>
                        <a:cs typeface="Arial"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TJM médians 2026, tjmetre.fr</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r>
              <a:tr h="246888">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Tests, 30-90 j : analyste</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43 j × 540 €</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1F2233"/>
                          </a:solidFill>
                          <a:latin typeface="Arial" pitchFamily="34" charset="0"/>
                          <a:ea typeface="Arial" pitchFamily="34" charset="-122"/>
                          <a:cs typeface="Arial" pitchFamily="34" charset="-120"/>
                        </a:rPr>
                        <a:t>23 K€</a:t>
                      </a:r>
                      <a:endParaRPr lang="en-US" sz="1000" dirty="0">
                        <a:latin typeface="Arial" charset="0"/>
                        <a:ea typeface="Arial" charset="0"/>
                        <a:cs typeface="Arial"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idem</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r>
              <a:tr h="246888">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Déploiement, 90-180 j : pilotage</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6 j × 540 €</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1F2233"/>
                          </a:solidFill>
                          <a:latin typeface="Arial" pitchFamily="34" charset="0"/>
                          <a:ea typeface="Arial" pitchFamily="34" charset="-122"/>
                          <a:cs typeface="Arial" pitchFamily="34" charset="-120"/>
                        </a:rPr>
                        <a:t>3 K€</a:t>
                      </a:r>
                      <a:endParaRPr lang="en-US" sz="1000" dirty="0">
                        <a:latin typeface="Arial" charset="0"/>
                        <a:ea typeface="Arial" charset="0"/>
                        <a:cs typeface="Arial"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idem</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r>
              <a:tr h="365760">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Entrepôt (BigQuery à la demande)</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6,25 $ par To au-delà de 1 To gratuit ; plafond prudent : 100 To par mois pendant 6 mois</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1F2233"/>
                          </a:solidFill>
                          <a:latin typeface="Arial" pitchFamily="34" charset="0"/>
                          <a:ea typeface="Arial" pitchFamily="34" charset="-122"/>
                          <a:cs typeface="Arial" pitchFamily="34" charset="-120"/>
                        </a:rPr>
                        <a:t>≤ 3,7 K$</a:t>
                      </a:r>
                      <a:endParaRPr lang="en-US" sz="1000" dirty="0">
                        <a:latin typeface="Arial" charset="0"/>
                        <a:ea typeface="Arial" charset="0"/>
                        <a:cs typeface="Arial"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Google Cloud</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r>
              <a:tr h="365760">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Tableaux de bord</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Outil BI existant ; sinon Power BI Pro, 14 $ × 3 utilisateurs × 6 mois</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1F2233"/>
                          </a:solidFill>
                          <a:latin typeface="Arial" pitchFamily="34" charset="0"/>
                          <a:ea typeface="Arial" pitchFamily="34" charset="-122"/>
                          <a:cs typeface="Arial" pitchFamily="34" charset="-120"/>
                        </a:rPr>
                        <a:t>0 à 0,3 K$</a:t>
                      </a:r>
                      <a:endParaRPr lang="en-US" sz="1000" dirty="0">
                        <a:latin typeface="Arial" charset="0"/>
                        <a:ea typeface="Arial" charset="0"/>
                        <a:cs typeface="Arial"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Microsoft</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r>
              <a:tr h="246888">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Développement des réglages</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Équipe matchmaking NetEase</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1F2233"/>
                          </a:solidFill>
                          <a:latin typeface="Arial" pitchFamily="34" charset="0"/>
                          <a:ea typeface="Arial" pitchFamily="34" charset="-122"/>
                          <a:cs typeface="Arial" pitchFamily="34" charset="-120"/>
                        </a:rPr>
                        <a:t>à chiffrer</a:t>
                      </a:r>
                      <a:endParaRPr lang="en-US" sz="1000" dirty="0">
                        <a:latin typeface="Arial" charset="0"/>
                        <a:ea typeface="Arial" charset="0"/>
                        <a:cs typeface="Arial"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avant la phase 2</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r>
              <a:tr h="274320">
                <a:tc>
                  <a:txBody>
                    <a:bodyPr/>
                    <a:lstStyle/>
                    <a:p>
                      <a:pPr indent="0" marL="0">
                        <a:buNone/>
                      </a:pPr>
                      <a:r>
                        <a:rPr lang="en-US" sz="850" b="1" dirty="0">
                          <a:solidFill>
                            <a:srgbClr val="1F2233"/>
                          </a:solidFill>
                          <a:latin typeface="Calibri" pitchFamily="34" charset="0"/>
                          <a:ea typeface="Calibri" pitchFamily="34" charset="-122"/>
                          <a:cs typeface="Calibri" pitchFamily="34" charset="-120"/>
                        </a:rPr>
                        <a:t>Total</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5E6378"/>
                          </a:solidFill>
                          <a:latin typeface="Calibri" pitchFamily="34" charset="0"/>
                          <a:ea typeface="Calibri" pitchFamily="34" charset="-122"/>
                          <a:cs typeface="Calibri" pitchFamily="34" charset="-120"/>
                        </a:rPr>
                        <a:t>Fourchette des TJM bas et hauts : 39 à 51 K€</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E62429"/>
                          </a:solidFill>
                          <a:latin typeface="Arial" pitchFamily="34" charset="0"/>
                          <a:ea typeface="Arial" pitchFamily="34" charset="-122"/>
                          <a:cs typeface="Arial" pitchFamily="34" charset="-120"/>
                        </a:rPr>
                        <a:t>≈ 45 K€ + ≤ 4 K$</a:t>
                      </a:r>
                      <a:endParaRPr lang="en-US" sz="1000" dirty="0">
                        <a:latin typeface="Arial" charset="0"/>
                        <a:ea typeface="Arial" charset="0"/>
                        <a:cs typeface="Arial"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r>
            </a:tbl>
          </a:graphicData>
        </a:graphic>
      </p:graphicFrame>
      <p:sp>
        <p:nvSpPr>
          <p:cNvPr id="12" name="Shape 8"/>
          <p:cNvSpPr/>
          <p:nvPr/>
        </p:nvSpPr>
        <p:spPr>
          <a:xfrm>
            <a:off x="457200" y="3520440"/>
            <a:ext cx="8229600" cy="804672"/>
          </a:xfrm>
          <a:prstGeom prst="roundRect">
            <a:avLst>
              <a:gd name="adj" fmla="val 6818"/>
            </a:avLst>
          </a:prstGeom>
          <a:solidFill>
            <a:srgbClr val="F4F5F9"/>
          </a:solidFill>
          <a:ln w="12700">
            <a:solidFill>
              <a:srgbClr val="F4F5F9"/>
            </a:solidFill>
            <a:prstDash val="solid"/>
          </a:ln>
        </p:spPr>
      </p:sp>
      <p:sp>
        <p:nvSpPr>
          <p:cNvPr id="13" name="Text 9"/>
          <p:cNvSpPr txBox="1"/>
          <p:nvPr/>
        </p:nvSpPr>
        <p:spPr>
          <a:xfrm>
            <a:off x="640080" y="3547872"/>
            <a:ext cx="7863840" cy="749808"/>
          </a:xfrm>
          <a:prstGeom prst="rect">
            <a:avLst/>
          </a:prstGeom>
          <a:noFill/>
          <a:ln/>
        </p:spPr>
        <p:txBody>
          <a:bodyPr wrap="square" lIns="0" tIns="0" rIns="0" bIns="0" rtlCol="0" anchor="ctr"/>
          <a:lstStyle/>
          <a:p>
            <a:pPr indent="0" marL="0">
              <a:buNone/>
            </a:pPr>
            <a:r>
              <a:rPr lang="en-US" sz="900" b="1" dirty="0">
                <a:solidFill>
                  <a:srgbClr val="0D1020"/>
                </a:solidFill>
                <a:latin typeface="Calibri" pitchFamily="34" charset="0"/>
                <a:ea typeface="Calibri" pitchFamily="34" charset="-122"/>
                <a:cs typeface="Calibri" pitchFamily="34" charset="-120"/>
              </a:rPr>
              <a:t>Outils volontairement non achetés (ordres de grandeur du coaching 2) : </a:t>
            </a:r>
            <a:endParaRPr lang="en-US" sz="900" dirty="0"/>
          </a:p>
          <a:p>
            <a:pPr indent="0" marL="0">
              <a:buNone/>
            </a:pPr>
            <a:r>
              <a:rPr lang="en-US" sz="900" dirty="0">
                <a:solidFill>
                  <a:srgbClr val="1F2233"/>
                </a:solidFill>
                <a:latin typeface="Calibri" pitchFamily="34" charset="0"/>
                <a:ea typeface="Calibri" pitchFamily="34" charset="-122"/>
                <a:cs typeface="Calibri" pitchFamily="34" charset="-120"/>
              </a:rPr>
              <a:t>SDK analytics (GameAnalytics, deltaDNA : 300 à 5 000 $ par mois) : votre télémétrie existe déjà · attribution (AppsFlyer, Adjust : 0,05 à 0,10 $ par installation) : utile au mobile, pas à un jeu PC et consoles · CDP (Segment, Tealium : 5 à 50 K€ par an) : profils unifiés contraires à la minimisation · CRM et push (Braze : 1 à 3 K$ par mois) : marketing, hors périmètre.</a:t>
            </a:r>
            <a:endParaRPr lang="en-US" sz="900" dirty="0"/>
          </a:p>
        </p:txBody>
      </p:sp>
      <p:sp>
        <p:nvSpPr>
          <p:cNvPr id="14" name="Text 10"/>
          <p:cNvSpPr txBox="1"/>
          <p:nvPr/>
        </p:nvSpPr>
        <p:spPr>
          <a:xfrm>
            <a:off x="457200" y="4389120"/>
            <a:ext cx="8229600" cy="320040"/>
          </a:xfrm>
          <a:prstGeom prst="rect">
            <a:avLst/>
          </a:prstGeom>
          <a:noFill/>
          <a:ln/>
        </p:spPr>
        <p:txBody>
          <a:bodyPr wrap="square" lIns="0" tIns="0" rIns="0" bIns="0" rtlCol="0" anchor="ctr"/>
          <a:lstStyle/>
          <a:p>
            <a:pPr indent="0" marL="0">
              <a:buNone/>
            </a:pPr>
            <a:r>
              <a:rPr lang="en-US" sz="900" b="1" dirty="0">
                <a:solidFill>
                  <a:srgbClr val="1F2233"/>
                </a:solidFill>
                <a:latin typeface="Calibri" pitchFamily="34" charset="0"/>
                <a:ea typeface="Calibri" pitchFamily="34" charset="-122"/>
                <a:cs typeface="Calibri" pitchFamily="34" charset="-120"/>
              </a:rPr>
              <a:t>Stack : </a:t>
            </a:r>
            <a:pPr indent="0" marL="0">
              <a:buNone/>
            </a:pPr>
            <a:r>
              <a:rPr lang="en-US" sz="900" dirty="0">
                <a:solidFill>
                  <a:srgbClr val="1F2233"/>
                </a:solidFill>
                <a:latin typeface="Calibri" pitchFamily="34" charset="0"/>
                <a:ea typeface="Calibri" pitchFamily="34" charset="-122"/>
                <a:cs typeface="Calibri" pitchFamily="34" charset="-120"/>
              </a:rPr>
              <a:t>télémétrie in-game existante → entrepôt existant (type BigQuery ou Snowflake) → BI existante (type Looker ou Power BI).</a:t>
            </a:r>
            <a:endParaRPr lang="en-US" sz="900" dirty="0"/>
          </a:p>
        </p:txBody>
      </p:sp>
      <p:sp>
        <p:nvSpPr>
          <p:cNvPr id="15" name="Text 11"/>
          <p:cNvSpPr txBox="1"/>
          <p:nvPr/>
        </p:nvSpPr>
        <p:spPr>
          <a:xfrm>
            <a:off x="457200" y="4773168"/>
            <a:ext cx="7863840" cy="256032"/>
          </a:xfrm>
          <a:prstGeom prst="rect">
            <a:avLst/>
          </a:prstGeom>
          <a:noFill/>
          <a:ln/>
        </p:spPr>
        <p:txBody>
          <a:bodyPr wrap="square" lIns="0" tIns="0" rIns="0" bIns="0" rtlCol="0" anchor="ctr"/>
          <a:lstStyle/>
          <a:p>
            <a:pPr indent="0" marL="0">
              <a:buNone/>
            </a:pPr>
            <a:r>
              <a:rPr lang="en-US" sz="850" dirty="0">
                <a:solidFill>
                  <a:srgbClr val="5E6378"/>
                </a:solidFill>
                <a:latin typeface="Calibri" pitchFamily="34" charset="0"/>
                <a:ea typeface="Calibri" pitchFamily="34" charset="-122"/>
                <a:cs typeface="Calibri" pitchFamily="34" charset="-120"/>
              </a:rPr>
              <a:t>Sources : </a:t>
            </a:r>
            <a:pPr indent="0" marL="0">
              <a:buNone/>
            </a:pPr>
            <a:r>
              <a:rPr lang="en-US" sz="850" u="sng" dirty="0">
                <a:solidFill>
                  <a:srgbClr val="2F3C7E"/>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TJM Data 2026 (01/10/2026)</a:t>
            </a:r>
            <a:pPr indent="0" marL="0">
              <a:buNone/>
            </a:pPr>
            <a:r>
              <a:rPr lang="en-US" sz="850" dirty="0">
                <a:solidFill>
                  <a:srgbClr val="5E6378"/>
                </a:solidFill>
                <a:latin typeface="Calibri" pitchFamily="34" charset="0"/>
                <a:ea typeface="Calibri" pitchFamily="34" charset="-122"/>
                <a:cs typeface="Calibri" pitchFamily="34" charset="-120"/>
              </a:rPr>
              <a:t> · </a:t>
            </a:r>
            <a:pPr indent="0" marL="0">
              <a:buNone/>
            </a:pPr>
            <a:r>
              <a:rPr lang="en-US" sz="850" u="sng" dirty="0">
                <a:solidFill>
                  <a:srgbClr val="2F3C7E"/>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tarifs BigQuery (01/10/2026)</a:t>
            </a:r>
            <a:pPr indent="0" marL="0">
              <a:buNone/>
            </a:pPr>
            <a:r>
              <a:rPr lang="en-US" sz="850" dirty="0">
                <a:solidFill>
                  <a:srgbClr val="5E6378"/>
                </a:solidFill>
                <a:latin typeface="Calibri" pitchFamily="34" charset="0"/>
                <a:ea typeface="Calibri" pitchFamily="34" charset="-122"/>
                <a:cs typeface="Calibri" pitchFamily="34" charset="-120"/>
              </a:rPr>
              <a:t> · </a:t>
            </a:r>
            <a:pPr indent="0" marL="0">
              <a:buNone/>
            </a:pPr>
            <a:r>
              <a:rPr lang="en-US" sz="850" u="sng" dirty="0">
                <a:solidFill>
                  <a:srgbClr val="2F3C7E"/>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tarifs Power BI (02/10/2026)</a:t>
            </a:r>
            <a:pPr indent="0" marL="0">
              <a:buNone/>
            </a:pPr>
            <a:r>
              <a:rPr lang="en-US" sz="850" dirty="0">
                <a:solidFill>
                  <a:srgbClr val="5E6378"/>
                </a:solidFill>
                <a:latin typeface="Calibri" pitchFamily="34" charset="0"/>
                <a:ea typeface="Calibri" pitchFamily="34" charset="-122"/>
                <a:cs typeface="Calibri" pitchFamily="34" charset="-120"/>
              </a:rPr>
              <a:t> · </a:t>
            </a:r>
            <a:pPr indent="0" marL="0">
              <a:buNone/>
            </a:pPr>
            <a:r>
              <a:rPr lang="en-US" sz="850" u="sng" dirty="0">
                <a:solidFill>
                  <a:srgbClr val="2F3C7E"/>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plan de collecte (§5)</a:t>
            </a:r>
            <a:endParaRPr lang="en-US" sz="850" dirty="0"/>
          </a:p>
        </p:txBody>
      </p:sp>
      <p:sp>
        <p:nvSpPr>
          <p:cNvPr id="16" name="Shape 12"/>
          <p:cNvSpPr/>
          <p:nvPr/>
        </p:nvSpPr>
        <p:spPr>
          <a:xfrm>
            <a:off x="8458200" y="4800600"/>
            <a:ext cx="502920" cy="219456"/>
          </a:xfrm>
          <a:prstGeom prst="parallelogram">
            <a:avLst/>
          </a:prstGeom>
          <a:solidFill>
            <a:srgbClr val="E62429"/>
          </a:solidFill>
          <a:ln w="12700">
            <a:solidFill>
              <a:srgbClr val="E62429"/>
            </a:solidFill>
            <a:prstDash val="solid"/>
          </a:ln>
        </p:spPr>
      </p:sp>
      <p:sp>
        <p:nvSpPr>
          <p:cNvPr id="17" name="Text 13"/>
          <p:cNvSpPr txBox="1"/>
          <p:nvPr/>
        </p:nvSpPr>
        <p:spPr>
          <a:xfrm>
            <a:off x="8458200" y="4800600"/>
            <a:ext cx="502920" cy="219456"/>
          </a:xfrm>
          <a:prstGeom prst="rect">
            <a:avLst/>
          </a:prstGeom>
          <a:noFill/>
          <a:ln/>
        </p:spPr>
        <p:txBody>
          <a:bodyPr wrap="square" lIns="0" tIns="0" rIns="0" bIns="0" rtlCol="0" anchor="ctr"/>
          <a:lstStyle/>
          <a:p>
            <a:pPr algn="ctr" indent="0" marL="0">
              <a:buNone/>
            </a:pPr>
            <a:r>
              <a:rPr lang="en-US" sz="900" b="1" dirty="0">
                <a:solidFill>
                  <a:srgbClr val="FFFFFF"/>
                </a:solidFill>
                <a:latin typeface="Arial" pitchFamily="34" charset="0"/>
                <a:ea typeface="Arial" pitchFamily="34" charset="-122"/>
                <a:cs typeface="Arial"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1024128"/>
          </a:xfrm>
          <a:prstGeom prst="rect">
            <a:avLst/>
          </a:prstGeom>
          <a:solidFill>
            <a:srgbClr val="0D1020"/>
          </a:solidFill>
          <a:ln w="12700">
            <a:solidFill>
              <a:srgbClr val="0D1020"/>
            </a:solidFill>
            <a:prstDash val="solid"/>
          </a:ln>
        </p:spPr>
      </p:sp>
      <p:sp>
        <p:nvSpPr>
          <p:cNvPr id="3" name="Shape 1"/>
          <p:cNvSpPr/>
          <p:nvPr/>
        </p:nvSpPr>
        <p:spPr>
          <a:xfrm>
            <a:off x="-137160" y="1024128"/>
            <a:ext cx="3840480" cy="64008"/>
          </a:xfrm>
          <a:prstGeom prst="parallelogram">
            <a:avLst/>
          </a:prstGeom>
          <a:solidFill>
            <a:srgbClr val="E62429"/>
          </a:solidFill>
          <a:ln w="12700">
            <a:solidFill>
              <a:srgbClr val="E62429"/>
            </a:solidFill>
            <a:prstDash val="solid"/>
          </a:ln>
        </p:spPr>
      </p:sp>
      <p:sp>
        <p:nvSpPr>
          <p:cNvPr id="4" name="Shape 2"/>
          <p:cNvSpPr/>
          <p:nvPr/>
        </p:nvSpPr>
        <p:spPr>
          <a:xfrm>
            <a:off x="3611880" y="1024128"/>
            <a:ext cx="1463040" cy="64008"/>
          </a:xfrm>
          <a:prstGeom prst="parallelogram">
            <a:avLst/>
          </a:prstGeom>
          <a:solidFill>
            <a:srgbClr val="FFC72C"/>
          </a:solidFill>
          <a:ln w="12700">
            <a:solidFill>
              <a:srgbClr val="FFC72C"/>
            </a:solidFill>
            <a:prstDash val="solid"/>
          </a:ln>
        </p:spPr>
      </p:sp>
      <p:sp>
        <p:nvSpPr>
          <p:cNvPr id="5" name="Shape 3"/>
          <p:cNvSpPr/>
          <p:nvPr/>
        </p:nvSpPr>
        <p:spPr>
          <a:xfrm>
            <a:off x="292608" y="329184"/>
            <a:ext cx="146304" cy="420624"/>
          </a:xfrm>
          <a:prstGeom prst="parallelogram">
            <a:avLst/>
          </a:prstGeom>
          <a:solidFill>
            <a:srgbClr val="E62429"/>
          </a:solidFill>
          <a:ln w="12700">
            <a:solidFill>
              <a:srgbClr val="E62429"/>
            </a:solidFill>
            <a:prstDash val="solid"/>
          </a:ln>
        </p:spPr>
      </p:sp>
      <p:sp>
        <p:nvSpPr>
          <p:cNvPr id="6" name="Shape 4"/>
          <p:cNvSpPr/>
          <p:nvPr/>
        </p:nvSpPr>
        <p:spPr>
          <a:xfrm>
            <a:off x="502920" y="109728"/>
            <a:ext cx="1289304" cy="201168"/>
          </a:xfrm>
          <a:prstGeom prst="parallelogram">
            <a:avLst/>
          </a:prstGeom>
          <a:solidFill>
            <a:srgbClr val="FFC72C"/>
          </a:solidFill>
          <a:ln w="12700">
            <a:solidFill>
              <a:srgbClr val="FFC72C"/>
            </a:solidFill>
            <a:prstDash val="solid"/>
          </a:ln>
        </p:spPr>
      </p:sp>
      <p:sp>
        <p:nvSpPr>
          <p:cNvPr id="7" name="Text 5"/>
          <p:cNvSpPr txBox="1"/>
          <p:nvPr/>
        </p:nvSpPr>
        <p:spPr>
          <a:xfrm>
            <a:off x="502920" y="109728"/>
            <a:ext cx="1289304" cy="201168"/>
          </a:xfrm>
          <a:prstGeom prst="rect">
            <a:avLst/>
          </a:prstGeom>
          <a:noFill/>
          <a:ln/>
        </p:spPr>
        <p:txBody>
          <a:bodyPr wrap="square" lIns="0" tIns="0" rIns="0" bIns="0" rtlCol="0" anchor="ctr"/>
          <a:lstStyle/>
          <a:p>
            <a:pPr algn="ctr" indent="0" marL="0">
              <a:buNone/>
            </a:pPr>
            <a:r>
              <a:rPr lang="en-US" sz="800" b="1" spc="100" kern="0" dirty="0">
                <a:solidFill>
                  <a:srgbClr val="0D1020"/>
                </a:solidFill>
                <a:latin typeface="Arial" pitchFamily="34" charset="0"/>
                <a:ea typeface="Arial" pitchFamily="34" charset="-122"/>
                <a:cs typeface="Arial" pitchFamily="34" charset="-120"/>
              </a:rPr>
              <a:t>RISQUES / KPIS</a:t>
            </a:r>
            <a:endParaRPr lang="en-US" sz="800" dirty="0"/>
          </a:p>
        </p:txBody>
      </p:sp>
      <p:sp>
        <p:nvSpPr>
          <p:cNvPr id="8" name="Text 6"/>
          <p:cNvSpPr txBox="1"/>
          <p:nvPr/>
        </p:nvSpPr>
        <p:spPr>
          <a:xfrm>
            <a:off x="548640" y="310896"/>
            <a:ext cx="722376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KPIs de décision et garde-fous</a:t>
            </a:r>
            <a:endParaRPr lang="en-US" sz="2200" dirty="0"/>
          </a:p>
        </p:txBody>
      </p:sp>
      <p:sp>
        <p:nvSpPr>
          <p:cNvPr id="9" name="Text 7"/>
          <p:cNvSpPr txBox="1"/>
          <p:nvPr/>
        </p:nvSpPr>
        <p:spPr>
          <a:xfrm>
            <a:off x="548640" y="749808"/>
            <a:ext cx="7315200" cy="237744"/>
          </a:xfrm>
          <a:prstGeom prst="rect">
            <a:avLst/>
          </a:prstGeom>
          <a:noFill/>
          <a:ln/>
        </p:spPr>
        <p:txBody>
          <a:bodyPr wrap="square" lIns="0" tIns="0" rIns="0" bIns="0" rtlCol="0" anchor="ctr"/>
          <a:lstStyle/>
          <a:p>
            <a:pPr indent="0" marL="0">
              <a:buNone/>
            </a:pPr>
            <a:r>
              <a:rPr lang="en-US" sz="1100" dirty="0">
                <a:solidFill>
                  <a:srgbClr val="FFC72C"/>
                </a:solidFill>
                <a:latin typeface="Calibri" pitchFamily="34" charset="0"/>
                <a:ea typeface="Calibri" pitchFamily="34" charset="-122"/>
                <a:cs typeface="Calibri" pitchFamily="34" charset="-120"/>
              </a:rPr>
              <a:t>comment chaque KPI se calcule, et quelle décision il déclenche</a:t>
            </a:r>
            <a:endParaRPr lang="en-US" sz="1100" dirty="0"/>
          </a:p>
        </p:txBody>
      </p:sp>
      <p:pic>
        <p:nvPicPr>
          <p:cNvPr id="10" name="Image 0" descr="/tmp/claude-0/-home-user-SOCIO/dd1a12ff-0491-58c5-8c13-7e8ef7d55990/scratchpad/brand/logo.png">    </p:cNvPr>
          <p:cNvPicPr>
            <a:picLocks noChangeAspect="1"/>
          </p:cNvPicPr>
          <p:nvPr/>
        </p:nvPicPr>
        <p:blipFill>
          <a:blip r:embed="rId1"/>
          <a:stretch>
            <a:fillRect/>
          </a:stretch>
        </p:blipFill>
        <p:spPr>
          <a:xfrm>
            <a:off x="7973568" y="201168"/>
            <a:ext cx="960120" cy="402336"/>
          </a:xfrm>
          <a:prstGeom prst="rect">
            <a:avLst/>
          </a:prstGeom>
        </p:spPr>
      </p:pic>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143000"/>
          <a:ext cx="8229600" cy="914400"/>
        </p:xfrm>
        <a:graphic>
          <a:graphicData uri="http://schemas.openxmlformats.org/drawingml/2006/table">
            <a:tbl>
              <a:tblPr/>
              <a:tblGrid>
                <a:gridCol w="1554480"/>
                <a:gridCol w="3017520"/>
                <a:gridCol w="685800"/>
                <a:gridCol w="1645920"/>
                <a:gridCol w="1325880"/>
              </a:tblGrid>
              <a:tr h="237744">
                <a:tc>
                  <a:txBody>
                    <a:bodyPr/>
                    <a:lstStyle/>
                    <a:p>
                      <a:pPr indent="0" marL="0">
                        <a:buNone/>
                      </a:pPr>
                      <a:r>
                        <a:rPr lang="en-US" sz="950" b="1" dirty="0">
                          <a:solidFill>
                            <a:srgbClr val="FFFFFF"/>
                          </a:solidFill>
                          <a:latin typeface="Arial" pitchFamily="34" charset="0"/>
                          <a:ea typeface="Arial" pitchFamily="34" charset="-122"/>
                          <a:cs typeface="Arial" pitchFamily="34" charset="-120"/>
                        </a:rPr>
                        <a:t>KPI</a:t>
                      </a:r>
                      <a:endParaRPr lang="en-US" sz="950" dirty="0">
                        <a:latin typeface="Arial" charset="0"/>
                        <a:ea typeface="Arial" charset="0"/>
                        <a:cs typeface="Arial"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0D1020"/>
                    </a:solidFill>
                  </a:tcPr>
                </a:tc>
                <a:tc>
                  <a:txBody>
                    <a:bodyPr/>
                    <a:lstStyle/>
                    <a:p>
                      <a:pPr indent="0" marL="0">
                        <a:buNone/>
                      </a:pPr>
                      <a:r>
                        <a:rPr lang="en-US" sz="950" b="1" dirty="0">
                          <a:solidFill>
                            <a:srgbClr val="FFFFFF"/>
                          </a:solidFill>
                          <a:latin typeface="Arial" pitchFamily="34" charset="0"/>
                          <a:ea typeface="Arial" pitchFamily="34" charset="-122"/>
                          <a:cs typeface="Arial" pitchFamily="34" charset="-120"/>
                        </a:rPr>
                        <a:t>Comment on le calcule</a:t>
                      </a:r>
                      <a:endParaRPr lang="en-US" sz="950" dirty="0">
                        <a:latin typeface="Arial" charset="0"/>
                        <a:ea typeface="Arial" charset="0"/>
                        <a:cs typeface="Arial"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0D1020"/>
                    </a:solidFill>
                  </a:tcPr>
                </a:tc>
                <a:tc>
                  <a:txBody>
                    <a:bodyPr/>
                    <a:lstStyle/>
                    <a:p>
                      <a:pPr indent="0" marL="0">
                        <a:buNone/>
                      </a:pPr>
                      <a:r>
                        <a:rPr lang="en-US" sz="950" b="1" dirty="0">
                          <a:solidFill>
                            <a:srgbClr val="FFFFFF"/>
                          </a:solidFill>
                          <a:latin typeface="Arial" pitchFamily="34" charset="0"/>
                          <a:ea typeface="Arial" pitchFamily="34" charset="-122"/>
                          <a:cs typeface="Arial" pitchFamily="34" charset="-120"/>
                        </a:rPr>
                        <a:t>Seuil</a:t>
                      </a:r>
                      <a:endParaRPr lang="en-US" sz="950" dirty="0">
                        <a:latin typeface="Arial" charset="0"/>
                        <a:ea typeface="Arial" charset="0"/>
                        <a:cs typeface="Arial"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0D1020"/>
                    </a:solidFill>
                  </a:tcPr>
                </a:tc>
                <a:tc>
                  <a:txBody>
                    <a:bodyPr/>
                    <a:lstStyle/>
                    <a:p>
                      <a:pPr indent="0" marL="0">
                        <a:buNone/>
                      </a:pPr>
                      <a:r>
                        <a:rPr lang="en-US" sz="950" b="1" dirty="0">
                          <a:solidFill>
                            <a:srgbClr val="FFFFFF"/>
                          </a:solidFill>
                          <a:latin typeface="Arial" pitchFamily="34" charset="0"/>
                          <a:ea typeface="Arial" pitchFamily="34" charset="-122"/>
                          <a:cs typeface="Arial" pitchFamily="34" charset="-120"/>
                        </a:rPr>
                        <a:t>Si le seuil est franchi</a:t>
                      </a:r>
                      <a:endParaRPr lang="en-US" sz="950" dirty="0">
                        <a:latin typeface="Arial" charset="0"/>
                        <a:ea typeface="Arial" charset="0"/>
                        <a:cs typeface="Arial"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0D1020"/>
                    </a:solidFill>
                  </a:tcPr>
                </a:tc>
                <a:tc>
                  <a:txBody>
                    <a:bodyPr/>
                    <a:lstStyle/>
                    <a:p>
                      <a:pPr indent="0" marL="0">
                        <a:buNone/>
                      </a:pPr>
                      <a:r>
                        <a:rPr lang="en-US" sz="950" b="1" dirty="0">
                          <a:solidFill>
                            <a:srgbClr val="FFFFFF"/>
                          </a:solidFill>
                          <a:latin typeface="Arial" pitchFamily="34" charset="0"/>
                          <a:ea typeface="Arial" pitchFamily="34" charset="-122"/>
                          <a:cs typeface="Arial" pitchFamily="34" charset="-120"/>
                        </a:rPr>
                        <a:t>Sinon</a:t>
                      </a:r>
                      <a:endParaRPr lang="en-US" sz="950" dirty="0">
                        <a:latin typeface="Arial" charset="0"/>
                        <a:ea typeface="Arial" charset="0"/>
                        <a:cs typeface="Arial"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0D1020"/>
                    </a:solidFill>
                  </a:tcPr>
                </a:tc>
              </a:tr>
              <a:tr h="475488">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Ratio de départ des nouveaux comptes</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 des nouveaux qui perdent au moins 7 de leurs 10 premiers matchs et ne rejouent pas sous 7 jours, divisé par le même % chez les autres nouveaux</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1100" b="1" dirty="0">
                          <a:solidFill>
                            <a:srgbClr val="E62429"/>
                          </a:solidFill>
                          <a:latin typeface="Arial" pitchFamily="34" charset="0"/>
                          <a:ea typeface="Arial" pitchFamily="34" charset="-122"/>
                          <a:cs typeface="Arial" pitchFamily="34" charset="-120"/>
                        </a:rPr>
                        <a:t>&gt; 1,2</a:t>
                      </a:r>
                      <a:endParaRPr lang="en-US" sz="1100" dirty="0">
                        <a:latin typeface="Arial" charset="0"/>
                        <a:ea typeface="Arial" charset="0"/>
                        <a:cs typeface="Arial"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H5 tient : tests des causes confirmées (A, B ou les deux)</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Pas d'investissement matchmaking : plan B</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r>
              <a:tr h="384048">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Ratio de départ des joueurs de retour</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Même calcul sur les 10 premiers matchs après au moins 60 jours d'absence, classé et partie rapide séparés</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1100" b="1" dirty="0">
                          <a:solidFill>
                            <a:srgbClr val="E62429"/>
                          </a:solidFill>
                          <a:latin typeface="Arial" pitchFamily="34" charset="0"/>
                          <a:ea typeface="Arial" pitchFamily="34" charset="-122"/>
                          <a:cs typeface="Arial" pitchFamily="34" charset="-120"/>
                        </a:rPr>
                        <a:t>&gt; 1,2</a:t>
                      </a:r>
                      <a:endParaRPr lang="en-US" sz="1100" dirty="0">
                        <a:latin typeface="Arial" charset="0"/>
                        <a:ea typeface="Arial" charset="0"/>
                        <a:cs typeface="Arial"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H5c tient : recalibrage au retour (cause C) dans le mode concerné</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Niveau au retour inchangé</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r>
              <a:tr h="384048">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Attente p90 en partie rapide</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Temps d'attente sous lequel 90 % des joueurs trouvent une partie, par rang et région</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1100" b="1" dirty="0">
                          <a:solidFill>
                            <a:srgbClr val="E62429"/>
                          </a:solidFill>
                          <a:latin typeface="Arial" pitchFamily="34" charset="0"/>
                          <a:ea typeface="Arial" pitchFamily="34" charset="-122"/>
                          <a:cs typeface="Arial" pitchFamily="34" charset="-120"/>
                        </a:rPr>
                        <a:t>&gt; 3 min</a:t>
                      </a:r>
                      <a:endParaRPr lang="en-US" sz="1100" dirty="0">
                        <a:latin typeface="Arial" charset="0"/>
                        <a:ea typeface="Arial" charset="0"/>
                        <a:cs typeface="Arial"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Arrêt du resserrement de l'écart</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Test poursuivi</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r>
              <a:tr h="329184">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Part de la partie rapide</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Part des 10 premiers matchs des nouveaux joués en partie rapide</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1100" b="1" dirty="0">
                          <a:solidFill>
                            <a:srgbClr val="E62429"/>
                          </a:solidFill>
                          <a:latin typeface="Arial" pitchFamily="34" charset="0"/>
                          <a:ea typeface="Arial" pitchFamily="34" charset="-122"/>
                          <a:cs typeface="Arial" pitchFamily="34" charset="-120"/>
                        </a:rPr>
                        <a:t>&gt; 50 %</a:t>
                      </a:r>
                      <a:endParaRPr lang="en-US" sz="1100" dirty="0">
                        <a:latin typeface="Arial" charset="0"/>
                        <a:ea typeface="Arial" charset="0"/>
                        <a:cs typeface="Arial"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Leviers sur la partie rapide en premier</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Leviers sur le mode dominant</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r>
              <a:tr h="384048">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Avis négatifs citant le matchmaking (contrôle)</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Part des avis Steam négatifs qui le citent (base : 10,5 % en septembre 2026)</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1100" b="1" dirty="0">
                          <a:solidFill>
                            <a:srgbClr val="E62429"/>
                          </a:solidFill>
                          <a:latin typeface="Arial" pitchFamily="34" charset="0"/>
                          <a:ea typeface="Arial" pitchFamily="34" charset="-122"/>
                          <a:cs typeface="Arial" pitchFamily="34" charset="-120"/>
                        </a:rPr>
                        <a:t>&gt; 8 %</a:t>
                      </a:r>
                      <a:endParaRPr lang="en-US" sz="1100" dirty="0">
                        <a:latin typeface="Arial" charset="0"/>
                        <a:ea typeface="Arial" charset="0"/>
                        <a:cs typeface="Arial"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Au 31/03/2027 : problème de perception, plus de transparence</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Corrections perçues : on généralise</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r>
            </a:tbl>
          </a:graphicData>
        </a:graphic>
      </p:graphicFrame>
      <p:sp>
        <p:nvSpPr>
          <p:cNvPr id="12" name="Shape 8"/>
          <p:cNvSpPr/>
          <p:nvPr/>
        </p:nvSpPr>
        <p:spPr>
          <a:xfrm>
            <a:off x="457200" y="3520440"/>
            <a:ext cx="8229600" cy="1188720"/>
          </a:xfrm>
          <a:prstGeom prst="roundRect">
            <a:avLst>
              <a:gd name="adj" fmla="val 4615"/>
            </a:avLst>
          </a:prstGeom>
          <a:solidFill>
            <a:srgbClr val="F4F5F9"/>
          </a:solidFill>
          <a:ln w="12700">
            <a:solidFill>
              <a:srgbClr val="F4F5F9"/>
            </a:solidFill>
            <a:prstDash val="solid"/>
          </a:ln>
        </p:spPr>
      </p:sp>
      <p:sp>
        <p:nvSpPr>
          <p:cNvPr id="13" name="Text 9"/>
          <p:cNvSpPr txBox="1"/>
          <p:nvPr/>
        </p:nvSpPr>
        <p:spPr>
          <a:xfrm>
            <a:off x="640080" y="3566160"/>
            <a:ext cx="7863840" cy="1097280"/>
          </a:xfrm>
          <a:prstGeom prst="rect">
            <a:avLst/>
          </a:prstGeom>
          <a:noFill/>
          <a:ln/>
        </p:spPr>
        <p:txBody>
          <a:bodyPr wrap="square" lIns="0" tIns="0" rIns="0" bIns="0" rtlCol="0" anchor="ctr"/>
          <a:lstStyle/>
          <a:p>
            <a:pPr indent="0" marL="0">
              <a:spcAft>
                <a:spcPts val="300"/>
              </a:spcAft>
              <a:buNone/>
            </a:pPr>
            <a:r>
              <a:rPr lang="en-US" sz="1000" b="1" dirty="0">
                <a:solidFill>
                  <a:srgbClr val="0D1020"/>
                </a:solidFill>
                <a:latin typeface="Calibri" pitchFamily="34" charset="0"/>
                <a:ea typeface="Calibri" pitchFamily="34" charset="-122"/>
                <a:cs typeface="Calibri" pitchFamily="34" charset="-120"/>
              </a:rPr>
              <a:t>Base légale : </a:t>
            </a:r>
            <a:pPr indent="0" marL="0">
              <a:spcAft>
                <a:spcPts val="300"/>
              </a:spcAft>
              <a:buNone/>
            </a:pPr>
            <a:r>
              <a:rPr lang="en-US" sz="1000" dirty="0">
                <a:solidFill>
                  <a:srgbClr val="1F2233"/>
                </a:solidFill>
                <a:latin typeface="Calibri" pitchFamily="34" charset="0"/>
                <a:ea typeface="Calibri" pitchFamily="34" charset="-122"/>
                <a:cs typeface="Calibri" pitchFamily="34" charset="-120"/>
              </a:rPr>
              <a:t>contrat pour le matchmaking ; intérêt légitime documenté pour l'audit ; consentement pour les sondages.</a:t>
            </a:r>
            <a:endParaRPr lang="en-US" sz="1000" dirty="0"/>
          </a:p>
          <a:p>
            <a:pPr indent="0" marL="0">
              <a:spcAft>
                <a:spcPts val="300"/>
              </a:spcAft>
              <a:buNone/>
            </a:pPr>
            <a:r>
              <a:rPr lang="en-US" sz="1000" b="1" dirty="0">
                <a:solidFill>
                  <a:srgbClr val="0D1020"/>
                </a:solidFill>
                <a:latin typeface="Calibri" pitchFamily="34" charset="0"/>
                <a:ea typeface="Calibri" pitchFamily="34" charset="-122"/>
                <a:cs typeface="Calibri" pitchFamily="34" charset="-120"/>
              </a:rPr>
              <a:t>RGPD et AI Act : </a:t>
            </a:r>
            <a:pPr indent="0" marL="0">
              <a:spcAft>
                <a:spcPts val="300"/>
              </a:spcAft>
              <a:buNone/>
            </a:pPr>
            <a:r>
              <a:rPr lang="en-US" sz="1000" dirty="0">
                <a:solidFill>
                  <a:srgbClr val="1F2233"/>
                </a:solidFill>
                <a:latin typeface="Calibri" pitchFamily="34" charset="0"/>
                <a:ea typeface="Calibri" pitchFamily="34" charset="-122"/>
                <a:cs typeface="Calibri" pitchFamily="34" charset="-120"/>
              </a:rPr>
              <a:t>accord de sous-traitance, identifiants hachés, mineurs exclus ; aucun profilage individuel, bots toujours annoncés.</a:t>
            </a:r>
            <a:endParaRPr lang="en-US" sz="1000" dirty="0"/>
          </a:p>
          <a:p>
            <a:pPr indent="0" marL="0">
              <a:spcAft>
                <a:spcPts val="300"/>
              </a:spcAft>
              <a:buNone/>
            </a:pPr>
            <a:r>
              <a:rPr lang="en-US" sz="1000" b="1" dirty="0">
                <a:solidFill>
                  <a:srgbClr val="E62429"/>
                </a:solidFill>
                <a:latin typeface="Calibri" pitchFamily="34" charset="0"/>
                <a:ea typeface="Calibri" pitchFamily="34" charset="-122"/>
                <a:cs typeface="Calibri" pitchFamily="34" charset="-120"/>
              </a:rPr>
              <a:t>Plan B : </a:t>
            </a:r>
            <a:pPr indent="0" marL="0">
              <a:spcAft>
                <a:spcPts val="300"/>
              </a:spcAft>
              <a:buNone/>
            </a:pPr>
            <a:r>
              <a:rPr lang="en-US" sz="1000" dirty="0">
                <a:solidFill>
                  <a:srgbClr val="1F2233"/>
                </a:solidFill>
                <a:latin typeface="Calibri" pitchFamily="34" charset="0"/>
                <a:ea typeface="Calibri" pitchFamily="34" charset="-122"/>
                <a:cs typeface="Calibri" pitchFamily="34" charset="-120"/>
              </a:rPr>
              <a:t>ratio ≤ 1,2 sur les deux cohortes : pas d'investissement matchmaking ; les données extraites testent équilibrage et monétisation.</a:t>
            </a:r>
            <a:endParaRPr lang="en-US" sz="1000" dirty="0"/>
          </a:p>
        </p:txBody>
      </p:sp>
      <p:sp>
        <p:nvSpPr>
          <p:cNvPr id="14" name="Text 10"/>
          <p:cNvSpPr txBox="1"/>
          <p:nvPr/>
        </p:nvSpPr>
        <p:spPr>
          <a:xfrm>
            <a:off x="457200" y="4773168"/>
            <a:ext cx="7863840" cy="256032"/>
          </a:xfrm>
          <a:prstGeom prst="rect">
            <a:avLst/>
          </a:prstGeom>
          <a:noFill/>
          <a:ln/>
        </p:spPr>
        <p:txBody>
          <a:bodyPr wrap="square" lIns="0" tIns="0" rIns="0" bIns="0" rtlCol="0" anchor="ctr"/>
          <a:lstStyle/>
          <a:p>
            <a:pPr indent="0" marL="0">
              <a:buNone/>
            </a:pPr>
            <a:r>
              <a:rPr lang="en-US" sz="850" dirty="0">
                <a:solidFill>
                  <a:srgbClr val="5E6378"/>
                </a:solidFill>
                <a:latin typeface="Calibri" pitchFamily="34" charset="0"/>
                <a:ea typeface="Calibri" pitchFamily="34" charset="-122"/>
                <a:cs typeface="Calibri" pitchFamily="34" charset="-120"/>
              </a:rPr>
              <a:t>Sources : </a:t>
            </a:r>
            <a:pPr indent="0" marL="0">
              <a:buNone/>
            </a:pPr>
            <a:r>
              <a:rPr lang="en-US" sz="850" u="sng" dirty="0">
                <a:solidFill>
                  <a:srgbClr val="2F3C7E"/>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RGPD</a:t>
            </a:r>
            <a:pPr indent="0" marL="0">
              <a:buNone/>
            </a:pPr>
            <a:r>
              <a:rPr lang="en-US" sz="850" dirty="0">
                <a:solidFill>
                  <a:srgbClr val="5E6378"/>
                </a:solidFill>
                <a:latin typeface="Calibri" pitchFamily="34" charset="0"/>
                <a:ea typeface="Calibri" pitchFamily="34" charset="-122"/>
                <a:cs typeface="Calibri" pitchFamily="34" charset="-120"/>
              </a:rPr>
              <a:t> · </a:t>
            </a:r>
            <a:pPr indent="0" marL="0">
              <a:buNone/>
            </a:pPr>
            <a:r>
              <a:rPr lang="en-US" sz="850" u="sng" dirty="0">
                <a:solidFill>
                  <a:srgbClr val="2F3C7E"/>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AI Act</a:t>
            </a:r>
            <a:pPr indent="0" marL="0">
              <a:buNone/>
            </a:pPr>
            <a:r>
              <a:rPr lang="en-US" sz="850" dirty="0">
                <a:solidFill>
                  <a:srgbClr val="5E6378"/>
                </a:solidFill>
                <a:latin typeface="Calibri" pitchFamily="34" charset="0"/>
                <a:ea typeface="Calibri" pitchFamily="34" charset="-122"/>
                <a:cs typeface="Calibri" pitchFamily="34" charset="-120"/>
              </a:rPr>
              <a:t> · </a:t>
            </a:r>
            <a:pPr indent="0" marL="0">
              <a:buNone/>
            </a:pPr>
            <a:r>
              <a:rPr lang="en-US" sz="850" u="sng" dirty="0">
                <a:solidFill>
                  <a:srgbClr val="2F3C7E"/>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plan de collecte complet (§3)</a:t>
            </a:r>
            <a:endParaRPr lang="en-US" sz="850" dirty="0"/>
          </a:p>
        </p:txBody>
      </p:sp>
      <p:sp>
        <p:nvSpPr>
          <p:cNvPr id="15" name="Shape 11"/>
          <p:cNvSpPr/>
          <p:nvPr/>
        </p:nvSpPr>
        <p:spPr>
          <a:xfrm>
            <a:off x="8458200" y="4800600"/>
            <a:ext cx="502920" cy="219456"/>
          </a:xfrm>
          <a:prstGeom prst="parallelogram">
            <a:avLst/>
          </a:prstGeom>
          <a:solidFill>
            <a:srgbClr val="E62429"/>
          </a:solidFill>
          <a:ln w="12700">
            <a:solidFill>
              <a:srgbClr val="E62429"/>
            </a:solidFill>
            <a:prstDash val="solid"/>
          </a:ln>
        </p:spPr>
      </p:sp>
      <p:sp>
        <p:nvSpPr>
          <p:cNvPr id="16" name="Text 12"/>
          <p:cNvSpPr txBox="1"/>
          <p:nvPr/>
        </p:nvSpPr>
        <p:spPr>
          <a:xfrm>
            <a:off x="8458200" y="4800600"/>
            <a:ext cx="502920" cy="219456"/>
          </a:xfrm>
          <a:prstGeom prst="rect">
            <a:avLst/>
          </a:prstGeom>
          <a:noFill/>
          <a:ln/>
        </p:spPr>
        <p:txBody>
          <a:bodyPr wrap="square" lIns="0" tIns="0" rIns="0" bIns="0" rtlCol="0" anchor="ctr"/>
          <a:lstStyle/>
          <a:p>
            <a:pPr algn="ctr" indent="0" marL="0">
              <a:buNone/>
            </a:pPr>
            <a:r>
              <a:rPr lang="en-US" sz="900" b="1" dirty="0">
                <a:solidFill>
                  <a:srgbClr val="FFFFFF"/>
                </a:solidFill>
                <a:latin typeface="Arial" pitchFamily="34" charset="0"/>
                <a:ea typeface="Arial" pitchFamily="34" charset="-122"/>
                <a:cs typeface="Arial"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1024128"/>
          </a:xfrm>
          <a:prstGeom prst="rect">
            <a:avLst/>
          </a:prstGeom>
          <a:solidFill>
            <a:srgbClr val="0D1020"/>
          </a:solidFill>
          <a:ln w="12700">
            <a:solidFill>
              <a:srgbClr val="0D1020"/>
            </a:solidFill>
            <a:prstDash val="solid"/>
          </a:ln>
        </p:spPr>
      </p:sp>
      <p:sp>
        <p:nvSpPr>
          <p:cNvPr id="3" name="Shape 1"/>
          <p:cNvSpPr/>
          <p:nvPr/>
        </p:nvSpPr>
        <p:spPr>
          <a:xfrm>
            <a:off x="-137160" y="1024128"/>
            <a:ext cx="3840480" cy="64008"/>
          </a:xfrm>
          <a:prstGeom prst="parallelogram">
            <a:avLst/>
          </a:prstGeom>
          <a:solidFill>
            <a:srgbClr val="E62429"/>
          </a:solidFill>
          <a:ln w="12700">
            <a:solidFill>
              <a:srgbClr val="E62429"/>
            </a:solidFill>
            <a:prstDash val="solid"/>
          </a:ln>
        </p:spPr>
      </p:sp>
      <p:sp>
        <p:nvSpPr>
          <p:cNvPr id="4" name="Shape 2"/>
          <p:cNvSpPr/>
          <p:nvPr/>
        </p:nvSpPr>
        <p:spPr>
          <a:xfrm>
            <a:off x="3611880" y="1024128"/>
            <a:ext cx="1463040" cy="64008"/>
          </a:xfrm>
          <a:prstGeom prst="parallelogram">
            <a:avLst/>
          </a:prstGeom>
          <a:solidFill>
            <a:srgbClr val="FFC72C"/>
          </a:solidFill>
          <a:ln w="12700">
            <a:solidFill>
              <a:srgbClr val="FFC72C"/>
            </a:solidFill>
            <a:prstDash val="solid"/>
          </a:ln>
        </p:spPr>
      </p:sp>
      <p:sp>
        <p:nvSpPr>
          <p:cNvPr id="5" name="Shape 3"/>
          <p:cNvSpPr/>
          <p:nvPr/>
        </p:nvSpPr>
        <p:spPr>
          <a:xfrm>
            <a:off x="292608" y="329184"/>
            <a:ext cx="146304" cy="420624"/>
          </a:xfrm>
          <a:prstGeom prst="parallelogram">
            <a:avLst/>
          </a:prstGeom>
          <a:solidFill>
            <a:srgbClr val="E62429"/>
          </a:solidFill>
          <a:ln w="12700">
            <a:solidFill>
              <a:srgbClr val="E62429"/>
            </a:solidFill>
            <a:prstDash val="solid"/>
          </a:ln>
        </p:spPr>
      </p:sp>
      <p:sp>
        <p:nvSpPr>
          <p:cNvPr id="6" name="Shape 4"/>
          <p:cNvSpPr/>
          <p:nvPr/>
        </p:nvSpPr>
        <p:spPr>
          <a:xfrm>
            <a:off x="502920" y="109728"/>
            <a:ext cx="667512" cy="201168"/>
          </a:xfrm>
          <a:prstGeom prst="parallelogram">
            <a:avLst/>
          </a:prstGeom>
          <a:solidFill>
            <a:srgbClr val="FFC72C"/>
          </a:solidFill>
          <a:ln w="12700">
            <a:solidFill>
              <a:srgbClr val="FFC72C"/>
            </a:solidFill>
            <a:prstDash val="solid"/>
          </a:ln>
        </p:spPr>
      </p:sp>
      <p:sp>
        <p:nvSpPr>
          <p:cNvPr id="7" name="Text 5"/>
          <p:cNvSpPr txBox="1"/>
          <p:nvPr/>
        </p:nvSpPr>
        <p:spPr>
          <a:xfrm>
            <a:off x="502920" y="109728"/>
            <a:ext cx="667512" cy="201168"/>
          </a:xfrm>
          <a:prstGeom prst="rect">
            <a:avLst/>
          </a:prstGeom>
          <a:noFill/>
          <a:ln/>
        </p:spPr>
        <p:txBody>
          <a:bodyPr wrap="square" lIns="0" tIns="0" rIns="0" bIns="0" rtlCol="0" anchor="ctr"/>
          <a:lstStyle/>
          <a:p>
            <a:pPr algn="ctr" indent="0" marL="0">
              <a:buNone/>
            </a:pPr>
            <a:r>
              <a:rPr lang="en-US" sz="800" b="1" spc="100" kern="0" dirty="0">
                <a:solidFill>
                  <a:srgbClr val="0D1020"/>
                </a:solidFill>
                <a:latin typeface="Arial" pitchFamily="34" charset="0"/>
                <a:ea typeface="Arial" pitchFamily="34" charset="-122"/>
                <a:cs typeface="Arial" pitchFamily="34" charset="-120"/>
              </a:rPr>
              <a:t>ANNEXE</a:t>
            </a:r>
            <a:endParaRPr lang="en-US" sz="800" dirty="0"/>
          </a:p>
        </p:txBody>
      </p:sp>
      <p:sp>
        <p:nvSpPr>
          <p:cNvPr id="8" name="Text 6"/>
          <p:cNvSpPr txBox="1"/>
          <p:nvPr/>
        </p:nvSpPr>
        <p:spPr>
          <a:xfrm>
            <a:off x="548640" y="310896"/>
            <a:ext cx="722376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Sources</a:t>
            </a:r>
            <a:endParaRPr lang="en-US" sz="2200" dirty="0"/>
          </a:p>
        </p:txBody>
      </p:sp>
      <p:sp>
        <p:nvSpPr>
          <p:cNvPr id="9" name="Text 7"/>
          <p:cNvSpPr txBox="1"/>
          <p:nvPr/>
        </p:nvSpPr>
        <p:spPr>
          <a:xfrm>
            <a:off x="548640" y="749808"/>
            <a:ext cx="7315200" cy="237744"/>
          </a:xfrm>
          <a:prstGeom prst="rect">
            <a:avLst/>
          </a:prstGeom>
          <a:noFill/>
          <a:ln/>
        </p:spPr>
        <p:txBody>
          <a:bodyPr wrap="square" lIns="0" tIns="0" rIns="0" bIns="0" rtlCol="0" anchor="ctr"/>
          <a:lstStyle/>
          <a:p>
            <a:pPr indent="0" marL="0">
              <a:buNone/>
            </a:pPr>
            <a:r>
              <a:rPr lang="en-US" sz="1100" dirty="0">
                <a:solidFill>
                  <a:srgbClr val="FFC72C"/>
                </a:solidFill>
                <a:latin typeface="Calibri" pitchFamily="34" charset="0"/>
                <a:ea typeface="Calibri" pitchFamily="34" charset="-122"/>
                <a:cs typeface="Calibri" pitchFamily="34" charset="-120"/>
              </a:rPr>
              <a:t>consultées du 29/09 au 01/10/2026 · liens cliquables</a:t>
            </a:r>
            <a:endParaRPr lang="en-US" sz="1100" dirty="0"/>
          </a:p>
        </p:txBody>
      </p:sp>
      <p:pic>
        <p:nvPicPr>
          <p:cNvPr id="10" name="Image 0" descr="/tmp/claude-0/-home-user-SOCIO/dd1a12ff-0491-58c5-8c13-7e8ef7d55990/scratchpad/brand/logo.png">    </p:cNvPr>
          <p:cNvPicPr>
            <a:picLocks noChangeAspect="1"/>
          </p:cNvPicPr>
          <p:nvPr/>
        </p:nvPicPr>
        <p:blipFill>
          <a:blip r:embed="rId1"/>
          <a:stretch>
            <a:fillRect/>
          </a:stretch>
        </p:blipFill>
        <p:spPr>
          <a:xfrm>
            <a:off x="7973568" y="201168"/>
            <a:ext cx="960120" cy="402336"/>
          </a:xfrm>
          <a:prstGeom prst="rect">
            <a:avLst/>
          </a:prstGeom>
        </p:spPr>
      </p:pic>
      <p:sp>
        <p:nvSpPr>
          <p:cNvPr id="11" name="Text 8"/>
          <p:cNvSpPr txBox="1"/>
          <p:nvPr/>
        </p:nvSpPr>
        <p:spPr>
          <a:xfrm>
            <a:off x="457200" y="1143000"/>
            <a:ext cx="8229600" cy="3566160"/>
          </a:xfrm>
          <a:prstGeom prst="rect">
            <a:avLst/>
          </a:prstGeom>
          <a:noFill/>
          <a:ln/>
        </p:spPr>
        <p:txBody>
          <a:bodyPr wrap="square" rtlCol="0" anchor="t"/>
          <a:lstStyle/>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Forbes, −85 % de joueurs en 10 mois (12/10/2025)</a:t>
            </a:r>
            <a:endParaRPr lang="en-US" sz="1000" dirty="0"/>
          </a:p>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Steam Charts, moyennes mensuelles (PC)</a:t>
            </a:r>
            <a:endParaRPr lang="en-US" sz="1000" dirty="0"/>
          </a:p>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40 millions de joueurs, rapport NetEase (Game World Observer)</a:t>
            </a:r>
            <a:endParaRPr lang="en-US" sz="1000" dirty="0"/>
          </a:p>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API publique des avis Steam (notre collecte, 37 990 avis pondérés)</a:t>
            </a:r>
            <a:endParaRPr lang="en-US" sz="1000" dirty="0"/>
          </a:p>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Démenti de l'EOMM (X officiel, 12/08/2025)</a:t>
            </a:r>
            <a:endParaRPr lang="en-US" sz="1000" dirty="0"/>
          </a:p>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Vidéo NetEase sur le matchmaking (21/08/2025)</a:t>
            </a:r>
            <a:endParaRPr lang="en-US" sz="1000" dirty="0"/>
          </a:p>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Notes de patch Season 5, placements (14/11/2025)</a:t>
            </a:r>
            <a:endParaRPr lang="en-US" sz="1000" dirty="0"/>
          </a:p>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Classé : Bronze III pour tous (PCGamesN)</a:t>
            </a:r>
            <a:endParaRPr lang="en-US" sz="1000" dirty="0"/>
          </a:p>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Dev Talk Vol.10, réinitialisation du rang (NetEase)</a:t>
            </a:r>
            <a:endParaRPr lang="en-US" sz="1000" dirty="0"/>
          </a:p>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Inactivité limitée aux rangs Eternity et One Above All (Timesaver, source tierce)</a:t>
            </a:r>
            <a:endParaRPr lang="en-US" sz="1000" dirty="0"/>
          </a:p>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45 % des joueurs ayant quitté Overwatch 2 ont joué à Marvel Rivals (Newzoo via Insider Gaming, 09/04/2025)</a:t>
            </a:r>
            <a:endParaRPr lang="en-US" sz="1000" dirty="0"/>
          </a:p>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Overwatch 2 : baisse des joueurs moyens sur PC (VGC)</a:t>
            </a:r>
            <a:endParaRPr lang="en-US" sz="1000" dirty="0"/>
          </a:p>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 Plus un jeu pour le fan occasionnel » (TheGamer, 09/08/2025)</a:t>
            </a:r>
            <a:endParaRPr lang="en-US" sz="1000" dirty="0"/>
          </a:p>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15" invalidUrl="" action="" tgtFrame="" tooltip="" history="1" highlightClick="0" endSnd="0">
                  <a:extLst>
                    <a:ext uri="{A12FA001-AC4F-418D-AE19-62706E023703}">
                      <ahyp:hlinkClr xmlns:ahyp="http://schemas.microsoft.com/office/drawing/2018/hyperlinkcolor" val="tx"/>
                    </a:ext>
                  </a:extLst>
                </a:hlinkClick>
              </a:rPr>
              <a:t>Tarifs BigQuery, requêtes à la demande (Google Cloud)</a:t>
            </a:r>
            <a:endParaRPr lang="en-US" sz="1000" dirty="0"/>
          </a:p>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16" invalidUrl="" action="" tgtFrame="" tooltip="" history="1" highlightClick="0" endSnd="0">
                  <a:extLst>
                    <a:ext uri="{A12FA001-AC4F-418D-AE19-62706E023703}">
                      <ahyp:hlinkClr xmlns:ahyp="http://schemas.microsoft.com/office/drawing/2018/hyperlinkcolor" val="tx"/>
                    </a:ext>
                  </a:extLst>
                </a:hlinkClick>
              </a:rPr>
              <a:t>Tarifs Power BI (Microsoft, 02/10/2026)</a:t>
            </a:r>
            <a:endParaRPr lang="en-US" sz="1000" dirty="0"/>
          </a:p>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17" invalidUrl="" action="" tgtFrame="" tooltip="" history="1" highlightClick="0" endSnd="0">
                  <a:extLst>
                    <a:ext uri="{A12FA001-AC4F-418D-AE19-62706E023703}">
                      <ahyp:hlinkClr xmlns:ahyp="http://schemas.microsoft.com/office/drawing/2018/hyperlinkcolor" val="tx"/>
                    </a:ext>
                  </a:extLst>
                </a:hlinkClick>
              </a:rPr>
              <a:t>Baromètre TJM Data 2026, médianes freelance France (tjmetre.fr, 01/10/2026)</a:t>
            </a:r>
            <a:endParaRPr lang="en-US" sz="1000" dirty="0"/>
          </a:p>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18" invalidUrl="" action="" tgtFrame="" tooltip="" history="1" highlightClick="0" endSnd="0">
                  <a:extLst>
                    <a:ext uri="{A12FA001-AC4F-418D-AE19-62706E023703}">
                      <ahyp:hlinkClr xmlns:ahyp="http://schemas.microsoft.com/office/drawing/2018/hyperlinkcolor" val="tx"/>
                    </a:ext>
                  </a:extLst>
                </a:hlinkClick>
              </a:rPr>
              <a:t>RGPD (EUR-Lex)</a:t>
            </a:r>
            <a:endParaRPr lang="en-US" sz="1000" dirty="0"/>
          </a:p>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19" invalidUrl="" action="" tgtFrame="" tooltip="" history="1" highlightClick="0" endSnd="0">
                  <a:extLst>
                    <a:ext uri="{A12FA001-AC4F-418D-AE19-62706E023703}">
                      <ahyp:hlinkClr xmlns:ahyp="http://schemas.microsoft.com/office/drawing/2018/hyperlinkcolor" val="tx"/>
                    </a:ext>
                  </a:extLst>
                </a:hlinkClick>
              </a:rPr>
              <a:t>AI Act (EUR-Lex)</a:t>
            </a:r>
            <a:endParaRPr lang="en-US" sz="1000" dirty="0"/>
          </a:p>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20" invalidUrl="" action="" tgtFrame="" tooltip="" history="1" highlightClick="0" endSnd="0">
                  <a:extLst>
                    <a:ext uri="{A12FA001-AC4F-418D-AE19-62706E023703}">
                      <ahyp:hlinkClr xmlns:ahyp="http://schemas.microsoft.com/office/drawing/2018/hyperlinkcolor" val="tx"/>
                    </a:ext>
                  </a:extLst>
                </a:hlinkClick>
              </a:rPr>
              <a:t>Plan de collecte complet (Google Docs)</a:t>
            </a:r>
            <a:endParaRPr lang="en-US" sz="1000" dirty="0"/>
          </a:p>
        </p:txBody>
      </p:sp>
      <p:sp>
        <p:nvSpPr>
          <p:cNvPr id="12" name="Shape 9"/>
          <p:cNvSpPr/>
          <p:nvPr/>
        </p:nvSpPr>
        <p:spPr>
          <a:xfrm>
            <a:off x="8458200" y="4800600"/>
            <a:ext cx="502920" cy="219456"/>
          </a:xfrm>
          <a:prstGeom prst="parallelogram">
            <a:avLst/>
          </a:prstGeom>
          <a:solidFill>
            <a:srgbClr val="E62429"/>
          </a:solidFill>
          <a:ln w="12700">
            <a:solidFill>
              <a:srgbClr val="E62429"/>
            </a:solidFill>
            <a:prstDash val="solid"/>
          </a:ln>
        </p:spPr>
      </p:sp>
      <p:sp>
        <p:nvSpPr>
          <p:cNvPr id="13" name="Text 10"/>
          <p:cNvSpPr txBox="1"/>
          <p:nvPr/>
        </p:nvSpPr>
        <p:spPr>
          <a:xfrm>
            <a:off x="8458200" y="4800600"/>
            <a:ext cx="502920" cy="219456"/>
          </a:xfrm>
          <a:prstGeom prst="rect">
            <a:avLst/>
          </a:prstGeom>
          <a:noFill/>
          <a:ln/>
        </p:spPr>
        <p:txBody>
          <a:bodyPr wrap="square" lIns="0" tIns="0" rIns="0" bIns="0" rtlCol="0" anchor="ctr"/>
          <a:lstStyle/>
          <a:p>
            <a:pPr algn="ctr" indent="0" marL="0">
              <a:buNone/>
            </a:pPr>
            <a:r>
              <a:rPr lang="en-US" sz="900" b="1" dirty="0">
                <a:solidFill>
                  <a:srgbClr val="FFFFFF"/>
                </a:solidFill>
                <a:latin typeface="Arial" pitchFamily="34" charset="0"/>
                <a:ea typeface="Arial" pitchFamily="34" charset="-122"/>
                <a:cs typeface="Arial"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F5F9"/>
        </a:solidFill>
      </p:bgPr>
    </p:bg>
    <p:spTree>
      <p:nvGrpSpPr>
        <p:cNvPr id="1" name=""/>
        <p:cNvGrpSpPr/>
        <p:nvPr/>
      </p:nvGrpSpPr>
      <p:grpSpPr>
        <a:xfrm>
          <a:off x="0" y="0"/>
          <a:ext cx="0" cy="0"/>
          <a:chOff x="0" y="0"/>
          <a:chExt cx="0" cy="0"/>
        </a:xfrm>
      </p:grpSpPr>
      <p:sp>
        <p:nvSpPr>
          <p:cNvPr id="2" name="Shape 0"/>
          <p:cNvSpPr/>
          <p:nvPr/>
        </p:nvSpPr>
        <p:spPr>
          <a:xfrm>
            <a:off x="0" y="0"/>
            <a:ext cx="9144000" cy="1024128"/>
          </a:xfrm>
          <a:prstGeom prst="rect">
            <a:avLst/>
          </a:prstGeom>
          <a:solidFill>
            <a:srgbClr val="0D1020"/>
          </a:solidFill>
          <a:ln w="12700">
            <a:solidFill>
              <a:srgbClr val="0D1020"/>
            </a:solidFill>
            <a:prstDash val="solid"/>
          </a:ln>
        </p:spPr>
      </p:sp>
      <p:sp>
        <p:nvSpPr>
          <p:cNvPr id="3" name="Shape 1"/>
          <p:cNvSpPr/>
          <p:nvPr/>
        </p:nvSpPr>
        <p:spPr>
          <a:xfrm>
            <a:off x="-137160" y="1024128"/>
            <a:ext cx="3840480" cy="64008"/>
          </a:xfrm>
          <a:prstGeom prst="parallelogram">
            <a:avLst/>
          </a:prstGeom>
          <a:solidFill>
            <a:srgbClr val="E62429"/>
          </a:solidFill>
          <a:ln w="12700">
            <a:solidFill>
              <a:srgbClr val="E62429"/>
            </a:solidFill>
            <a:prstDash val="solid"/>
          </a:ln>
        </p:spPr>
      </p:sp>
      <p:sp>
        <p:nvSpPr>
          <p:cNvPr id="4" name="Shape 2"/>
          <p:cNvSpPr/>
          <p:nvPr/>
        </p:nvSpPr>
        <p:spPr>
          <a:xfrm>
            <a:off x="3611880" y="1024128"/>
            <a:ext cx="1463040" cy="64008"/>
          </a:xfrm>
          <a:prstGeom prst="parallelogram">
            <a:avLst/>
          </a:prstGeom>
          <a:solidFill>
            <a:srgbClr val="FFC72C"/>
          </a:solidFill>
          <a:ln w="12700">
            <a:solidFill>
              <a:srgbClr val="FFC72C"/>
            </a:solidFill>
            <a:prstDash val="solid"/>
          </a:ln>
        </p:spPr>
      </p:sp>
      <p:sp>
        <p:nvSpPr>
          <p:cNvPr id="5" name="Shape 3"/>
          <p:cNvSpPr/>
          <p:nvPr/>
        </p:nvSpPr>
        <p:spPr>
          <a:xfrm>
            <a:off x="292608" y="329184"/>
            <a:ext cx="146304" cy="420624"/>
          </a:xfrm>
          <a:prstGeom prst="parallelogram">
            <a:avLst/>
          </a:prstGeom>
          <a:solidFill>
            <a:srgbClr val="E62429"/>
          </a:solidFill>
          <a:ln w="12700">
            <a:solidFill>
              <a:srgbClr val="E62429"/>
            </a:solidFill>
            <a:prstDash val="solid"/>
          </a:ln>
        </p:spPr>
      </p:sp>
      <p:sp>
        <p:nvSpPr>
          <p:cNvPr id="6" name="Shape 4"/>
          <p:cNvSpPr/>
          <p:nvPr/>
        </p:nvSpPr>
        <p:spPr>
          <a:xfrm>
            <a:off x="502920" y="109728"/>
            <a:ext cx="667512" cy="201168"/>
          </a:xfrm>
          <a:prstGeom prst="parallelogram">
            <a:avLst/>
          </a:prstGeom>
          <a:solidFill>
            <a:srgbClr val="FFC72C"/>
          </a:solidFill>
          <a:ln w="12700">
            <a:solidFill>
              <a:srgbClr val="FFC72C"/>
            </a:solidFill>
            <a:prstDash val="solid"/>
          </a:ln>
        </p:spPr>
      </p:sp>
      <p:sp>
        <p:nvSpPr>
          <p:cNvPr id="7" name="Text 5"/>
          <p:cNvSpPr txBox="1"/>
          <p:nvPr/>
        </p:nvSpPr>
        <p:spPr>
          <a:xfrm>
            <a:off x="502920" y="109728"/>
            <a:ext cx="667512" cy="201168"/>
          </a:xfrm>
          <a:prstGeom prst="rect">
            <a:avLst/>
          </a:prstGeom>
          <a:noFill/>
          <a:ln/>
        </p:spPr>
        <p:txBody>
          <a:bodyPr wrap="square" lIns="0" tIns="0" rIns="0" bIns="0" rtlCol="0" anchor="ctr"/>
          <a:lstStyle/>
          <a:p>
            <a:pPr algn="ctr" indent="0" marL="0">
              <a:buNone/>
            </a:pPr>
            <a:r>
              <a:rPr lang="en-US" sz="800" b="1" spc="100" kern="0" dirty="0">
                <a:solidFill>
                  <a:srgbClr val="0D1020"/>
                </a:solidFill>
                <a:latin typeface="Arial" pitchFamily="34" charset="0"/>
                <a:ea typeface="Arial" pitchFamily="34" charset="-122"/>
                <a:cs typeface="Arial" pitchFamily="34" charset="-120"/>
              </a:rPr>
              <a:t>ANNEXE</a:t>
            </a:r>
            <a:endParaRPr lang="en-US" sz="800" dirty="0"/>
          </a:p>
        </p:txBody>
      </p:sp>
      <p:sp>
        <p:nvSpPr>
          <p:cNvPr id="8" name="Text 6"/>
          <p:cNvSpPr txBox="1"/>
          <p:nvPr/>
        </p:nvSpPr>
        <p:spPr>
          <a:xfrm>
            <a:off x="548640" y="310896"/>
            <a:ext cx="722376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Questions anticipées</a:t>
            </a:r>
            <a:endParaRPr lang="en-US" sz="2200" dirty="0"/>
          </a:p>
        </p:txBody>
      </p:sp>
      <p:sp>
        <p:nvSpPr>
          <p:cNvPr id="9" name="Text 7"/>
          <p:cNvSpPr txBox="1"/>
          <p:nvPr/>
        </p:nvSpPr>
        <p:spPr>
          <a:xfrm>
            <a:off x="548640" y="749808"/>
            <a:ext cx="7315200" cy="237744"/>
          </a:xfrm>
          <a:prstGeom prst="rect">
            <a:avLst/>
          </a:prstGeom>
          <a:noFill/>
          <a:ln/>
        </p:spPr>
        <p:txBody>
          <a:bodyPr wrap="square" lIns="0" tIns="0" rIns="0" bIns="0" rtlCol="0" anchor="ctr"/>
          <a:lstStyle/>
          <a:p>
            <a:pPr indent="0" marL="0">
              <a:buNone/>
            </a:pPr>
            <a:r>
              <a:rPr lang="en-US" sz="1100" dirty="0">
                <a:solidFill>
                  <a:srgbClr val="FFC72C"/>
                </a:solidFill>
                <a:latin typeface="Calibri" pitchFamily="34" charset="0"/>
                <a:ea typeface="Calibri" pitchFamily="34" charset="-122"/>
                <a:cs typeface="Calibri" pitchFamily="34" charset="-120"/>
              </a:rPr>
              <a:t>réponses courtes, à garder sous la main</a:t>
            </a:r>
            <a:endParaRPr lang="en-US" sz="1100" dirty="0"/>
          </a:p>
        </p:txBody>
      </p:sp>
      <p:pic>
        <p:nvPicPr>
          <p:cNvPr id="10" name="Image 0" descr="/tmp/claude-0/-home-user-SOCIO/dd1a12ff-0491-58c5-8c13-7e8ef7d55990/scratchpad/brand/logo.png">    </p:cNvPr>
          <p:cNvPicPr>
            <a:picLocks noChangeAspect="1"/>
          </p:cNvPicPr>
          <p:nvPr/>
        </p:nvPicPr>
        <p:blipFill>
          <a:blip r:embed="rId1"/>
          <a:stretch>
            <a:fillRect/>
          </a:stretch>
        </p:blipFill>
        <p:spPr>
          <a:xfrm>
            <a:off x="7973568" y="201168"/>
            <a:ext cx="960120" cy="402336"/>
          </a:xfrm>
          <a:prstGeom prst="rect">
            <a:avLst/>
          </a:prstGeom>
        </p:spPr>
      </p:pic>
      <p:sp>
        <p:nvSpPr>
          <p:cNvPr id="11" name="Shape 8"/>
          <p:cNvSpPr/>
          <p:nvPr/>
        </p:nvSpPr>
        <p:spPr>
          <a:xfrm>
            <a:off x="457200" y="1188720"/>
            <a:ext cx="4023360" cy="1051560"/>
          </a:xfrm>
          <a:prstGeom prst="roundRect">
            <a:avLst>
              <a:gd name="adj" fmla="val 5217"/>
            </a:avLst>
          </a:prstGeom>
          <a:solidFill>
            <a:srgbClr val="FFFFFF"/>
          </a:solidFill>
          <a:ln w="12700">
            <a:solidFill>
              <a:srgbClr val="E3E5EE"/>
            </a:solidFill>
            <a:prstDash val="solid"/>
          </a:ln>
        </p:spPr>
      </p:sp>
      <p:sp>
        <p:nvSpPr>
          <p:cNvPr id="12" name="Text 9"/>
          <p:cNvSpPr txBox="1"/>
          <p:nvPr/>
        </p:nvSpPr>
        <p:spPr>
          <a:xfrm>
            <a:off x="594360" y="1261872"/>
            <a:ext cx="3749040" cy="274320"/>
          </a:xfrm>
          <a:prstGeom prst="rect">
            <a:avLst/>
          </a:prstGeom>
          <a:noFill/>
          <a:ln/>
        </p:spPr>
        <p:txBody>
          <a:bodyPr wrap="square" lIns="0" tIns="0" rIns="0" bIns="0" rtlCol="0" anchor="ctr"/>
          <a:lstStyle/>
          <a:p>
            <a:pPr indent="0" marL="0">
              <a:buNone/>
            </a:pPr>
            <a:r>
              <a:rPr lang="en-US" sz="1100" b="1" dirty="0">
                <a:solidFill>
                  <a:srgbClr val="E62429"/>
                </a:solidFill>
                <a:latin typeface="Arial" pitchFamily="34" charset="0"/>
                <a:ea typeface="Arial" pitchFamily="34" charset="-122"/>
                <a:cs typeface="Arial" pitchFamily="34" charset="-120"/>
              </a:rPr>
              <a:t>Pourquoi cette donnée et pas une autre ?</a:t>
            </a:r>
            <a:endParaRPr lang="en-US" sz="1100" dirty="0"/>
          </a:p>
        </p:txBody>
      </p:sp>
      <p:sp>
        <p:nvSpPr>
          <p:cNvPr id="13" name="Text 10"/>
          <p:cNvSpPr txBox="1"/>
          <p:nvPr/>
        </p:nvSpPr>
        <p:spPr>
          <a:xfrm>
            <a:off x="594360" y="1554480"/>
            <a:ext cx="3749040" cy="640080"/>
          </a:xfrm>
          <a:prstGeom prst="rect">
            <a:avLst/>
          </a:prstGeom>
          <a:noFill/>
          <a:ln/>
        </p:spPr>
        <p:txBody>
          <a:bodyPr wrap="square" lIns="0" tIns="0" rIns="0" bIns="0" rtlCol="0" anchor="t"/>
          <a:lstStyle/>
          <a:p>
            <a:pPr indent="0" marL="0">
              <a:buNone/>
            </a:pPr>
            <a:r>
              <a:rPr lang="en-US" sz="1000" dirty="0">
                <a:solidFill>
                  <a:srgbClr val="1F2233"/>
                </a:solidFill>
                <a:latin typeface="Calibri" pitchFamily="34" charset="0"/>
                <a:ea typeface="Calibri" pitchFamily="34" charset="-122"/>
                <a:cs typeface="Calibri" pitchFamily="34" charset="-120"/>
              </a:rPr>
              <a:t>Score ICE le plus haut, et elle tranche directement l'hypothèse (départ à 7 jours, causes A, B et C).</a:t>
            </a:r>
            <a:endParaRPr lang="en-US" sz="1000" dirty="0"/>
          </a:p>
        </p:txBody>
      </p:sp>
      <p:sp>
        <p:nvSpPr>
          <p:cNvPr id="14" name="Shape 11"/>
          <p:cNvSpPr/>
          <p:nvPr/>
        </p:nvSpPr>
        <p:spPr>
          <a:xfrm>
            <a:off x="4663440" y="1188720"/>
            <a:ext cx="4023360" cy="1051560"/>
          </a:xfrm>
          <a:prstGeom prst="roundRect">
            <a:avLst>
              <a:gd name="adj" fmla="val 5217"/>
            </a:avLst>
          </a:prstGeom>
          <a:solidFill>
            <a:srgbClr val="FFFFFF"/>
          </a:solidFill>
          <a:ln w="12700">
            <a:solidFill>
              <a:srgbClr val="E3E5EE"/>
            </a:solidFill>
            <a:prstDash val="solid"/>
          </a:ln>
        </p:spPr>
      </p:sp>
      <p:sp>
        <p:nvSpPr>
          <p:cNvPr id="15" name="Text 12"/>
          <p:cNvSpPr txBox="1"/>
          <p:nvPr/>
        </p:nvSpPr>
        <p:spPr>
          <a:xfrm>
            <a:off x="4800600" y="1261872"/>
            <a:ext cx="3749040" cy="274320"/>
          </a:xfrm>
          <a:prstGeom prst="rect">
            <a:avLst/>
          </a:prstGeom>
          <a:noFill/>
          <a:ln/>
        </p:spPr>
        <p:txBody>
          <a:bodyPr wrap="square" lIns="0" tIns="0" rIns="0" bIns="0" rtlCol="0" anchor="ctr"/>
          <a:lstStyle/>
          <a:p>
            <a:pPr indent="0" marL="0">
              <a:buNone/>
            </a:pPr>
            <a:r>
              <a:rPr lang="en-US" sz="1100" b="1" dirty="0">
                <a:solidFill>
                  <a:srgbClr val="E62429"/>
                </a:solidFill>
                <a:latin typeface="Arial" pitchFamily="34" charset="0"/>
                <a:ea typeface="Arial" pitchFamily="34" charset="-122"/>
                <a:cs typeface="Arial" pitchFamily="34" charset="-120"/>
              </a:rPr>
              <a:t>Combien ça coûte ?</a:t>
            </a:r>
            <a:endParaRPr lang="en-US" sz="1100" dirty="0"/>
          </a:p>
        </p:txBody>
      </p:sp>
      <p:sp>
        <p:nvSpPr>
          <p:cNvPr id="16" name="Text 13"/>
          <p:cNvSpPr txBox="1"/>
          <p:nvPr/>
        </p:nvSpPr>
        <p:spPr>
          <a:xfrm>
            <a:off x="4800600" y="1554480"/>
            <a:ext cx="3749040" cy="640080"/>
          </a:xfrm>
          <a:prstGeom prst="rect">
            <a:avLst/>
          </a:prstGeom>
          <a:noFill/>
          <a:ln/>
        </p:spPr>
        <p:txBody>
          <a:bodyPr wrap="square" lIns="0" tIns="0" rIns="0" bIns="0" rtlCol="0" anchor="t"/>
          <a:lstStyle/>
          <a:p>
            <a:pPr indent="0" marL="0">
              <a:buNone/>
            </a:pPr>
            <a:r>
              <a:rPr lang="en-US" sz="1000" dirty="0">
                <a:solidFill>
                  <a:srgbClr val="1F2233"/>
                </a:solidFill>
                <a:latin typeface="Calibri" pitchFamily="34" charset="0"/>
                <a:ea typeface="Calibri" pitchFamily="34" charset="-122"/>
                <a:cs typeface="Calibri" pitchFamily="34" charset="-120"/>
              </a:rPr>
              <a:t>≈ 19 K€ pour l'audit (33 jours-homme), ≈ 45 K€ si les tests sont lancés, plus ≤ 4 K$ d'outils ; ni SDK, ni CDP, ni CRM à acheter.</a:t>
            </a:r>
            <a:endParaRPr lang="en-US" sz="1000" dirty="0"/>
          </a:p>
        </p:txBody>
      </p:sp>
      <p:sp>
        <p:nvSpPr>
          <p:cNvPr id="17" name="Shape 14"/>
          <p:cNvSpPr/>
          <p:nvPr/>
        </p:nvSpPr>
        <p:spPr>
          <a:xfrm>
            <a:off x="457200" y="2350008"/>
            <a:ext cx="4023360" cy="1051560"/>
          </a:xfrm>
          <a:prstGeom prst="roundRect">
            <a:avLst>
              <a:gd name="adj" fmla="val 5217"/>
            </a:avLst>
          </a:prstGeom>
          <a:solidFill>
            <a:srgbClr val="FFFFFF"/>
          </a:solidFill>
          <a:ln w="12700">
            <a:solidFill>
              <a:srgbClr val="E3E5EE"/>
            </a:solidFill>
            <a:prstDash val="solid"/>
          </a:ln>
        </p:spPr>
      </p:sp>
      <p:sp>
        <p:nvSpPr>
          <p:cNvPr id="18" name="Text 15"/>
          <p:cNvSpPr txBox="1"/>
          <p:nvPr/>
        </p:nvSpPr>
        <p:spPr>
          <a:xfrm>
            <a:off x="594360" y="2423160"/>
            <a:ext cx="3749040" cy="274320"/>
          </a:xfrm>
          <a:prstGeom prst="rect">
            <a:avLst/>
          </a:prstGeom>
          <a:noFill/>
          <a:ln/>
        </p:spPr>
        <p:txBody>
          <a:bodyPr wrap="square" lIns="0" tIns="0" rIns="0" bIns="0" rtlCol="0" anchor="ctr"/>
          <a:lstStyle/>
          <a:p>
            <a:pPr indent="0" marL="0">
              <a:buNone/>
            </a:pPr>
            <a:r>
              <a:rPr lang="en-US" sz="1100" b="1" dirty="0">
                <a:solidFill>
                  <a:srgbClr val="E62429"/>
                </a:solidFill>
                <a:latin typeface="Arial" pitchFamily="34" charset="0"/>
                <a:ea typeface="Arial" pitchFamily="34" charset="-122"/>
                <a:cs typeface="Arial" pitchFamily="34" charset="-120"/>
              </a:rPr>
              <a:t>Quelle base légale ?</a:t>
            </a:r>
            <a:endParaRPr lang="en-US" sz="1100" dirty="0"/>
          </a:p>
        </p:txBody>
      </p:sp>
      <p:sp>
        <p:nvSpPr>
          <p:cNvPr id="19" name="Text 16"/>
          <p:cNvSpPr txBox="1"/>
          <p:nvPr/>
        </p:nvSpPr>
        <p:spPr>
          <a:xfrm>
            <a:off x="594360" y="2715768"/>
            <a:ext cx="3749040" cy="640080"/>
          </a:xfrm>
          <a:prstGeom prst="rect">
            <a:avLst/>
          </a:prstGeom>
          <a:noFill/>
          <a:ln/>
        </p:spPr>
        <p:txBody>
          <a:bodyPr wrap="square" lIns="0" tIns="0" rIns="0" bIns="0" rtlCol="0" anchor="t"/>
          <a:lstStyle/>
          <a:p>
            <a:pPr indent="0" marL="0">
              <a:buNone/>
            </a:pPr>
            <a:r>
              <a:rPr lang="en-US" sz="1000" dirty="0">
                <a:solidFill>
                  <a:srgbClr val="1F2233"/>
                </a:solidFill>
                <a:latin typeface="Calibri" pitchFamily="34" charset="0"/>
                <a:ea typeface="Calibri" pitchFamily="34" charset="-122"/>
                <a:cs typeface="Calibri" pitchFamily="34" charset="-120"/>
              </a:rPr>
              <a:t>Contrat pour le matchmaking ; intérêt légitime documenté pour l'audit ; consentement pour les sondages.</a:t>
            </a:r>
            <a:endParaRPr lang="en-US" sz="1000" dirty="0"/>
          </a:p>
        </p:txBody>
      </p:sp>
      <p:sp>
        <p:nvSpPr>
          <p:cNvPr id="20" name="Shape 17"/>
          <p:cNvSpPr/>
          <p:nvPr/>
        </p:nvSpPr>
        <p:spPr>
          <a:xfrm>
            <a:off x="4663440" y="2350008"/>
            <a:ext cx="4023360" cy="1051560"/>
          </a:xfrm>
          <a:prstGeom prst="roundRect">
            <a:avLst>
              <a:gd name="adj" fmla="val 5217"/>
            </a:avLst>
          </a:prstGeom>
          <a:solidFill>
            <a:srgbClr val="FFFFFF"/>
          </a:solidFill>
          <a:ln w="12700">
            <a:solidFill>
              <a:srgbClr val="E3E5EE"/>
            </a:solidFill>
            <a:prstDash val="solid"/>
          </a:ln>
        </p:spPr>
      </p:sp>
      <p:sp>
        <p:nvSpPr>
          <p:cNvPr id="21" name="Text 18"/>
          <p:cNvSpPr txBox="1"/>
          <p:nvPr/>
        </p:nvSpPr>
        <p:spPr>
          <a:xfrm>
            <a:off x="4800600" y="2423160"/>
            <a:ext cx="3749040" cy="274320"/>
          </a:xfrm>
          <a:prstGeom prst="rect">
            <a:avLst/>
          </a:prstGeom>
          <a:noFill/>
          <a:ln/>
        </p:spPr>
        <p:txBody>
          <a:bodyPr wrap="square" lIns="0" tIns="0" rIns="0" bIns="0" rtlCol="0" anchor="ctr"/>
          <a:lstStyle/>
          <a:p>
            <a:pPr indent="0" marL="0">
              <a:buNone/>
            </a:pPr>
            <a:r>
              <a:rPr lang="en-US" sz="1100" b="1" dirty="0">
                <a:solidFill>
                  <a:srgbClr val="E62429"/>
                </a:solidFill>
                <a:latin typeface="Arial" pitchFamily="34" charset="0"/>
                <a:ea typeface="Arial" pitchFamily="34" charset="-122"/>
                <a:cs typeface="Arial" pitchFamily="34" charset="-120"/>
              </a:rPr>
              <a:t>Comment savoir si ça marche ?</a:t>
            </a:r>
            <a:endParaRPr lang="en-US" sz="1100" dirty="0"/>
          </a:p>
        </p:txBody>
      </p:sp>
      <p:sp>
        <p:nvSpPr>
          <p:cNvPr id="22" name="Text 19"/>
          <p:cNvSpPr txBox="1"/>
          <p:nvPr/>
        </p:nvSpPr>
        <p:spPr>
          <a:xfrm>
            <a:off x="4800600" y="2715768"/>
            <a:ext cx="3749040" cy="640080"/>
          </a:xfrm>
          <a:prstGeom prst="rect">
            <a:avLst/>
          </a:prstGeom>
          <a:noFill/>
          <a:ln/>
        </p:spPr>
        <p:txBody>
          <a:bodyPr wrap="square" lIns="0" tIns="0" rIns="0" bIns="0" rtlCol="0" anchor="t"/>
          <a:lstStyle/>
          <a:p>
            <a:pPr indent="0" marL="0">
              <a:buNone/>
            </a:pPr>
            <a:r>
              <a:rPr lang="en-US" sz="1000" dirty="0">
                <a:solidFill>
                  <a:srgbClr val="1F2233"/>
                </a:solidFill>
                <a:latin typeface="Calibri" pitchFamily="34" charset="0"/>
                <a:ea typeface="Calibri" pitchFamily="34" charset="-122"/>
                <a:cs typeface="Calibri" pitchFamily="34" charset="-120"/>
              </a:rPr>
              <a:t>Ratio ≤ 1,2 au 31/03/2027 sur les deux cohortes ; sinon, plan B sans nouvelle collecte.</a:t>
            </a:r>
            <a:endParaRPr lang="en-US" sz="1000" dirty="0"/>
          </a:p>
        </p:txBody>
      </p:sp>
      <p:sp>
        <p:nvSpPr>
          <p:cNvPr id="23" name="Shape 20"/>
          <p:cNvSpPr/>
          <p:nvPr/>
        </p:nvSpPr>
        <p:spPr>
          <a:xfrm>
            <a:off x="457200" y="3511296"/>
            <a:ext cx="8229600" cy="1051560"/>
          </a:xfrm>
          <a:prstGeom prst="roundRect">
            <a:avLst>
              <a:gd name="adj" fmla="val 5217"/>
            </a:avLst>
          </a:prstGeom>
          <a:solidFill>
            <a:srgbClr val="FFFFFF"/>
          </a:solidFill>
          <a:ln w="12700">
            <a:solidFill>
              <a:srgbClr val="E3E5EE"/>
            </a:solidFill>
            <a:prstDash val="solid"/>
          </a:ln>
        </p:spPr>
      </p:sp>
      <p:sp>
        <p:nvSpPr>
          <p:cNvPr id="24" name="Text 21"/>
          <p:cNvSpPr txBox="1"/>
          <p:nvPr/>
        </p:nvSpPr>
        <p:spPr>
          <a:xfrm>
            <a:off x="594360" y="3584448"/>
            <a:ext cx="7955280" cy="274320"/>
          </a:xfrm>
          <a:prstGeom prst="rect">
            <a:avLst/>
          </a:prstGeom>
          <a:noFill/>
          <a:ln/>
        </p:spPr>
        <p:txBody>
          <a:bodyPr wrap="square" lIns="0" tIns="0" rIns="0" bIns="0" rtlCol="0" anchor="ctr"/>
          <a:lstStyle/>
          <a:p>
            <a:pPr indent="0" marL="0">
              <a:buNone/>
            </a:pPr>
            <a:r>
              <a:rPr lang="en-US" sz="1100" b="1" dirty="0">
                <a:solidFill>
                  <a:srgbClr val="E62429"/>
                </a:solidFill>
                <a:latin typeface="Arial" pitchFamily="34" charset="0"/>
                <a:ea typeface="Arial" pitchFamily="34" charset="-122"/>
                <a:cs typeface="Arial" pitchFamily="34" charset="-120"/>
              </a:rPr>
              <a:t>Qu'avez-vous écarté ?</a:t>
            </a:r>
            <a:endParaRPr lang="en-US" sz="1100" dirty="0"/>
          </a:p>
        </p:txBody>
      </p:sp>
      <p:sp>
        <p:nvSpPr>
          <p:cNvPr id="25" name="Text 22"/>
          <p:cNvSpPr txBox="1"/>
          <p:nvPr/>
        </p:nvSpPr>
        <p:spPr>
          <a:xfrm>
            <a:off x="594360" y="3877056"/>
            <a:ext cx="7955280" cy="640080"/>
          </a:xfrm>
          <a:prstGeom prst="rect">
            <a:avLst/>
          </a:prstGeom>
          <a:noFill/>
          <a:ln/>
        </p:spPr>
        <p:txBody>
          <a:bodyPr wrap="square" lIns="0" tIns="0" rIns="0" bIns="0" rtlCol="0" anchor="t"/>
          <a:lstStyle/>
          <a:p>
            <a:pPr indent="0" marL="0">
              <a:buNone/>
            </a:pPr>
            <a:r>
              <a:rPr lang="en-US" sz="1000" dirty="0">
                <a:solidFill>
                  <a:srgbClr val="1F2233"/>
                </a:solidFill>
                <a:latin typeface="Calibri" pitchFamily="34" charset="0"/>
                <a:ea typeface="Calibri" pitchFamily="34" charset="-122"/>
                <a:cs typeface="Calibri" pitchFamily="34" charset="-120"/>
              </a:rPr>
              <a:t>Données personnelles sans décision (chat, âge, téléphone, autres jeux), benchmark Newzoo (ICE 12), rôles imposés.</a:t>
            </a:r>
            <a:endParaRPr lang="en-US" sz="1000" dirty="0"/>
          </a:p>
        </p:txBody>
      </p:sp>
      <p:sp>
        <p:nvSpPr>
          <p:cNvPr id="26" name="Shape 23"/>
          <p:cNvSpPr/>
          <p:nvPr/>
        </p:nvSpPr>
        <p:spPr>
          <a:xfrm>
            <a:off x="8458200" y="4800600"/>
            <a:ext cx="502920" cy="219456"/>
          </a:xfrm>
          <a:prstGeom prst="parallelogram">
            <a:avLst/>
          </a:prstGeom>
          <a:solidFill>
            <a:srgbClr val="E62429"/>
          </a:solidFill>
          <a:ln w="12700">
            <a:solidFill>
              <a:srgbClr val="E62429"/>
            </a:solidFill>
            <a:prstDash val="solid"/>
          </a:ln>
        </p:spPr>
      </p:sp>
      <p:sp>
        <p:nvSpPr>
          <p:cNvPr id="27" name="Text 24"/>
          <p:cNvSpPr txBox="1"/>
          <p:nvPr/>
        </p:nvSpPr>
        <p:spPr>
          <a:xfrm>
            <a:off x="8458200" y="4800600"/>
            <a:ext cx="502920" cy="219456"/>
          </a:xfrm>
          <a:prstGeom prst="rect">
            <a:avLst/>
          </a:prstGeom>
          <a:noFill/>
          <a:ln/>
        </p:spPr>
        <p:txBody>
          <a:bodyPr wrap="square" lIns="0" tIns="0" rIns="0" bIns="0" rtlCol="0" anchor="ctr"/>
          <a:lstStyle/>
          <a:p>
            <a:pPr algn="ctr" indent="0" marL="0">
              <a:buNone/>
            </a:pPr>
            <a:r>
              <a:rPr lang="en-US" sz="900" b="1" dirty="0">
                <a:solidFill>
                  <a:srgbClr val="FFFFFF"/>
                </a:solidFill>
                <a:latin typeface="Arial" pitchFamily="34" charset="0"/>
                <a:ea typeface="Arial" pitchFamily="34" charset="-122"/>
                <a:cs typeface="Arial" pitchFamily="34" charset="-120"/>
              </a:rPr>
              <a:t>12</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Marvel Rivals : pourquoi les joueurs ne restent pas</dc:title>
  <dc:subject>PptxGenJS Presentation</dc:subject>
  <dc:creator>Noé</dc:creator>
  <cp:lastModifiedBy>Noé</cp:lastModifiedBy>
  <cp:revision>1</cp:revision>
  <dcterms:created xsi:type="dcterms:W3CDTF">2026-10-02T08:12:33Z</dcterms:created>
  <dcterms:modified xsi:type="dcterms:W3CDTF">2026-10-02T08:12:33Z</dcterms:modified>
</cp:coreProperties>
</file>