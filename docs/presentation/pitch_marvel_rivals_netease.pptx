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F2233"/>
                </a:solidFill>
                <a:latin typeface="Calibri"/>
              </a:defRPr>
            </a:pPr>
            <a:r>
              <a:rPr sz="1100" b="0" i="0" u="none" strike="noStrike">
                <a:solidFill>
                  <a:srgbClr val="1F2233"/>
                </a:solidFill>
                <a:latin typeface="Calibri"/>
              </a:rPr>
              <a:t>Joueurs simultanés, moyenne mensuelle (milliers)</a:t>
            </a:r>
          </a:p>
        </c:rich>
      </c:tx>
      <c:layout/>
      <c:overlay val="0"/>
    </c:title>
    <c:autoTitleDeleted val="0"/>
    <c:plotArea>
      <c:layout/>
      <c:lineChart>
        <c:varyColors val="0"/>
        <c:ser>
          <c:idx val="0"/>
          <c:order val="0"/>
          <c:tx>
            <c:strRef>
              <c:f>Sheet1!$B$1</c:f>
              <c:strCache>
                <c:ptCount val="1"/>
                <c:pt idx="0">
                  <c:v>Joueurs simultanés (milliers)</c:v>
                </c:pt>
              </c:strCache>
            </c:strRef>
          </c:tx>
          <c:spPr>
            <a:solidFill>
              <a:srgbClr val="E23636"/>
            </a:solidFill>
            <a:ln w="31750" cap="flat">
              <a:solidFill>
                <a:srgbClr val="E2363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E23636"/>
              </a:solidFill>
              <a:ln w="9525" cap="flat">
                <a:solidFill>
                  <a:srgbClr val="E23636"/>
                </a:solidFill>
                <a:prstDash val="solid"/>
                <a:round/>
              </a:ln>
              <a:effectLst/>
            </c:spPr>
          </c:marker>
          <c:cat>
            <c:multiLvlStrRef>
              <c:f>Sheet1!$A$2:$A$23</c:f>
              <c:multiLvlStrCache>
                <c:ptCount val="22"/>
                <c:lvl>
                  <c:pt idx="0">
                    <c:v>Déc. 24</c:v>
                  </c:pt>
                  <c:pt idx="1">
                    <c:v>Janv.</c:v>
                  </c:pt>
                  <c:pt idx="2">
                    <c:v>Févr.</c:v>
                  </c:pt>
                  <c:pt idx="3">
                    <c:v>Mars</c:v>
                  </c:pt>
                  <c:pt idx="4">
                    <c:v>Avr.</c:v>
                  </c:pt>
                  <c:pt idx="5">
                    <c:v>Mai</c:v>
                  </c:pt>
                  <c:pt idx="6">
                    <c:v>Juin</c:v>
                  </c:pt>
                  <c:pt idx="7">
                    <c:v>Juil.</c:v>
                  </c:pt>
                  <c:pt idx="8">
                    <c:v>Août</c:v>
                  </c:pt>
                  <c:pt idx="9">
                    <c:v>Sept.</c:v>
                  </c:pt>
                  <c:pt idx="10">
                    <c:v>Oct.</c:v>
                  </c:pt>
                  <c:pt idx="11">
                    <c:v>Nov.</c:v>
                  </c:pt>
                  <c:pt idx="12">
                    <c:v>Déc.</c:v>
                  </c:pt>
                  <c:pt idx="13">
                    <c:v>Janv. 26</c:v>
                  </c:pt>
                  <c:pt idx="14">
                    <c:v>Févr.</c:v>
                  </c:pt>
                  <c:pt idx="15">
                    <c:v>Mars</c:v>
                  </c:pt>
                  <c:pt idx="16">
                    <c:v>Avr.</c:v>
                  </c:pt>
                  <c:pt idx="17">
                    <c:v>Mai</c:v>
                  </c:pt>
                  <c:pt idx="18">
                    <c:v>Juin</c:v>
                  </c:pt>
                  <c:pt idx="19">
                    <c:v>Juil.</c:v>
                  </c:pt>
                  <c:pt idx="20">
                    <c:v>Août</c:v>
                  </c:pt>
                  <c:pt idx="21">
                    <c:v>Sept.*</c:v>
                  </c:pt>
                </c:lvl>
              </c:multiLvlStrCache>
            </c:multiLvlStrRef>
          </c:cat>
          <c:val>
            <c:numRef>
              <c:f>Sheet1!$B$2:$B$23</c:f>
              <c:numCache>
                <c:formatCode>General</c:formatCode>
                <c:ptCount val="22"/>
                <c:pt idx="0">
                  <c:v>279</c:v>
                </c:pt>
                <c:pt idx="1">
                  <c:v>306</c:v>
                </c:pt>
                <c:pt idx="2">
                  <c:v>228</c:v>
                </c:pt>
                <c:pt idx="3">
                  <c:v>144</c:v>
                </c:pt>
                <c:pt idx="4">
                  <c:v>134</c:v>
                </c:pt>
                <c:pt idx="5">
                  <c:v>102</c:v>
                </c:pt>
                <c:pt idx="6">
                  <c:v>80</c:v>
                </c:pt>
                <c:pt idx="7">
                  <c:v>83</c:v>
                </c:pt>
                <c:pt idx="8">
                  <c:v>78</c:v>
                </c:pt>
                <c:pt idx="9">
                  <c:v>64</c:v>
                </c:pt>
                <c:pt idx="10">
                  <c:v>64</c:v>
                </c:pt>
                <c:pt idx="11">
                  <c:v>65</c:v>
                </c:pt>
                <c:pt idx="12">
                  <c:v>75</c:v>
                </c:pt>
                <c:pt idx="13">
                  <c:v>89</c:v>
                </c:pt>
                <c:pt idx="14">
                  <c:v>81</c:v>
                </c:pt>
                <c:pt idx="15">
                  <c:v>65</c:v>
                </c:pt>
                <c:pt idx="16">
                  <c:v>70</c:v>
                </c:pt>
                <c:pt idx="17">
                  <c:v>68</c:v>
                </c:pt>
                <c:pt idx="18">
                  <c:v>70</c:v>
                </c:pt>
                <c:pt idx="19">
                  <c:v>84</c:v>
                </c:pt>
                <c:pt idx="20">
                  <c:v>80</c:v>
                </c:pt>
                <c:pt idx="21">
                  <c:v>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5E6378"/>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E5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E63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F2233"/>
                </a:solidFill>
                <a:latin typeface="Calibri"/>
              </a:defRPr>
            </a:pPr>
            <a:r>
              <a:rPr sz="1100" b="0" i="0" u="none" strike="noStrike">
                <a:solidFill>
                  <a:srgbClr val="1F2233"/>
                </a:solidFill>
                <a:latin typeface="Calibri"/>
              </a:rPr>
              <a:t>% des avis Steam négatifs qui citent le matchmaking</a:t>
            </a:r>
          </a:p>
        </c:rich>
      </c:tx>
      <c:layout/>
      <c:overlay val="0"/>
    </c:title>
    <c:autoTitleDeleted val="0"/>
    <c:plotArea>
      <c:layout/>
      <c:lineChart>
        <c:varyColors val="0"/>
        <c:ser>
          <c:idx val="0"/>
          <c:order val="0"/>
          <c:tx>
            <c:strRef>
              <c:f>Sheet1!$B$1</c:f>
              <c:strCache>
                <c:ptCount val="1"/>
                <c:pt idx="0">
                  <c:v>% des avis négatifs citant le matchmaking</c:v>
                </c:pt>
              </c:strCache>
            </c:strRef>
          </c:tx>
          <c:spPr>
            <a:solidFill>
              <a:srgbClr val="161A33"/>
            </a:solidFill>
            <a:ln w="31750" cap="flat">
              <a:solidFill>
                <a:srgbClr val="161A33"/>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161A33"/>
              </a:solidFill>
              <a:ln w="9525" cap="flat">
                <a:solidFill>
                  <a:srgbClr val="161A33"/>
                </a:solidFill>
                <a:prstDash val="solid"/>
                <a:round/>
              </a:ln>
              <a:effectLst/>
            </c:spPr>
          </c:marker>
          <c:cat>
            <c:multiLvlStrRef>
              <c:f>Sheet1!$A$2:$A$23</c:f>
              <c:multiLvlStrCache>
                <c:ptCount val="22"/>
                <c:lvl>
                  <c:pt idx="0">
                    <c:v>Déc. 24</c:v>
                  </c:pt>
                  <c:pt idx="1">
                    <c:v>Janv.</c:v>
                  </c:pt>
                  <c:pt idx="2">
                    <c:v>Févr.</c:v>
                  </c:pt>
                  <c:pt idx="3">
                    <c:v>Mars</c:v>
                  </c:pt>
                  <c:pt idx="4">
                    <c:v>Avr.</c:v>
                  </c:pt>
                  <c:pt idx="5">
                    <c:v>Mai</c:v>
                  </c:pt>
                  <c:pt idx="6">
                    <c:v>Juin</c:v>
                  </c:pt>
                  <c:pt idx="7">
                    <c:v>Juil.</c:v>
                  </c:pt>
                  <c:pt idx="8">
                    <c:v>Août</c:v>
                  </c:pt>
                  <c:pt idx="9">
                    <c:v>Sept.</c:v>
                  </c:pt>
                  <c:pt idx="10">
                    <c:v>Oct.</c:v>
                  </c:pt>
                  <c:pt idx="11">
                    <c:v>Nov.</c:v>
                  </c:pt>
                  <c:pt idx="12">
                    <c:v>Déc.</c:v>
                  </c:pt>
                  <c:pt idx="13">
                    <c:v>Janv. 26</c:v>
                  </c:pt>
                  <c:pt idx="14">
                    <c:v>Févr.</c:v>
                  </c:pt>
                  <c:pt idx="15">
                    <c:v>Mars</c:v>
                  </c:pt>
                  <c:pt idx="16">
                    <c:v>Avr.</c:v>
                  </c:pt>
                  <c:pt idx="17">
                    <c:v>Mai</c:v>
                  </c:pt>
                  <c:pt idx="18">
                    <c:v>Juin</c:v>
                  </c:pt>
                  <c:pt idx="19">
                    <c:v>Juil.</c:v>
                  </c:pt>
                  <c:pt idx="20">
                    <c:v>Août</c:v>
                  </c:pt>
                  <c:pt idx="21">
                    <c:v>Sept.*</c:v>
                  </c:pt>
                </c:lvl>
              </c:multiLvlStrCache>
            </c:multiLvlStrRef>
          </c:cat>
          <c:val>
            <c:numRef>
              <c:f>Sheet1!$B$2:$B$23</c:f>
              <c:numCache>
                <c:formatCode>General</c:formatCode>
                <c:ptCount val="22"/>
                <c:pt idx="0">
                  <c:v>7.4</c:v>
                </c:pt>
                <c:pt idx="1">
                  <c:v>10.9</c:v>
                </c:pt>
                <c:pt idx="2">
                  <c:v>12.1</c:v>
                </c:pt>
                <c:pt idx="3">
                  <c:v>20.3</c:v>
                </c:pt>
                <c:pt idx="4">
                  <c:v>21.1</c:v>
                </c:pt>
                <c:pt idx="5">
                  <c:v>29.1</c:v>
                </c:pt>
                <c:pt idx="6">
                  <c:v>27.6</c:v>
                </c:pt>
                <c:pt idx="7">
                  <c:v>37</c:v>
                </c:pt>
                <c:pt idx="8">
                  <c:v>41</c:v>
                </c:pt>
                <c:pt idx="9">
                  <c:v>33.9</c:v>
                </c:pt>
                <c:pt idx="10">
                  <c:v>25.9</c:v>
                </c:pt>
                <c:pt idx="11">
                  <c:v>17.3</c:v>
                </c:pt>
                <c:pt idx="12">
                  <c:v>18.2</c:v>
                </c:pt>
                <c:pt idx="13">
                  <c:v>15.4</c:v>
                </c:pt>
                <c:pt idx="14">
                  <c:v>15.6</c:v>
                </c:pt>
                <c:pt idx="15">
                  <c:v>13.4</c:v>
                </c:pt>
                <c:pt idx="16">
                  <c:v>14.4</c:v>
                </c:pt>
                <c:pt idx="17">
                  <c:v>14.7</c:v>
                </c:pt>
                <c:pt idx="18">
                  <c:v>14.2</c:v>
                </c:pt>
                <c:pt idx="19">
                  <c:v>8.8</c:v>
                </c:pt>
                <c:pt idx="20">
                  <c:v>13.4</c:v>
                </c:pt>
                <c:pt idx="21">
                  <c:v>10.5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5E6378"/>
                </a:solidFill>
                <a:latin typeface="Arial"/>
              </a:defRPr>
            </a:pPr>
            <a:endParaRPr lang="en-US"/>
          </a:p>
        </c:txPr>
        <c:crossAx val="2094734552"/>
        <c:crosses val="autoZero"/>
        <c:auto val="1"/>
        <c:lblAlgn val="ctr"/>
        <c:noMultiLvlLbl val="1"/>
      </c:catAx>
      <c:valAx>
        <c:axId val="2094734552"/>
        <c:scaling>
          <c:orientation val="minMax"/>
          <c:max val="45"/>
        </c:scaling>
        <c:delete val="0"/>
        <c:axPos val="l"/>
        <c:majorGridlines>
          <c:spPr>
            <a:ln w="6350" cap="flat">
              <a:solidFill>
                <a:srgbClr val="E3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E63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 644 000 joueurs en janvier 2025, 98 000 dix mois plus tard. Je suis mandaté par votre comité pour comprendre pourquoi les joueurs ne restent pas, et quoi mesurer pour le savoir.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Le problème, prouvé par les données. Un : moins 85 % de pic à pic, moins 76 % en moyenne depuis la sortie. Deux : chaque saison ramène des joueurs, et en deux mois ils sont repartis. Trois : ceux qui partent accusent le matchmaking, de 7 à 41 % des avis négatifs, au point que NetEase a dû démentir publiquement un matchmaking truqué. Ma question : pourquoi les joueurs vivent-ils le matchmaking comme injuste au point de partir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Pourquoi ce problème existe ? Notre hypothèse, H5. Au lancement, deux publics opposés arrivent en même temps : des vétérans du genre, puisque 45 % des joueurs qui ont quitté Overwatch 2 en décembre ont joué à Marvel Rivals, et un grand public venu pour Marvel, 40 millions en trois mois. Sans calibrage, ils se croisent : les écarts de niveau donnent l'impression d'un matchmaking injuste, et les moins expérimentés partent. Il reste surtout des vétérans. Attention : Newzoo dit « ont joué », pas « ont migré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Et aujourd'hui ? Deux mécanismes entretiennent ces écarts. Pour les nouveaux, en partie rapide : faute de joueurs, le matchmaking accepte des écarts plus grands, NetEase l'a reconnu ; le nouveau tombe sur les vétérans et part. Pour les joueurs de retour, en classé : leur rang n'est abaissé que de six divisions, même après des mois d'absence ; ils affrontent des joueurs plus en forme, perdent, et repartent. C'est cohérent avec les retours de saison qui ne durent pas. Mais ce sont des hypothèses : seules vos données peuvent trancher.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Recommandation : d'abord mesurer. L'objectif traduit l'hypothèse en chiffre : un joueur qui perd au début ne doit pas partir plus de 1,2 fois plus souvent que les autres, chez les nouveaux comme chez les revenants, d'ici fin mars 2027. Six données d'abord. La première mesure l'objectif. La deuxième dit où jouent les nouveaux. Les trois suivantes testent chacune une cause : le niveau de départ, le manque de joueurs, le rang au retour. La dernière exploite une expérience que NetEase a déjà faite en saison 5. Tout est déjà dans vos serveurs.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Voici la matrice complète. Chaque donnée est notée sur l'impact sur la décision, la confiance et la facilité. Treize sont indispensables, et toutes existent déjà dans votre télémétrie : l'audit ne demande aucune nouvelle collecte. Les données écartées, à droite, je les détaille juste après.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On ne teste que si l'audit confirme le problème, et on teste le levier de la cause trouvée. A, démarrage à froid : le jeu place mal un nouveau ; on rend le niveau de départ plus prudent. B, manque de joueurs : on resserre l'écart aux heures creuses, et on arrête si l'attente dépasse 5 minutes. C, rang périmé : on ajoute des matchs de recalibrage au retour d'une longue absence. Chaque test a son groupe témoin tiré au sort.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Ce que nous avons volontairement écarté. Les données personnelles qu'aucune décision n'exige : historique sur d'autres jeux, chat, âge, téléphone. Le benchmark Newzoo, trop biaisé pour étudier des débutants. Les rôles imposés, contraires à l'identité du jeu. Et les avis Steam ne servent que de contrôle, jamais de preuve.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La roadmap : quand, qui, combien. Trente jours d'audit, avec un data analyst à temps plein et un data engineer à mi-temps, soit environ 33 jours-homme, sans aucune licence nouvelle : tout passe par votre télémétrie, votre entrepôt et vos outils de BI. Si le ratio est déjà sous 1,2 sur les deux cohortes, on s'arrête et on bascule sur le plan B. Sinon, soixante jours de tests A/B avec votre équipe matchmaking, chiffrés par vos soins avant lancement. Puis généralisation et pilotage mensuel jusqu'au 31 mars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Chaque KPI a un seuil qui déclenche une décision : 1,2 pour lancer les tests, chez les nouveaux comme chez les revenants ; 5 minutes d'attente pour les arrêter ; 50 % pour choisir le mode visé. Base légale : contrat pour le matchmaking, intérêt légitime documenté pour l'audit. Et si l'hypothèse tombe, le plan B réutilise les mêmes données. Pour démarrer : signer l'accord de sous-traitance et lancer l'audit de 30 jours. Merci, je prends vos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à montrer seulement si on vous demande une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pour les questions. Pour « Où avez-vous utilisé l'IA ? », ajoutez à l'oral un élément critique que vous avez fait sans IA (par exemple le choix final de l'hypothèse ou la vérification des chiffres), si c'est le 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www.forbes.com/sites/paultassi/2025/10/12/marvel-rivals-has-lost-85-of-its-players-in-10-months/" TargetMode="External"/><Relationship Id="rId1" Type="http://schemas.openxmlformats.org/officeDocument/2006/relationships/image" Target="../media/image-1-1.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www.forbes.com/sites/paultassi/2025/10/12/marvel-rivals-has-lost-85-of-its-players-in-10-months/" TargetMode="External"/><Relationship Id="rId4" Type="http://schemas.openxmlformats.org/officeDocument/2006/relationships/hyperlink" Target="https://steamcharts.com/app/2767030" TargetMode="External"/><Relationship Id="rId5" Type="http://schemas.openxmlformats.org/officeDocument/2006/relationships/hyperlink" Target="https://store.steampowered.com/appreviews/2767030?json=1" TargetMode="External"/><Relationship Id="rId6" Type="http://schemas.openxmlformats.org/officeDocument/2006/relationships/hyperlink" Target="https://x.com/MarvelRivals/status/1955117077561593877" TargetMode="External"/><Relationship Id="rId1" Type="http://schemas.openxmlformats.org/officeDocument/2006/relationships/chart" Target="/ppt/charts/chart1.xml"/><Relationship Id="rId2" Type="http://schemas.openxmlformats.org/officeDocument/2006/relationships/chart" Target="/ppt/charts/chart2.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insider-gaming.com/almost-half-of-players-who-quit-overwatch-jumped-to-marvel-rivals/" TargetMode="External"/><Relationship Id="rId4" Type="http://schemas.openxmlformats.org/officeDocument/2006/relationships/hyperlink" Target="https://www.videogameschronicle.com/news/overwatch-2s-average-pc-player-count-has-dropped-39-since-marvel-rivals-was-released/" TargetMode="External"/><Relationship Id="rId5" Type="http://schemas.openxmlformats.org/officeDocument/2006/relationships/hyperlink" Target="https://gameworldobserver.com/2025/02/20/marvel-rivals-40-million-players-netease-fy24-report" TargetMode="External"/><Relationship Id="rId6" Type="http://schemas.openxmlformats.org/officeDocument/2006/relationships/hyperlink" Target="https://www.pcgamesn.com/marvel-rivals/ranks-competitive" TargetMode="External"/><Relationship Id="rId7" Type="http://schemas.openxmlformats.org/officeDocument/2006/relationships/hyperlink" Target="https://store.steampowered.com/appreviews/2767030?json=1" TargetMode="External"/><Relationship Id="rId8" Type="http://schemas.openxmlformats.org/officeDocument/2006/relationships/hyperlink" Target="https://www.thegamer.com/marvel-rivals-no-longer-casual-friendly-black-panther-matchmaking/" TargetMode="External"/><Relationship Id="rId1" Type="http://schemas.openxmlformats.org/officeDocument/2006/relationships/image" Target="../media/image-3-1.png"/><Relationship Id="rId2" Type="http://schemas.openxmlformats.org/officeDocument/2006/relationships/image" Target="../media/image-3-2.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x.com/MarvelRivals/status/1958627668536311945" TargetMode="External"/><Relationship Id="rId4" Type="http://schemas.openxmlformats.org/officeDocument/2006/relationships/hyperlink" Target="https://www.marvelrivals.com/devdiaries/20250210/40954_1210988.html" TargetMode="External"/><Relationship Id="rId5" Type="http://schemas.openxmlformats.org/officeDocument/2006/relationships/hyperlink" Target="https://timesaver.gg/blog/marvel-rivals-season-10-rank-reset" TargetMode="External"/><Relationship Id="rId6" Type="http://schemas.openxmlformats.org/officeDocument/2006/relationships/hyperlink" Target="https://steamcharts.com/app/2767030" TargetMode="External"/><Relationship Id="rId1" Type="http://schemas.openxmlformats.org/officeDocument/2006/relationships/image" Target="../media/image-4-1.png"/><Relationship Id="rId2" Type="http://schemas.openxmlformats.org/officeDocument/2006/relationships/image" Target="../media/image-4-2.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docs.google.com/document/d/1nOhcAL2wfeAHOK6x6UZH-Hg5yh9Ofxxko7FY47r5Vzc/edit" TargetMode="External"/><Relationship Id="rId2" Type="http://schemas.openxmlformats.org/officeDocument/2006/relationships/hyperlink" Target="https://www.marvelrivals.com/20251114/41525_1270590.html"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docs.google.com/document/d/1nOhcAL2wfeAHOK6x6UZH-Hg5yh9Ofxxko7FY47r5Vzc/edit" TargetMode="Externa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x.com/MarvelRivals/status/1958627668536311945" TargetMode="External"/><Relationship Id="rId5" Type="http://schemas.openxmlformats.org/officeDocument/2006/relationships/hyperlink" Target="https://www.marvelrivals.com/devdiaries/20250210/40954_1210988.html" TargetMode="External"/><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6" Type="http://schemas.openxmlformats.org/officeDocument/2006/relationships/hyperlink" Target="https://eur-lex.europa.eu/eli/reg/2016/679/oj" TargetMode="External"/><Relationship Id="rId7" Type="http://schemas.openxmlformats.org/officeDocument/2006/relationships/hyperlink" Target="https://docs.google.com/document/d/1nOhcAL2wfeAHOK6x6UZH-Hg5yh9Ofxxko7FY47r5Vzc/edit" TargetMode="External"/><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cloud.google.com/bigquery/pricing" TargetMode="External"/><Relationship Id="rId2" Type="http://schemas.openxmlformats.org/officeDocument/2006/relationships/hyperlink" Target="https://docs.google.com/document/d/1nOhcAL2wfeAHOK6x6UZH-Hg5yh9Ofxxko7FY47r5Vzc/edit"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5" Type="http://schemas.openxmlformats.org/officeDocument/2006/relationships/hyperlink" Target="https://eur-lex.europa.eu/eli/reg/2016/679/oj" TargetMode="External"/><Relationship Id="rId6" Type="http://schemas.openxmlformats.org/officeDocument/2006/relationships/hyperlink" Target="https://eur-lex.europa.eu/eli/reg/2024/1689/oj" TargetMode="External"/><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www.forbes.com/sites/paultassi/2025/10/12/marvel-rivals-has-lost-85-of-its-players-in-10-months/" TargetMode="External"/><Relationship Id="rId2" Type="http://schemas.openxmlformats.org/officeDocument/2006/relationships/hyperlink" Target="https://steamcharts.com/app/2767030" TargetMode="External"/><Relationship Id="rId3" Type="http://schemas.openxmlformats.org/officeDocument/2006/relationships/hyperlink" Target="https://gameworldobserver.com/2025/02/20/marvel-rivals-40-million-players-netease-fy24-report" TargetMode="External"/><Relationship Id="rId4" Type="http://schemas.openxmlformats.org/officeDocument/2006/relationships/hyperlink" Target="https://store.steampowered.com/appreviews/2767030?json=1" TargetMode="External"/><Relationship Id="rId5" Type="http://schemas.openxmlformats.org/officeDocument/2006/relationships/hyperlink" Target="https://x.com/MarvelRivals/status/1955117077561593877" TargetMode="External"/><Relationship Id="rId6" Type="http://schemas.openxmlformats.org/officeDocument/2006/relationships/hyperlink" Target="https://x.com/MarvelRivals/status/1958627668536311945" TargetMode="External"/><Relationship Id="rId7" Type="http://schemas.openxmlformats.org/officeDocument/2006/relationships/hyperlink" Target="https://www.marvelrivals.com/20251114/41525_1270590.html" TargetMode="External"/><Relationship Id="rId8" Type="http://schemas.openxmlformats.org/officeDocument/2006/relationships/hyperlink" Target="https://www.pcgamesn.com/marvel-rivals/ranks-competitive" TargetMode="External"/><Relationship Id="rId9" Type="http://schemas.openxmlformats.org/officeDocument/2006/relationships/hyperlink" Target="https://www.marvelrivals.com/devdiaries/20250210/40954_1210988.html" TargetMode="External"/><Relationship Id="rId10" Type="http://schemas.openxmlformats.org/officeDocument/2006/relationships/hyperlink" Target="https://timesaver.gg/blog/marvel-rivals-season-10-rank-reset" TargetMode="External"/><Relationship Id="rId11" Type="http://schemas.openxmlformats.org/officeDocument/2006/relationships/hyperlink" Target="https://insider-gaming.com/almost-half-of-players-who-quit-overwatch-jumped-to-marvel-rivals/" TargetMode="External"/><Relationship Id="rId12" Type="http://schemas.openxmlformats.org/officeDocument/2006/relationships/hyperlink" Target="https://www.videogameschronicle.com/news/overwatch-2s-average-pc-player-count-has-dropped-39-since-marvel-rivals-was-released/" TargetMode="External"/><Relationship Id="rId13" Type="http://schemas.openxmlformats.org/officeDocument/2006/relationships/hyperlink" Target="https://www.thegamer.com/marvel-rivals-no-longer-casual-friendly-black-panther-matchmaking/" TargetMode="External"/><Relationship Id="rId14" Type="http://schemas.openxmlformats.org/officeDocument/2006/relationships/hyperlink" Target="https://cloud.google.com/bigquery/pricing" TargetMode="External"/><Relationship Id="rId15" Type="http://schemas.openxmlformats.org/officeDocument/2006/relationships/hyperlink" Target="https://eur-lex.europa.eu/eli/reg/2016/679/oj" TargetMode="External"/><Relationship Id="rId16" Type="http://schemas.openxmlformats.org/officeDocument/2006/relationships/hyperlink" Target="https://eur-lex.europa.eu/eli/reg/2024/1689/oj" TargetMode="External"/><Relationship Id="rId17" Type="http://schemas.openxmlformats.org/officeDocument/2006/relationships/hyperlink" Target="https://docs.google.com/document/d/1nOhcAL2wfeAHOK6x6UZH-Hg5yh9Ofxxko7FY47r5Vzc/edit" TargetMode="External"/><Relationship Id="rId18" Type="http://schemas.openxmlformats.org/officeDocument/2006/relationships/slideLayout" Target="../slideLayouts/slideLayout1.xml"/><Relationship Id="rId1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A33"/>
        </a:solidFill>
      </p:bgPr>
    </p:bg>
    <p:spTree>
      <p:nvGrpSpPr>
        <p:cNvPr id="1" name=""/>
        <p:cNvGrpSpPr/>
        <p:nvPr/>
      </p:nvGrpSpPr>
      <p:grpSpPr>
        <a:xfrm>
          <a:off x="0" y="0"/>
          <a:ext cx="0" cy="0"/>
          <a:chOff x="0" y="0"/>
          <a:chExt cx="0" cy="0"/>
        </a:xfrm>
      </p:grpSpPr>
      <p:sp>
        <p:nvSpPr>
          <p:cNvPr id="2" name="Shape 0"/>
          <p:cNvSpPr/>
          <p:nvPr/>
        </p:nvSpPr>
        <p:spPr>
          <a:xfrm>
            <a:off x="457200" y="457200"/>
            <a:ext cx="548640" cy="548640"/>
          </a:xfrm>
          <a:prstGeom prst="ellipse">
            <a:avLst/>
          </a:prstGeom>
          <a:solidFill>
            <a:srgbClr val="E23636"/>
          </a:solidFill>
          <a:ln w="12700">
            <a:solidFill>
              <a:srgbClr val="E23636"/>
            </a:solidFill>
            <a:prstDash val="solid"/>
          </a:ln>
        </p:spPr>
      </p:sp>
      <p:pic>
        <p:nvPicPr>
          <p:cNvPr id="3" name="Image 0" descr="preencoded.png">    </p:cNvPr>
          <p:cNvPicPr>
            <a:picLocks noChangeAspect="1"/>
          </p:cNvPicPr>
          <p:nvPr/>
        </p:nvPicPr>
        <p:blipFill>
          <a:blip r:embed="rId1"/>
          <a:stretch>
            <a:fillRect/>
          </a:stretch>
        </p:blipFill>
        <p:spPr>
          <a:xfrm>
            <a:off x="594360" y="594360"/>
            <a:ext cx="274320" cy="274320"/>
          </a:xfrm>
          <a:prstGeom prst="rect">
            <a:avLst/>
          </a:prstGeom>
        </p:spPr>
      </p:pic>
      <p:sp>
        <p:nvSpPr>
          <p:cNvPr id="4" name="Text 1"/>
          <p:cNvSpPr txBox="1"/>
          <p:nvPr/>
        </p:nvSpPr>
        <p:spPr>
          <a:xfrm>
            <a:off x="457200" y="1188720"/>
            <a:ext cx="8229600" cy="822960"/>
          </a:xfrm>
          <a:prstGeom prst="rect">
            <a:avLst/>
          </a:prstGeom>
          <a:noFill/>
          <a:ln/>
        </p:spPr>
        <p:txBody>
          <a:bodyPr wrap="square" lIns="0" tIns="0" rIns="0" bIns="0" rtlCol="0" anchor="ctr"/>
          <a:lstStyle/>
          <a:p>
            <a:pPr indent="0" marL="0">
              <a:buNone/>
            </a:pPr>
            <a:r>
              <a:rPr lang="en-US" sz="5400" b="1" dirty="0">
                <a:solidFill>
                  <a:srgbClr val="E23636"/>
                </a:solidFill>
                <a:latin typeface="Arial" pitchFamily="34" charset="0"/>
                <a:ea typeface="Arial" pitchFamily="34" charset="-122"/>
                <a:cs typeface="Arial" pitchFamily="34" charset="-120"/>
              </a:rPr>
              <a:t>644 000 → 98 000</a:t>
            </a:r>
            <a:endParaRPr lang="en-US" sz="5400" dirty="0"/>
          </a:p>
        </p:txBody>
      </p:sp>
      <p:sp>
        <p:nvSpPr>
          <p:cNvPr id="5" name="Text 2"/>
          <p:cNvSpPr txBox="1"/>
          <p:nvPr/>
        </p:nvSpPr>
        <p:spPr>
          <a:xfrm>
            <a:off x="457200" y="2011680"/>
            <a:ext cx="8229600" cy="365760"/>
          </a:xfrm>
          <a:prstGeom prst="rect">
            <a:avLst/>
          </a:prstGeom>
          <a:noFill/>
          <a:ln/>
        </p:spPr>
        <p:txBody>
          <a:bodyPr wrap="square" lIns="0" tIns="0" rIns="0" bIns="0" rtlCol="0" anchor="ctr"/>
          <a:lstStyle/>
          <a:p>
            <a:pPr indent="0" marL="0">
              <a:buNone/>
            </a:pPr>
            <a:r>
              <a:rPr lang="en-US" sz="1800" dirty="0">
                <a:solidFill>
                  <a:srgbClr val="C9CCDA"/>
                </a:solidFill>
                <a:latin typeface="Calibri" pitchFamily="34" charset="0"/>
                <a:ea typeface="Calibri" pitchFamily="34" charset="-122"/>
                <a:cs typeface="Calibri" pitchFamily="34" charset="-120"/>
              </a:rPr>
              <a:t>joueurs simultanés sur Steam, en dix mois</a:t>
            </a:r>
            <a:endParaRPr lang="en-US" sz="1800" dirty="0"/>
          </a:p>
        </p:txBody>
      </p:sp>
      <p:sp>
        <p:nvSpPr>
          <p:cNvPr id="6" name="Text 3"/>
          <p:cNvSpPr txBox="1"/>
          <p:nvPr/>
        </p:nvSpPr>
        <p:spPr>
          <a:xfrm>
            <a:off x="457200" y="2743200"/>
            <a:ext cx="8229600" cy="548640"/>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Marvel Rivals : pourquoi les joueurs ne restent pas</a:t>
            </a:r>
            <a:endParaRPr lang="en-US" sz="2800" dirty="0"/>
          </a:p>
        </p:txBody>
      </p:sp>
      <p:sp>
        <p:nvSpPr>
          <p:cNvPr id="7" name="Text 4"/>
          <p:cNvSpPr txBox="1"/>
          <p:nvPr/>
        </p:nvSpPr>
        <p:spPr>
          <a:xfrm>
            <a:off x="457200" y="3291840"/>
            <a:ext cx="8229600" cy="365760"/>
          </a:xfrm>
          <a:prstGeom prst="rect">
            <a:avLst/>
          </a:prstGeom>
          <a:noFill/>
          <a:ln/>
        </p:spPr>
        <p:txBody>
          <a:bodyPr wrap="square" lIns="0" tIns="0" rIns="0" bIns="0" rtlCol="0" anchor="ctr"/>
          <a:lstStyle/>
          <a:p>
            <a:pPr indent="0" marL="0">
              <a:buNone/>
            </a:pPr>
            <a:r>
              <a:rPr lang="en-US" sz="1500" dirty="0">
                <a:solidFill>
                  <a:srgbClr val="C9CCDA"/>
                </a:solidFill>
                <a:latin typeface="Calibri" pitchFamily="34" charset="0"/>
                <a:ea typeface="Calibri" pitchFamily="34" charset="-122"/>
                <a:cs typeface="Calibri" pitchFamily="34" charset="-120"/>
              </a:rPr>
              <a:t>Plan de collecte data pour le comité de direction de NetEase Games</a:t>
            </a:r>
            <a:endParaRPr lang="en-US" sz="1500" dirty="0"/>
          </a:p>
        </p:txBody>
      </p:sp>
      <p:sp>
        <p:nvSpPr>
          <p:cNvPr id="8" name="Text 5"/>
          <p:cNvSpPr txBox="1"/>
          <p:nvPr/>
        </p:nvSpPr>
        <p:spPr>
          <a:xfrm>
            <a:off x="457200" y="4297680"/>
            <a:ext cx="5486400" cy="274320"/>
          </a:xfrm>
          <a:prstGeom prst="rect">
            <a:avLst/>
          </a:prstGeom>
          <a:noFill/>
          <a:ln/>
        </p:spPr>
        <p:txBody>
          <a:bodyPr wrap="square" lIns="0" tIns="0" rIns="0" bIns="0" rtlCol="0" anchor="ctr"/>
          <a:lstStyle/>
          <a:p>
            <a:pPr indent="0" marL="0">
              <a:buNone/>
            </a:pPr>
            <a:r>
              <a:rPr lang="en-US" sz="1200" dirty="0">
                <a:solidFill>
                  <a:srgbClr val="C9CCDA"/>
                </a:solidFill>
                <a:latin typeface="Calibri" pitchFamily="34" charset="0"/>
                <a:ea typeface="Calibri" pitchFamily="34" charset="-122"/>
                <a:cs typeface="Calibri" pitchFamily="34" charset="-120"/>
              </a:rPr>
              <a:t>Noé, consultant · 2 octobre 2026</a:t>
            </a:r>
            <a:endParaRPr lang="en-US" sz="1200" dirty="0"/>
          </a:p>
        </p:txBody>
      </p:sp>
      <p:sp>
        <p:nvSpPr>
          <p:cNvPr id="9" name="Text 6"/>
          <p:cNvSpPr txBox="1"/>
          <p:nvPr/>
        </p:nvSpPr>
        <p:spPr>
          <a:xfrm>
            <a:off x="5943600" y="4297680"/>
            <a:ext cx="2743200" cy="274320"/>
          </a:xfrm>
          <a:prstGeom prst="rect">
            <a:avLst/>
          </a:prstGeom>
          <a:noFill/>
          <a:ln/>
        </p:spPr>
        <p:txBody>
          <a:bodyPr wrap="square" lIns="0" tIns="0" rIns="0" bIns="0" rtlCol="0" anchor="ctr"/>
          <a:lstStyle/>
          <a:p>
            <a:pPr algn="r" indent="0" marL="0">
              <a:buNone/>
            </a:pPr>
            <a:r>
              <a:rPr lang="en-US" sz="1000" u="sng" dirty="0">
                <a:solidFill>
                  <a:srgbClr val="9FB4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Forbes, 12/10/2025</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Le jeu perd ses joueurs et ne les regagne pas</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Contexte · le B du BODAK, prouvé par les données (Steam = PC uniquement)</a:t>
            </a:r>
            <a:endParaRPr lang="en-US" sz="1200" dirty="0"/>
          </a:p>
        </p:txBody>
      </p:sp>
      <p:graphicFrame>
        <p:nvGraphicFramePr>
          <p:cNvPr id="4" name="Chart 0" descr=""/>
          <p:cNvGraphicFramePr/>
          <p:nvPr/>
        </p:nvGraphicFramePr>
        <p:xfrm>
          <a:off x="320040" y="1143000"/>
          <a:ext cx="4251960" cy="251460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4572000" y="1143000"/>
          <a:ext cx="4251960" cy="251460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457200" y="3749040"/>
            <a:ext cx="2651760" cy="411480"/>
          </a:xfrm>
          <a:prstGeom prst="rect">
            <a:avLst/>
          </a:prstGeom>
          <a:noFill/>
          <a:ln/>
        </p:spPr>
        <p:txBody>
          <a:bodyPr wrap="square" lIns="0" tIns="0" rIns="0" bIns="0" rtlCol="0" anchor="ctr"/>
          <a:lstStyle/>
          <a:p>
            <a:pPr indent="0" marL="0">
              <a:buNone/>
            </a:pPr>
            <a:r>
              <a:rPr lang="en-US" sz="2200" b="1" dirty="0">
                <a:solidFill>
                  <a:srgbClr val="E23636"/>
                </a:solidFill>
                <a:latin typeface="Arial" pitchFamily="34" charset="0"/>
                <a:ea typeface="Arial" pitchFamily="34" charset="-122"/>
                <a:cs typeface="Arial" pitchFamily="34" charset="-120"/>
              </a:rPr>
              <a:t>−85 %</a:t>
            </a:r>
            <a:endParaRPr lang="en-US" sz="2200" dirty="0"/>
          </a:p>
        </p:txBody>
      </p:sp>
      <p:sp>
        <p:nvSpPr>
          <p:cNvPr id="7" name="Text 3"/>
          <p:cNvSpPr txBox="1"/>
          <p:nvPr/>
        </p:nvSpPr>
        <p:spPr>
          <a:xfrm>
            <a:off x="457200" y="4160520"/>
            <a:ext cx="2651760" cy="54864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de pic à pic (644 K → 98 K) ; −76 % en moyenne depuis la sortie</a:t>
            </a:r>
            <a:endParaRPr lang="en-US" sz="1000" dirty="0"/>
          </a:p>
        </p:txBody>
      </p:sp>
      <p:sp>
        <p:nvSpPr>
          <p:cNvPr id="8" name="Text 4"/>
          <p:cNvSpPr txBox="1"/>
          <p:nvPr/>
        </p:nvSpPr>
        <p:spPr>
          <a:xfrm>
            <a:off x="3246120" y="3749040"/>
            <a:ext cx="2651760" cy="411480"/>
          </a:xfrm>
          <a:prstGeom prst="rect">
            <a:avLst/>
          </a:prstGeom>
          <a:noFill/>
          <a:ln/>
        </p:spPr>
        <p:txBody>
          <a:bodyPr wrap="square" lIns="0" tIns="0" rIns="0" bIns="0" rtlCol="0" anchor="ctr"/>
          <a:lstStyle/>
          <a:p>
            <a:pPr indent="0" marL="0">
              <a:buNone/>
            </a:pPr>
            <a:r>
              <a:rPr lang="en-US" sz="2200" b="1" dirty="0">
                <a:solidFill>
                  <a:srgbClr val="E23636"/>
                </a:solidFill>
                <a:latin typeface="Arial" pitchFamily="34" charset="0"/>
                <a:ea typeface="Arial" pitchFamily="34" charset="-122"/>
                <a:cs typeface="Arial" pitchFamily="34" charset="-120"/>
              </a:rPr>
              <a:t>2 mois</a:t>
            </a:r>
            <a:endParaRPr lang="en-US" sz="2200" dirty="0"/>
          </a:p>
        </p:txBody>
      </p:sp>
      <p:sp>
        <p:nvSpPr>
          <p:cNvPr id="9" name="Text 5"/>
          <p:cNvSpPr txBox="1"/>
          <p:nvPr/>
        </p:nvSpPr>
        <p:spPr>
          <a:xfrm>
            <a:off x="3246120" y="4160520"/>
            <a:ext cx="2651760" cy="54864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pour perdre les joueurs ramenés par une saison (+18 % en janv. 2026, +21 % en juil.)</a:t>
            </a:r>
            <a:endParaRPr lang="en-US" sz="1000" dirty="0"/>
          </a:p>
        </p:txBody>
      </p:sp>
      <p:sp>
        <p:nvSpPr>
          <p:cNvPr id="10" name="Text 6"/>
          <p:cNvSpPr txBox="1"/>
          <p:nvPr/>
        </p:nvSpPr>
        <p:spPr>
          <a:xfrm>
            <a:off x="6035040" y="3749040"/>
            <a:ext cx="2651760" cy="411480"/>
          </a:xfrm>
          <a:prstGeom prst="rect">
            <a:avLst/>
          </a:prstGeom>
          <a:noFill/>
          <a:ln/>
        </p:spPr>
        <p:txBody>
          <a:bodyPr wrap="square" lIns="0" tIns="0" rIns="0" bIns="0" rtlCol="0" anchor="ctr"/>
          <a:lstStyle/>
          <a:p>
            <a:pPr indent="0" marL="0">
              <a:buNone/>
            </a:pPr>
            <a:r>
              <a:rPr lang="en-US" sz="2200" b="1" dirty="0">
                <a:solidFill>
                  <a:srgbClr val="161A33"/>
                </a:solidFill>
                <a:latin typeface="Arial" pitchFamily="34" charset="0"/>
                <a:ea typeface="Arial" pitchFamily="34" charset="-122"/>
                <a:cs typeface="Arial" pitchFamily="34" charset="-120"/>
              </a:rPr>
              <a:t>7 → 41 %</a:t>
            </a:r>
            <a:endParaRPr lang="en-US" sz="2200" dirty="0"/>
          </a:p>
        </p:txBody>
      </p:sp>
      <p:sp>
        <p:nvSpPr>
          <p:cNvPr id="11" name="Text 7"/>
          <p:cNvSpPr txBox="1"/>
          <p:nvPr/>
        </p:nvSpPr>
        <p:spPr>
          <a:xfrm>
            <a:off x="6035040" y="4160520"/>
            <a:ext cx="2651760" cy="54864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des avis négatifs accusent le matchmaking ; NetEase a dû démentir un matchmaking truqué</a:t>
            </a:r>
            <a:endParaRPr lang="en-US" sz="1000" dirty="0"/>
          </a:p>
        </p:txBody>
      </p:sp>
      <p:sp>
        <p:nvSpPr>
          <p:cNvPr id="12" name="Text 8"/>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Forbes (12/10/2025)</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Steam Charts (30/09/2026 ; * = 30 derniers jours)</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avis Steam, notre collecte</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démenti EOMM</a:t>
            </a:r>
            <a:endParaRPr lang="en-US" sz="850" dirty="0"/>
          </a:p>
        </p:txBody>
      </p:sp>
      <p:sp>
        <p:nvSpPr>
          <p:cNvPr id="13" name="Text 9"/>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5F9"/>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Hypothèse : deux publics opposés réunis</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Diagnostic · pourquoi le problème existe (HYPOTHÈSE H5, à valider sur vos données)</a:t>
            </a:r>
            <a:endParaRPr lang="en-US" sz="1200" dirty="0"/>
          </a:p>
        </p:txBody>
      </p:sp>
      <p:sp>
        <p:nvSpPr>
          <p:cNvPr id="4" name="Shape 2"/>
          <p:cNvSpPr/>
          <p:nvPr/>
        </p:nvSpPr>
        <p:spPr>
          <a:xfrm>
            <a:off x="457200" y="1188720"/>
            <a:ext cx="4023360" cy="1874520"/>
          </a:xfrm>
          <a:prstGeom prst="roundRect">
            <a:avLst>
              <a:gd name="adj" fmla="val 3902"/>
            </a:avLst>
          </a:prstGeom>
          <a:solidFill>
            <a:srgbClr val="FFFFFF"/>
          </a:solidFill>
          <a:ln w="12700">
            <a:solidFill>
              <a:srgbClr val="E3E5EE"/>
            </a:solidFill>
            <a:prstDash val="solid"/>
          </a:ln>
        </p:spPr>
      </p:sp>
      <p:sp>
        <p:nvSpPr>
          <p:cNvPr id="5" name="Shape 3"/>
          <p:cNvSpPr/>
          <p:nvPr/>
        </p:nvSpPr>
        <p:spPr>
          <a:xfrm>
            <a:off x="640080" y="1307592"/>
            <a:ext cx="384048" cy="384048"/>
          </a:xfrm>
          <a:prstGeom prst="ellipse">
            <a:avLst/>
          </a:prstGeom>
          <a:solidFill>
            <a:srgbClr val="161A33"/>
          </a:solidFill>
          <a:ln w="12700">
            <a:solidFill>
              <a:srgbClr val="161A33"/>
            </a:solidFill>
            <a:prstDash val="solid"/>
          </a:ln>
        </p:spPr>
      </p:sp>
      <p:pic>
        <p:nvPicPr>
          <p:cNvPr id="6" name="Image 0" descr="preencoded.png">    </p:cNvPr>
          <p:cNvPicPr>
            <a:picLocks noChangeAspect="1"/>
          </p:cNvPicPr>
          <p:nvPr/>
        </p:nvPicPr>
        <p:blipFill>
          <a:blip r:embed="rId1"/>
          <a:stretch>
            <a:fillRect/>
          </a:stretch>
        </p:blipFill>
        <p:spPr>
          <a:xfrm>
            <a:off x="736092" y="1403604"/>
            <a:ext cx="192024" cy="192024"/>
          </a:xfrm>
          <a:prstGeom prst="rect">
            <a:avLst/>
          </a:prstGeom>
        </p:spPr>
      </p:pic>
      <p:sp>
        <p:nvSpPr>
          <p:cNvPr id="7" name="Text 4"/>
          <p:cNvSpPr txBox="1"/>
          <p:nvPr/>
        </p:nvSpPr>
        <p:spPr>
          <a:xfrm>
            <a:off x="1143000" y="1307592"/>
            <a:ext cx="3200400" cy="384048"/>
          </a:xfrm>
          <a:prstGeom prst="rect">
            <a:avLst/>
          </a:prstGeom>
          <a:noFill/>
          <a:ln/>
        </p:spPr>
        <p:txBody>
          <a:bodyPr wrap="square" lIns="0" tIns="0" rIns="0" bIns="0" rtlCol="0" anchor="ctr"/>
          <a:lstStyle/>
          <a:p>
            <a:pPr indent="0" marL="0">
              <a:buNone/>
            </a:pPr>
            <a:r>
              <a:rPr lang="en-US" sz="1400" b="1" dirty="0">
                <a:solidFill>
                  <a:srgbClr val="1F2233"/>
                </a:solidFill>
                <a:latin typeface="Arial" pitchFamily="34" charset="0"/>
                <a:ea typeface="Arial" pitchFamily="34" charset="-122"/>
                <a:cs typeface="Arial" pitchFamily="34" charset="-120"/>
              </a:rPr>
              <a:t>Les vétérans du genre</a:t>
            </a:r>
            <a:endParaRPr lang="en-US" sz="1400" dirty="0"/>
          </a:p>
        </p:txBody>
      </p:sp>
      <p:sp>
        <p:nvSpPr>
          <p:cNvPr id="8" name="Text 5"/>
          <p:cNvSpPr txBox="1"/>
          <p:nvPr/>
        </p:nvSpPr>
        <p:spPr>
          <a:xfrm>
            <a:off x="640080" y="1810512"/>
            <a:ext cx="3657600" cy="1188720"/>
          </a:xfrm>
          <a:prstGeom prst="rect">
            <a:avLst/>
          </a:prstGeom>
          <a:noFill/>
          <a:ln/>
        </p:spPr>
        <p:txBody>
          <a:bodyPr wrap="square" lIns="0" tIns="0" rIns="0" bIns="0" rtlCol="0" anchor="t"/>
          <a:lstStyle/>
          <a:p>
            <a:pPr indent="0" marL="0">
              <a:buNone/>
            </a:pPr>
            <a:r>
              <a:rPr lang="en-US" sz="1500" b="1" dirty="0">
                <a:solidFill>
                  <a:srgbClr val="161A33"/>
                </a:solidFill>
                <a:latin typeface="Calibri" pitchFamily="34" charset="0"/>
                <a:ea typeface="Calibri" pitchFamily="34" charset="-122"/>
                <a:cs typeface="Calibri" pitchFamily="34" charset="-120"/>
              </a:rPr>
              <a:t>45 %</a:t>
            </a:r>
            <a:pPr indent="0" marL="0">
              <a:buNone/>
            </a:pPr>
            <a:r>
              <a:rPr lang="en-US" sz="1050" dirty="0">
                <a:solidFill>
                  <a:srgbClr val="1F2233"/>
                </a:solidFill>
                <a:latin typeface="Calibri" pitchFamily="34" charset="0"/>
                <a:ea typeface="Calibri" pitchFamily="34" charset="-122"/>
                <a:cs typeface="Calibri" pitchFamily="34" charset="-120"/>
              </a:rPr>
              <a:t> des joueurs qui ont arrêté Overwatch 2 en décembre 2024 ont joué à Marvel Rivals (Newzoo)</a:t>
            </a:r>
            <a:endParaRPr lang="en-US" sz="10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50" dirty="0"/>
          </a:p>
          <a:p>
            <a:pPr indent="0" marL="0">
              <a:buNone/>
            </a:pPr>
            <a:r>
              <a:rPr lang="en-US" sz="1500" b="1" dirty="0">
                <a:solidFill>
                  <a:srgbClr val="161A33"/>
                </a:solidFill>
                <a:latin typeface="Calibri" pitchFamily="34" charset="0"/>
                <a:ea typeface="Calibri" pitchFamily="34" charset="-122"/>
                <a:cs typeface="Calibri" pitchFamily="34" charset="-120"/>
              </a:rPr>
              <a:t>−22 %</a:t>
            </a:r>
            <a:pPr indent="0" marL="0">
              <a:buNone/>
            </a:pPr>
            <a:r>
              <a:rPr lang="en-US" sz="1050" dirty="0">
                <a:solidFill>
                  <a:srgbClr val="1F2233"/>
                </a:solidFill>
                <a:latin typeface="Calibri" pitchFamily="34" charset="0"/>
                <a:ea typeface="Calibri" pitchFamily="34" charset="-122"/>
                <a:cs typeface="Calibri" pitchFamily="34" charset="-120"/>
              </a:rPr>
              <a:t> de joueurs moyens sur Overwatch 2 (PC) ce mois-là</a:t>
            </a:r>
            <a:endParaRPr lang="en-US" sz="1050" dirty="0"/>
          </a:p>
        </p:txBody>
      </p:sp>
      <p:sp>
        <p:nvSpPr>
          <p:cNvPr id="9" name="Shape 6"/>
          <p:cNvSpPr/>
          <p:nvPr/>
        </p:nvSpPr>
        <p:spPr>
          <a:xfrm>
            <a:off x="4663440" y="1188720"/>
            <a:ext cx="4023360" cy="1874520"/>
          </a:xfrm>
          <a:prstGeom prst="roundRect">
            <a:avLst>
              <a:gd name="adj" fmla="val 3902"/>
            </a:avLst>
          </a:prstGeom>
          <a:solidFill>
            <a:srgbClr val="FFFFFF"/>
          </a:solidFill>
          <a:ln w="12700">
            <a:solidFill>
              <a:srgbClr val="E3E5EE"/>
            </a:solidFill>
            <a:prstDash val="solid"/>
          </a:ln>
        </p:spPr>
      </p:sp>
      <p:sp>
        <p:nvSpPr>
          <p:cNvPr id="10" name="Shape 7"/>
          <p:cNvSpPr/>
          <p:nvPr/>
        </p:nvSpPr>
        <p:spPr>
          <a:xfrm>
            <a:off x="4846320" y="1307592"/>
            <a:ext cx="384048" cy="384048"/>
          </a:xfrm>
          <a:prstGeom prst="ellipse">
            <a:avLst/>
          </a:prstGeom>
          <a:solidFill>
            <a:srgbClr val="E23636"/>
          </a:solidFill>
          <a:ln w="12700">
            <a:solidFill>
              <a:srgbClr val="E23636"/>
            </a:solidFill>
            <a:prstDash val="solid"/>
          </a:ln>
        </p:spPr>
      </p:sp>
      <p:pic>
        <p:nvPicPr>
          <p:cNvPr id="11" name="Image 1" descr="preencoded.png">    </p:cNvPr>
          <p:cNvPicPr>
            <a:picLocks noChangeAspect="1"/>
          </p:cNvPicPr>
          <p:nvPr/>
        </p:nvPicPr>
        <p:blipFill>
          <a:blip r:embed="rId2"/>
          <a:stretch>
            <a:fillRect/>
          </a:stretch>
        </p:blipFill>
        <p:spPr>
          <a:xfrm>
            <a:off x="4942332" y="1403604"/>
            <a:ext cx="192024" cy="192024"/>
          </a:xfrm>
          <a:prstGeom prst="rect">
            <a:avLst/>
          </a:prstGeom>
        </p:spPr>
      </p:pic>
      <p:sp>
        <p:nvSpPr>
          <p:cNvPr id="12" name="Text 8"/>
          <p:cNvSpPr txBox="1"/>
          <p:nvPr/>
        </p:nvSpPr>
        <p:spPr>
          <a:xfrm>
            <a:off x="5349240" y="1307592"/>
            <a:ext cx="3200400" cy="384048"/>
          </a:xfrm>
          <a:prstGeom prst="rect">
            <a:avLst/>
          </a:prstGeom>
          <a:noFill/>
          <a:ln/>
        </p:spPr>
        <p:txBody>
          <a:bodyPr wrap="square" lIns="0" tIns="0" rIns="0" bIns="0" rtlCol="0" anchor="ctr"/>
          <a:lstStyle/>
          <a:p>
            <a:pPr indent="0" marL="0">
              <a:buNone/>
            </a:pPr>
            <a:r>
              <a:rPr lang="en-US" sz="1400" b="1" dirty="0">
                <a:solidFill>
                  <a:srgbClr val="1F2233"/>
                </a:solidFill>
                <a:latin typeface="Arial" pitchFamily="34" charset="0"/>
                <a:ea typeface="Arial" pitchFamily="34" charset="-122"/>
                <a:cs typeface="Arial" pitchFamily="34" charset="-120"/>
              </a:rPr>
              <a:t>Le grand public venu pour Marvel</a:t>
            </a:r>
            <a:endParaRPr lang="en-US" sz="1400" dirty="0"/>
          </a:p>
        </p:txBody>
      </p:sp>
      <p:sp>
        <p:nvSpPr>
          <p:cNvPr id="13" name="Text 9"/>
          <p:cNvSpPr txBox="1"/>
          <p:nvPr/>
        </p:nvSpPr>
        <p:spPr>
          <a:xfrm>
            <a:off x="4846320" y="1810512"/>
            <a:ext cx="3657600" cy="1188720"/>
          </a:xfrm>
          <a:prstGeom prst="rect">
            <a:avLst/>
          </a:prstGeom>
          <a:noFill/>
          <a:ln/>
        </p:spPr>
        <p:txBody>
          <a:bodyPr wrap="square" lIns="0" tIns="0" rIns="0" bIns="0" rtlCol="0" anchor="t"/>
          <a:lstStyle/>
          <a:p>
            <a:pPr indent="0" marL="0">
              <a:buNone/>
            </a:pPr>
            <a:r>
              <a:rPr lang="en-US" sz="1500" b="1" dirty="0">
                <a:solidFill>
                  <a:srgbClr val="E23636"/>
                </a:solidFill>
                <a:latin typeface="Calibri" pitchFamily="34" charset="0"/>
                <a:ea typeface="Calibri" pitchFamily="34" charset="-122"/>
                <a:cs typeface="Calibri" pitchFamily="34" charset="-120"/>
              </a:rPr>
              <a:t>10 M</a:t>
            </a:r>
            <a:pPr indent="0" marL="0">
              <a:buNone/>
            </a:pPr>
            <a:r>
              <a:rPr lang="en-US" sz="1050" dirty="0">
                <a:solidFill>
                  <a:srgbClr val="1F2233"/>
                </a:solidFill>
                <a:latin typeface="Calibri" pitchFamily="34" charset="0"/>
                <a:ea typeface="Calibri" pitchFamily="34" charset="-122"/>
                <a:cs typeface="Calibri" pitchFamily="34" charset="-120"/>
              </a:rPr>
              <a:t> de joueurs en 3 jours, 40 M en 3 mois</a:t>
            </a:r>
            <a:endParaRPr lang="en-US" sz="10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50" dirty="0"/>
          </a:p>
          <a:p>
            <a:pPr indent="0" marL="0">
              <a:buNone/>
            </a:pPr>
            <a:r>
              <a:rPr lang="en-US" sz="1500" b="1" dirty="0">
                <a:solidFill>
                  <a:srgbClr val="E23636"/>
                </a:solidFill>
                <a:latin typeface="Calibri" pitchFamily="34" charset="0"/>
                <a:ea typeface="Calibri" pitchFamily="34" charset="-122"/>
                <a:cs typeface="Calibri" pitchFamily="34" charset="-120"/>
              </a:rPr>
              <a:t>Gratuit</a:t>
            </a:r>
            <a:pPr indent="0" marL="0">
              <a:buNone/>
            </a:pPr>
            <a:r>
              <a:rPr lang="en-US" sz="1050" dirty="0">
                <a:solidFill>
                  <a:srgbClr val="1F2233"/>
                </a:solidFill>
                <a:latin typeface="Calibri" pitchFamily="34" charset="0"/>
                <a:ea typeface="Calibri" pitchFamily="34" charset="-122"/>
                <a:cs typeface="Calibri" pitchFamily="34" charset="-120"/>
              </a:rPr>
              <a:t> et porté par une licence grand public : beaucoup découvrent le genre</a:t>
            </a:r>
            <a:endParaRPr lang="en-US" sz="1050" dirty="0"/>
          </a:p>
        </p:txBody>
      </p:sp>
      <p:sp>
        <p:nvSpPr>
          <p:cNvPr id="14" name="Shape 10"/>
          <p:cNvSpPr/>
          <p:nvPr/>
        </p:nvSpPr>
        <p:spPr>
          <a:xfrm>
            <a:off x="457200" y="3200400"/>
            <a:ext cx="8229600" cy="1463040"/>
          </a:xfrm>
          <a:prstGeom prst="roundRect">
            <a:avLst>
              <a:gd name="adj" fmla="val 5000"/>
            </a:avLst>
          </a:prstGeom>
          <a:solidFill>
            <a:srgbClr val="161A33"/>
          </a:solidFill>
          <a:ln w="12700">
            <a:solidFill>
              <a:srgbClr val="161A33"/>
            </a:solidFill>
            <a:prstDash val="solid"/>
          </a:ln>
        </p:spPr>
      </p:sp>
      <p:sp>
        <p:nvSpPr>
          <p:cNvPr id="15" name="Text 11"/>
          <p:cNvSpPr txBox="1"/>
          <p:nvPr/>
        </p:nvSpPr>
        <p:spPr>
          <a:xfrm>
            <a:off x="685800" y="3246120"/>
            <a:ext cx="7772400" cy="1371600"/>
          </a:xfrm>
          <a:prstGeom prst="rect">
            <a:avLst/>
          </a:prstGeom>
          <a:noFill/>
          <a:ln/>
        </p:spPr>
        <p:txBody>
          <a:bodyPr wrap="square" lIns="0" tIns="0" rIns="0" bIns="0" rtlCol="0" anchor="ctr"/>
          <a:lstStyle/>
          <a:p>
            <a:pPr indent="0" marL="0">
              <a:buNone/>
            </a:pPr>
            <a:r>
              <a:rPr lang="en-US" sz="1150" b="1" dirty="0">
                <a:solidFill>
                  <a:srgbClr val="E23636"/>
                </a:solidFill>
                <a:latin typeface="Calibri" pitchFamily="34" charset="0"/>
                <a:ea typeface="Calibri" pitchFamily="34" charset="-122"/>
                <a:cs typeface="Calibri" pitchFamily="34" charset="-120"/>
              </a:rPr>
              <a:t>Sans calibrage, ils se croisent </a:t>
            </a:r>
            <a:pPr indent="0" marL="0">
              <a:buNone/>
            </a:pPr>
            <a:r>
              <a:rPr lang="en-US" sz="1150" dirty="0">
                <a:solidFill>
                  <a:srgbClr val="FFFFFF"/>
                </a:solidFill>
                <a:latin typeface="Calibri" pitchFamily="34" charset="0"/>
                <a:ea typeface="Calibri" pitchFamily="34" charset="-122"/>
                <a:cs typeface="Calibri" pitchFamily="34" charset="-120"/>
              </a:rPr>
              <a:t>(Bronze III pour tous en classé jusqu'à la saison 5) : les écarts de niveau donnent l'impression d'un matchmaking injuste, et les moins expérimentés partent.</a:t>
            </a:r>
            <a:endParaRPr lang="en-US" sz="1150" dirty="0"/>
          </a:p>
          <a:p>
            <a:pPr indent="0" marL="0">
              <a:buNone/>
            </a:pPr>
            <a:r>
              <a:rPr lang="en-US" sz="500" dirty="0">
                <a:solidFill>
                  <a:srgbClr val="000000"/>
                </a:solidFill>
                <a:latin typeface="Calibri" pitchFamily="34" charset="0"/>
                <a:ea typeface="Calibri" pitchFamily="34" charset="-122"/>
                <a:cs typeface="Calibri" pitchFamily="34" charset="-120"/>
              </a:rPr>
              <a:t> </a:t>
            </a:r>
            <a:endParaRPr lang="en-US" sz="1150" dirty="0"/>
          </a:p>
          <a:p>
            <a:pPr indent="0" marL="0">
              <a:buNone/>
            </a:pPr>
            <a:r>
              <a:rPr lang="en-US" sz="1150" b="1" dirty="0">
                <a:solidFill>
                  <a:srgbClr val="E23636"/>
                </a:solidFill>
                <a:latin typeface="Calibri" pitchFamily="34" charset="0"/>
                <a:ea typeface="Calibri" pitchFamily="34" charset="-122"/>
                <a:cs typeface="Calibri" pitchFamily="34" charset="-120"/>
              </a:rPr>
              <a:t>Ce qu'il reste : </a:t>
            </a:r>
            <a:pPr indent="0" marL="0">
              <a:buNone/>
            </a:pPr>
            <a:r>
              <a:rPr lang="en-US" sz="1150" dirty="0">
                <a:solidFill>
                  <a:srgbClr val="FFFFFF"/>
                </a:solidFill>
                <a:latin typeface="Calibri" pitchFamily="34" charset="0"/>
                <a:ea typeface="Calibri" pitchFamily="34" charset="-122"/>
                <a:cs typeface="Calibri" pitchFamily="34" charset="-120"/>
              </a:rPr>
              <a:t>surtout des vétérans. Auteurs d'avis Steam à plus de 200 h : 5 % fin 2024, 42 % à l'été 2025. « Plus un jeu pour le fan de Marvel occasionnel » (TheGamer, 09/08/2025).</a:t>
            </a:r>
            <a:endParaRPr lang="en-US" sz="1150" dirty="0"/>
          </a:p>
        </p:txBody>
      </p:sp>
      <p:sp>
        <p:nvSpPr>
          <p:cNvPr id="16" name="Text 12"/>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Newzoo via Insider Gaming</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VGC</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Game World Observer</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PCGamesN</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avis Steam</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TheGamer</a:t>
            </a:r>
            <a:endParaRPr lang="en-US" sz="850" dirty="0"/>
          </a:p>
        </p:txBody>
      </p:sp>
      <p:sp>
        <p:nvSpPr>
          <p:cNvPr id="17" name="Text 13"/>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Deux mécanismes entretiennent les écarts</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Diagnostic · aujourd'hui : ce que les données publiques montrent, et ce qu'elles ne montrent pas</a:t>
            </a:r>
            <a:endParaRPr lang="en-US" sz="1200" dirty="0"/>
          </a:p>
        </p:txBody>
      </p:sp>
      <p:sp>
        <p:nvSpPr>
          <p:cNvPr id="4" name="Shape 2"/>
          <p:cNvSpPr/>
          <p:nvPr/>
        </p:nvSpPr>
        <p:spPr>
          <a:xfrm>
            <a:off x="457200" y="1188720"/>
            <a:ext cx="4023360" cy="2926080"/>
          </a:xfrm>
          <a:prstGeom prst="roundRect">
            <a:avLst>
              <a:gd name="adj" fmla="val 2500"/>
            </a:avLst>
          </a:prstGeom>
          <a:solidFill>
            <a:srgbClr val="F4F5F9"/>
          </a:solidFill>
          <a:ln w="12700">
            <a:solidFill>
              <a:srgbClr val="F4F5F9"/>
            </a:solidFill>
            <a:prstDash val="solid"/>
          </a:ln>
        </p:spPr>
      </p:sp>
      <p:sp>
        <p:nvSpPr>
          <p:cNvPr id="5" name="Shape 3"/>
          <p:cNvSpPr/>
          <p:nvPr/>
        </p:nvSpPr>
        <p:spPr>
          <a:xfrm>
            <a:off x="640080" y="1298448"/>
            <a:ext cx="384048" cy="384048"/>
          </a:xfrm>
          <a:prstGeom prst="ellipse">
            <a:avLst/>
          </a:prstGeom>
          <a:solidFill>
            <a:srgbClr val="E23636"/>
          </a:solidFill>
          <a:ln w="12700">
            <a:solidFill>
              <a:srgbClr val="E23636"/>
            </a:solidFill>
            <a:prstDash val="solid"/>
          </a:ln>
        </p:spPr>
      </p:sp>
      <p:pic>
        <p:nvPicPr>
          <p:cNvPr id="6" name="Image 0" descr="preencoded.png">    </p:cNvPr>
          <p:cNvPicPr>
            <a:picLocks noChangeAspect="1"/>
          </p:cNvPicPr>
          <p:nvPr/>
        </p:nvPicPr>
        <p:blipFill>
          <a:blip r:embed="rId1"/>
          <a:stretch>
            <a:fillRect/>
          </a:stretch>
        </p:blipFill>
        <p:spPr>
          <a:xfrm>
            <a:off x="736092" y="1394460"/>
            <a:ext cx="192024" cy="192024"/>
          </a:xfrm>
          <a:prstGeom prst="rect">
            <a:avLst/>
          </a:prstGeom>
        </p:spPr>
      </p:pic>
      <p:sp>
        <p:nvSpPr>
          <p:cNvPr id="7" name="Text 4"/>
          <p:cNvSpPr txBox="1"/>
          <p:nvPr/>
        </p:nvSpPr>
        <p:spPr>
          <a:xfrm>
            <a:off x="1143000" y="1298448"/>
            <a:ext cx="3200400" cy="384048"/>
          </a:xfrm>
          <a:prstGeom prst="rect">
            <a:avLst/>
          </a:prstGeom>
          <a:noFill/>
          <a:ln/>
        </p:spPr>
        <p:txBody>
          <a:bodyPr wrap="square" lIns="0" tIns="0" rIns="0" bIns="0" rtlCol="0" anchor="ctr"/>
          <a:lstStyle/>
          <a:p>
            <a:pPr indent="0" marL="0">
              <a:buNone/>
            </a:pPr>
            <a:r>
              <a:rPr lang="en-US" sz="1300" b="1" dirty="0">
                <a:solidFill>
                  <a:srgbClr val="1F2233"/>
                </a:solidFill>
                <a:latin typeface="Arial" pitchFamily="34" charset="0"/>
                <a:ea typeface="Arial" pitchFamily="34" charset="-122"/>
                <a:cs typeface="Arial" pitchFamily="34" charset="-120"/>
              </a:rPr>
              <a:t>H5b · Les nouveaux, en partie rapide</a:t>
            </a:r>
            <a:endParaRPr lang="en-US" sz="1300" dirty="0"/>
          </a:p>
        </p:txBody>
      </p:sp>
      <p:sp>
        <p:nvSpPr>
          <p:cNvPr id="8" name="Text 5"/>
          <p:cNvSpPr txBox="1"/>
          <p:nvPr/>
        </p:nvSpPr>
        <p:spPr>
          <a:xfrm>
            <a:off x="640080" y="1783080"/>
            <a:ext cx="3657600" cy="2286000"/>
          </a:xfrm>
          <a:prstGeom prst="rect">
            <a:avLst/>
          </a:prstGeom>
          <a:noFill/>
          <a:ln/>
        </p:spPr>
        <p:txBody>
          <a:bodyPr wrap="square" lIns="0" tIns="0" rIns="0" bIns="0" rtlCol="0" anchor="t"/>
          <a:lstStyle/>
          <a:p>
            <a:pPr indent="0" marL="0">
              <a:buNone/>
            </a:pPr>
            <a:r>
              <a:rPr lang="en-US" sz="1050" b="1" dirty="0">
                <a:solidFill>
                  <a:srgbClr val="E23636"/>
                </a:solidFill>
                <a:latin typeface="Calibri" pitchFamily="34" charset="0"/>
                <a:ea typeface="Calibri" pitchFamily="34" charset="-122"/>
                <a:cs typeface="Calibri" pitchFamily="34" charset="-120"/>
              </a:rPr>
              <a:t>Mécanisme : </a:t>
            </a:r>
            <a:pPr indent="0" marL="0">
              <a:buNone/>
            </a:pPr>
            <a:r>
              <a:rPr lang="en-US" sz="1050" dirty="0">
                <a:solidFill>
                  <a:srgbClr val="1F2233"/>
                </a:solidFill>
                <a:latin typeface="Calibri" pitchFamily="34" charset="0"/>
                <a:ea typeface="Calibri" pitchFamily="34" charset="-122"/>
                <a:cs typeface="Calibri" pitchFamily="34" charset="-120"/>
              </a:rPr>
              <a:t>Faute de joueurs en file, le matchmaking accepte des écarts de niveau plus grands pour lancer la partie : NetEase le reconnaît (vidéo du 21/08/2025).</a:t>
            </a:r>
            <a:endParaRPr lang="en-US" sz="10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50" dirty="0"/>
          </a:p>
          <a:p>
            <a:pPr indent="0" marL="0">
              <a:buNone/>
            </a:pPr>
            <a:r>
              <a:rPr lang="en-US" sz="1050" b="1" dirty="0">
                <a:solidFill>
                  <a:srgbClr val="E23636"/>
                </a:solidFill>
                <a:latin typeface="Calibri" pitchFamily="34" charset="0"/>
                <a:ea typeface="Calibri" pitchFamily="34" charset="-122"/>
                <a:cs typeface="Calibri" pitchFamily="34" charset="-120"/>
              </a:rPr>
              <a:t>Conséquence : </a:t>
            </a:r>
            <a:pPr indent="0" marL="0">
              <a:buNone/>
            </a:pPr>
            <a:r>
              <a:rPr lang="en-US" sz="1050" dirty="0">
                <a:solidFill>
                  <a:srgbClr val="1F2233"/>
                </a:solidFill>
                <a:latin typeface="Calibri" pitchFamily="34" charset="0"/>
                <a:ea typeface="Calibri" pitchFamily="34" charset="-122"/>
                <a:cs typeface="Calibri" pitchFamily="34" charset="-120"/>
              </a:rPr>
              <a:t>Le nouveau tombe sur les vétérans restants, perd et part : la base ne se renouvelle pas.</a:t>
            </a:r>
            <a:endParaRPr lang="en-US" sz="10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50" dirty="0"/>
          </a:p>
          <a:p>
            <a:pPr indent="0" marL="0">
              <a:buNone/>
            </a:pPr>
            <a:r>
              <a:rPr lang="en-US" sz="1050" b="1" dirty="0">
                <a:solidFill>
                  <a:srgbClr val="E23636"/>
                </a:solidFill>
                <a:latin typeface="Calibri" pitchFamily="34" charset="0"/>
                <a:ea typeface="Calibri" pitchFamily="34" charset="-122"/>
                <a:cs typeface="Calibri" pitchFamily="34" charset="-120"/>
              </a:rPr>
              <a:t>Indice : </a:t>
            </a:r>
            <a:pPr indent="0" marL="0">
              <a:buNone/>
            </a:pPr>
            <a:r>
              <a:rPr lang="en-US" sz="1050" dirty="0">
                <a:solidFill>
                  <a:srgbClr val="1F2233"/>
                </a:solidFill>
                <a:latin typeface="Calibri" pitchFamily="34" charset="0"/>
                <a:ea typeface="Calibri" pitchFamily="34" charset="-122"/>
                <a:cs typeface="Calibri" pitchFamily="34" charset="-120"/>
              </a:rPr>
              <a:t>Aucune correction publiée pour la partie rapide, où passe chaque nouveau avant le niveau 15.</a:t>
            </a:r>
            <a:endParaRPr lang="en-US" sz="1050" dirty="0"/>
          </a:p>
        </p:txBody>
      </p:sp>
      <p:sp>
        <p:nvSpPr>
          <p:cNvPr id="9" name="Shape 6"/>
          <p:cNvSpPr/>
          <p:nvPr/>
        </p:nvSpPr>
        <p:spPr>
          <a:xfrm>
            <a:off x="4663440" y="1188720"/>
            <a:ext cx="4023360" cy="2926080"/>
          </a:xfrm>
          <a:prstGeom prst="roundRect">
            <a:avLst>
              <a:gd name="adj" fmla="val 2500"/>
            </a:avLst>
          </a:prstGeom>
          <a:solidFill>
            <a:srgbClr val="F4F5F9"/>
          </a:solidFill>
          <a:ln w="12700">
            <a:solidFill>
              <a:srgbClr val="F4F5F9"/>
            </a:solidFill>
            <a:prstDash val="solid"/>
          </a:ln>
        </p:spPr>
      </p:sp>
      <p:sp>
        <p:nvSpPr>
          <p:cNvPr id="10" name="Shape 7"/>
          <p:cNvSpPr/>
          <p:nvPr/>
        </p:nvSpPr>
        <p:spPr>
          <a:xfrm>
            <a:off x="4846320" y="1298448"/>
            <a:ext cx="384048" cy="384048"/>
          </a:xfrm>
          <a:prstGeom prst="ellipse">
            <a:avLst/>
          </a:prstGeom>
          <a:solidFill>
            <a:srgbClr val="161A33"/>
          </a:solidFill>
          <a:ln w="12700">
            <a:solidFill>
              <a:srgbClr val="161A33"/>
            </a:solidFill>
            <a:prstDash val="solid"/>
          </a:ln>
        </p:spPr>
      </p:sp>
      <p:pic>
        <p:nvPicPr>
          <p:cNvPr id="11" name="Image 1" descr="preencoded.png">    </p:cNvPr>
          <p:cNvPicPr>
            <a:picLocks noChangeAspect="1"/>
          </p:cNvPicPr>
          <p:nvPr/>
        </p:nvPicPr>
        <p:blipFill>
          <a:blip r:embed="rId2"/>
          <a:stretch>
            <a:fillRect/>
          </a:stretch>
        </p:blipFill>
        <p:spPr>
          <a:xfrm>
            <a:off x="4942332" y="1394460"/>
            <a:ext cx="192024" cy="192024"/>
          </a:xfrm>
          <a:prstGeom prst="rect">
            <a:avLst/>
          </a:prstGeom>
        </p:spPr>
      </p:pic>
      <p:sp>
        <p:nvSpPr>
          <p:cNvPr id="12" name="Text 8"/>
          <p:cNvSpPr txBox="1"/>
          <p:nvPr/>
        </p:nvSpPr>
        <p:spPr>
          <a:xfrm>
            <a:off x="5349240" y="1298448"/>
            <a:ext cx="3200400" cy="384048"/>
          </a:xfrm>
          <a:prstGeom prst="rect">
            <a:avLst/>
          </a:prstGeom>
          <a:noFill/>
          <a:ln/>
        </p:spPr>
        <p:txBody>
          <a:bodyPr wrap="square" lIns="0" tIns="0" rIns="0" bIns="0" rtlCol="0" anchor="ctr"/>
          <a:lstStyle/>
          <a:p>
            <a:pPr indent="0" marL="0">
              <a:buNone/>
            </a:pPr>
            <a:r>
              <a:rPr lang="en-US" sz="1300" b="1" dirty="0">
                <a:solidFill>
                  <a:srgbClr val="1F2233"/>
                </a:solidFill>
                <a:latin typeface="Arial" pitchFamily="34" charset="0"/>
                <a:ea typeface="Arial" pitchFamily="34" charset="-122"/>
                <a:cs typeface="Arial" pitchFamily="34" charset="-120"/>
              </a:rPr>
              <a:t>H5c · Les joueurs de retour, en classé</a:t>
            </a:r>
            <a:endParaRPr lang="en-US" sz="1300" dirty="0"/>
          </a:p>
        </p:txBody>
      </p:sp>
      <p:sp>
        <p:nvSpPr>
          <p:cNvPr id="13" name="Text 9"/>
          <p:cNvSpPr txBox="1"/>
          <p:nvPr/>
        </p:nvSpPr>
        <p:spPr>
          <a:xfrm>
            <a:off x="4846320" y="1783080"/>
            <a:ext cx="3657600" cy="2286000"/>
          </a:xfrm>
          <a:prstGeom prst="rect">
            <a:avLst/>
          </a:prstGeom>
          <a:noFill/>
          <a:ln/>
        </p:spPr>
        <p:txBody>
          <a:bodyPr wrap="square" lIns="0" tIns="0" rIns="0" bIns="0" rtlCol="0" anchor="t"/>
          <a:lstStyle/>
          <a:p>
            <a:pPr indent="0" marL="0">
              <a:buNone/>
            </a:pPr>
            <a:r>
              <a:rPr lang="en-US" sz="1050" b="1" dirty="0">
                <a:solidFill>
                  <a:srgbClr val="161A33"/>
                </a:solidFill>
                <a:latin typeface="Calibri" pitchFamily="34" charset="0"/>
                <a:ea typeface="Calibri" pitchFamily="34" charset="-122"/>
                <a:cs typeface="Calibri" pitchFamily="34" charset="-120"/>
              </a:rPr>
              <a:t>Mécanisme : </a:t>
            </a:r>
            <a:pPr indent="0" marL="0">
              <a:buNone/>
            </a:pPr>
            <a:r>
              <a:rPr lang="en-US" sz="1050" dirty="0">
                <a:solidFill>
                  <a:srgbClr val="1F2233"/>
                </a:solidFill>
                <a:latin typeface="Calibri" pitchFamily="34" charset="0"/>
                <a:ea typeface="Calibri" pitchFamily="34" charset="-122"/>
                <a:cs typeface="Calibri" pitchFamily="34" charset="-120"/>
              </a:rPr>
              <a:t>À chaque saison, le rang n'est abaissé que de 6 divisions, quelle que soit la durée de l'absence (Dev Talk Vol.10).</a:t>
            </a:r>
            <a:endParaRPr lang="en-US" sz="10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50" dirty="0"/>
          </a:p>
          <a:p>
            <a:pPr indent="0" marL="0">
              <a:buNone/>
            </a:pPr>
            <a:r>
              <a:rPr lang="en-US" sz="1050" b="1" dirty="0">
                <a:solidFill>
                  <a:srgbClr val="161A33"/>
                </a:solidFill>
                <a:latin typeface="Calibri" pitchFamily="34" charset="0"/>
                <a:ea typeface="Calibri" pitchFamily="34" charset="-122"/>
                <a:cs typeface="Calibri" pitchFamily="34" charset="-120"/>
              </a:rPr>
              <a:t>Conséquence : </a:t>
            </a:r>
            <a:pPr indent="0" marL="0">
              <a:buNone/>
            </a:pPr>
            <a:r>
              <a:rPr lang="en-US" sz="1050" dirty="0">
                <a:solidFill>
                  <a:srgbClr val="1F2233"/>
                </a:solidFill>
                <a:latin typeface="Calibri" pitchFamily="34" charset="0"/>
                <a:ea typeface="Calibri" pitchFamily="34" charset="-122"/>
                <a:cs typeface="Calibri" pitchFamily="34" charset="-120"/>
              </a:rPr>
              <a:t>Un joueur absent plusieurs mois affronte des joueurs restés actifs, plus en forme : il perd et repart.</a:t>
            </a:r>
            <a:endParaRPr lang="en-US" sz="10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50" dirty="0"/>
          </a:p>
          <a:p>
            <a:pPr indent="0" marL="0">
              <a:buNone/>
            </a:pPr>
            <a:r>
              <a:rPr lang="en-US" sz="1050" b="1" dirty="0">
                <a:solidFill>
                  <a:srgbClr val="161A33"/>
                </a:solidFill>
                <a:latin typeface="Calibri" pitchFamily="34" charset="0"/>
                <a:ea typeface="Calibri" pitchFamily="34" charset="-122"/>
                <a:cs typeface="Calibri" pitchFamily="34" charset="-120"/>
              </a:rPr>
              <a:t>Indice : </a:t>
            </a:r>
            <a:pPr indent="0" marL="0">
              <a:buNone/>
            </a:pPr>
            <a:r>
              <a:rPr lang="en-US" sz="1050" dirty="0">
                <a:solidFill>
                  <a:srgbClr val="1F2233"/>
                </a:solidFill>
                <a:latin typeface="Calibri" pitchFamily="34" charset="0"/>
                <a:ea typeface="Calibri" pitchFamily="34" charset="-122"/>
                <a:cs typeface="Calibri" pitchFamily="34" charset="-120"/>
              </a:rPr>
              <a:t>Les saisons ramènent des joueurs (+18 %, +21 %), qui repartent en deux mois.</a:t>
            </a:r>
            <a:endParaRPr lang="en-US" sz="1050" dirty="0"/>
          </a:p>
        </p:txBody>
      </p:sp>
      <p:sp>
        <p:nvSpPr>
          <p:cNvPr id="14" name="Text 10"/>
          <p:cNvSpPr txBox="1"/>
          <p:nvPr/>
        </p:nvSpPr>
        <p:spPr>
          <a:xfrm>
            <a:off x="457200" y="4206240"/>
            <a:ext cx="8229600" cy="502920"/>
          </a:xfrm>
          <a:prstGeom prst="rect">
            <a:avLst/>
          </a:prstGeom>
          <a:noFill/>
          <a:ln/>
        </p:spPr>
        <p:txBody>
          <a:bodyPr wrap="square" lIns="0" tIns="0" rIns="0" bIns="0" rtlCol="0" anchor="ctr"/>
          <a:lstStyle/>
          <a:p>
            <a:pPr indent="0" marL="0">
              <a:buNone/>
            </a:pPr>
            <a:r>
              <a:rPr lang="en-US" sz="1100" b="1" dirty="0">
                <a:solidFill>
                  <a:srgbClr val="E23636"/>
                </a:solidFill>
                <a:latin typeface="Calibri" pitchFamily="34" charset="0"/>
                <a:ea typeface="Calibri" pitchFamily="34" charset="-122"/>
                <a:cs typeface="Calibri" pitchFamily="34" charset="-120"/>
              </a:rPr>
              <a:t>Ce qu'on ne sait pas encore : </a:t>
            </a:r>
            <a:pPr indent="0" marL="0">
              <a:buNone/>
            </a:pPr>
            <a:r>
              <a:rPr lang="en-US" sz="1100" dirty="0">
                <a:solidFill>
                  <a:srgbClr val="1F2233"/>
                </a:solidFill>
                <a:latin typeface="Calibri" pitchFamily="34" charset="0"/>
                <a:ea typeface="Calibri" pitchFamily="34" charset="-122"/>
                <a:cs typeface="Calibri" pitchFamily="34" charset="-120"/>
              </a:rPr>
              <a:t>où jouent les nouveaux, quel écart subissent nouveaux et revenants, et si cet écart les fait partir. Seules vos données internes peuvent trancher.</a:t>
            </a:r>
            <a:endParaRPr lang="en-US" sz="1100" dirty="0"/>
          </a:p>
        </p:txBody>
      </p:sp>
      <p:sp>
        <p:nvSpPr>
          <p:cNvPr id="15" name="Text 11"/>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vidéo NetEase du 21/08/2025</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Dev Talk Vol.10</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inactivité (source tierce)</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Steam Charts</a:t>
            </a:r>
            <a:endParaRPr lang="en-US" sz="850" dirty="0"/>
          </a:p>
        </p:txBody>
      </p:sp>
      <p:sp>
        <p:nvSpPr>
          <p:cNvPr id="16" name="Text 12"/>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5F9"/>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D'abord mesurer : 30 jours d'audit</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Recommandation · objectif SMART et données à extraire en priorité, et pourquoi</a:t>
            </a:r>
            <a:endParaRPr lang="en-US" sz="1200" dirty="0"/>
          </a:p>
        </p:txBody>
      </p:sp>
      <p:sp>
        <p:nvSpPr>
          <p:cNvPr id="4" name="Shape 2"/>
          <p:cNvSpPr/>
          <p:nvPr/>
        </p:nvSpPr>
        <p:spPr>
          <a:xfrm>
            <a:off x="457200" y="1143000"/>
            <a:ext cx="8229600" cy="658368"/>
          </a:xfrm>
          <a:prstGeom prst="roundRect">
            <a:avLst>
              <a:gd name="adj" fmla="val 11111"/>
            </a:avLst>
          </a:prstGeom>
          <a:solidFill>
            <a:srgbClr val="161A33"/>
          </a:solidFill>
          <a:ln w="12700">
            <a:solidFill>
              <a:srgbClr val="161A33"/>
            </a:solidFill>
            <a:prstDash val="solid"/>
          </a:ln>
        </p:spPr>
      </p:sp>
      <p:sp>
        <p:nvSpPr>
          <p:cNvPr id="5" name="Text 3"/>
          <p:cNvSpPr txBox="1"/>
          <p:nvPr/>
        </p:nvSpPr>
        <p:spPr>
          <a:xfrm>
            <a:off x="640080" y="1161288"/>
            <a:ext cx="7863840" cy="621792"/>
          </a:xfrm>
          <a:prstGeom prst="rect">
            <a:avLst/>
          </a:prstGeom>
          <a:noFill/>
          <a:ln/>
        </p:spPr>
        <p:txBody>
          <a:bodyPr wrap="square" lIns="0" tIns="0" rIns="0" bIns="0" rtlCol="0" anchor="ctr"/>
          <a:lstStyle/>
          <a:p>
            <a:pPr indent="0" marL="0">
              <a:buNone/>
            </a:pPr>
            <a:r>
              <a:rPr lang="en-US" sz="1150" b="1" dirty="0">
                <a:solidFill>
                  <a:srgbClr val="E23636"/>
                </a:solidFill>
                <a:latin typeface="Calibri" pitchFamily="34" charset="0"/>
                <a:ea typeface="Calibri" pitchFamily="34" charset="-122"/>
                <a:cs typeface="Calibri" pitchFamily="34" charset="-120"/>
              </a:rPr>
              <a:t>Objectif : </a:t>
            </a:r>
            <a:pPr indent="0" marL="0">
              <a:buNone/>
            </a:pPr>
            <a:r>
              <a:rPr lang="en-US" sz="1150" dirty="0">
                <a:solidFill>
                  <a:srgbClr val="FFFFFF"/>
                </a:solidFill>
                <a:latin typeface="Calibri" pitchFamily="34" charset="0"/>
                <a:ea typeface="Calibri" pitchFamily="34" charset="-122"/>
                <a:cs typeface="Calibri" pitchFamily="34" charset="-120"/>
              </a:rPr>
              <a:t>d'ici le 31/03/2027, qu'un joueur qui perd au moins 7 de ses 10 premiers matchs ne parte pas plus de 1,2 fois plus souvent dans la semaine que les autres, chez les nouveaux comme chez les joueurs de retour.</a:t>
            </a:r>
            <a:endParaRPr lang="en-US" sz="11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901952"/>
          <a:ext cx="8229600" cy="914400"/>
        </p:xfrm>
        <a:graphic>
          <a:graphicData uri="http://schemas.openxmlformats.org/drawingml/2006/table">
            <a:tbl>
              <a:tblPr/>
              <a:tblGrid>
                <a:gridCol w="3200400"/>
                <a:gridCol w="2377440"/>
                <a:gridCol w="2651760"/>
              </a:tblGrid>
              <a:tr h="237744">
                <a:tc>
                  <a:txBody>
                    <a:bodyPr/>
                    <a:lstStyle/>
                    <a:p>
                      <a:pPr indent="0" marL="0">
                        <a:buNone/>
                      </a:pPr>
                      <a:r>
                        <a:rPr lang="en-US" sz="1000" b="1" dirty="0">
                          <a:solidFill>
                            <a:srgbClr val="FFFFFF"/>
                          </a:solidFill>
                          <a:latin typeface="Arial" pitchFamily="34" charset="0"/>
                          <a:ea typeface="Arial" pitchFamily="34" charset="-122"/>
                          <a:cs typeface="Arial" pitchFamily="34" charset="-120"/>
                        </a:rPr>
                        <a:t>Donnée à extraire</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E23636"/>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Ce qu'elle nous dit</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E23636"/>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Pourquoi en priorité</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E23636"/>
                    </a:solidFill>
                  </a:tcPr>
                </a:tc>
              </a:tr>
              <a:tr h="3291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Résultats des 10 premiers matchs et départ à 7 jours</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Si perdre au début fait partir</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C'est la mesure de l'objectif</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291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Mode et plateforme de ces 10 premiers matchs</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Où jouent les nouveaux</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Dit quel mode corriger en premier (Steam = PC seul)</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291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Niveau de départ attribué / niveau réel après 50 matchs</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Si le jeu place mal un nouveau</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Teste la cause A (démarrage à froid)</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291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Écart de niveau par match, selon les joueurs en file, l'heure, la région</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Si l'écart grandit quand la file se vide</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Teste la cause B (manque de joueurs)</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291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Durée d'absence, rang au retour et bilan des 10 premiers matchs classés</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Si le rang au retour est périmé</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Teste la cause C (joueurs de retour)</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291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Départs en classé avant / après les placements de la saison 5</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Si mieux placer les joueurs les a retenus</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Expérience déjà faite : la preuve la moins chère</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457200" y="4416552"/>
            <a:ext cx="8229600" cy="320040"/>
          </a:xfrm>
          <a:prstGeom prst="rect">
            <a:avLst/>
          </a:prstGeom>
          <a:noFill/>
          <a:ln/>
        </p:spPr>
        <p:txBody>
          <a:bodyPr wrap="square" lIns="0" tIns="0" rIns="0" bIns="0" rtlCol="0" anchor="ctr"/>
          <a:lstStyle/>
          <a:p>
            <a:pPr indent="0" marL="0">
              <a:buNone/>
            </a:pPr>
            <a:r>
              <a:rPr lang="en-US" sz="950" i="1" dirty="0">
                <a:solidFill>
                  <a:srgbClr val="5E6378"/>
                </a:solidFill>
                <a:latin typeface="Calibri" pitchFamily="34" charset="0"/>
                <a:ea typeface="Calibri" pitchFamily="34" charset="-122"/>
                <a:cs typeface="Calibri" pitchFamily="34" charset="-120"/>
              </a:rPr>
              <a:t>Ensuite, pour écarter les autres explications : héros joué, parties avec bots, joueurs en groupe, comptes arrivés en 2025. Tout existe déjà dans vos serveurs.</a:t>
            </a:r>
            <a:endParaRPr lang="en-US" sz="950" dirty="0"/>
          </a:p>
        </p:txBody>
      </p:sp>
      <p:sp>
        <p:nvSpPr>
          <p:cNvPr id="8" name="Text 5"/>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plan de collecte complet (matrice ICE)</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notes de patch S5</a:t>
            </a:r>
            <a:endParaRPr lang="en-US" sz="850" dirty="0"/>
          </a:p>
        </p:txBody>
      </p:sp>
      <p:sp>
        <p:nvSpPr>
          <p:cNvPr id="9" name="Text 6"/>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La matrice de collecte : 13 données indispensables</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Recommandation · score ICE = Impact × Confiance × Facilité, sur 125 ; coupe sous 30</a:t>
            </a:r>
            <a:endParaRPr lang="en-US" sz="1200" dirty="0"/>
          </a:p>
        </p:txBody>
      </p:sp>
      <p:sp>
        <p:nvSpPr>
          <p:cNvPr id="4" name="Shape 2"/>
          <p:cNvSpPr/>
          <p:nvPr/>
        </p:nvSpPr>
        <p:spPr>
          <a:xfrm>
            <a:off x="457200" y="1170432"/>
            <a:ext cx="2926080" cy="237744"/>
          </a:xfrm>
          <a:prstGeom prst="roundRect">
            <a:avLst>
              <a:gd name="adj" fmla="val 19231"/>
            </a:avLst>
          </a:prstGeom>
          <a:solidFill>
            <a:srgbClr val="2E7D5B"/>
          </a:solidFill>
          <a:ln w="12700">
            <a:solidFill>
              <a:srgbClr val="2E7D5B"/>
            </a:solidFill>
            <a:prstDash val="solid"/>
          </a:ln>
        </p:spPr>
      </p:sp>
      <p:sp>
        <p:nvSpPr>
          <p:cNvPr id="5" name="Text 3"/>
          <p:cNvSpPr txBox="1"/>
          <p:nvPr/>
        </p:nvSpPr>
        <p:spPr>
          <a:xfrm>
            <a:off x="457200" y="1170432"/>
            <a:ext cx="2926080"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INDISPENSABLE · ICE ≥ 80</a:t>
            </a:r>
            <a:endParaRPr lang="en-US" sz="900" dirty="0"/>
          </a:p>
        </p:txBody>
      </p:sp>
      <p:sp>
        <p:nvSpPr>
          <p:cNvPr id="6" name="Shape 4"/>
          <p:cNvSpPr/>
          <p:nvPr/>
        </p:nvSpPr>
        <p:spPr>
          <a:xfrm>
            <a:off x="457200" y="1499616"/>
            <a:ext cx="2926080" cy="219456"/>
          </a:xfrm>
          <a:prstGeom prst="rect">
            <a:avLst/>
          </a:prstGeom>
          <a:solidFill>
            <a:srgbClr val="EAF4EF"/>
          </a:solidFill>
          <a:ln w="12700">
            <a:solidFill>
              <a:srgbClr val="FFFFFF"/>
            </a:solidFill>
            <a:prstDash val="solid"/>
          </a:ln>
        </p:spPr>
      </p:sp>
      <p:sp>
        <p:nvSpPr>
          <p:cNvPr id="7" name="Text 5"/>
          <p:cNvSpPr txBox="1"/>
          <p:nvPr/>
        </p:nvSpPr>
        <p:spPr>
          <a:xfrm>
            <a:off x="512064" y="1499616"/>
            <a:ext cx="242316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Mode et plateforme des 10 premiers matchs</a:t>
            </a:r>
            <a:endParaRPr lang="en-US" sz="850" dirty="0"/>
          </a:p>
        </p:txBody>
      </p:sp>
      <p:sp>
        <p:nvSpPr>
          <p:cNvPr id="8" name="Text 6"/>
          <p:cNvSpPr txBox="1"/>
          <p:nvPr/>
        </p:nvSpPr>
        <p:spPr>
          <a:xfrm>
            <a:off x="2953512" y="1499616"/>
            <a:ext cx="384048" cy="219456"/>
          </a:xfrm>
          <a:prstGeom prst="rect">
            <a:avLst/>
          </a:prstGeom>
          <a:noFill/>
          <a:ln/>
        </p:spPr>
        <p:txBody>
          <a:bodyPr wrap="square" lIns="0" tIns="0" rIns="0" bIns="0" rtlCol="0" anchor="ctr"/>
          <a:lstStyle/>
          <a:p>
            <a:pPr algn="r" indent="0" marL="0">
              <a:buNone/>
            </a:pPr>
            <a:r>
              <a:rPr lang="en-US" sz="900" b="1" dirty="0">
                <a:solidFill>
                  <a:srgbClr val="2E7D5B"/>
                </a:solidFill>
                <a:latin typeface="Arial" pitchFamily="34" charset="0"/>
                <a:ea typeface="Arial" pitchFamily="34" charset="-122"/>
                <a:cs typeface="Arial" pitchFamily="34" charset="-120"/>
              </a:rPr>
              <a:t>125</a:t>
            </a:r>
            <a:endParaRPr lang="en-US" sz="900" dirty="0"/>
          </a:p>
        </p:txBody>
      </p:sp>
      <p:sp>
        <p:nvSpPr>
          <p:cNvPr id="9" name="Shape 7"/>
          <p:cNvSpPr/>
          <p:nvPr/>
        </p:nvSpPr>
        <p:spPr>
          <a:xfrm>
            <a:off x="457200" y="1746504"/>
            <a:ext cx="2926080" cy="219456"/>
          </a:xfrm>
          <a:prstGeom prst="rect">
            <a:avLst/>
          </a:prstGeom>
          <a:solidFill>
            <a:srgbClr val="EAF4EF"/>
          </a:solidFill>
          <a:ln w="12700">
            <a:solidFill>
              <a:srgbClr val="FFFFFF"/>
            </a:solidFill>
            <a:prstDash val="solid"/>
          </a:ln>
        </p:spPr>
      </p:sp>
      <p:sp>
        <p:nvSpPr>
          <p:cNvPr id="10" name="Text 8"/>
          <p:cNvSpPr txBox="1"/>
          <p:nvPr/>
        </p:nvSpPr>
        <p:spPr>
          <a:xfrm>
            <a:off x="512064" y="1746504"/>
            <a:ext cx="242316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Écart accepté × joueurs en file</a:t>
            </a:r>
            <a:endParaRPr lang="en-US" sz="850" dirty="0"/>
          </a:p>
        </p:txBody>
      </p:sp>
      <p:sp>
        <p:nvSpPr>
          <p:cNvPr id="11" name="Text 9"/>
          <p:cNvSpPr txBox="1"/>
          <p:nvPr/>
        </p:nvSpPr>
        <p:spPr>
          <a:xfrm>
            <a:off x="2953512" y="1746504"/>
            <a:ext cx="384048" cy="219456"/>
          </a:xfrm>
          <a:prstGeom prst="rect">
            <a:avLst/>
          </a:prstGeom>
          <a:noFill/>
          <a:ln/>
        </p:spPr>
        <p:txBody>
          <a:bodyPr wrap="square" lIns="0" tIns="0" rIns="0" bIns="0" rtlCol="0" anchor="ctr"/>
          <a:lstStyle/>
          <a:p>
            <a:pPr algn="r" indent="0" marL="0">
              <a:buNone/>
            </a:pPr>
            <a:r>
              <a:rPr lang="en-US" sz="900" b="1" dirty="0">
                <a:solidFill>
                  <a:srgbClr val="2E7D5B"/>
                </a:solidFill>
                <a:latin typeface="Arial" pitchFamily="34" charset="0"/>
                <a:ea typeface="Arial" pitchFamily="34" charset="-122"/>
                <a:cs typeface="Arial" pitchFamily="34" charset="-120"/>
              </a:rPr>
              <a:t>125</a:t>
            </a:r>
            <a:endParaRPr lang="en-US" sz="900" dirty="0"/>
          </a:p>
        </p:txBody>
      </p:sp>
      <p:sp>
        <p:nvSpPr>
          <p:cNvPr id="12" name="Shape 10"/>
          <p:cNvSpPr/>
          <p:nvPr/>
        </p:nvSpPr>
        <p:spPr>
          <a:xfrm>
            <a:off x="457200" y="1993392"/>
            <a:ext cx="2926080" cy="219456"/>
          </a:xfrm>
          <a:prstGeom prst="rect">
            <a:avLst/>
          </a:prstGeom>
          <a:solidFill>
            <a:srgbClr val="EAF4EF"/>
          </a:solidFill>
          <a:ln w="12700">
            <a:solidFill>
              <a:srgbClr val="FFFFFF"/>
            </a:solidFill>
            <a:prstDash val="solid"/>
          </a:ln>
        </p:spPr>
      </p:sp>
      <p:sp>
        <p:nvSpPr>
          <p:cNvPr id="13" name="Text 11"/>
          <p:cNvSpPr txBox="1"/>
          <p:nvPr/>
        </p:nvSpPr>
        <p:spPr>
          <a:xfrm>
            <a:off x="512064" y="1993392"/>
            <a:ext cx="242316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Départ à 7 jours × bilan des 10 matchs</a:t>
            </a:r>
            <a:endParaRPr lang="en-US" sz="850" dirty="0"/>
          </a:p>
        </p:txBody>
      </p:sp>
      <p:sp>
        <p:nvSpPr>
          <p:cNvPr id="14" name="Text 12"/>
          <p:cNvSpPr txBox="1"/>
          <p:nvPr/>
        </p:nvSpPr>
        <p:spPr>
          <a:xfrm>
            <a:off x="2953512" y="1993392"/>
            <a:ext cx="384048" cy="219456"/>
          </a:xfrm>
          <a:prstGeom prst="rect">
            <a:avLst/>
          </a:prstGeom>
          <a:noFill/>
          <a:ln/>
        </p:spPr>
        <p:txBody>
          <a:bodyPr wrap="square" lIns="0" tIns="0" rIns="0" bIns="0" rtlCol="0" anchor="ctr"/>
          <a:lstStyle/>
          <a:p>
            <a:pPr algn="r" indent="0" marL="0">
              <a:buNone/>
            </a:pPr>
            <a:r>
              <a:rPr lang="en-US" sz="900" b="1" dirty="0">
                <a:solidFill>
                  <a:srgbClr val="2E7D5B"/>
                </a:solidFill>
                <a:latin typeface="Arial" pitchFamily="34" charset="0"/>
                <a:ea typeface="Arial" pitchFamily="34" charset="-122"/>
                <a:cs typeface="Arial" pitchFamily="34" charset="-120"/>
              </a:rPr>
              <a:t>100</a:t>
            </a:r>
            <a:endParaRPr lang="en-US" sz="900" dirty="0"/>
          </a:p>
        </p:txBody>
      </p:sp>
      <p:sp>
        <p:nvSpPr>
          <p:cNvPr id="15" name="Shape 13"/>
          <p:cNvSpPr/>
          <p:nvPr/>
        </p:nvSpPr>
        <p:spPr>
          <a:xfrm>
            <a:off x="457200" y="2240280"/>
            <a:ext cx="2926080" cy="219456"/>
          </a:xfrm>
          <a:prstGeom prst="rect">
            <a:avLst/>
          </a:prstGeom>
          <a:solidFill>
            <a:srgbClr val="EAF4EF"/>
          </a:solidFill>
          <a:ln w="12700">
            <a:solidFill>
              <a:srgbClr val="FFFFFF"/>
            </a:solidFill>
            <a:prstDash val="solid"/>
          </a:ln>
        </p:spPr>
      </p:sp>
      <p:sp>
        <p:nvSpPr>
          <p:cNvPr id="16" name="Text 14"/>
          <p:cNvSpPr txBox="1"/>
          <p:nvPr/>
        </p:nvSpPr>
        <p:spPr>
          <a:xfrm>
            <a:off x="512064" y="2240280"/>
            <a:ext cx="242316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Niveau de départ et convergence</a:t>
            </a:r>
            <a:endParaRPr lang="en-US" sz="850" dirty="0"/>
          </a:p>
        </p:txBody>
      </p:sp>
      <p:sp>
        <p:nvSpPr>
          <p:cNvPr id="17" name="Text 15"/>
          <p:cNvSpPr txBox="1"/>
          <p:nvPr/>
        </p:nvSpPr>
        <p:spPr>
          <a:xfrm>
            <a:off x="2953512" y="2240280"/>
            <a:ext cx="384048" cy="219456"/>
          </a:xfrm>
          <a:prstGeom prst="rect">
            <a:avLst/>
          </a:prstGeom>
          <a:noFill/>
          <a:ln/>
        </p:spPr>
        <p:txBody>
          <a:bodyPr wrap="square" lIns="0" tIns="0" rIns="0" bIns="0" rtlCol="0" anchor="ctr"/>
          <a:lstStyle/>
          <a:p>
            <a:pPr algn="r" indent="0" marL="0">
              <a:buNone/>
            </a:pPr>
            <a:r>
              <a:rPr lang="en-US" sz="900" b="1" dirty="0">
                <a:solidFill>
                  <a:srgbClr val="2E7D5B"/>
                </a:solidFill>
                <a:latin typeface="Arial" pitchFamily="34" charset="0"/>
                <a:ea typeface="Arial" pitchFamily="34" charset="-122"/>
                <a:cs typeface="Arial" pitchFamily="34" charset="-120"/>
              </a:rPr>
              <a:t>100</a:t>
            </a:r>
            <a:endParaRPr lang="en-US" sz="900" dirty="0"/>
          </a:p>
        </p:txBody>
      </p:sp>
      <p:sp>
        <p:nvSpPr>
          <p:cNvPr id="18" name="Shape 16"/>
          <p:cNvSpPr/>
          <p:nvPr/>
        </p:nvSpPr>
        <p:spPr>
          <a:xfrm>
            <a:off x="457200" y="2487168"/>
            <a:ext cx="2926080" cy="219456"/>
          </a:xfrm>
          <a:prstGeom prst="rect">
            <a:avLst/>
          </a:prstGeom>
          <a:solidFill>
            <a:srgbClr val="EAF4EF"/>
          </a:solidFill>
          <a:ln w="12700">
            <a:solidFill>
              <a:srgbClr val="FFFFFF"/>
            </a:solidFill>
            <a:prstDash val="solid"/>
          </a:ln>
        </p:spPr>
      </p:sp>
      <p:sp>
        <p:nvSpPr>
          <p:cNvPr id="19" name="Text 17"/>
          <p:cNvSpPr txBox="1"/>
          <p:nvPr/>
        </p:nvSpPr>
        <p:spPr>
          <a:xfrm>
            <a:off x="512064" y="2487168"/>
            <a:ext cx="242316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Joueurs de retour : absence × rang × bilan</a:t>
            </a:r>
            <a:endParaRPr lang="en-US" sz="850" dirty="0"/>
          </a:p>
        </p:txBody>
      </p:sp>
      <p:sp>
        <p:nvSpPr>
          <p:cNvPr id="20" name="Text 18"/>
          <p:cNvSpPr txBox="1"/>
          <p:nvPr/>
        </p:nvSpPr>
        <p:spPr>
          <a:xfrm>
            <a:off x="2953512" y="2487168"/>
            <a:ext cx="384048" cy="219456"/>
          </a:xfrm>
          <a:prstGeom prst="rect">
            <a:avLst/>
          </a:prstGeom>
          <a:noFill/>
          <a:ln/>
        </p:spPr>
        <p:txBody>
          <a:bodyPr wrap="square" lIns="0" tIns="0" rIns="0" bIns="0" rtlCol="0" anchor="ctr"/>
          <a:lstStyle/>
          <a:p>
            <a:pPr algn="r" indent="0" marL="0">
              <a:buNone/>
            </a:pPr>
            <a:r>
              <a:rPr lang="en-US" sz="900" b="1" dirty="0">
                <a:solidFill>
                  <a:srgbClr val="2E7D5B"/>
                </a:solidFill>
                <a:latin typeface="Arial" pitchFamily="34" charset="0"/>
                <a:ea typeface="Arial" pitchFamily="34" charset="-122"/>
                <a:cs typeface="Arial" pitchFamily="34" charset="-120"/>
              </a:rPr>
              <a:t>100</a:t>
            </a:r>
            <a:endParaRPr lang="en-US" sz="900" dirty="0"/>
          </a:p>
        </p:txBody>
      </p:sp>
      <p:sp>
        <p:nvSpPr>
          <p:cNvPr id="21" name="Shape 19"/>
          <p:cNvSpPr/>
          <p:nvPr/>
        </p:nvSpPr>
        <p:spPr>
          <a:xfrm>
            <a:off x="457200" y="2734056"/>
            <a:ext cx="2926080" cy="219456"/>
          </a:xfrm>
          <a:prstGeom prst="rect">
            <a:avLst/>
          </a:prstGeom>
          <a:solidFill>
            <a:srgbClr val="EAF4EF"/>
          </a:solidFill>
          <a:ln w="12700">
            <a:solidFill>
              <a:srgbClr val="FFFFFF"/>
            </a:solidFill>
            <a:prstDash val="solid"/>
          </a:ln>
        </p:spPr>
      </p:sp>
      <p:sp>
        <p:nvSpPr>
          <p:cNvPr id="22" name="Text 20"/>
          <p:cNvSpPr txBox="1"/>
          <p:nvPr/>
        </p:nvSpPr>
        <p:spPr>
          <a:xfrm>
            <a:off x="512064" y="2734056"/>
            <a:ext cx="242316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Filtrage de la population</a:t>
            </a:r>
            <a:endParaRPr lang="en-US" sz="850" dirty="0"/>
          </a:p>
        </p:txBody>
      </p:sp>
      <p:sp>
        <p:nvSpPr>
          <p:cNvPr id="23" name="Text 21"/>
          <p:cNvSpPr txBox="1"/>
          <p:nvPr/>
        </p:nvSpPr>
        <p:spPr>
          <a:xfrm>
            <a:off x="2953512" y="2734056"/>
            <a:ext cx="384048" cy="219456"/>
          </a:xfrm>
          <a:prstGeom prst="rect">
            <a:avLst/>
          </a:prstGeom>
          <a:noFill/>
          <a:ln/>
        </p:spPr>
        <p:txBody>
          <a:bodyPr wrap="square" lIns="0" tIns="0" rIns="0" bIns="0" rtlCol="0" anchor="ctr"/>
          <a:lstStyle/>
          <a:p>
            <a:pPr algn="r" indent="0" marL="0">
              <a:buNone/>
            </a:pPr>
            <a:r>
              <a:rPr lang="en-US" sz="900" b="1" dirty="0">
                <a:solidFill>
                  <a:srgbClr val="2E7D5B"/>
                </a:solidFill>
                <a:latin typeface="Arial" pitchFamily="34" charset="0"/>
                <a:ea typeface="Arial" pitchFamily="34" charset="-122"/>
                <a:cs typeface="Arial" pitchFamily="34" charset="-120"/>
              </a:rPr>
              <a:t>100</a:t>
            </a:r>
            <a:endParaRPr lang="en-US" sz="900" dirty="0"/>
          </a:p>
        </p:txBody>
      </p:sp>
      <p:sp>
        <p:nvSpPr>
          <p:cNvPr id="24" name="Shape 22"/>
          <p:cNvSpPr/>
          <p:nvPr/>
        </p:nvSpPr>
        <p:spPr>
          <a:xfrm>
            <a:off x="457200" y="2980944"/>
            <a:ext cx="2926080" cy="219456"/>
          </a:xfrm>
          <a:prstGeom prst="rect">
            <a:avLst/>
          </a:prstGeom>
          <a:solidFill>
            <a:srgbClr val="EAF4EF"/>
          </a:solidFill>
          <a:ln w="12700">
            <a:solidFill>
              <a:srgbClr val="FFFFFF"/>
            </a:solidFill>
            <a:prstDash val="solid"/>
          </a:ln>
        </p:spPr>
      </p:sp>
      <p:sp>
        <p:nvSpPr>
          <p:cNvPr id="25" name="Text 23"/>
          <p:cNvSpPr txBox="1"/>
          <p:nvPr/>
        </p:nvSpPr>
        <p:spPr>
          <a:xfrm>
            <a:off x="512064" y="2980944"/>
            <a:ext cx="242316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Écart de score en classé</a:t>
            </a:r>
            <a:endParaRPr lang="en-US" sz="850" dirty="0"/>
          </a:p>
        </p:txBody>
      </p:sp>
      <p:sp>
        <p:nvSpPr>
          <p:cNvPr id="26" name="Text 24"/>
          <p:cNvSpPr txBox="1"/>
          <p:nvPr/>
        </p:nvSpPr>
        <p:spPr>
          <a:xfrm>
            <a:off x="2953512" y="2980944"/>
            <a:ext cx="384048" cy="219456"/>
          </a:xfrm>
          <a:prstGeom prst="rect">
            <a:avLst/>
          </a:prstGeom>
          <a:noFill/>
          <a:ln/>
        </p:spPr>
        <p:txBody>
          <a:bodyPr wrap="square" lIns="0" tIns="0" rIns="0" bIns="0" rtlCol="0" anchor="ctr"/>
          <a:lstStyle/>
          <a:p>
            <a:pPr algn="r" indent="0" marL="0">
              <a:buNone/>
            </a:pPr>
            <a:r>
              <a:rPr lang="en-US" sz="900" b="1" dirty="0">
                <a:solidFill>
                  <a:srgbClr val="2E7D5B"/>
                </a:solidFill>
                <a:latin typeface="Arial" pitchFamily="34" charset="0"/>
                <a:ea typeface="Arial" pitchFamily="34" charset="-122"/>
                <a:cs typeface="Arial" pitchFamily="34" charset="-120"/>
              </a:rPr>
              <a:t>100</a:t>
            </a:r>
            <a:endParaRPr lang="en-US" sz="900" dirty="0"/>
          </a:p>
        </p:txBody>
      </p:sp>
      <p:sp>
        <p:nvSpPr>
          <p:cNvPr id="27" name="Shape 25"/>
          <p:cNvSpPr/>
          <p:nvPr/>
        </p:nvSpPr>
        <p:spPr>
          <a:xfrm>
            <a:off x="457200" y="3227832"/>
            <a:ext cx="2926080" cy="219456"/>
          </a:xfrm>
          <a:prstGeom prst="rect">
            <a:avLst/>
          </a:prstGeom>
          <a:solidFill>
            <a:srgbClr val="EAF4EF"/>
          </a:solidFill>
          <a:ln w="12700">
            <a:solidFill>
              <a:srgbClr val="FFFFFF"/>
            </a:solidFill>
            <a:prstDash val="solid"/>
          </a:ln>
        </p:spPr>
      </p:sp>
      <p:sp>
        <p:nvSpPr>
          <p:cNvPr id="28" name="Text 26"/>
          <p:cNvSpPr txBox="1"/>
          <p:nvPr/>
        </p:nvSpPr>
        <p:spPr>
          <a:xfrm>
            <a:off x="512064" y="3227832"/>
            <a:ext cx="242316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Compositions par rôle</a:t>
            </a:r>
            <a:endParaRPr lang="en-US" sz="850" dirty="0"/>
          </a:p>
        </p:txBody>
      </p:sp>
      <p:sp>
        <p:nvSpPr>
          <p:cNvPr id="29" name="Text 27"/>
          <p:cNvSpPr txBox="1"/>
          <p:nvPr/>
        </p:nvSpPr>
        <p:spPr>
          <a:xfrm>
            <a:off x="2953512" y="3227832"/>
            <a:ext cx="384048" cy="219456"/>
          </a:xfrm>
          <a:prstGeom prst="rect">
            <a:avLst/>
          </a:prstGeom>
          <a:noFill/>
          <a:ln/>
        </p:spPr>
        <p:txBody>
          <a:bodyPr wrap="square" lIns="0" tIns="0" rIns="0" bIns="0" rtlCol="0" anchor="ctr"/>
          <a:lstStyle/>
          <a:p>
            <a:pPr algn="r" indent="0" marL="0">
              <a:buNone/>
            </a:pPr>
            <a:r>
              <a:rPr lang="en-US" sz="900" b="1" dirty="0">
                <a:solidFill>
                  <a:srgbClr val="2E7D5B"/>
                </a:solidFill>
                <a:latin typeface="Arial" pitchFamily="34" charset="0"/>
                <a:ea typeface="Arial" pitchFamily="34" charset="-122"/>
                <a:cs typeface="Arial" pitchFamily="34" charset="-120"/>
              </a:rPr>
              <a:t>100</a:t>
            </a:r>
            <a:endParaRPr lang="en-US" sz="900" dirty="0"/>
          </a:p>
        </p:txBody>
      </p:sp>
      <p:sp>
        <p:nvSpPr>
          <p:cNvPr id="30" name="Shape 28"/>
          <p:cNvSpPr/>
          <p:nvPr/>
        </p:nvSpPr>
        <p:spPr>
          <a:xfrm>
            <a:off x="457200" y="3474720"/>
            <a:ext cx="2926080" cy="219456"/>
          </a:xfrm>
          <a:prstGeom prst="rect">
            <a:avLst/>
          </a:prstGeom>
          <a:solidFill>
            <a:srgbClr val="EAF4EF"/>
          </a:solidFill>
          <a:ln w="12700">
            <a:solidFill>
              <a:srgbClr val="FFFFFF"/>
            </a:solidFill>
            <a:prstDash val="solid"/>
          </a:ln>
        </p:spPr>
      </p:sp>
      <p:sp>
        <p:nvSpPr>
          <p:cNvPr id="31" name="Text 29"/>
          <p:cNvSpPr txBox="1"/>
          <p:nvPr/>
        </p:nvSpPr>
        <p:spPr>
          <a:xfrm>
            <a:off x="512064" y="3474720"/>
            <a:ext cx="242316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Parties avec bots</a:t>
            </a:r>
            <a:endParaRPr lang="en-US" sz="850" dirty="0"/>
          </a:p>
        </p:txBody>
      </p:sp>
      <p:sp>
        <p:nvSpPr>
          <p:cNvPr id="32" name="Text 30"/>
          <p:cNvSpPr txBox="1"/>
          <p:nvPr/>
        </p:nvSpPr>
        <p:spPr>
          <a:xfrm>
            <a:off x="2953512" y="3474720"/>
            <a:ext cx="384048" cy="219456"/>
          </a:xfrm>
          <a:prstGeom prst="rect">
            <a:avLst/>
          </a:prstGeom>
          <a:noFill/>
          <a:ln/>
        </p:spPr>
        <p:txBody>
          <a:bodyPr wrap="square" lIns="0" tIns="0" rIns="0" bIns="0" rtlCol="0" anchor="ctr"/>
          <a:lstStyle/>
          <a:p>
            <a:pPr algn="r" indent="0" marL="0">
              <a:buNone/>
            </a:pPr>
            <a:r>
              <a:rPr lang="en-US" sz="900" b="1" dirty="0">
                <a:solidFill>
                  <a:srgbClr val="2E7D5B"/>
                </a:solidFill>
                <a:latin typeface="Arial" pitchFamily="34" charset="0"/>
                <a:ea typeface="Arial" pitchFamily="34" charset="-122"/>
                <a:cs typeface="Arial" pitchFamily="34" charset="-120"/>
              </a:rPr>
              <a:t>100</a:t>
            </a:r>
            <a:endParaRPr lang="en-US" sz="900" dirty="0"/>
          </a:p>
        </p:txBody>
      </p:sp>
      <p:sp>
        <p:nvSpPr>
          <p:cNvPr id="33" name="Shape 31"/>
          <p:cNvSpPr/>
          <p:nvPr/>
        </p:nvSpPr>
        <p:spPr>
          <a:xfrm>
            <a:off x="457200" y="3721608"/>
            <a:ext cx="2926080" cy="219456"/>
          </a:xfrm>
          <a:prstGeom prst="rect">
            <a:avLst/>
          </a:prstGeom>
          <a:solidFill>
            <a:srgbClr val="EAF4EF"/>
          </a:solidFill>
          <a:ln w="12700">
            <a:solidFill>
              <a:srgbClr val="FFFFFF"/>
            </a:solidFill>
            <a:prstDash val="solid"/>
          </a:ln>
        </p:spPr>
      </p:sp>
      <p:sp>
        <p:nvSpPr>
          <p:cNvPr id="34" name="Text 32"/>
          <p:cNvSpPr txBox="1"/>
          <p:nvPr/>
        </p:nvSpPr>
        <p:spPr>
          <a:xfrm>
            <a:off x="512064" y="3721608"/>
            <a:ext cx="242316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Écart subi en partie rapide</a:t>
            </a:r>
            <a:endParaRPr lang="en-US" sz="850" dirty="0"/>
          </a:p>
        </p:txBody>
      </p:sp>
      <p:sp>
        <p:nvSpPr>
          <p:cNvPr id="35" name="Text 33"/>
          <p:cNvSpPr txBox="1"/>
          <p:nvPr/>
        </p:nvSpPr>
        <p:spPr>
          <a:xfrm>
            <a:off x="2953512" y="3721608"/>
            <a:ext cx="384048" cy="219456"/>
          </a:xfrm>
          <a:prstGeom prst="rect">
            <a:avLst/>
          </a:prstGeom>
          <a:noFill/>
          <a:ln/>
        </p:spPr>
        <p:txBody>
          <a:bodyPr wrap="square" lIns="0" tIns="0" rIns="0" bIns="0" rtlCol="0" anchor="ctr"/>
          <a:lstStyle/>
          <a:p>
            <a:pPr algn="r" indent="0" marL="0">
              <a:buNone/>
            </a:pPr>
            <a:r>
              <a:rPr lang="en-US" sz="900" b="1" dirty="0">
                <a:solidFill>
                  <a:srgbClr val="2E7D5B"/>
                </a:solidFill>
                <a:latin typeface="Arial" pitchFamily="34" charset="0"/>
                <a:ea typeface="Arial" pitchFamily="34" charset="-122"/>
                <a:cs typeface="Arial" pitchFamily="34" charset="-120"/>
              </a:rPr>
              <a:t>80</a:t>
            </a:r>
            <a:endParaRPr lang="en-US" sz="900" dirty="0"/>
          </a:p>
        </p:txBody>
      </p:sp>
      <p:sp>
        <p:nvSpPr>
          <p:cNvPr id="36" name="Shape 34"/>
          <p:cNvSpPr/>
          <p:nvPr/>
        </p:nvSpPr>
        <p:spPr>
          <a:xfrm>
            <a:off x="457200" y="3968496"/>
            <a:ext cx="2926080" cy="219456"/>
          </a:xfrm>
          <a:prstGeom prst="rect">
            <a:avLst/>
          </a:prstGeom>
          <a:solidFill>
            <a:srgbClr val="EAF4EF"/>
          </a:solidFill>
          <a:ln w="12700">
            <a:solidFill>
              <a:srgbClr val="FFFFFF"/>
            </a:solidFill>
            <a:prstDash val="solid"/>
          </a:ln>
        </p:spPr>
      </p:sp>
      <p:sp>
        <p:nvSpPr>
          <p:cNvPr id="37" name="Text 35"/>
          <p:cNvSpPr txBox="1"/>
          <p:nvPr/>
        </p:nvSpPr>
        <p:spPr>
          <a:xfrm>
            <a:off x="512064" y="3968496"/>
            <a:ext cx="242316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Cohortes 2025</a:t>
            </a:r>
            <a:endParaRPr lang="en-US" sz="850" dirty="0"/>
          </a:p>
        </p:txBody>
      </p:sp>
      <p:sp>
        <p:nvSpPr>
          <p:cNvPr id="38" name="Text 36"/>
          <p:cNvSpPr txBox="1"/>
          <p:nvPr/>
        </p:nvSpPr>
        <p:spPr>
          <a:xfrm>
            <a:off x="2953512" y="3968496"/>
            <a:ext cx="384048" cy="219456"/>
          </a:xfrm>
          <a:prstGeom prst="rect">
            <a:avLst/>
          </a:prstGeom>
          <a:noFill/>
          <a:ln/>
        </p:spPr>
        <p:txBody>
          <a:bodyPr wrap="square" lIns="0" tIns="0" rIns="0" bIns="0" rtlCol="0" anchor="ctr"/>
          <a:lstStyle/>
          <a:p>
            <a:pPr algn="r" indent="0" marL="0">
              <a:buNone/>
            </a:pPr>
            <a:r>
              <a:rPr lang="en-US" sz="900" b="1" dirty="0">
                <a:solidFill>
                  <a:srgbClr val="2E7D5B"/>
                </a:solidFill>
                <a:latin typeface="Arial" pitchFamily="34" charset="0"/>
                <a:ea typeface="Arial" pitchFamily="34" charset="-122"/>
                <a:cs typeface="Arial" pitchFamily="34" charset="-120"/>
              </a:rPr>
              <a:t>80</a:t>
            </a:r>
            <a:endParaRPr lang="en-US" sz="900" dirty="0"/>
          </a:p>
        </p:txBody>
      </p:sp>
      <p:sp>
        <p:nvSpPr>
          <p:cNvPr id="39" name="Shape 37"/>
          <p:cNvSpPr/>
          <p:nvPr/>
        </p:nvSpPr>
        <p:spPr>
          <a:xfrm>
            <a:off x="457200" y="4215384"/>
            <a:ext cx="2926080" cy="219456"/>
          </a:xfrm>
          <a:prstGeom prst="rect">
            <a:avLst/>
          </a:prstGeom>
          <a:solidFill>
            <a:srgbClr val="EAF4EF"/>
          </a:solidFill>
          <a:ln w="12700">
            <a:solidFill>
              <a:srgbClr val="FFFFFF"/>
            </a:solidFill>
            <a:prstDash val="solid"/>
          </a:ln>
        </p:spPr>
      </p:sp>
      <p:sp>
        <p:nvSpPr>
          <p:cNvPr id="40" name="Text 38"/>
          <p:cNvSpPr txBox="1"/>
          <p:nvPr/>
        </p:nvSpPr>
        <p:spPr>
          <a:xfrm>
            <a:off x="512064" y="4215384"/>
            <a:ext cx="242316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Rétention avant / après la S5</a:t>
            </a:r>
            <a:endParaRPr lang="en-US" sz="850" dirty="0"/>
          </a:p>
        </p:txBody>
      </p:sp>
      <p:sp>
        <p:nvSpPr>
          <p:cNvPr id="41" name="Text 39"/>
          <p:cNvSpPr txBox="1"/>
          <p:nvPr/>
        </p:nvSpPr>
        <p:spPr>
          <a:xfrm>
            <a:off x="2953512" y="4215384"/>
            <a:ext cx="384048" cy="219456"/>
          </a:xfrm>
          <a:prstGeom prst="rect">
            <a:avLst/>
          </a:prstGeom>
          <a:noFill/>
          <a:ln/>
        </p:spPr>
        <p:txBody>
          <a:bodyPr wrap="square" lIns="0" tIns="0" rIns="0" bIns="0" rtlCol="0" anchor="ctr"/>
          <a:lstStyle/>
          <a:p>
            <a:pPr algn="r" indent="0" marL="0">
              <a:buNone/>
            </a:pPr>
            <a:r>
              <a:rPr lang="en-US" sz="900" b="1" dirty="0">
                <a:solidFill>
                  <a:srgbClr val="2E7D5B"/>
                </a:solidFill>
                <a:latin typeface="Arial" pitchFamily="34" charset="0"/>
                <a:ea typeface="Arial" pitchFamily="34" charset="-122"/>
                <a:cs typeface="Arial" pitchFamily="34" charset="-120"/>
              </a:rPr>
              <a:t>80</a:t>
            </a:r>
            <a:endParaRPr lang="en-US" sz="900" dirty="0"/>
          </a:p>
        </p:txBody>
      </p:sp>
      <p:sp>
        <p:nvSpPr>
          <p:cNvPr id="42" name="Shape 40"/>
          <p:cNvSpPr/>
          <p:nvPr/>
        </p:nvSpPr>
        <p:spPr>
          <a:xfrm>
            <a:off x="457200" y="4462272"/>
            <a:ext cx="2926080" cy="219456"/>
          </a:xfrm>
          <a:prstGeom prst="rect">
            <a:avLst/>
          </a:prstGeom>
          <a:solidFill>
            <a:srgbClr val="EAF4EF"/>
          </a:solidFill>
          <a:ln w="12700">
            <a:solidFill>
              <a:srgbClr val="FFFFFF"/>
            </a:solidFill>
            <a:prstDash val="solid"/>
          </a:ln>
        </p:spPr>
      </p:sp>
      <p:sp>
        <p:nvSpPr>
          <p:cNvPr id="43" name="Text 41"/>
          <p:cNvSpPr txBox="1"/>
          <p:nvPr/>
        </p:nvSpPr>
        <p:spPr>
          <a:xfrm>
            <a:off x="512064" y="4462272"/>
            <a:ext cx="242316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Groupes contre solos</a:t>
            </a:r>
            <a:endParaRPr lang="en-US" sz="850" dirty="0"/>
          </a:p>
        </p:txBody>
      </p:sp>
      <p:sp>
        <p:nvSpPr>
          <p:cNvPr id="44" name="Text 42"/>
          <p:cNvSpPr txBox="1"/>
          <p:nvPr/>
        </p:nvSpPr>
        <p:spPr>
          <a:xfrm>
            <a:off x="2953512" y="4462272"/>
            <a:ext cx="384048" cy="219456"/>
          </a:xfrm>
          <a:prstGeom prst="rect">
            <a:avLst/>
          </a:prstGeom>
          <a:noFill/>
          <a:ln/>
        </p:spPr>
        <p:txBody>
          <a:bodyPr wrap="square" lIns="0" tIns="0" rIns="0" bIns="0" rtlCol="0" anchor="ctr"/>
          <a:lstStyle/>
          <a:p>
            <a:pPr algn="r" indent="0" marL="0">
              <a:buNone/>
            </a:pPr>
            <a:r>
              <a:rPr lang="en-US" sz="900" b="1" dirty="0">
                <a:solidFill>
                  <a:srgbClr val="2E7D5B"/>
                </a:solidFill>
                <a:latin typeface="Arial" pitchFamily="34" charset="0"/>
                <a:ea typeface="Arial" pitchFamily="34" charset="-122"/>
                <a:cs typeface="Arial" pitchFamily="34" charset="-120"/>
              </a:rPr>
              <a:t>80</a:t>
            </a:r>
            <a:endParaRPr lang="en-US" sz="900" dirty="0"/>
          </a:p>
        </p:txBody>
      </p:sp>
      <p:sp>
        <p:nvSpPr>
          <p:cNvPr id="45" name="Shape 43"/>
          <p:cNvSpPr/>
          <p:nvPr/>
        </p:nvSpPr>
        <p:spPr>
          <a:xfrm>
            <a:off x="3520440" y="1170432"/>
            <a:ext cx="2606040" cy="237744"/>
          </a:xfrm>
          <a:prstGeom prst="roundRect">
            <a:avLst>
              <a:gd name="adj" fmla="val 19231"/>
            </a:avLst>
          </a:prstGeom>
          <a:solidFill>
            <a:srgbClr val="B7791F"/>
          </a:solidFill>
          <a:ln w="12700">
            <a:solidFill>
              <a:srgbClr val="B7791F"/>
            </a:solidFill>
            <a:prstDash val="solid"/>
          </a:ln>
        </p:spPr>
      </p:sp>
      <p:sp>
        <p:nvSpPr>
          <p:cNvPr id="46" name="Text 44"/>
          <p:cNvSpPr txBox="1"/>
          <p:nvPr/>
        </p:nvSpPr>
        <p:spPr>
          <a:xfrm>
            <a:off x="3520440" y="1170432"/>
            <a:ext cx="2606040"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UTILE · 30 à 79</a:t>
            </a:r>
            <a:endParaRPr lang="en-US" sz="900" dirty="0"/>
          </a:p>
        </p:txBody>
      </p:sp>
      <p:sp>
        <p:nvSpPr>
          <p:cNvPr id="47" name="Shape 45"/>
          <p:cNvSpPr/>
          <p:nvPr/>
        </p:nvSpPr>
        <p:spPr>
          <a:xfrm>
            <a:off x="3520440" y="1499616"/>
            <a:ext cx="2606040" cy="219456"/>
          </a:xfrm>
          <a:prstGeom prst="rect">
            <a:avLst/>
          </a:prstGeom>
          <a:solidFill>
            <a:srgbClr val="FBF3E6"/>
          </a:solidFill>
          <a:ln w="12700">
            <a:solidFill>
              <a:srgbClr val="FFFFFF"/>
            </a:solidFill>
            <a:prstDash val="solid"/>
          </a:ln>
        </p:spPr>
      </p:sp>
      <p:sp>
        <p:nvSpPr>
          <p:cNvPr id="48" name="Text 46"/>
          <p:cNvSpPr txBox="1"/>
          <p:nvPr/>
        </p:nvSpPr>
        <p:spPr>
          <a:xfrm>
            <a:off x="3575304" y="1499616"/>
            <a:ext cx="210312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Performance des comptes neufs (smurfs)</a:t>
            </a:r>
            <a:endParaRPr lang="en-US" sz="850" dirty="0"/>
          </a:p>
        </p:txBody>
      </p:sp>
      <p:sp>
        <p:nvSpPr>
          <p:cNvPr id="49" name="Text 47"/>
          <p:cNvSpPr txBox="1"/>
          <p:nvPr/>
        </p:nvSpPr>
        <p:spPr>
          <a:xfrm>
            <a:off x="5696712" y="1499616"/>
            <a:ext cx="384048" cy="219456"/>
          </a:xfrm>
          <a:prstGeom prst="rect">
            <a:avLst/>
          </a:prstGeom>
          <a:noFill/>
          <a:ln/>
        </p:spPr>
        <p:txBody>
          <a:bodyPr wrap="square" lIns="0" tIns="0" rIns="0" bIns="0" rtlCol="0" anchor="ctr"/>
          <a:lstStyle/>
          <a:p>
            <a:pPr algn="r" indent="0" marL="0">
              <a:buNone/>
            </a:pPr>
            <a:r>
              <a:rPr lang="en-US" sz="900" b="1" dirty="0">
                <a:solidFill>
                  <a:srgbClr val="B7791F"/>
                </a:solidFill>
                <a:latin typeface="Arial" pitchFamily="34" charset="0"/>
                <a:ea typeface="Arial" pitchFamily="34" charset="-122"/>
                <a:cs typeface="Arial" pitchFamily="34" charset="-120"/>
              </a:rPr>
              <a:t>64</a:t>
            </a:r>
            <a:endParaRPr lang="en-US" sz="900" dirty="0"/>
          </a:p>
        </p:txBody>
      </p:sp>
      <p:sp>
        <p:nvSpPr>
          <p:cNvPr id="50" name="Shape 48"/>
          <p:cNvSpPr/>
          <p:nvPr/>
        </p:nvSpPr>
        <p:spPr>
          <a:xfrm>
            <a:off x="3520440" y="1746504"/>
            <a:ext cx="2606040" cy="219456"/>
          </a:xfrm>
          <a:prstGeom prst="rect">
            <a:avLst/>
          </a:prstGeom>
          <a:solidFill>
            <a:srgbClr val="FBF3E6"/>
          </a:solidFill>
          <a:ln w="12700">
            <a:solidFill>
              <a:srgbClr val="FFFFFF"/>
            </a:solidFill>
            <a:prstDash val="solid"/>
          </a:ln>
        </p:spPr>
      </p:sp>
      <p:sp>
        <p:nvSpPr>
          <p:cNvPr id="51" name="Text 49"/>
          <p:cNvSpPr txBox="1"/>
          <p:nvPr/>
        </p:nvSpPr>
        <p:spPr>
          <a:xfrm>
            <a:off x="3575304" y="1746504"/>
            <a:ext cx="210312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Rôle joué / rôle habituel</a:t>
            </a:r>
            <a:endParaRPr lang="en-US" sz="850" dirty="0"/>
          </a:p>
        </p:txBody>
      </p:sp>
      <p:sp>
        <p:nvSpPr>
          <p:cNvPr id="52" name="Text 50"/>
          <p:cNvSpPr txBox="1"/>
          <p:nvPr/>
        </p:nvSpPr>
        <p:spPr>
          <a:xfrm>
            <a:off x="5696712" y="1746504"/>
            <a:ext cx="384048" cy="219456"/>
          </a:xfrm>
          <a:prstGeom prst="rect">
            <a:avLst/>
          </a:prstGeom>
          <a:noFill/>
          <a:ln/>
        </p:spPr>
        <p:txBody>
          <a:bodyPr wrap="square" lIns="0" tIns="0" rIns="0" bIns="0" rtlCol="0" anchor="ctr"/>
          <a:lstStyle/>
          <a:p>
            <a:pPr algn="r" indent="0" marL="0">
              <a:buNone/>
            </a:pPr>
            <a:r>
              <a:rPr lang="en-US" sz="900" b="1" dirty="0">
                <a:solidFill>
                  <a:srgbClr val="B7791F"/>
                </a:solidFill>
                <a:latin typeface="Arial" pitchFamily="34" charset="0"/>
                <a:ea typeface="Arial" pitchFamily="34" charset="-122"/>
                <a:cs typeface="Arial" pitchFamily="34" charset="-120"/>
              </a:rPr>
              <a:t>64</a:t>
            </a:r>
            <a:endParaRPr lang="en-US" sz="900" dirty="0"/>
          </a:p>
        </p:txBody>
      </p:sp>
      <p:sp>
        <p:nvSpPr>
          <p:cNvPr id="53" name="Shape 51"/>
          <p:cNvSpPr/>
          <p:nvPr/>
        </p:nvSpPr>
        <p:spPr>
          <a:xfrm>
            <a:off x="3520440" y="1993392"/>
            <a:ext cx="2606040" cy="219456"/>
          </a:xfrm>
          <a:prstGeom prst="rect">
            <a:avLst/>
          </a:prstGeom>
          <a:solidFill>
            <a:srgbClr val="FBF3E6"/>
          </a:solidFill>
          <a:ln w="12700">
            <a:solidFill>
              <a:srgbClr val="FFFFFF"/>
            </a:solidFill>
            <a:prstDash val="solid"/>
          </a:ln>
        </p:spPr>
      </p:sp>
      <p:sp>
        <p:nvSpPr>
          <p:cNvPr id="54" name="Text 52"/>
          <p:cNvSpPr txBox="1"/>
          <p:nvPr/>
        </p:nvSpPr>
        <p:spPr>
          <a:xfrm>
            <a:off x="3575304" y="1993392"/>
            <a:ext cx="210312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Avis Steam (collecte faite)</a:t>
            </a:r>
            <a:endParaRPr lang="en-US" sz="850" dirty="0"/>
          </a:p>
        </p:txBody>
      </p:sp>
      <p:sp>
        <p:nvSpPr>
          <p:cNvPr id="55" name="Text 53"/>
          <p:cNvSpPr txBox="1"/>
          <p:nvPr/>
        </p:nvSpPr>
        <p:spPr>
          <a:xfrm>
            <a:off x="5696712" y="1993392"/>
            <a:ext cx="384048" cy="219456"/>
          </a:xfrm>
          <a:prstGeom prst="rect">
            <a:avLst/>
          </a:prstGeom>
          <a:noFill/>
          <a:ln/>
        </p:spPr>
        <p:txBody>
          <a:bodyPr wrap="square" lIns="0" tIns="0" rIns="0" bIns="0" rtlCol="0" anchor="ctr"/>
          <a:lstStyle/>
          <a:p>
            <a:pPr algn="r" indent="0" marL="0">
              <a:buNone/>
            </a:pPr>
            <a:r>
              <a:rPr lang="en-US" sz="900" b="1" dirty="0">
                <a:solidFill>
                  <a:srgbClr val="B7791F"/>
                </a:solidFill>
                <a:latin typeface="Arial" pitchFamily="34" charset="0"/>
                <a:ea typeface="Arial" pitchFamily="34" charset="-122"/>
                <a:cs typeface="Arial" pitchFamily="34" charset="-120"/>
              </a:rPr>
              <a:t>45</a:t>
            </a:r>
            <a:endParaRPr lang="en-US" sz="900" dirty="0"/>
          </a:p>
        </p:txBody>
      </p:sp>
      <p:sp>
        <p:nvSpPr>
          <p:cNvPr id="56" name="Shape 54"/>
          <p:cNvSpPr/>
          <p:nvPr/>
        </p:nvSpPr>
        <p:spPr>
          <a:xfrm>
            <a:off x="3520440" y="2240280"/>
            <a:ext cx="2606040" cy="219456"/>
          </a:xfrm>
          <a:prstGeom prst="rect">
            <a:avLst/>
          </a:prstGeom>
          <a:solidFill>
            <a:srgbClr val="FBF3E6"/>
          </a:solidFill>
          <a:ln w="12700">
            <a:solidFill>
              <a:srgbClr val="FFFFFF"/>
            </a:solidFill>
            <a:prstDash val="solid"/>
          </a:ln>
        </p:spPr>
      </p:sp>
      <p:sp>
        <p:nvSpPr>
          <p:cNvPr id="57" name="Text 55"/>
          <p:cNvSpPr txBox="1"/>
          <p:nvPr/>
        </p:nvSpPr>
        <p:spPr>
          <a:xfrm>
            <a:off x="3575304" y="2240280"/>
            <a:ext cx="210312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Attente simulée</a:t>
            </a:r>
            <a:endParaRPr lang="en-US" sz="850" dirty="0"/>
          </a:p>
        </p:txBody>
      </p:sp>
      <p:sp>
        <p:nvSpPr>
          <p:cNvPr id="58" name="Text 56"/>
          <p:cNvSpPr txBox="1"/>
          <p:nvPr/>
        </p:nvSpPr>
        <p:spPr>
          <a:xfrm>
            <a:off x="5696712" y="2240280"/>
            <a:ext cx="384048" cy="219456"/>
          </a:xfrm>
          <a:prstGeom prst="rect">
            <a:avLst/>
          </a:prstGeom>
          <a:noFill/>
          <a:ln/>
        </p:spPr>
        <p:txBody>
          <a:bodyPr wrap="square" lIns="0" tIns="0" rIns="0" bIns="0" rtlCol="0" anchor="ctr"/>
          <a:lstStyle/>
          <a:p>
            <a:pPr algn="r" indent="0" marL="0">
              <a:buNone/>
            </a:pPr>
            <a:r>
              <a:rPr lang="en-US" sz="900" b="1" dirty="0">
                <a:solidFill>
                  <a:srgbClr val="B7791F"/>
                </a:solidFill>
                <a:latin typeface="Arial" pitchFamily="34" charset="0"/>
                <a:ea typeface="Arial" pitchFamily="34" charset="-122"/>
                <a:cs typeface="Arial" pitchFamily="34" charset="-120"/>
              </a:rPr>
              <a:t>36</a:t>
            </a:r>
            <a:endParaRPr lang="en-US" sz="900" dirty="0"/>
          </a:p>
        </p:txBody>
      </p:sp>
      <p:sp>
        <p:nvSpPr>
          <p:cNvPr id="59" name="Shape 57"/>
          <p:cNvSpPr/>
          <p:nvPr/>
        </p:nvSpPr>
        <p:spPr>
          <a:xfrm>
            <a:off x="3520440" y="2487168"/>
            <a:ext cx="2606040" cy="219456"/>
          </a:xfrm>
          <a:prstGeom prst="rect">
            <a:avLst/>
          </a:prstGeom>
          <a:solidFill>
            <a:srgbClr val="FBF3E6"/>
          </a:solidFill>
          <a:ln w="12700">
            <a:solidFill>
              <a:srgbClr val="FFFFFF"/>
            </a:solidFill>
            <a:prstDash val="solid"/>
          </a:ln>
        </p:spPr>
      </p:sp>
      <p:sp>
        <p:nvSpPr>
          <p:cNvPr id="60" name="Text 58"/>
          <p:cNvSpPr txBox="1"/>
          <p:nvPr/>
        </p:nvSpPr>
        <p:spPr>
          <a:xfrm>
            <a:off x="3575304" y="2487168"/>
            <a:ext cx="210312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Durée des ultimes de soin</a:t>
            </a:r>
            <a:endParaRPr lang="en-US" sz="850" dirty="0"/>
          </a:p>
        </p:txBody>
      </p:sp>
      <p:sp>
        <p:nvSpPr>
          <p:cNvPr id="61" name="Text 59"/>
          <p:cNvSpPr txBox="1"/>
          <p:nvPr/>
        </p:nvSpPr>
        <p:spPr>
          <a:xfrm>
            <a:off x="5696712" y="2487168"/>
            <a:ext cx="384048" cy="219456"/>
          </a:xfrm>
          <a:prstGeom prst="rect">
            <a:avLst/>
          </a:prstGeom>
          <a:noFill/>
          <a:ln/>
        </p:spPr>
        <p:txBody>
          <a:bodyPr wrap="square" lIns="0" tIns="0" rIns="0" bIns="0" rtlCol="0" anchor="ctr"/>
          <a:lstStyle/>
          <a:p>
            <a:pPr algn="r" indent="0" marL="0">
              <a:buNone/>
            </a:pPr>
            <a:r>
              <a:rPr lang="en-US" sz="900" b="1" dirty="0">
                <a:solidFill>
                  <a:srgbClr val="B7791F"/>
                </a:solidFill>
                <a:latin typeface="Arial" pitchFamily="34" charset="0"/>
                <a:ea typeface="Arial" pitchFamily="34" charset="-122"/>
                <a:cs typeface="Arial" pitchFamily="34" charset="-120"/>
              </a:rPr>
              <a:t>36</a:t>
            </a:r>
            <a:endParaRPr lang="en-US" sz="900" dirty="0"/>
          </a:p>
        </p:txBody>
      </p:sp>
      <p:sp>
        <p:nvSpPr>
          <p:cNvPr id="62" name="Shape 60"/>
          <p:cNvSpPr/>
          <p:nvPr/>
        </p:nvSpPr>
        <p:spPr>
          <a:xfrm>
            <a:off x="3520440" y="2734056"/>
            <a:ext cx="2606040" cy="219456"/>
          </a:xfrm>
          <a:prstGeom prst="rect">
            <a:avLst/>
          </a:prstGeom>
          <a:solidFill>
            <a:srgbClr val="FBF3E6"/>
          </a:solidFill>
          <a:ln w="12700">
            <a:solidFill>
              <a:srgbClr val="FFFFFF"/>
            </a:solidFill>
            <a:prstDash val="solid"/>
          </a:ln>
        </p:spPr>
      </p:sp>
      <p:sp>
        <p:nvSpPr>
          <p:cNvPr id="63" name="Text 61"/>
          <p:cNvSpPr txBox="1"/>
          <p:nvPr/>
        </p:nvSpPr>
        <p:spPr>
          <a:xfrm>
            <a:off x="3575304" y="2734056"/>
            <a:ext cx="210312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Sondage d'équité perçue</a:t>
            </a:r>
            <a:endParaRPr lang="en-US" sz="850" dirty="0"/>
          </a:p>
        </p:txBody>
      </p:sp>
      <p:sp>
        <p:nvSpPr>
          <p:cNvPr id="64" name="Text 62"/>
          <p:cNvSpPr txBox="1"/>
          <p:nvPr/>
        </p:nvSpPr>
        <p:spPr>
          <a:xfrm>
            <a:off x="5696712" y="2734056"/>
            <a:ext cx="384048" cy="219456"/>
          </a:xfrm>
          <a:prstGeom prst="rect">
            <a:avLst/>
          </a:prstGeom>
          <a:noFill/>
          <a:ln/>
        </p:spPr>
        <p:txBody>
          <a:bodyPr wrap="square" lIns="0" tIns="0" rIns="0" bIns="0" rtlCol="0" anchor="ctr"/>
          <a:lstStyle/>
          <a:p>
            <a:pPr algn="r" indent="0" marL="0">
              <a:buNone/>
            </a:pPr>
            <a:r>
              <a:rPr lang="en-US" sz="900" b="1" dirty="0">
                <a:solidFill>
                  <a:srgbClr val="B7791F"/>
                </a:solidFill>
                <a:latin typeface="Arial" pitchFamily="34" charset="0"/>
                <a:ea typeface="Arial" pitchFamily="34" charset="-122"/>
                <a:cs typeface="Arial" pitchFamily="34" charset="-120"/>
              </a:rPr>
              <a:t>36</a:t>
            </a:r>
            <a:endParaRPr lang="en-US" sz="900" dirty="0"/>
          </a:p>
        </p:txBody>
      </p:sp>
      <p:sp>
        <p:nvSpPr>
          <p:cNvPr id="65" name="Shape 63"/>
          <p:cNvSpPr/>
          <p:nvPr/>
        </p:nvSpPr>
        <p:spPr>
          <a:xfrm>
            <a:off x="3520440" y="2980944"/>
            <a:ext cx="2606040" cy="219456"/>
          </a:xfrm>
          <a:prstGeom prst="rect">
            <a:avLst/>
          </a:prstGeom>
          <a:solidFill>
            <a:srgbClr val="FBF3E6"/>
          </a:solidFill>
          <a:ln w="12700">
            <a:solidFill>
              <a:srgbClr val="FFFFFF"/>
            </a:solidFill>
            <a:prstDash val="solid"/>
          </a:ln>
        </p:spPr>
      </p:sp>
      <p:sp>
        <p:nvSpPr>
          <p:cNvPr id="66" name="Text 64"/>
          <p:cNvSpPr txBox="1"/>
          <p:nvPr/>
        </p:nvSpPr>
        <p:spPr>
          <a:xfrm>
            <a:off x="3575304" y="2980944"/>
            <a:ext cx="210312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Question d'onboarding</a:t>
            </a:r>
            <a:endParaRPr lang="en-US" sz="850" dirty="0"/>
          </a:p>
        </p:txBody>
      </p:sp>
      <p:sp>
        <p:nvSpPr>
          <p:cNvPr id="67" name="Text 65"/>
          <p:cNvSpPr txBox="1"/>
          <p:nvPr/>
        </p:nvSpPr>
        <p:spPr>
          <a:xfrm>
            <a:off x="5696712" y="2980944"/>
            <a:ext cx="384048" cy="219456"/>
          </a:xfrm>
          <a:prstGeom prst="rect">
            <a:avLst/>
          </a:prstGeom>
          <a:noFill/>
          <a:ln/>
        </p:spPr>
        <p:txBody>
          <a:bodyPr wrap="square" lIns="0" tIns="0" rIns="0" bIns="0" rtlCol="0" anchor="ctr"/>
          <a:lstStyle/>
          <a:p>
            <a:pPr algn="r" indent="0" marL="0">
              <a:buNone/>
            </a:pPr>
            <a:r>
              <a:rPr lang="en-US" sz="900" b="1" dirty="0">
                <a:solidFill>
                  <a:srgbClr val="B7791F"/>
                </a:solidFill>
                <a:latin typeface="Arial" pitchFamily="34" charset="0"/>
                <a:ea typeface="Arial" pitchFamily="34" charset="-122"/>
                <a:cs typeface="Arial" pitchFamily="34" charset="-120"/>
              </a:rPr>
              <a:t>36</a:t>
            </a:r>
            <a:endParaRPr lang="en-US" sz="900" dirty="0"/>
          </a:p>
        </p:txBody>
      </p:sp>
      <p:sp>
        <p:nvSpPr>
          <p:cNvPr id="68" name="Shape 66"/>
          <p:cNvSpPr/>
          <p:nvPr/>
        </p:nvSpPr>
        <p:spPr>
          <a:xfrm>
            <a:off x="3520440" y="3227832"/>
            <a:ext cx="2606040" cy="219456"/>
          </a:xfrm>
          <a:prstGeom prst="rect">
            <a:avLst/>
          </a:prstGeom>
          <a:solidFill>
            <a:srgbClr val="FBF3E6"/>
          </a:solidFill>
          <a:ln w="12700">
            <a:solidFill>
              <a:srgbClr val="FFFFFF"/>
            </a:solidFill>
            <a:prstDash val="solid"/>
          </a:ln>
        </p:spPr>
      </p:sp>
      <p:sp>
        <p:nvSpPr>
          <p:cNvPr id="69" name="Text 67"/>
          <p:cNvSpPr txBox="1"/>
          <p:nvPr/>
        </p:nvSpPr>
        <p:spPr>
          <a:xfrm>
            <a:off x="3575304" y="3227832"/>
            <a:ext cx="210312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Héros maîtrisés</a:t>
            </a:r>
            <a:endParaRPr lang="en-US" sz="850" dirty="0"/>
          </a:p>
        </p:txBody>
      </p:sp>
      <p:sp>
        <p:nvSpPr>
          <p:cNvPr id="70" name="Text 68"/>
          <p:cNvSpPr txBox="1"/>
          <p:nvPr/>
        </p:nvSpPr>
        <p:spPr>
          <a:xfrm>
            <a:off x="5696712" y="3227832"/>
            <a:ext cx="384048" cy="219456"/>
          </a:xfrm>
          <a:prstGeom prst="rect">
            <a:avLst/>
          </a:prstGeom>
          <a:noFill/>
          <a:ln/>
        </p:spPr>
        <p:txBody>
          <a:bodyPr wrap="square" lIns="0" tIns="0" rIns="0" bIns="0" rtlCol="0" anchor="ctr"/>
          <a:lstStyle/>
          <a:p>
            <a:pPr algn="r" indent="0" marL="0">
              <a:buNone/>
            </a:pPr>
            <a:r>
              <a:rPr lang="en-US" sz="900" b="1" dirty="0">
                <a:solidFill>
                  <a:srgbClr val="B7791F"/>
                </a:solidFill>
                <a:latin typeface="Arial" pitchFamily="34" charset="0"/>
                <a:ea typeface="Arial" pitchFamily="34" charset="-122"/>
                <a:cs typeface="Arial" pitchFamily="34" charset="-120"/>
              </a:rPr>
              <a:t>30</a:t>
            </a:r>
            <a:endParaRPr lang="en-US" sz="900" dirty="0"/>
          </a:p>
        </p:txBody>
      </p:sp>
      <p:sp>
        <p:nvSpPr>
          <p:cNvPr id="71" name="Shape 69"/>
          <p:cNvSpPr/>
          <p:nvPr/>
        </p:nvSpPr>
        <p:spPr>
          <a:xfrm>
            <a:off x="6263640" y="1170432"/>
            <a:ext cx="2286000" cy="237744"/>
          </a:xfrm>
          <a:prstGeom prst="roundRect">
            <a:avLst>
              <a:gd name="adj" fmla="val 19231"/>
            </a:avLst>
          </a:prstGeom>
          <a:solidFill>
            <a:srgbClr val="8A8FA3"/>
          </a:solidFill>
          <a:ln w="12700">
            <a:solidFill>
              <a:srgbClr val="8A8FA3"/>
            </a:solidFill>
            <a:prstDash val="solid"/>
          </a:ln>
        </p:spPr>
      </p:sp>
      <p:sp>
        <p:nvSpPr>
          <p:cNvPr id="72" name="Text 70"/>
          <p:cNvSpPr txBox="1"/>
          <p:nvPr/>
        </p:nvSpPr>
        <p:spPr>
          <a:xfrm>
            <a:off x="6263640" y="1170432"/>
            <a:ext cx="2286000"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ÉCARTÉ · &lt; 30 ou inutile</a:t>
            </a:r>
            <a:endParaRPr lang="en-US" sz="900" dirty="0"/>
          </a:p>
        </p:txBody>
      </p:sp>
      <p:sp>
        <p:nvSpPr>
          <p:cNvPr id="73" name="Shape 71"/>
          <p:cNvSpPr/>
          <p:nvPr/>
        </p:nvSpPr>
        <p:spPr>
          <a:xfrm>
            <a:off x="6263640" y="1499616"/>
            <a:ext cx="2286000" cy="219456"/>
          </a:xfrm>
          <a:prstGeom prst="rect">
            <a:avLst/>
          </a:prstGeom>
          <a:solidFill>
            <a:srgbClr val="F0F1F4"/>
          </a:solidFill>
          <a:ln w="12700">
            <a:solidFill>
              <a:srgbClr val="FFFFFF"/>
            </a:solidFill>
            <a:prstDash val="solid"/>
          </a:ln>
        </p:spPr>
      </p:sp>
      <p:sp>
        <p:nvSpPr>
          <p:cNvPr id="74" name="Text 72"/>
          <p:cNvSpPr txBox="1"/>
          <p:nvPr/>
        </p:nvSpPr>
        <p:spPr>
          <a:xfrm>
            <a:off x="6318504" y="1499616"/>
            <a:ext cx="178308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Benchmark Newzoo (panel biaisé)</a:t>
            </a:r>
            <a:endParaRPr lang="en-US" sz="850" dirty="0"/>
          </a:p>
        </p:txBody>
      </p:sp>
      <p:sp>
        <p:nvSpPr>
          <p:cNvPr id="75" name="Text 73"/>
          <p:cNvSpPr txBox="1"/>
          <p:nvPr/>
        </p:nvSpPr>
        <p:spPr>
          <a:xfrm>
            <a:off x="8119872" y="1499616"/>
            <a:ext cx="384048" cy="219456"/>
          </a:xfrm>
          <a:prstGeom prst="rect">
            <a:avLst/>
          </a:prstGeom>
          <a:noFill/>
          <a:ln/>
        </p:spPr>
        <p:txBody>
          <a:bodyPr wrap="square" lIns="0" tIns="0" rIns="0" bIns="0" rtlCol="0" anchor="ctr"/>
          <a:lstStyle/>
          <a:p>
            <a:pPr algn="r" indent="0" marL="0">
              <a:buNone/>
            </a:pPr>
            <a:r>
              <a:rPr lang="en-US" sz="900" b="1" dirty="0">
                <a:solidFill>
                  <a:srgbClr val="8A8FA3"/>
                </a:solidFill>
                <a:latin typeface="Arial" pitchFamily="34" charset="0"/>
                <a:ea typeface="Arial" pitchFamily="34" charset="-122"/>
                <a:cs typeface="Arial" pitchFamily="34" charset="-120"/>
              </a:rPr>
              <a:t>12</a:t>
            </a:r>
            <a:endParaRPr lang="en-US" sz="900" dirty="0"/>
          </a:p>
        </p:txBody>
      </p:sp>
      <p:sp>
        <p:nvSpPr>
          <p:cNvPr id="76" name="Shape 74"/>
          <p:cNvSpPr/>
          <p:nvPr/>
        </p:nvSpPr>
        <p:spPr>
          <a:xfrm>
            <a:off x="6263640" y="1746504"/>
            <a:ext cx="2286000" cy="219456"/>
          </a:xfrm>
          <a:prstGeom prst="rect">
            <a:avLst/>
          </a:prstGeom>
          <a:solidFill>
            <a:srgbClr val="F0F1F4"/>
          </a:solidFill>
          <a:ln w="12700">
            <a:solidFill>
              <a:srgbClr val="FFFFFF"/>
            </a:solidFill>
            <a:prstDash val="solid"/>
          </a:ln>
        </p:spPr>
      </p:sp>
      <p:sp>
        <p:nvSpPr>
          <p:cNvPr id="77" name="Text 75"/>
          <p:cNvSpPr txBox="1"/>
          <p:nvPr/>
        </p:nvSpPr>
        <p:spPr>
          <a:xfrm>
            <a:off x="6318504" y="1746504"/>
            <a:ext cx="178308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Chat vocal ou texte complet</a:t>
            </a:r>
            <a:endParaRPr lang="en-US" sz="850" dirty="0"/>
          </a:p>
        </p:txBody>
      </p:sp>
      <p:sp>
        <p:nvSpPr>
          <p:cNvPr id="78" name="Text 76"/>
          <p:cNvSpPr txBox="1"/>
          <p:nvPr/>
        </p:nvSpPr>
        <p:spPr>
          <a:xfrm>
            <a:off x="8119872" y="1746504"/>
            <a:ext cx="384048" cy="219456"/>
          </a:xfrm>
          <a:prstGeom prst="rect">
            <a:avLst/>
          </a:prstGeom>
          <a:noFill/>
          <a:ln/>
        </p:spPr>
        <p:txBody>
          <a:bodyPr wrap="square" lIns="0" tIns="0" rIns="0" bIns="0" rtlCol="0" anchor="ctr"/>
          <a:lstStyle/>
          <a:p>
            <a:pPr algn="r" indent="0" marL="0">
              <a:buNone/>
            </a:pPr>
            <a:r>
              <a:rPr lang="en-US" sz="900" b="1" dirty="0">
                <a:solidFill>
                  <a:srgbClr val="8A8FA3"/>
                </a:solidFill>
                <a:latin typeface="Arial" pitchFamily="34" charset="0"/>
                <a:ea typeface="Arial" pitchFamily="34" charset="-122"/>
                <a:cs typeface="Arial" pitchFamily="34" charset="-120"/>
              </a:rPr>
              <a:t>9</a:t>
            </a:r>
            <a:endParaRPr lang="en-US" sz="900" dirty="0"/>
          </a:p>
        </p:txBody>
      </p:sp>
      <p:sp>
        <p:nvSpPr>
          <p:cNvPr id="79" name="Shape 77"/>
          <p:cNvSpPr/>
          <p:nvPr/>
        </p:nvSpPr>
        <p:spPr>
          <a:xfrm>
            <a:off x="6263640" y="1993392"/>
            <a:ext cx="2286000" cy="219456"/>
          </a:xfrm>
          <a:prstGeom prst="rect">
            <a:avLst/>
          </a:prstGeom>
          <a:solidFill>
            <a:srgbClr val="F0F1F4"/>
          </a:solidFill>
          <a:ln w="12700">
            <a:solidFill>
              <a:srgbClr val="FFFFFF"/>
            </a:solidFill>
            <a:prstDash val="solid"/>
          </a:ln>
        </p:spPr>
      </p:sp>
      <p:sp>
        <p:nvSpPr>
          <p:cNvPr id="80" name="Text 78"/>
          <p:cNvSpPr txBox="1"/>
          <p:nvPr/>
        </p:nvSpPr>
        <p:spPr>
          <a:xfrm>
            <a:off x="6318504" y="1993392"/>
            <a:ext cx="178308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Historique sur d'autres jeux</a:t>
            </a:r>
            <a:endParaRPr lang="en-US" sz="850" dirty="0"/>
          </a:p>
        </p:txBody>
      </p:sp>
      <p:sp>
        <p:nvSpPr>
          <p:cNvPr id="81" name="Text 79"/>
          <p:cNvSpPr txBox="1"/>
          <p:nvPr/>
        </p:nvSpPr>
        <p:spPr>
          <a:xfrm>
            <a:off x="8119872" y="1993392"/>
            <a:ext cx="384048" cy="219456"/>
          </a:xfrm>
          <a:prstGeom prst="rect">
            <a:avLst/>
          </a:prstGeom>
          <a:noFill/>
          <a:ln/>
        </p:spPr>
        <p:txBody>
          <a:bodyPr wrap="square" lIns="0" tIns="0" rIns="0" bIns="0" rtlCol="0" anchor="ctr"/>
          <a:lstStyle/>
          <a:p>
            <a:pPr algn="r" indent="0" marL="0">
              <a:buNone/>
            </a:pPr>
            <a:r>
              <a:rPr lang="en-US" sz="900" b="1" dirty="0">
                <a:solidFill>
                  <a:srgbClr val="8A8FA3"/>
                </a:solidFill>
                <a:latin typeface="Arial" pitchFamily="34" charset="0"/>
                <a:ea typeface="Arial" pitchFamily="34" charset="-122"/>
                <a:cs typeface="Arial" pitchFamily="34" charset="-120"/>
              </a:rPr>
              <a:t>6</a:t>
            </a:r>
            <a:endParaRPr lang="en-US" sz="900" dirty="0"/>
          </a:p>
        </p:txBody>
      </p:sp>
      <p:sp>
        <p:nvSpPr>
          <p:cNvPr id="82" name="Shape 80"/>
          <p:cNvSpPr/>
          <p:nvPr/>
        </p:nvSpPr>
        <p:spPr>
          <a:xfrm>
            <a:off x="6263640" y="2240280"/>
            <a:ext cx="2286000" cy="219456"/>
          </a:xfrm>
          <a:prstGeom prst="rect">
            <a:avLst/>
          </a:prstGeom>
          <a:solidFill>
            <a:srgbClr val="F0F1F4"/>
          </a:solidFill>
          <a:ln w="12700">
            <a:solidFill>
              <a:srgbClr val="FFFFFF"/>
            </a:solidFill>
            <a:prstDash val="solid"/>
          </a:ln>
        </p:spPr>
      </p:sp>
      <p:sp>
        <p:nvSpPr>
          <p:cNvPr id="83" name="Text 81"/>
          <p:cNvSpPr txBox="1"/>
          <p:nvPr/>
        </p:nvSpPr>
        <p:spPr>
          <a:xfrm>
            <a:off x="6318504" y="2240280"/>
            <a:ext cx="178308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Âge exact</a:t>
            </a:r>
            <a:endParaRPr lang="en-US" sz="850" dirty="0"/>
          </a:p>
        </p:txBody>
      </p:sp>
      <p:sp>
        <p:nvSpPr>
          <p:cNvPr id="84" name="Text 82"/>
          <p:cNvSpPr txBox="1"/>
          <p:nvPr/>
        </p:nvSpPr>
        <p:spPr>
          <a:xfrm>
            <a:off x="8119872" y="2240280"/>
            <a:ext cx="384048" cy="219456"/>
          </a:xfrm>
          <a:prstGeom prst="rect">
            <a:avLst/>
          </a:prstGeom>
          <a:noFill/>
          <a:ln/>
        </p:spPr>
        <p:txBody>
          <a:bodyPr wrap="square" lIns="0" tIns="0" rIns="0" bIns="0" rtlCol="0" anchor="ctr"/>
          <a:lstStyle/>
          <a:p>
            <a:pPr algn="r" indent="0" marL="0">
              <a:buNone/>
            </a:pPr>
            <a:r>
              <a:rPr lang="en-US" sz="900" b="1" dirty="0">
                <a:solidFill>
                  <a:srgbClr val="8A8FA3"/>
                </a:solidFill>
                <a:latin typeface="Arial" pitchFamily="34" charset="0"/>
                <a:ea typeface="Arial" pitchFamily="34" charset="-122"/>
                <a:cs typeface="Arial" pitchFamily="34" charset="-120"/>
              </a:rPr>
              <a:t>6</a:t>
            </a:r>
            <a:endParaRPr lang="en-US" sz="900" dirty="0"/>
          </a:p>
        </p:txBody>
      </p:sp>
      <p:sp>
        <p:nvSpPr>
          <p:cNvPr id="85" name="Shape 83"/>
          <p:cNvSpPr/>
          <p:nvPr/>
        </p:nvSpPr>
        <p:spPr>
          <a:xfrm>
            <a:off x="6263640" y="2487168"/>
            <a:ext cx="2286000" cy="219456"/>
          </a:xfrm>
          <a:prstGeom prst="rect">
            <a:avLst/>
          </a:prstGeom>
          <a:solidFill>
            <a:srgbClr val="F0F1F4"/>
          </a:solidFill>
          <a:ln w="12700">
            <a:solidFill>
              <a:srgbClr val="FFFFFF"/>
            </a:solidFill>
            <a:prstDash val="solid"/>
          </a:ln>
        </p:spPr>
      </p:sp>
      <p:sp>
        <p:nvSpPr>
          <p:cNvPr id="86" name="Text 84"/>
          <p:cNvSpPr txBox="1"/>
          <p:nvPr/>
        </p:nvSpPr>
        <p:spPr>
          <a:xfrm>
            <a:off x="6318504" y="2487168"/>
            <a:ext cx="1783080" cy="219456"/>
          </a:xfrm>
          <a:prstGeom prst="rect">
            <a:avLst/>
          </a:prstGeom>
          <a:noFill/>
          <a:ln/>
        </p:spPr>
        <p:txBody>
          <a:bodyPr wrap="square" lIns="0" tIns="0" rIns="0" bIns="0" rtlCol="0" anchor="ctr"/>
          <a:lstStyle/>
          <a:p>
            <a:pPr indent="0" marL="0">
              <a:buNone/>
            </a:pPr>
            <a:r>
              <a:rPr lang="en-US" sz="850" dirty="0">
                <a:solidFill>
                  <a:srgbClr val="1F2233"/>
                </a:solidFill>
                <a:latin typeface="Calibri" pitchFamily="34" charset="0"/>
                <a:ea typeface="Calibri" pitchFamily="34" charset="-122"/>
                <a:cs typeface="Calibri" pitchFamily="34" charset="-120"/>
              </a:rPr>
              <a:t>Numéro de téléphone</a:t>
            </a:r>
            <a:endParaRPr lang="en-US" sz="850" dirty="0"/>
          </a:p>
        </p:txBody>
      </p:sp>
      <p:sp>
        <p:nvSpPr>
          <p:cNvPr id="87" name="Text 85"/>
          <p:cNvSpPr txBox="1"/>
          <p:nvPr/>
        </p:nvSpPr>
        <p:spPr>
          <a:xfrm>
            <a:off x="8119872" y="2487168"/>
            <a:ext cx="384048" cy="219456"/>
          </a:xfrm>
          <a:prstGeom prst="rect">
            <a:avLst/>
          </a:prstGeom>
          <a:noFill/>
          <a:ln/>
        </p:spPr>
        <p:txBody>
          <a:bodyPr wrap="square" lIns="0" tIns="0" rIns="0" bIns="0" rtlCol="0" anchor="ctr"/>
          <a:lstStyle/>
          <a:p>
            <a:pPr algn="r" indent="0" marL="0">
              <a:buNone/>
            </a:pPr>
            <a:r>
              <a:rPr lang="en-US" sz="900" b="1" dirty="0">
                <a:solidFill>
                  <a:srgbClr val="8A8FA3"/>
                </a:solidFill>
                <a:latin typeface="Arial" pitchFamily="34" charset="0"/>
                <a:ea typeface="Arial" pitchFamily="34" charset="-122"/>
                <a:cs typeface="Arial" pitchFamily="34" charset="-120"/>
              </a:rPr>
              <a:t>4</a:t>
            </a:r>
            <a:endParaRPr lang="en-US" sz="900" dirty="0"/>
          </a:p>
        </p:txBody>
      </p:sp>
      <p:sp>
        <p:nvSpPr>
          <p:cNvPr id="88" name="Text 86"/>
          <p:cNvSpPr txBox="1"/>
          <p:nvPr/>
        </p:nvSpPr>
        <p:spPr>
          <a:xfrm>
            <a:off x="6263640" y="2880360"/>
            <a:ext cx="2377440" cy="1737360"/>
          </a:xfrm>
          <a:prstGeom prst="rect">
            <a:avLst/>
          </a:prstGeom>
          <a:noFill/>
          <a:ln/>
        </p:spPr>
        <p:txBody>
          <a:bodyPr wrap="square" lIns="0" tIns="0" rIns="0" bIns="0" rtlCol="0" anchor="t"/>
          <a:lstStyle/>
          <a:p>
            <a:pPr indent="0" marL="0">
              <a:buNone/>
            </a:pPr>
            <a:r>
              <a:rPr lang="en-US" sz="1000" b="1" dirty="0">
                <a:solidFill>
                  <a:srgbClr val="1F2233"/>
                </a:solidFill>
                <a:latin typeface="Calibri" pitchFamily="34" charset="0"/>
                <a:ea typeface="Calibri" pitchFamily="34" charset="-122"/>
                <a:cs typeface="Calibri" pitchFamily="34" charset="-120"/>
              </a:rPr>
              <a:t>Les 13 indispensables existent déjà dans votre télémétrie : </a:t>
            </a:r>
            <a:pPr indent="0" marL="0">
              <a:buNone/>
            </a:pPr>
            <a:r>
              <a:rPr lang="en-US" sz="1000" dirty="0">
                <a:solidFill>
                  <a:srgbClr val="1F2233"/>
                </a:solidFill>
                <a:latin typeface="Calibri" pitchFamily="34" charset="0"/>
                <a:ea typeface="Calibri" pitchFamily="34" charset="-122"/>
                <a:cs typeface="Calibri" pitchFamily="34" charset="-120"/>
              </a:rPr>
              <a:t>aucune nouvelle collecte pour l'audit. Les deux collectes nouvelles (sondage, question d'onboarding) sont facultatives, sous consentement, après l'audit.</a:t>
            </a:r>
            <a:endParaRPr lang="en-US" sz="1000" dirty="0"/>
          </a:p>
        </p:txBody>
      </p:sp>
      <p:sp>
        <p:nvSpPr>
          <p:cNvPr id="89" name="Text 87"/>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plan de collecte complet (justification de chaque note)</a:t>
            </a:r>
            <a:endParaRPr lang="en-US" sz="850" dirty="0"/>
          </a:p>
        </p:txBody>
      </p:sp>
      <p:sp>
        <p:nvSpPr>
          <p:cNvPr id="90" name="Text 88"/>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5F9"/>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Puis tester le levier qui correspond à la cause</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Recommandation · tests A/B de 60 jours, seulement si l'audit confirme le problème</a:t>
            </a:r>
            <a:endParaRPr lang="en-US" sz="1200" dirty="0"/>
          </a:p>
        </p:txBody>
      </p:sp>
      <p:sp>
        <p:nvSpPr>
          <p:cNvPr id="4" name="Shape 2"/>
          <p:cNvSpPr/>
          <p:nvPr/>
        </p:nvSpPr>
        <p:spPr>
          <a:xfrm>
            <a:off x="457200" y="1170432"/>
            <a:ext cx="2651760" cy="2926080"/>
          </a:xfrm>
          <a:prstGeom prst="roundRect">
            <a:avLst>
              <a:gd name="adj" fmla="val 2759"/>
            </a:avLst>
          </a:prstGeom>
          <a:solidFill>
            <a:srgbClr val="FFFFFF"/>
          </a:solidFill>
          <a:ln w="12700">
            <a:solidFill>
              <a:srgbClr val="E3E5EE"/>
            </a:solidFill>
            <a:prstDash val="solid"/>
          </a:ln>
        </p:spPr>
      </p:sp>
      <p:sp>
        <p:nvSpPr>
          <p:cNvPr id="5" name="Shape 3"/>
          <p:cNvSpPr/>
          <p:nvPr/>
        </p:nvSpPr>
        <p:spPr>
          <a:xfrm>
            <a:off x="594360" y="1280160"/>
            <a:ext cx="365760" cy="365760"/>
          </a:xfrm>
          <a:prstGeom prst="ellipse">
            <a:avLst/>
          </a:prstGeom>
          <a:solidFill>
            <a:srgbClr val="E23636"/>
          </a:solidFill>
          <a:ln w="12700">
            <a:solidFill>
              <a:srgbClr val="E23636"/>
            </a:solidFill>
            <a:prstDash val="solid"/>
          </a:ln>
        </p:spPr>
      </p:sp>
      <p:pic>
        <p:nvPicPr>
          <p:cNvPr id="6" name="Image 0" descr="preencoded.png">    </p:cNvPr>
          <p:cNvPicPr>
            <a:picLocks noChangeAspect="1"/>
          </p:cNvPicPr>
          <p:nvPr/>
        </p:nvPicPr>
        <p:blipFill>
          <a:blip r:embed="rId1"/>
          <a:stretch>
            <a:fillRect/>
          </a:stretch>
        </p:blipFill>
        <p:spPr>
          <a:xfrm>
            <a:off x="685800" y="1371600"/>
            <a:ext cx="182880" cy="182880"/>
          </a:xfrm>
          <a:prstGeom prst="rect">
            <a:avLst/>
          </a:prstGeom>
        </p:spPr>
      </p:pic>
      <p:sp>
        <p:nvSpPr>
          <p:cNvPr id="7" name="Text 4"/>
          <p:cNvSpPr txBox="1"/>
          <p:nvPr/>
        </p:nvSpPr>
        <p:spPr>
          <a:xfrm>
            <a:off x="1024128" y="1280160"/>
            <a:ext cx="2011680" cy="36576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A · Démarrage à froid</a:t>
            </a:r>
            <a:endParaRPr lang="en-US" sz="1200" dirty="0"/>
          </a:p>
        </p:txBody>
      </p:sp>
      <p:sp>
        <p:nvSpPr>
          <p:cNvPr id="8" name="Text 5"/>
          <p:cNvSpPr txBox="1"/>
          <p:nvPr/>
        </p:nvSpPr>
        <p:spPr>
          <a:xfrm>
            <a:off x="594360" y="1737360"/>
            <a:ext cx="2377440" cy="566928"/>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Le jeu ne connaît pas le niveau d'un nouveau compte et le place mal.</a:t>
            </a:r>
            <a:endParaRPr lang="en-US" sz="1000" dirty="0"/>
          </a:p>
        </p:txBody>
      </p:sp>
      <p:sp>
        <p:nvSpPr>
          <p:cNvPr id="9" name="Text 6"/>
          <p:cNvSpPr txBox="1"/>
          <p:nvPr/>
        </p:nvSpPr>
        <p:spPr>
          <a:xfrm>
            <a:off x="594360" y="2331720"/>
            <a:ext cx="2377440" cy="566928"/>
          </a:xfrm>
          <a:prstGeom prst="rect">
            <a:avLst/>
          </a:prstGeom>
          <a:noFill/>
          <a:ln/>
        </p:spPr>
        <p:txBody>
          <a:bodyPr wrap="square" lIns="0" tIns="0" rIns="0" bIns="0" rtlCol="0" anchor="t"/>
          <a:lstStyle/>
          <a:p>
            <a:pPr indent="0" marL="0">
              <a:buNone/>
            </a:pPr>
            <a:r>
              <a:rPr lang="en-US" sz="950" b="1" dirty="0">
                <a:solidFill>
                  <a:srgbClr val="E23636"/>
                </a:solidFill>
                <a:latin typeface="Calibri" pitchFamily="34" charset="0"/>
                <a:ea typeface="Calibri" pitchFamily="34" charset="-122"/>
                <a:cs typeface="Calibri" pitchFamily="34" charset="-120"/>
              </a:rPr>
              <a:t>Signe : </a:t>
            </a:r>
            <a:pPr indent="0" marL="0">
              <a:buNone/>
            </a:pPr>
            <a:r>
              <a:rPr lang="en-US" sz="950" i="1" dirty="0">
                <a:solidFill>
                  <a:srgbClr val="5E6378"/>
                </a:solidFill>
                <a:latin typeface="Calibri" pitchFamily="34" charset="0"/>
                <a:ea typeface="Calibri" pitchFamily="34" charset="-122"/>
                <a:cs typeface="Calibri" pitchFamily="34" charset="-120"/>
              </a:rPr>
              <a:t>Écart fort sur les premiers matchs, à toute heure.</a:t>
            </a:r>
            <a:endParaRPr lang="en-US" sz="950" dirty="0"/>
          </a:p>
        </p:txBody>
      </p:sp>
      <p:sp>
        <p:nvSpPr>
          <p:cNvPr id="10" name="Text 7"/>
          <p:cNvSpPr txBox="1"/>
          <p:nvPr/>
        </p:nvSpPr>
        <p:spPr>
          <a:xfrm>
            <a:off x="548640" y="2971800"/>
            <a:ext cx="2468880" cy="1051560"/>
          </a:xfrm>
          <a:prstGeom prst="rect">
            <a:avLst/>
          </a:prstGeom>
          <a:noFill/>
          <a:ln/>
        </p:spPr>
        <p:txBody>
          <a:bodyPr wrap="square" lIns="0" tIns="0" rIns="0" bIns="0" rtlCol="0" anchor="t"/>
          <a:lstStyle/>
          <a:p>
            <a:pPr indent="0" marL="0">
              <a:buNone/>
            </a:pPr>
            <a:r>
              <a:rPr lang="en-US" sz="1000" b="1" dirty="0">
                <a:solidFill>
                  <a:srgbClr val="E23636"/>
                </a:solidFill>
                <a:latin typeface="Calibri" pitchFamily="34" charset="0"/>
                <a:ea typeface="Calibri" pitchFamily="34" charset="-122"/>
                <a:cs typeface="Calibri" pitchFamily="34" charset="-120"/>
              </a:rPr>
              <a:t>Leviers à tester</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Niveau de départ plus prudent</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File débutants jusqu'au niveau 15</a:t>
            </a:r>
            <a:endParaRPr lang="en-US" sz="1000" dirty="0"/>
          </a:p>
        </p:txBody>
      </p:sp>
      <p:sp>
        <p:nvSpPr>
          <p:cNvPr id="11" name="Shape 8"/>
          <p:cNvSpPr/>
          <p:nvPr/>
        </p:nvSpPr>
        <p:spPr>
          <a:xfrm>
            <a:off x="3246120" y="1170432"/>
            <a:ext cx="2651760" cy="2926080"/>
          </a:xfrm>
          <a:prstGeom prst="roundRect">
            <a:avLst>
              <a:gd name="adj" fmla="val 2759"/>
            </a:avLst>
          </a:prstGeom>
          <a:solidFill>
            <a:srgbClr val="FFFFFF"/>
          </a:solidFill>
          <a:ln w="12700">
            <a:solidFill>
              <a:srgbClr val="E3E5EE"/>
            </a:solidFill>
            <a:prstDash val="solid"/>
          </a:ln>
        </p:spPr>
      </p:sp>
      <p:sp>
        <p:nvSpPr>
          <p:cNvPr id="12" name="Shape 9"/>
          <p:cNvSpPr/>
          <p:nvPr/>
        </p:nvSpPr>
        <p:spPr>
          <a:xfrm>
            <a:off x="3383280" y="1280160"/>
            <a:ext cx="365760" cy="365760"/>
          </a:xfrm>
          <a:prstGeom prst="ellipse">
            <a:avLst/>
          </a:prstGeom>
          <a:solidFill>
            <a:srgbClr val="161A33"/>
          </a:solidFill>
          <a:ln w="12700">
            <a:solidFill>
              <a:srgbClr val="161A33"/>
            </a:solidFill>
            <a:prstDash val="solid"/>
          </a:ln>
        </p:spPr>
      </p:sp>
      <p:pic>
        <p:nvPicPr>
          <p:cNvPr id="13" name="Image 1" descr="preencoded.png">    </p:cNvPr>
          <p:cNvPicPr>
            <a:picLocks noChangeAspect="1"/>
          </p:cNvPicPr>
          <p:nvPr/>
        </p:nvPicPr>
        <p:blipFill>
          <a:blip r:embed="rId2"/>
          <a:stretch>
            <a:fillRect/>
          </a:stretch>
        </p:blipFill>
        <p:spPr>
          <a:xfrm>
            <a:off x="3474720" y="1371600"/>
            <a:ext cx="182880" cy="182880"/>
          </a:xfrm>
          <a:prstGeom prst="rect">
            <a:avLst/>
          </a:prstGeom>
        </p:spPr>
      </p:pic>
      <p:sp>
        <p:nvSpPr>
          <p:cNvPr id="14" name="Text 10"/>
          <p:cNvSpPr txBox="1"/>
          <p:nvPr/>
        </p:nvSpPr>
        <p:spPr>
          <a:xfrm>
            <a:off x="3813048" y="1280160"/>
            <a:ext cx="2011680" cy="36576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B · Manque de joueurs</a:t>
            </a:r>
            <a:endParaRPr lang="en-US" sz="1200" dirty="0"/>
          </a:p>
        </p:txBody>
      </p:sp>
      <p:sp>
        <p:nvSpPr>
          <p:cNvPr id="15" name="Text 11"/>
          <p:cNvSpPr txBox="1"/>
          <p:nvPr/>
        </p:nvSpPr>
        <p:spPr>
          <a:xfrm>
            <a:off x="3383280" y="1737360"/>
            <a:ext cx="2377440" cy="566928"/>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File vide : le jeu accepte des écarts plus grands pour lancer la partie.</a:t>
            </a:r>
            <a:endParaRPr lang="en-US" sz="1000" dirty="0"/>
          </a:p>
        </p:txBody>
      </p:sp>
      <p:sp>
        <p:nvSpPr>
          <p:cNvPr id="16" name="Text 12"/>
          <p:cNvSpPr txBox="1"/>
          <p:nvPr/>
        </p:nvSpPr>
        <p:spPr>
          <a:xfrm>
            <a:off x="3383280" y="2331720"/>
            <a:ext cx="2377440" cy="566928"/>
          </a:xfrm>
          <a:prstGeom prst="rect">
            <a:avLst/>
          </a:prstGeom>
          <a:noFill/>
          <a:ln/>
        </p:spPr>
        <p:txBody>
          <a:bodyPr wrap="square" lIns="0" tIns="0" rIns="0" bIns="0" rtlCol="0" anchor="t"/>
          <a:lstStyle/>
          <a:p>
            <a:pPr indent="0" marL="0">
              <a:buNone/>
            </a:pPr>
            <a:r>
              <a:rPr lang="en-US" sz="950" b="1" dirty="0">
                <a:solidFill>
                  <a:srgbClr val="161A33"/>
                </a:solidFill>
                <a:latin typeface="Calibri" pitchFamily="34" charset="0"/>
                <a:ea typeface="Calibri" pitchFamily="34" charset="-122"/>
                <a:cs typeface="Calibri" pitchFamily="34" charset="-120"/>
              </a:rPr>
              <a:t>Signe : </a:t>
            </a:r>
            <a:pPr indent="0" marL="0">
              <a:buNone/>
            </a:pPr>
            <a:r>
              <a:rPr lang="en-US" sz="950" i="1" dirty="0">
                <a:solidFill>
                  <a:srgbClr val="5E6378"/>
                </a:solidFill>
                <a:latin typeface="Calibri" pitchFamily="34" charset="0"/>
                <a:ea typeface="Calibri" pitchFamily="34" charset="-122"/>
                <a:cs typeface="Calibri" pitchFamily="34" charset="-120"/>
              </a:rPr>
              <a:t>L'écart grandit quand la file se vide.</a:t>
            </a:r>
            <a:endParaRPr lang="en-US" sz="950" dirty="0"/>
          </a:p>
        </p:txBody>
      </p:sp>
      <p:sp>
        <p:nvSpPr>
          <p:cNvPr id="17" name="Text 13"/>
          <p:cNvSpPr txBox="1"/>
          <p:nvPr/>
        </p:nvSpPr>
        <p:spPr>
          <a:xfrm>
            <a:off x="3337560" y="2971800"/>
            <a:ext cx="2468880" cy="1051560"/>
          </a:xfrm>
          <a:prstGeom prst="rect">
            <a:avLst/>
          </a:prstGeom>
          <a:noFill/>
          <a:ln/>
        </p:spPr>
        <p:txBody>
          <a:bodyPr wrap="square" lIns="0" tIns="0" rIns="0" bIns="0" rtlCol="0" anchor="t"/>
          <a:lstStyle/>
          <a:p>
            <a:pPr indent="0" marL="0">
              <a:buNone/>
            </a:pPr>
            <a:r>
              <a:rPr lang="en-US" sz="1000" b="1" dirty="0">
                <a:solidFill>
                  <a:srgbClr val="161A33"/>
                </a:solidFill>
                <a:latin typeface="Calibri" pitchFamily="34" charset="0"/>
                <a:ea typeface="Calibri" pitchFamily="34" charset="-122"/>
                <a:cs typeface="Calibri" pitchFamily="34" charset="-120"/>
              </a:rPr>
              <a:t>Leviers à tester</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Écart resserré aux heures creuses</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Arrêt si 10 % attendent plus de 5 min</a:t>
            </a:r>
            <a:endParaRPr lang="en-US" sz="1000" dirty="0"/>
          </a:p>
        </p:txBody>
      </p:sp>
      <p:sp>
        <p:nvSpPr>
          <p:cNvPr id="18" name="Shape 14"/>
          <p:cNvSpPr/>
          <p:nvPr/>
        </p:nvSpPr>
        <p:spPr>
          <a:xfrm>
            <a:off x="6035040" y="1170432"/>
            <a:ext cx="2651760" cy="2926080"/>
          </a:xfrm>
          <a:prstGeom prst="roundRect">
            <a:avLst>
              <a:gd name="adj" fmla="val 2759"/>
            </a:avLst>
          </a:prstGeom>
          <a:solidFill>
            <a:srgbClr val="FFFFFF"/>
          </a:solidFill>
          <a:ln w="12700">
            <a:solidFill>
              <a:srgbClr val="E3E5EE"/>
            </a:solidFill>
            <a:prstDash val="solid"/>
          </a:ln>
        </p:spPr>
      </p:sp>
      <p:sp>
        <p:nvSpPr>
          <p:cNvPr id="19" name="Shape 15"/>
          <p:cNvSpPr/>
          <p:nvPr/>
        </p:nvSpPr>
        <p:spPr>
          <a:xfrm>
            <a:off x="6172200" y="1280160"/>
            <a:ext cx="365760" cy="365760"/>
          </a:xfrm>
          <a:prstGeom prst="ellipse">
            <a:avLst/>
          </a:prstGeom>
          <a:solidFill>
            <a:srgbClr val="B7791F"/>
          </a:solidFill>
          <a:ln w="12700">
            <a:solidFill>
              <a:srgbClr val="B7791F"/>
            </a:solidFill>
            <a:prstDash val="solid"/>
          </a:ln>
        </p:spPr>
      </p:sp>
      <p:pic>
        <p:nvPicPr>
          <p:cNvPr id="20" name="Image 2" descr="preencoded.png">    </p:cNvPr>
          <p:cNvPicPr>
            <a:picLocks noChangeAspect="1"/>
          </p:cNvPicPr>
          <p:nvPr/>
        </p:nvPicPr>
        <p:blipFill>
          <a:blip r:embed="rId3"/>
          <a:stretch>
            <a:fillRect/>
          </a:stretch>
        </p:blipFill>
        <p:spPr>
          <a:xfrm>
            <a:off x="6263640" y="1371600"/>
            <a:ext cx="182880" cy="182880"/>
          </a:xfrm>
          <a:prstGeom prst="rect">
            <a:avLst/>
          </a:prstGeom>
        </p:spPr>
      </p:pic>
      <p:sp>
        <p:nvSpPr>
          <p:cNvPr id="21" name="Text 16"/>
          <p:cNvSpPr txBox="1"/>
          <p:nvPr/>
        </p:nvSpPr>
        <p:spPr>
          <a:xfrm>
            <a:off x="6601968" y="1280160"/>
            <a:ext cx="2011680" cy="36576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C · Rang périmé au retour</a:t>
            </a:r>
            <a:endParaRPr lang="en-US" sz="1200" dirty="0"/>
          </a:p>
        </p:txBody>
      </p:sp>
      <p:sp>
        <p:nvSpPr>
          <p:cNvPr id="22" name="Text 17"/>
          <p:cNvSpPr txBox="1"/>
          <p:nvPr/>
        </p:nvSpPr>
        <p:spPr>
          <a:xfrm>
            <a:off x="6172200" y="1737360"/>
            <a:ext cx="2377440" cy="566928"/>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Le rang ne tient pas compte de la durée d'absence.</a:t>
            </a:r>
            <a:endParaRPr lang="en-US" sz="1000" dirty="0"/>
          </a:p>
        </p:txBody>
      </p:sp>
      <p:sp>
        <p:nvSpPr>
          <p:cNvPr id="23" name="Text 18"/>
          <p:cNvSpPr txBox="1"/>
          <p:nvPr/>
        </p:nvSpPr>
        <p:spPr>
          <a:xfrm>
            <a:off x="6172200" y="2331720"/>
            <a:ext cx="2377440" cy="566928"/>
          </a:xfrm>
          <a:prstGeom prst="rect">
            <a:avLst/>
          </a:prstGeom>
          <a:noFill/>
          <a:ln/>
        </p:spPr>
        <p:txBody>
          <a:bodyPr wrap="square" lIns="0" tIns="0" rIns="0" bIns="0" rtlCol="0" anchor="t"/>
          <a:lstStyle/>
          <a:p>
            <a:pPr indent="0" marL="0">
              <a:buNone/>
            </a:pPr>
            <a:r>
              <a:rPr lang="en-US" sz="950" b="1" dirty="0">
                <a:solidFill>
                  <a:srgbClr val="B7791F"/>
                </a:solidFill>
                <a:latin typeface="Calibri" pitchFamily="34" charset="0"/>
                <a:ea typeface="Calibri" pitchFamily="34" charset="-122"/>
                <a:cs typeface="Calibri" pitchFamily="34" charset="-120"/>
              </a:rPr>
              <a:t>Signe : </a:t>
            </a:r>
            <a:pPr indent="0" marL="0">
              <a:buNone/>
            </a:pPr>
            <a:r>
              <a:rPr lang="en-US" sz="950" i="1" dirty="0">
                <a:solidFill>
                  <a:srgbClr val="5E6378"/>
                </a:solidFill>
                <a:latin typeface="Calibri" pitchFamily="34" charset="0"/>
                <a:ea typeface="Calibri" pitchFamily="34" charset="-122"/>
                <a:cs typeface="Calibri" pitchFamily="34" charset="-120"/>
              </a:rPr>
              <a:t>Les revenants perdent plus, d'autant plus que l'absence a été longue.</a:t>
            </a:r>
            <a:endParaRPr lang="en-US" sz="950" dirty="0"/>
          </a:p>
        </p:txBody>
      </p:sp>
      <p:sp>
        <p:nvSpPr>
          <p:cNvPr id="24" name="Text 19"/>
          <p:cNvSpPr txBox="1"/>
          <p:nvPr/>
        </p:nvSpPr>
        <p:spPr>
          <a:xfrm>
            <a:off x="6126480" y="2971800"/>
            <a:ext cx="2468880" cy="1051560"/>
          </a:xfrm>
          <a:prstGeom prst="rect">
            <a:avLst/>
          </a:prstGeom>
          <a:noFill/>
          <a:ln/>
        </p:spPr>
        <p:txBody>
          <a:bodyPr wrap="square" lIns="0" tIns="0" rIns="0" bIns="0" rtlCol="0" anchor="t"/>
          <a:lstStyle/>
          <a:p>
            <a:pPr indent="0" marL="0">
              <a:buNone/>
            </a:pPr>
            <a:r>
              <a:rPr lang="en-US" sz="1000" b="1" dirty="0">
                <a:solidFill>
                  <a:srgbClr val="B7791F"/>
                </a:solidFill>
                <a:latin typeface="Calibri" pitchFamily="34" charset="0"/>
                <a:ea typeface="Calibri" pitchFamily="34" charset="-122"/>
                <a:cs typeface="Calibri" pitchFamily="34" charset="-120"/>
              </a:rPr>
              <a:t>Leviers à tester</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Matchs de recalibrage au retour</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Baisse de rang selon l'absence</a:t>
            </a:r>
            <a:endParaRPr lang="en-US" sz="1000" dirty="0"/>
          </a:p>
        </p:txBody>
      </p:sp>
      <p:sp>
        <p:nvSpPr>
          <p:cNvPr id="25" name="Text 20"/>
          <p:cNvSpPr txBox="1"/>
          <p:nvPr/>
        </p:nvSpPr>
        <p:spPr>
          <a:xfrm>
            <a:off x="457200" y="4206240"/>
            <a:ext cx="8229600" cy="502920"/>
          </a:xfrm>
          <a:prstGeom prst="rect">
            <a:avLst/>
          </a:prstGeom>
          <a:noFill/>
          <a:ln/>
        </p:spPr>
        <p:txBody>
          <a:bodyPr wrap="square" lIns="0" tIns="0" rIns="0" bIns="0" rtlCol="0" anchor="ctr"/>
          <a:lstStyle/>
          <a:p>
            <a:pPr indent="0" marL="0">
              <a:buNone/>
            </a:pPr>
            <a:r>
              <a:rPr lang="en-US" sz="1050" b="1" dirty="0">
                <a:solidFill>
                  <a:srgbClr val="1F2233"/>
                </a:solidFill>
                <a:latin typeface="Calibri" pitchFamily="34" charset="0"/>
                <a:ea typeface="Calibri" pitchFamily="34" charset="-122"/>
                <a:cs typeface="Calibri" pitchFamily="34" charset="-120"/>
              </a:rPr>
              <a:t>Dans tous les cas : </a:t>
            </a:r>
            <a:pPr indent="0" marL="0">
              <a:buNone/>
            </a:pPr>
            <a:r>
              <a:rPr lang="en-US" sz="1050" dirty="0">
                <a:solidFill>
                  <a:srgbClr val="1F2233"/>
                </a:solidFill>
                <a:latin typeface="Calibri" pitchFamily="34" charset="0"/>
                <a:ea typeface="Calibri" pitchFamily="34" charset="-122"/>
                <a:cs typeface="Calibri" pitchFamily="34" charset="-120"/>
              </a:rPr>
              <a:t>groupes séparés des joueurs seuls pour les nouveaux, étiquette « match d'entraînement » sur les parties avec bots, groupe témoin tiré au sort.</a:t>
            </a:r>
            <a:endParaRPr lang="en-US" sz="1050" dirty="0"/>
          </a:p>
        </p:txBody>
      </p:sp>
      <p:sp>
        <p:nvSpPr>
          <p:cNvPr id="26" name="Text 21"/>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vidéo NetEase du 21/08/2025</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Dev Talk Vol.10</a:t>
            </a:r>
            <a:endParaRPr lang="en-US" sz="850" dirty="0"/>
          </a:p>
        </p:txBody>
      </p:sp>
      <p:sp>
        <p:nvSpPr>
          <p:cNvPr id="27" name="Text 22"/>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Ce que nous avons volontairement écarté</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Recommandation · arbitrages : moins de données, mieux choisies</a:t>
            </a:r>
            <a:endParaRPr lang="en-US" sz="1200" dirty="0"/>
          </a:p>
        </p:txBody>
      </p:sp>
      <p:sp>
        <p:nvSpPr>
          <p:cNvPr id="4" name="Shape 2"/>
          <p:cNvSpPr/>
          <p:nvPr/>
        </p:nvSpPr>
        <p:spPr>
          <a:xfrm>
            <a:off x="457200" y="1234440"/>
            <a:ext cx="411480" cy="411480"/>
          </a:xfrm>
          <a:prstGeom prst="ellipse">
            <a:avLst/>
          </a:prstGeom>
          <a:solidFill>
            <a:srgbClr val="8A8FA3"/>
          </a:solidFill>
          <a:ln w="12700">
            <a:solidFill>
              <a:srgbClr val="8A8FA3"/>
            </a:solidFill>
            <a:prstDash val="solid"/>
          </a:ln>
        </p:spPr>
      </p:sp>
      <p:pic>
        <p:nvPicPr>
          <p:cNvPr id="5" name="Image 0" descr="preencoded.png">    </p:cNvPr>
          <p:cNvPicPr>
            <a:picLocks noChangeAspect="1"/>
          </p:cNvPicPr>
          <p:nvPr/>
        </p:nvPicPr>
        <p:blipFill>
          <a:blip r:embed="rId1"/>
          <a:stretch>
            <a:fillRect/>
          </a:stretch>
        </p:blipFill>
        <p:spPr>
          <a:xfrm>
            <a:off x="560070" y="1337310"/>
            <a:ext cx="205740" cy="205740"/>
          </a:xfrm>
          <a:prstGeom prst="rect">
            <a:avLst/>
          </a:prstGeom>
        </p:spPr>
      </p:pic>
      <p:sp>
        <p:nvSpPr>
          <p:cNvPr id="6" name="Text 3"/>
          <p:cNvSpPr txBox="1"/>
          <p:nvPr/>
        </p:nvSpPr>
        <p:spPr>
          <a:xfrm>
            <a:off x="1005840" y="11887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Historique sur d'autres jeux, chat complet, âge exact, téléphone</a:t>
            </a:r>
            <a:endParaRPr lang="en-US" sz="1200" dirty="0"/>
          </a:p>
        </p:txBody>
      </p:sp>
      <p:sp>
        <p:nvSpPr>
          <p:cNvPr id="7" name="Text 4"/>
          <p:cNvSpPr txBox="1"/>
          <p:nvPr/>
        </p:nvSpPr>
        <p:spPr>
          <a:xfrm>
            <a:off x="1005840" y="14630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Aucune décision ne les exige ; risque RGPD élevé (minimisation, Art. 5.1.c).</a:t>
            </a:r>
            <a:endParaRPr lang="en-US" sz="1050" dirty="0"/>
          </a:p>
        </p:txBody>
      </p:sp>
      <p:sp>
        <p:nvSpPr>
          <p:cNvPr id="8" name="Shape 5"/>
          <p:cNvSpPr/>
          <p:nvPr/>
        </p:nvSpPr>
        <p:spPr>
          <a:xfrm>
            <a:off x="457200" y="1920240"/>
            <a:ext cx="411480" cy="411480"/>
          </a:xfrm>
          <a:prstGeom prst="ellipse">
            <a:avLst/>
          </a:prstGeom>
          <a:solidFill>
            <a:srgbClr val="8A8FA3"/>
          </a:solidFill>
          <a:ln w="12700">
            <a:solidFill>
              <a:srgbClr val="8A8FA3"/>
            </a:solidFill>
            <a:prstDash val="solid"/>
          </a:ln>
        </p:spPr>
      </p:sp>
      <p:pic>
        <p:nvPicPr>
          <p:cNvPr id="9" name="Image 1" descr="preencoded.png">    </p:cNvPr>
          <p:cNvPicPr>
            <a:picLocks noChangeAspect="1"/>
          </p:cNvPicPr>
          <p:nvPr/>
        </p:nvPicPr>
        <p:blipFill>
          <a:blip r:embed="rId2"/>
          <a:stretch>
            <a:fillRect/>
          </a:stretch>
        </p:blipFill>
        <p:spPr>
          <a:xfrm>
            <a:off x="560070" y="2023110"/>
            <a:ext cx="205740" cy="205740"/>
          </a:xfrm>
          <a:prstGeom prst="rect">
            <a:avLst/>
          </a:prstGeom>
        </p:spPr>
      </p:pic>
      <p:sp>
        <p:nvSpPr>
          <p:cNvPr id="10" name="Text 6"/>
          <p:cNvSpPr txBox="1"/>
          <p:nvPr/>
        </p:nvSpPr>
        <p:spPr>
          <a:xfrm>
            <a:off x="1005840" y="18745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Benchmark Newzoo des flux entre jeux</a:t>
            </a:r>
            <a:endParaRPr lang="en-US" sz="1200" dirty="0"/>
          </a:p>
        </p:txBody>
      </p:sp>
      <p:sp>
        <p:nvSpPr>
          <p:cNvPr id="11" name="Text 7"/>
          <p:cNvSpPr txBox="1"/>
          <p:nvPr/>
        </p:nvSpPr>
        <p:spPr>
          <a:xfrm>
            <a:off x="1005840" y="21488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Panel biaisé vers les joueurs engagés : inutilisable pour des débutants (ICE 12).</a:t>
            </a:r>
            <a:endParaRPr lang="en-US" sz="1050" dirty="0"/>
          </a:p>
        </p:txBody>
      </p:sp>
      <p:sp>
        <p:nvSpPr>
          <p:cNvPr id="12" name="Shape 8"/>
          <p:cNvSpPr/>
          <p:nvPr/>
        </p:nvSpPr>
        <p:spPr>
          <a:xfrm>
            <a:off x="457200" y="2606040"/>
            <a:ext cx="411480" cy="411480"/>
          </a:xfrm>
          <a:prstGeom prst="ellipse">
            <a:avLst/>
          </a:prstGeom>
          <a:solidFill>
            <a:srgbClr val="8A8FA3"/>
          </a:solidFill>
          <a:ln w="12700">
            <a:solidFill>
              <a:srgbClr val="8A8FA3"/>
            </a:solidFill>
            <a:prstDash val="solid"/>
          </a:ln>
        </p:spPr>
      </p:sp>
      <p:pic>
        <p:nvPicPr>
          <p:cNvPr id="13" name="Image 2" descr="preencoded.png">    </p:cNvPr>
          <p:cNvPicPr>
            <a:picLocks noChangeAspect="1"/>
          </p:cNvPicPr>
          <p:nvPr/>
        </p:nvPicPr>
        <p:blipFill>
          <a:blip r:embed="rId3"/>
          <a:stretch>
            <a:fillRect/>
          </a:stretch>
        </p:blipFill>
        <p:spPr>
          <a:xfrm>
            <a:off x="560070" y="2708910"/>
            <a:ext cx="205740" cy="205740"/>
          </a:xfrm>
          <a:prstGeom prst="rect">
            <a:avLst/>
          </a:prstGeom>
        </p:spPr>
      </p:pic>
      <p:sp>
        <p:nvSpPr>
          <p:cNvPr id="14" name="Text 9"/>
          <p:cNvSpPr txBox="1"/>
          <p:nvPr/>
        </p:nvSpPr>
        <p:spPr>
          <a:xfrm>
            <a:off x="1005840" y="25603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Rôles imposés (role queue)</a:t>
            </a:r>
            <a:endParaRPr lang="en-US" sz="1200" dirty="0"/>
          </a:p>
        </p:txBody>
      </p:sp>
      <p:sp>
        <p:nvSpPr>
          <p:cNvPr id="15" name="Text 10"/>
          <p:cNvSpPr txBox="1"/>
          <p:nvPr/>
        </p:nvSpPr>
        <p:spPr>
          <a:xfrm>
            <a:off x="1005840" y="28346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Contraire à l'identité du jeu, assumée par NetEase : alerte au producteur, pas de test sans son accord.</a:t>
            </a:r>
            <a:endParaRPr lang="en-US" sz="1050" dirty="0"/>
          </a:p>
        </p:txBody>
      </p:sp>
      <p:sp>
        <p:nvSpPr>
          <p:cNvPr id="16" name="Shape 11"/>
          <p:cNvSpPr/>
          <p:nvPr/>
        </p:nvSpPr>
        <p:spPr>
          <a:xfrm>
            <a:off x="457200" y="3291840"/>
            <a:ext cx="411480" cy="411480"/>
          </a:xfrm>
          <a:prstGeom prst="ellipse">
            <a:avLst/>
          </a:prstGeom>
          <a:solidFill>
            <a:srgbClr val="8A8FA3"/>
          </a:solidFill>
          <a:ln w="12700">
            <a:solidFill>
              <a:srgbClr val="8A8FA3"/>
            </a:solidFill>
            <a:prstDash val="solid"/>
          </a:ln>
        </p:spPr>
      </p:sp>
      <p:pic>
        <p:nvPicPr>
          <p:cNvPr id="17" name="Image 3" descr="preencoded.png">    </p:cNvPr>
          <p:cNvPicPr>
            <a:picLocks noChangeAspect="1"/>
          </p:cNvPicPr>
          <p:nvPr/>
        </p:nvPicPr>
        <p:blipFill>
          <a:blip r:embed="rId4"/>
          <a:stretch>
            <a:fillRect/>
          </a:stretch>
        </p:blipFill>
        <p:spPr>
          <a:xfrm>
            <a:off x="560070" y="3394710"/>
            <a:ext cx="205740" cy="205740"/>
          </a:xfrm>
          <a:prstGeom prst="rect">
            <a:avLst/>
          </a:prstGeom>
        </p:spPr>
      </p:pic>
      <p:sp>
        <p:nvSpPr>
          <p:cNvPr id="18" name="Text 12"/>
          <p:cNvSpPr txBox="1"/>
          <p:nvPr/>
        </p:nvSpPr>
        <p:spPr>
          <a:xfrm>
            <a:off x="1005840" y="32461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Toxicité</a:t>
            </a:r>
            <a:endParaRPr lang="en-US" sz="1200" dirty="0"/>
          </a:p>
        </p:txBody>
      </p:sp>
      <p:sp>
        <p:nvSpPr>
          <p:cNvPr id="19" name="Text 13"/>
          <p:cNvSpPr txBox="1"/>
          <p:nvPr/>
        </p:nvSpPr>
        <p:spPr>
          <a:xfrm>
            <a:off x="1005840" y="35204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Hors du périmètre matchmaking ; le tirage au sort des tests neutralise son effet sur la mesure.</a:t>
            </a:r>
            <a:endParaRPr lang="en-US" sz="1050" dirty="0"/>
          </a:p>
        </p:txBody>
      </p:sp>
      <p:sp>
        <p:nvSpPr>
          <p:cNvPr id="20" name="Shape 14"/>
          <p:cNvSpPr/>
          <p:nvPr/>
        </p:nvSpPr>
        <p:spPr>
          <a:xfrm>
            <a:off x="457200" y="3977640"/>
            <a:ext cx="411480" cy="411480"/>
          </a:xfrm>
          <a:prstGeom prst="ellipse">
            <a:avLst/>
          </a:prstGeom>
          <a:solidFill>
            <a:srgbClr val="8A8FA3"/>
          </a:solidFill>
          <a:ln w="12700">
            <a:solidFill>
              <a:srgbClr val="8A8FA3"/>
            </a:solidFill>
            <a:prstDash val="solid"/>
          </a:ln>
        </p:spPr>
      </p:sp>
      <p:pic>
        <p:nvPicPr>
          <p:cNvPr id="21" name="Image 4" descr="preencoded.png">    </p:cNvPr>
          <p:cNvPicPr>
            <a:picLocks noChangeAspect="1"/>
          </p:cNvPicPr>
          <p:nvPr/>
        </p:nvPicPr>
        <p:blipFill>
          <a:blip r:embed="rId5"/>
          <a:stretch>
            <a:fillRect/>
          </a:stretch>
        </p:blipFill>
        <p:spPr>
          <a:xfrm>
            <a:off x="560070" y="4080510"/>
            <a:ext cx="205740" cy="205740"/>
          </a:xfrm>
          <a:prstGeom prst="rect">
            <a:avLst/>
          </a:prstGeom>
        </p:spPr>
      </p:pic>
      <p:sp>
        <p:nvSpPr>
          <p:cNvPr id="22" name="Text 15"/>
          <p:cNvSpPr txBox="1"/>
          <p:nvPr/>
        </p:nvSpPr>
        <p:spPr>
          <a:xfrm>
            <a:off x="1005840" y="39319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Avis Steam comme preuve</a:t>
            </a:r>
            <a:endParaRPr lang="en-US" sz="1200" dirty="0"/>
          </a:p>
        </p:txBody>
      </p:sp>
      <p:sp>
        <p:nvSpPr>
          <p:cNvPr id="23" name="Text 16"/>
          <p:cNvSpPr txBox="1"/>
          <p:nvPr/>
        </p:nvSpPr>
        <p:spPr>
          <a:xfrm>
            <a:off x="1005840" y="42062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Gardés comme contrôle de perception seulement : PC, anglais, biais du survivant.</a:t>
            </a:r>
            <a:endParaRPr lang="en-US" sz="1050" dirty="0"/>
          </a:p>
        </p:txBody>
      </p:sp>
      <p:sp>
        <p:nvSpPr>
          <p:cNvPr id="24" name="Text 17"/>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RGPD Art. 5</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plan de collecte complet</a:t>
            </a:r>
            <a:endParaRPr lang="en-US" sz="850" dirty="0"/>
          </a:p>
        </p:txBody>
      </p:sp>
      <p:sp>
        <p:nvSpPr>
          <p:cNvPr id="25" name="Text 18"/>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5F9"/>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Roadmap : quand, qui, combien</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Trois phases, chacune avec sa porte de décision</a:t>
            </a:r>
            <a:endParaRPr lang="en-US" sz="1200" dirty="0"/>
          </a:p>
        </p:txBody>
      </p:sp>
      <p:sp>
        <p:nvSpPr>
          <p:cNvPr id="4" name="Shape 2"/>
          <p:cNvSpPr/>
          <p:nvPr/>
        </p:nvSpPr>
        <p:spPr>
          <a:xfrm>
            <a:off x="502920" y="1188720"/>
            <a:ext cx="411480" cy="411480"/>
          </a:xfrm>
          <a:prstGeom prst="ellipse">
            <a:avLst/>
          </a:prstGeom>
          <a:solidFill>
            <a:srgbClr val="E23636"/>
          </a:solidFill>
          <a:ln w="12700">
            <a:solidFill>
              <a:srgbClr val="E23636"/>
            </a:solidFill>
            <a:prstDash val="solid"/>
          </a:ln>
        </p:spPr>
      </p:sp>
      <p:sp>
        <p:nvSpPr>
          <p:cNvPr id="5" name="Text 3"/>
          <p:cNvSpPr txBox="1"/>
          <p:nvPr/>
        </p:nvSpPr>
        <p:spPr>
          <a:xfrm>
            <a:off x="502920" y="118872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6" name="Text 4"/>
          <p:cNvSpPr txBox="1"/>
          <p:nvPr/>
        </p:nvSpPr>
        <p:spPr>
          <a:xfrm>
            <a:off x="1005840" y="1188720"/>
            <a:ext cx="2103120" cy="411480"/>
          </a:xfrm>
          <a:prstGeom prst="rect">
            <a:avLst/>
          </a:prstGeom>
          <a:noFill/>
          <a:ln/>
        </p:spPr>
        <p:txBody>
          <a:bodyPr wrap="square" lIns="0" tIns="0" rIns="0" bIns="0" rtlCol="0" anchor="ctr"/>
          <a:lstStyle/>
          <a:p>
            <a:pPr indent="0" marL="0">
              <a:buNone/>
            </a:pPr>
            <a:r>
              <a:rPr lang="en-US" sz="1400" b="1" dirty="0">
                <a:solidFill>
                  <a:srgbClr val="1F2233"/>
                </a:solidFill>
                <a:latin typeface="Arial" pitchFamily="34" charset="0"/>
                <a:ea typeface="Arial" pitchFamily="34" charset="-122"/>
                <a:cs typeface="Arial" pitchFamily="34" charset="-120"/>
              </a:rPr>
              <a:t>0-30 j  </a:t>
            </a:r>
            <a:pPr indent="0" marL="0">
              <a:buNone/>
            </a:pPr>
            <a:r>
              <a:rPr lang="en-US" sz="1400" dirty="0">
                <a:solidFill>
                  <a:srgbClr val="5E6378"/>
                </a:solidFill>
                <a:latin typeface="Arial" pitchFamily="34" charset="0"/>
                <a:ea typeface="Arial" pitchFamily="34" charset="-122"/>
                <a:cs typeface="Arial" pitchFamily="34" charset="-120"/>
              </a:rPr>
              <a:t>Audit</a:t>
            </a:r>
            <a:endParaRPr lang="en-US" sz="1400" dirty="0"/>
          </a:p>
        </p:txBody>
      </p:sp>
      <p:sp>
        <p:nvSpPr>
          <p:cNvPr id="7" name="Shape 5"/>
          <p:cNvSpPr/>
          <p:nvPr/>
        </p:nvSpPr>
        <p:spPr>
          <a:xfrm>
            <a:off x="457200" y="1737360"/>
            <a:ext cx="2651760" cy="2240280"/>
          </a:xfrm>
          <a:prstGeom prst="roundRect">
            <a:avLst>
              <a:gd name="adj" fmla="val 3265"/>
            </a:avLst>
          </a:prstGeom>
          <a:solidFill>
            <a:srgbClr val="FFFFFF"/>
          </a:solidFill>
          <a:ln w="12700">
            <a:solidFill>
              <a:srgbClr val="E3E5EE"/>
            </a:solidFill>
            <a:prstDash val="solid"/>
          </a:ln>
        </p:spPr>
      </p:sp>
      <p:sp>
        <p:nvSpPr>
          <p:cNvPr id="8" name="Text 6"/>
          <p:cNvSpPr txBox="1"/>
          <p:nvPr/>
        </p:nvSpPr>
        <p:spPr>
          <a:xfrm>
            <a:off x="594360" y="1828800"/>
            <a:ext cx="2377440" cy="2103120"/>
          </a:xfrm>
          <a:prstGeom prst="rect">
            <a:avLst/>
          </a:prstGeom>
          <a:noFill/>
          <a:ln/>
        </p:spPr>
        <p:txBody>
          <a:bodyPr wrap="square" lIns="0" tIns="0" rIns="0" bIns="0" rtlCol="0" anchor="t"/>
          <a:lstStyle/>
          <a:p>
            <a:pPr indent="0" marL="0">
              <a:buNone/>
            </a:pPr>
            <a:r>
              <a:rPr lang="en-US" sz="1000" b="1" dirty="0">
                <a:solidFill>
                  <a:srgbClr val="161A33"/>
                </a:solidFill>
                <a:latin typeface="Calibri" pitchFamily="34" charset="0"/>
                <a:ea typeface="Calibri" pitchFamily="34" charset="-122"/>
                <a:cs typeface="Calibri" pitchFamily="34" charset="-120"/>
              </a:rPr>
              <a:t>Qui : </a:t>
            </a:r>
            <a:pPr indent="0" marL="0">
              <a:buNone/>
            </a:pPr>
            <a:r>
              <a:rPr lang="en-US" sz="1000" dirty="0">
                <a:solidFill>
                  <a:srgbClr val="1F2233"/>
                </a:solidFill>
                <a:latin typeface="Calibri" pitchFamily="34" charset="0"/>
                <a:ea typeface="Calibri" pitchFamily="34" charset="-122"/>
                <a:cs typeface="Calibri" pitchFamily="34" charset="-120"/>
              </a:rPr>
              <a:t>1 data analyst à temps plein, 1 data engineer à mi-temps ; DPO NetEase pour l'accord et le hachage</a:t>
            </a:r>
            <a:endParaRPr lang="en-US" sz="100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00" dirty="0"/>
          </a:p>
          <a:p>
            <a:pPr indent="0" marL="0">
              <a:buNone/>
            </a:pPr>
            <a:r>
              <a:rPr lang="en-US" sz="1000" b="1" dirty="0">
                <a:solidFill>
                  <a:srgbClr val="161A33"/>
                </a:solidFill>
                <a:latin typeface="Calibri" pitchFamily="34" charset="0"/>
                <a:ea typeface="Calibri" pitchFamily="34" charset="-122"/>
                <a:cs typeface="Calibri" pitchFamily="34" charset="-120"/>
              </a:rPr>
              <a:t>Combien : </a:t>
            </a:r>
            <a:pPr indent="0" marL="0">
              <a:buNone/>
            </a:pPr>
            <a:r>
              <a:rPr lang="en-US" sz="1000" dirty="0">
                <a:solidFill>
                  <a:srgbClr val="1F2233"/>
                </a:solidFill>
                <a:latin typeface="Calibri" pitchFamily="34" charset="0"/>
                <a:ea typeface="Calibri" pitchFamily="34" charset="-122"/>
                <a:cs typeface="Calibri" pitchFamily="34" charset="-120"/>
              </a:rPr>
              <a:t>≈ 33 jours-homme ; aucune licence nouvelle</a:t>
            </a:r>
            <a:endParaRPr lang="en-US" sz="100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00" dirty="0"/>
          </a:p>
          <a:p>
            <a:pPr indent="0" marL="0">
              <a:buNone/>
            </a:pPr>
            <a:r>
              <a:rPr lang="en-US" sz="1000" b="1" dirty="0">
                <a:solidFill>
                  <a:srgbClr val="E23636"/>
                </a:solidFill>
                <a:latin typeface="Calibri" pitchFamily="34" charset="0"/>
                <a:ea typeface="Calibri" pitchFamily="34" charset="-122"/>
                <a:cs typeface="Calibri" pitchFamily="34" charset="-120"/>
              </a:rPr>
              <a:t>Décision : </a:t>
            </a:r>
            <a:pPr indent="0" marL="0">
              <a:buNone/>
            </a:pPr>
            <a:r>
              <a:rPr lang="en-US" sz="1000" dirty="0">
                <a:solidFill>
                  <a:srgbClr val="1F2233"/>
                </a:solidFill>
                <a:latin typeface="Calibri" pitchFamily="34" charset="0"/>
                <a:ea typeface="Calibri" pitchFamily="34" charset="-122"/>
                <a:cs typeface="Calibri" pitchFamily="34" charset="-120"/>
              </a:rPr>
              <a:t>Ratio ≤ 1,2 sur les deux cohortes → plan B</a:t>
            </a:r>
            <a:endParaRPr lang="en-US" sz="1000" dirty="0"/>
          </a:p>
        </p:txBody>
      </p:sp>
      <p:sp>
        <p:nvSpPr>
          <p:cNvPr id="9" name="Shape 7"/>
          <p:cNvSpPr/>
          <p:nvPr/>
        </p:nvSpPr>
        <p:spPr>
          <a:xfrm>
            <a:off x="3291840" y="1188720"/>
            <a:ext cx="411480" cy="411480"/>
          </a:xfrm>
          <a:prstGeom prst="ellipse">
            <a:avLst/>
          </a:prstGeom>
          <a:solidFill>
            <a:srgbClr val="E23636"/>
          </a:solidFill>
          <a:ln w="12700">
            <a:solidFill>
              <a:srgbClr val="E23636"/>
            </a:solidFill>
            <a:prstDash val="solid"/>
          </a:ln>
        </p:spPr>
      </p:sp>
      <p:sp>
        <p:nvSpPr>
          <p:cNvPr id="10" name="Text 8"/>
          <p:cNvSpPr txBox="1"/>
          <p:nvPr/>
        </p:nvSpPr>
        <p:spPr>
          <a:xfrm>
            <a:off x="3291840" y="118872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1" name="Text 9"/>
          <p:cNvSpPr txBox="1"/>
          <p:nvPr/>
        </p:nvSpPr>
        <p:spPr>
          <a:xfrm>
            <a:off x="3794760" y="1188720"/>
            <a:ext cx="2103120" cy="411480"/>
          </a:xfrm>
          <a:prstGeom prst="rect">
            <a:avLst/>
          </a:prstGeom>
          <a:noFill/>
          <a:ln/>
        </p:spPr>
        <p:txBody>
          <a:bodyPr wrap="square" lIns="0" tIns="0" rIns="0" bIns="0" rtlCol="0" anchor="ctr"/>
          <a:lstStyle/>
          <a:p>
            <a:pPr indent="0" marL="0">
              <a:buNone/>
            </a:pPr>
            <a:r>
              <a:rPr lang="en-US" sz="1400" b="1" dirty="0">
                <a:solidFill>
                  <a:srgbClr val="1F2233"/>
                </a:solidFill>
                <a:latin typeface="Arial" pitchFamily="34" charset="0"/>
                <a:ea typeface="Arial" pitchFamily="34" charset="-122"/>
                <a:cs typeface="Arial" pitchFamily="34" charset="-120"/>
              </a:rPr>
              <a:t>30-90 j  </a:t>
            </a:r>
            <a:pPr indent="0" marL="0">
              <a:buNone/>
            </a:pPr>
            <a:r>
              <a:rPr lang="en-US" sz="1400" dirty="0">
                <a:solidFill>
                  <a:srgbClr val="5E6378"/>
                </a:solidFill>
                <a:latin typeface="Arial" pitchFamily="34" charset="0"/>
                <a:ea typeface="Arial" pitchFamily="34" charset="-122"/>
                <a:cs typeface="Arial" pitchFamily="34" charset="-120"/>
              </a:rPr>
              <a:t>Tests A/B</a:t>
            </a:r>
            <a:endParaRPr lang="en-US" sz="1400" dirty="0"/>
          </a:p>
        </p:txBody>
      </p:sp>
      <p:sp>
        <p:nvSpPr>
          <p:cNvPr id="12" name="Shape 10"/>
          <p:cNvSpPr/>
          <p:nvPr/>
        </p:nvSpPr>
        <p:spPr>
          <a:xfrm>
            <a:off x="3246120" y="1737360"/>
            <a:ext cx="2651760" cy="2240280"/>
          </a:xfrm>
          <a:prstGeom prst="roundRect">
            <a:avLst>
              <a:gd name="adj" fmla="val 3265"/>
            </a:avLst>
          </a:prstGeom>
          <a:solidFill>
            <a:srgbClr val="FFFFFF"/>
          </a:solidFill>
          <a:ln w="12700">
            <a:solidFill>
              <a:srgbClr val="E3E5EE"/>
            </a:solidFill>
            <a:prstDash val="solid"/>
          </a:ln>
        </p:spPr>
      </p:sp>
      <p:sp>
        <p:nvSpPr>
          <p:cNvPr id="13" name="Text 11"/>
          <p:cNvSpPr txBox="1"/>
          <p:nvPr/>
        </p:nvSpPr>
        <p:spPr>
          <a:xfrm>
            <a:off x="3383280" y="1828800"/>
            <a:ext cx="2377440" cy="2103120"/>
          </a:xfrm>
          <a:prstGeom prst="rect">
            <a:avLst/>
          </a:prstGeom>
          <a:noFill/>
          <a:ln/>
        </p:spPr>
        <p:txBody>
          <a:bodyPr wrap="square" lIns="0" tIns="0" rIns="0" bIns="0" rtlCol="0" anchor="t"/>
          <a:lstStyle/>
          <a:p>
            <a:pPr indent="0" marL="0">
              <a:buNone/>
            </a:pPr>
            <a:r>
              <a:rPr lang="en-US" sz="1000" b="1" dirty="0">
                <a:solidFill>
                  <a:srgbClr val="161A33"/>
                </a:solidFill>
                <a:latin typeface="Calibri" pitchFamily="34" charset="0"/>
                <a:ea typeface="Calibri" pitchFamily="34" charset="-122"/>
                <a:cs typeface="Calibri" pitchFamily="34" charset="-120"/>
              </a:rPr>
              <a:t>Qui : </a:t>
            </a:r>
            <a:pPr indent="0" marL="0">
              <a:buNone/>
            </a:pPr>
            <a:r>
              <a:rPr lang="en-US" sz="1000" dirty="0">
                <a:solidFill>
                  <a:srgbClr val="1F2233"/>
                </a:solidFill>
                <a:latin typeface="Calibri" pitchFamily="34" charset="0"/>
                <a:ea typeface="Calibri" pitchFamily="34" charset="-122"/>
                <a:cs typeface="Calibri" pitchFamily="34" charset="-120"/>
              </a:rPr>
              <a:t>Équipe matchmaking NetEase + analyste</a:t>
            </a:r>
            <a:endParaRPr lang="en-US" sz="100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00" dirty="0"/>
          </a:p>
          <a:p>
            <a:pPr indent="0" marL="0">
              <a:buNone/>
            </a:pPr>
            <a:r>
              <a:rPr lang="en-US" sz="1000" b="1" dirty="0">
                <a:solidFill>
                  <a:srgbClr val="161A33"/>
                </a:solidFill>
                <a:latin typeface="Calibri" pitchFamily="34" charset="0"/>
                <a:ea typeface="Calibri" pitchFamily="34" charset="-122"/>
                <a:cs typeface="Calibri" pitchFamily="34" charset="-120"/>
              </a:rPr>
              <a:t>Combien : </a:t>
            </a:r>
            <a:pPr indent="0" marL="0">
              <a:buNone/>
            </a:pPr>
            <a:r>
              <a:rPr lang="en-US" sz="1000" dirty="0">
                <a:solidFill>
                  <a:srgbClr val="1F2233"/>
                </a:solidFill>
                <a:latin typeface="Calibri" pitchFamily="34" charset="0"/>
                <a:ea typeface="Calibri" pitchFamily="34" charset="-122"/>
                <a:cs typeface="Calibri" pitchFamily="34" charset="-120"/>
              </a:rPr>
              <a:t>Développement chiffré par NetEase avant tout lancement</a:t>
            </a:r>
            <a:endParaRPr lang="en-US" sz="100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00" dirty="0"/>
          </a:p>
          <a:p>
            <a:pPr indent="0" marL="0">
              <a:buNone/>
            </a:pPr>
            <a:r>
              <a:rPr lang="en-US" sz="1000" b="1" dirty="0">
                <a:solidFill>
                  <a:srgbClr val="E23636"/>
                </a:solidFill>
                <a:latin typeface="Calibri" pitchFamily="34" charset="0"/>
                <a:ea typeface="Calibri" pitchFamily="34" charset="-122"/>
                <a:cs typeface="Calibri" pitchFamily="34" charset="-120"/>
              </a:rPr>
              <a:t>Décision : </a:t>
            </a:r>
            <a:pPr indent="0" marL="0">
              <a:buNone/>
            </a:pPr>
            <a:r>
              <a:rPr lang="en-US" sz="1000" dirty="0">
                <a:solidFill>
                  <a:srgbClr val="1F2233"/>
                </a:solidFill>
                <a:latin typeface="Calibri" pitchFamily="34" charset="0"/>
                <a:ea typeface="Calibri" pitchFamily="34" charset="-122"/>
                <a:cs typeface="Calibri" pitchFamily="34" charset="-120"/>
              </a:rPr>
              <a:t>Levier gardé si le ratio baisse et l'attente reste &lt; 5 min</a:t>
            </a:r>
            <a:endParaRPr lang="en-US" sz="1000" dirty="0"/>
          </a:p>
        </p:txBody>
      </p:sp>
      <p:sp>
        <p:nvSpPr>
          <p:cNvPr id="14" name="Shape 12"/>
          <p:cNvSpPr/>
          <p:nvPr/>
        </p:nvSpPr>
        <p:spPr>
          <a:xfrm>
            <a:off x="6080760" y="1188720"/>
            <a:ext cx="411480" cy="411480"/>
          </a:xfrm>
          <a:prstGeom prst="ellipse">
            <a:avLst/>
          </a:prstGeom>
          <a:solidFill>
            <a:srgbClr val="E23636"/>
          </a:solidFill>
          <a:ln w="12700">
            <a:solidFill>
              <a:srgbClr val="E23636"/>
            </a:solidFill>
            <a:prstDash val="solid"/>
          </a:ln>
        </p:spPr>
      </p:sp>
      <p:sp>
        <p:nvSpPr>
          <p:cNvPr id="15" name="Text 13"/>
          <p:cNvSpPr txBox="1"/>
          <p:nvPr/>
        </p:nvSpPr>
        <p:spPr>
          <a:xfrm>
            <a:off x="6080760" y="118872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6" name="Text 14"/>
          <p:cNvSpPr txBox="1"/>
          <p:nvPr/>
        </p:nvSpPr>
        <p:spPr>
          <a:xfrm>
            <a:off x="6583680" y="1188720"/>
            <a:ext cx="2103120" cy="411480"/>
          </a:xfrm>
          <a:prstGeom prst="rect">
            <a:avLst/>
          </a:prstGeom>
          <a:noFill/>
          <a:ln/>
        </p:spPr>
        <p:txBody>
          <a:bodyPr wrap="square" lIns="0" tIns="0" rIns="0" bIns="0" rtlCol="0" anchor="ctr"/>
          <a:lstStyle/>
          <a:p>
            <a:pPr indent="0" marL="0">
              <a:buNone/>
            </a:pPr>
            <a:r>
              <a:rPr lang="en-US" sz="1400" b="1" dirty="0">
                <a:solidFill>
                  <a:srgbClr val="1F2233"/>
                </a:solidFill>
                <a:latin typeface="Arial" pitchFamily="34" charset="0"/>
                <a:ea typeface="Arial" pitchFamily="34" charset="-122"/>
                <a:cs typeface="Arial" pitchFamily="34" charset="-120"/>
              </a:rPr>
              <a:t>90-180 j  </a:t>
            </a:r>
            <a:pPr indent="0" marL="0">
              <a:buNone/>
            </a:pPr>
            <a:r>
              <a:rPr lang="en-US" sz="1400" dirty="0">
                <a:solidFill>
                  <a:srgbClr val="5E6378"/>
                </a:solidFill>
                <a:latin typeface="Arial" pitchFamily="34" charset="0"/>
                <a:ea typeface="Arial" pitchFamily="34" charset="-122"/>
                <a:cs typeface="Arial" pitchFamily="34" charset="-120"/>
              </a:rPr>
              <a:t>Généralisation</a:t>
            </a:r>
            <a:endParaRPr lang="en-US" sz="1400" dirty="0"/>
          </a:p>
        </p:txBody>
      </p:sp>
      <p:sp>
        <p:nvSpPr>
          <p:cNvPr id="17" name="Shape 15"/>
          <p:cNvSpPr/>
          <p:nvPr/>
        </p:nvSpPr>
        <p:spPr>
          <a:xfrm>
            <a:off x="6035040" y="1737360"/>
            <a:ext cx="2651760" cy="2240280"/>
          </a:xfrm>
          <a:prstGeom prst="roundRect">
            <a:avLst>
              <a:gd name="adj" fmla="val 3265"/>
            </a:avLst>
          </a:prstGeom>
          <a:solidFill>
            <a:srgbClr val="FFFFFF"/>
          </a:solidFill>
          <a:ln w="12700">
            <a:solidFill>
              <a:srgbClr val="E3E5EE"/>
            </a:solidFill>
            <a:prstDash val="solid"/>
          </a:ln>
        </p:spPr>
      </p:sp>
      <p:sp>
        <p:nvSpPr>
          <p:cNvPr id="18" name="Text 16"/>
          <p:cNvSpPr txBox="1"/>
          <p:nvPr/>
        </p:nvSpPr>
        <p:spPr>
          <a:xfrm>
            <a:off x="6172200" y="1828800"/>
            <a:ext cx="2377440" cy="2103120"/>
          </a:xfrm>
          <a:prstGeom prst="rect">
            <a:avLst/>
          </a:prstGeom>
          <a:noFill/>
          <a:ln/>
        </p:spPr>
        <p:txBody>
          <a:bodyPr wrap="square" lIns="0" tIns="0" rIns="0" bIns="0" rtlCol="0" anchor="t"/>
          <a:lstStyle/>
          <a:p>
            <a:pPr indent="0" marL="0">
              <a:buNone/>
            </a:pPr>
            <a:r>
              <a:rPr lang="en-US" sz="1000" b="1" dirty="0">
                <a:solidFill>
                  <a:srgbClr val="161A33"/>
                </a:solidFill>
                <a:latin typeface="Calibri" pitchFamily="34" charset="0"/>
                <a:ea typeface="Calibri" pitchFamily="34" charset="-122"/>
                <a:cs typeface="Calibri" pitchFamily="34" charset="-120"/>
              </a:rPr>
              <a:t>Qui : </a:t>
            </a:r>
            <a:pPr indent="0" marL="0">
              <a:buNone/>
            </a:pPr>
            <a:r>
              <a:rPr lang="en-US" sz="1000" dirty="0">
                <a:solidFill>
                  <a:srgbClr val="1F2233"/>
                </a:solidFill>
                <a:latin typeface="Calibri" pitchFamily="34" charset="0"/>
                <a:ea typeface="Calibri" pitchFamily="34" charset="-122"/>
                <a:cs typeface="Calibri" pitchFamily="34" charset="-120"/>
              </a:rPr>
              <a:t>Live-ops et communication ; page publique « comment fonctionne le matchmaking »</a:t>
            </a:r>
            <a:endParaRPr lang="en-US" sz="100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00" dirty="0"/>
          </a:p>
          <a:p>
            <a:pPr indent="0" marL="0">
              <a:buNone/>
            </a:pPr>
            <a:r>
              <a:rPr lang="en-US" sz="1000" b="1" dirty="0">
                <a:solidFill>
                  <a:srgbClr val="161A33"/>
                </a:solidFill>
                <a:latin typeface="Calibri" pitchFamily="34" charset="0"/>
                <a:ea typeface="Calibri" pitchFamily="34" charset="-122"/>
                <a:cs typeface="Calibri" pitchFamily="34" charset="-120"/>
              </a:rPr>
              <a:t>Combien : </a:t>
            </a:r>
            <a:pPr indent="0" marL="0">
              <a:buNone/>
            </a:pPr>
            <a:r>
              <a:rPr lang="en-US" sz="1000" dirty="0">
                <a:solidFill>
                  <a:srgbClr val="1F2233"/>
                </a:solidFill>
                <a:latin typeface="Calibri" pitchFamily="34" charset="0"/>
                <a:ea typeface="Calibri" pitchFamily="34" charset="-122"/>
                <a:cs typeface="Calibri" pitchFamily="34" charset="-120"/>
              </a:rPr>
              <a:t>Pilotage mensuel sur les outils existants</a:t>
            </a:r>
            <a:endParaRPr lang="en-US" sz="100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00" dirty="0"/>
          </a:p>
          <a:p>
            <a:pPr indent="0" marL="0">
              <a:buNone/>
            </a:pPr>
            <a:r>
              <a:rPr lang="en-US" sz="1000" b="1" dirty="0">
                <a:solidFill>
                  <a:srgbClr val="E23636"/>
                </a:solidFill>
                <a:latin typeface="Calibri" pitchFamily="34" charset="0"/>
                <a:ea typeface="Calibri" pitchFamily="34" charset="-122"/>
                <a:cs typeface="Calibri" pitchFamily="34" charset="-120"/>
              </a:rPr>
              <a:t>Décision : </a:t>
            </a:r>
            <a:pPr indent="0" marL="0">
              <a:buNone/>
            </a:pPr>
            <a:r>
              <a:rPr lang="en-US" sz="1000" dirty="0">
                <a:solidFill>
                  <a:srgbClr val="1F2233"/>
                </a:solidFill>
                <a:latin typeface="Calibri" pitchFamily="34" charset="0"/>
                <a:ea typeface="Calibri" pitchFamily="34" charset="-122"/>
                <a:cs typeface="Calibri" pitchFamily="34" charset="-120"/>
              </a:rPr>
              <a:t>31/03/2027 : ratio ≤ 1,2</a:t>
            </a:r>
            <a:endParaRPr lang="en-US" sz="1000" dirty="0"/>
          </a:p>
        </p:txBody>
      </p:sp>
      <p:sp>
        <p:nvSpPr>
          <p:cNvPr id="19" name="Text 17"/>
          <p:cNvSpPr txBox="1"/>
          <p:nvPr/>
        </p:nvSpPr>
        <p:spPr>
          <a:xfrm>
            <a:off x="457200" y="4087368"/>
            <a:ext cx="8229600" cy="594360"/>
          </a:xfrm>
          <a:prstGeom prst="rect">
            <a:avLst/>
          </a:prstGeom>
          <a:noFill/>
          <a:ln/>
        </p:spPr>
        <p:txBody>
          <a:bodyPr wrap="square" lIns="0" tIns="0" rIns="0" bIns="0" rtlCol="0" anchor="ctr"/>
          <a:lstStyle/>
          <a:p>
            <a:pPr indent="0" marL="0">
              <a:buNone/>
            </a:pPr>
            <a:r>
              <a:rPr lang="en-US" sz="1000" b="1" dirty="0">
                <a:solidFill>
                  <a:srgbClr val="1F2233"/>
                </a:solidFill>
                <a:latin typeface="Calibri" pitchFamily="34" charset="0"/>
                <a:ea typeface="Calibri" pitchFamily="34" charset="-122"/>
                <a:cs typeface="Calibri" pitchFamily="34" charset="-120"/>
              </a:rPr>
              <a:t>Stack : </a:t>
            </a:r>
            <a:pPr indent="0" marL="0">
              <a:buNone/>
            </a:pPr>
            <a:r>
              <a:rPr lang="en-US" sz="1000" dirty="0">
                <a:solidFill>
                  <a:srgbClr val="1F2233"/>
                </a:solidFill>
                <a:latin typeface="Calibri" pitchFamily="34" charset="0"/>
                <a:ea typeface="Calibri" pitchFamily="34" charset="-122"/>
                <a:cs typeface="Calibri" pitchFamily="34" charset="-120"/>
              </a:rPr>
              <a:t>télémétrie in-game existante → entrepôt existant (type BigQuery ou Snowflake ; requêtes ≈ 6,25 $ par To au-delà de 1 To gratuit par mois) → BI existante (type Looker ou Tableau).</a:t>
            </a:r>
            <a:endParaRPr lang="en-US" sz="1000" dirty="0"/>
          </a:p>
        </p:txBody>
      </p:sp>
      <p:sp>
        <p:nvSpPr>
          <p:cNvPr id="20" name="Text 18"/>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tarifs BigQuery (01/10/2026)</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plan de collecte complet (§5 et §7)</a:t>
            </a:r>
            <a:endParaRPr lang="en-US" sz="850" dirty="0"/>
          </a:p>
        </p:txBody>
      </p:sp>
      <p:sp>
        <p:nvSpPr>
          <p:cNvPr id="21" name="Text 19"/>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KPIs de décision et garde-fous</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Risques / KPIs · chaque seuil déclenche une action</a:t>
            </a:r>
            <a:endParaRPr lang="en-US" sz="1200" dirty="0"/>
          </a:p>
        </p:txBody>
      </p:sp>
      <p:sp>
        <p:nvSpPr>
          <p:cNvPr id="4" name="Shape 2"/>
          <p:cNvSpPr/>
          <p:nvPr/>
        </p:nvSpPr>
        <p:spPr>
          <a:xfrm>
            <a:off x="457200" y="1143000"/>
            <a:ext cx="1965960" cy="1234440"/>
          </a:xfrm>
          <a:prstGeom prst="roundRect">
            <a:avLst>
              <a:gd name="adj" fmla="val 5926"/>
            </a:avLst>
          </a:prstGeom>
          <a:solidFill>
            <a:srgbClr val="161A33"/>
          </a:solidFill>
          <a:ln w="12700">
            <a:solidFill>
              <a:srgbClr val="161A33"/>
            </a:solidFill>
            <a:prstDash val="solid"/>
          </a:ln>
        </p:spPr>
      </p:sp>
      <p:sp>
        <p:nvSpPr>
          <p:cNvPr id="5" name="Text 3"/>
          <p:cNvSpPr txBox="1"/>
          <p:nvPr/>
        </p:nvSpPr>
        <p:spPr>
          <a:xfrm>
            <a:off x="594360" y="1207008"/>
            <a:ext cx="1737360" cy="457200"/>
          </a:xfrm>
          <a:prstGeom prst="rect">
            <a:avLst/>
          </a:prstGeom>
          <a:noFill/>
          <a:ln/>
        </p:spPr>
        <p:txBody>
          <a:bodyPr wrap="square" lIns="0" tIns="0" rIns="0" bIns="0" rtlCol="0" anchor="ctr"/>
          <a:lstStyle/>
          <a:p>
            <a:pPr indent="0" marL="0">
              <a:buNone/>
            </a:pPr>
            <a:r>
              <a:rPr lang="en-US" sz="2400" b="1" dirty="0">
                <a:solidFill>
                  <a:srgbClr val="E23636"/>
                </a:solidFill>
                <a:latin typeface="Arial" pitchFamily="34" charset="0"/>
                <a:ea typeface="Arial" pitchFamily="34" charset="-122"/>
                <a:cs typeface="Arial" pitchFamily="34" charset="-120"/>
              </a:rPr>
              <a:t>&gt; 1,2</a:t>
            </a:r>
            <a:endParaRPr lang="en-US" sz="2400" dirty="0"/>
          </a:p>
        </p:txBody>
      </p:sp>
      <p:sp>
        <p:nvSpPr>
          <p:cNvPr id="6" name="Text 4"/>
          <p:cNvSpPr txBox="1"/>
          <p:nvPr/>
        </p:nvSpPr>
        <p:spPr>
          <a:xfrm>
            <a:off x="594360" y="1691640"/>
            <a:ext cx="1737360" cy="640080"/>
          </a:xfrm>
          <a:prstGeom prst="rect">
            <a:avLst/>
          </a:prstGeom>
          <a:noFill/>
          <a:ln/>
        </p:spPr>
        <p:txBody>
          <a:bodyPr wrap="square" lIns="0" tIns="0" rIns="0" bIns="0" rtlCol="0" anchor="t"/>
          <a:lstStyle/>
          <a:p>
            <a:pPr indent="0" marL="0">
              <a:buNone/>
            </a:pPr>
            <a:r>
              <a:rPr lang="en-US" sz="950" dirty="0">
                <a:solidFill>
                  <a:srgbClr val="FFFFFF"/>
                </a:solidFill>
                <a:latin typeface="Calibri" pitchFamily="34" charset="0"/>
                <a:ea typeface="Calibri" pitchFamily="34" charset="-122"/>
                <a:cs typeface="Calibri" pitchFamily="34" charset="-120"/>
              </a:rPr>
              <a:t>ratio de départ des nouveaux qui perdent : on teste A ou B</a:t>
            </a:r>
            <a:endParaRPr lang="en-US" sz="950" dirty="0"/>
          </a:p>
        </p:txBody>
      </p:sp>
      <p:sp>
        <p:nvSpPr>
          <p:cNvPr id="7" name="Shape 5"/>
          <p:cNvSpPr/>
          <p:nvPr/>
        </p:nvSpPr>
        <p:spPr>
          <a:xfrm>
            <a:off x="2551176" y="1143000"/>
            <a:ext cx="1965960" cy="1234440"/>
          </a:xfrm>
          <a:prstGeom prst="roundRect">
            <a:avLst>
              <a:gd name="adj" fmla="val 5926"/>
            </a:avLst>
          </a:prstGeom>
          <a:solidFill>
            <a:srgbClr val="161A33"/>
          </a:solidFill>
          <a:ln w="12700">
            <a:solidFill>
              <a:srgbClr val="161A33"/>
            </a:solidFill>
            <a:prstDash val="solid"/>
          </a:ln>
        </p:spPr>
      </p:sp>
      <p:sp>
        <p:nvSpPr>
          <p:cNvPr id="8" name="Text 6"/>
          <p:cNvSpPr txBox="1"/>
          <p:nvPr/>
        </p:nvSpPr>
        <p:spPr>
          <a:xfrm>
            <a:off x="2688336" y="1207008"/>
            <a:ext cx="1737360" cy="457200"/>
          </a:xfrm>
          <a:prstGeom prst="rect">
            <a:avLst/>
          </a:prstGeom>
          <a:noFill/>
          <a:ln/>
        </p:spPr>
        <p:txBody>
          <a:bodyPr wrap="square" lIns="0" tIns="0" rIns="0" bIns="0" rtlCol="0" anchor="ctr"/>
          <a:lstStyle/>
          <a:p>
            <a:pPr indent="0" marL="0">
              <a:buNone/>
            </a:pPr>
            <a:r>
              <a:rPr lang="en-US" sz="2400" b="1" dirty="0">
                <a:solidFill>
                  <a:srgbClr val="E23636"/>
                </a:solidFill>
                <a:latin typeface="Arial" pitchFamily="34" charset="0"/>
                <a:ea typeface="Arial" pitchFamily="34" charset="-122"/>
                <a:cs typeface="Arial" pitchFamily="34" charset="-120"/>
              </a:rPr>
              <a:t>&gt; 1,2</a:t>
            </a:r>
            <a:endParaRPr lang="en-US" sz="2400" dirty="0"/>
          </a:p>
        </p:txBody>
      </p:sp>
      <p:sp>
        <p:nvSpPr>
          <p:cNvPr id="9" name="Text 7"/>
          <p:cNvSpPr txBox="1"/>
          <p:nvPr/>
        </p:nvSpPr>
        <p:spPr>
          <a:xfrm>
            <a:off x="2688336" y="1691640"/>
            <a:ext cx="1737360" cy="640080"/>
          </a:xfrm>
          <a:prstGeom prst="rect">
            <a:avLst/>
          </a:prstGeom>
          <a:noFill/>
          <a:ln/>
        </p:spPr>
        <p:txBody>
          <a:bodyPr wrap="square" lIns="0" tIns="0" rIns="0" bIns="0" rtlCol="0" anchor="t"/>
          <a:lstStyle/>
          <a:p>
            <a:pPr indent="0" marL="0">
              <a:buNone/>
            </a:pPr>
            <a:r>
              <a:rPr lang="en-US" sz="950" dirty="0">
                <a:solidFill>
                  <a:srgbClr val="FFFFFF"/>
                </a:solidFill>
                <a:latin typeface="Calibri" pitchFamily="34" charset="0"/>
                <a:ea typeface="Calibri" pitchFamily="34" charset="-122"/>
                <a:cs typeface="Calibri" pitchFamily="34" charset="-120"/>
              </a:rPr>
              <a:t>ratio de départ des revenants qui perdent : on teste C</a:t>
            </a:r>
            <a:endParaRPr lang="en-US" sz="950" dirty="0"/>
          </a:p>
        </p:txBody>
      </p:sp>
      <p:sp>
        <p:nvSpPr>
          <p:cNvPr id="10" name="Shape 8"/>
          <p:cNvSpPr/>
          <p:nvPr/>
        </p:nvSpPr>
        <p:spPr>
          <a:xfrm>
            <a:off x="4645152" y="1143000"/>
            <a:ext cx="1965960" cy="1234440"/>
          </a:xfrm>
          <a:prstGeom prst="roundRect">
            <a:avLst>
              <a:gd name="adj" fmla="val 5926"/>
            </a:avLst>
          </a:prstGeom>
          <a:solidFill>
            <a:srgbClr val="161A33"/>
          </a:solidFill>
          <a:ln w="12700">
            <a:solidFill>
              <a:srgbClr val="161A33"/>
            </a:solidFill>
            <a:prstDash val="solid"/>
          </a:ln>
        </p:spPr>
      </p:sp>
      <p:sp>
        <p:nvSpPr>
          <p:cNvPr id="11" name="Text 9"/>
          <p:cNvSpPr txBox="1"/>
          <p:nvPr/>
        </p:nvSpPr>
        <p:spPr>
          <a:xfrm>
            <a:off x="4782312" y="1207008"/>
            <a:ext cx="1737360" cy="457200"/>
          </a:xfrm>
          <a:prstGeom prst="rect">
            <a:avLst/>
          </a:prstGeom>
          <a:noFill/>
          <a:ln/>
        </p:spPr>
        <p:txBody>
          <a:bodyPr wrap="square" lIns="0" tIns="0" rIns="0" bIns="0" rtlCol="0" anchor="ctr"/>
          <a:lstStyle/>
          <a:p>
            <a:pPr indent="0" marL="0">
              <a:buNone/>
            </a:pPr>
            <a:r>
              <a:rPr lang="en-US" sz="2400" b="1" dirty="0">
                <a:solidFill>
                  <a:srgbClr val="E23636"/>
                </a:solidFill>
                <a:latin typeface="Arial" pitchFamily="34" charset="0"/>
                <a:ea typeface="Arial" pitchFamily="34" charset="-122"/>
                <a:cs typeface="Arial" pitchFamily="34" charset="-120"/>
              </a:rPr>
              <a:t>&gt; 5 min</a:t>
            </a:r>
            <a:endParaRPr lang="en-US" sz="2400" dirty="0"/>
          </a:p>
        </p:txBody>
      </p:sp>
      <p:sp>
        <p:nvSpPr>
          <p:cNvPr id="12" name="Text 10"/>
          <p:cNvSpPr txBox="1"/>
          <p:nvPr/>
        </p:nvSpPr>
        <p:spPr>
          <a:xfrm>
            <a:off x="4782312" y="1691640"/>
            <a:ext cx="1737360" cy="640080"/>
          </a:xfrm>
          <a:prstGeom prst="rect">
            <a:avLst/>
          </a:prstGeom>
          <a:noFill/>
          <a:ln/>
        </p:spPr>
        <p:txBody>
          <a:bodyPr wrap="square" lIns="0" tIns="0" rIns="0" bIns="0" rtlCol="0" anchor="t"/>
          <a:lstStyle/>
          <a:p>
            <a:pPr indent="0" marL="0">
              <a:buNone/>
            </a:pPr>
            <a:r>
              <a:rPr lang="en-US" sz="950" dirty="0">
                <a:solidFill>
                  <a:srgbClr val="FFFFFF"/>
                </a:solidFill>
                <a:latin typeface="Calibri" pitchFamily="34" charset="0"/>
                <a:ea typeface="Calibri" pitchFamily="34" charset="-122"/>
                <a:cs typeface="Calibri" pitchFamily="34" charset="-120"/>
              </a:rPr>
              <a:t>d'attente pour 10 % des joueurs : on arrête le resserrement</a:t>
            </a:r>
            <a:endParaRPr lang="en-US" sz="950" dirty="0"/>
          </a:p>
        </p:txBody>
      </p:sp>
      <p:sp>
        <p:nvSpPr>
          <p:cNvPr id="13" name="Shape 11"/>
          <p:cNvSpPr/>
          <p:nvPr/>
        </p:nvSpPr>
        <p:spPr>
          <a:xfrm>
            <a:off x="6739128" y="1143000"/>
            <a:ext cx="1965960" cy="1234440"/>
          </a:xfrm>
          <a:prstGeom prst="roundRect">
            <a:avLst>
              <a:gd name="adj" fmla="val 5926"/>
            </a:avLst>
          </a:prstGeom>
          <a:solidFill>
            <a:srgbClr val="161A33"/>
          </a:solidFill>
          <a:ln w="12700">
            <a:solidFill>
              <a:srgbClr val="161A33"/>
            </a:solidFill>
            <a:prstDash val="solid"/>
          </a:ln>
        </p:spPr>
      </p:sp>
      <p:sp>
        <p:nvSpPr>
          <p:cNvPr id="14" name="Text 12"/>
          <p:cNvSpPr txBox="1"/>
          <p:nvPr/>
        </p:nvSpPr>
        <p:spPr>
          <a:xfrm>
            <a:off x="6876288" y="1207008"/>
            <a:ext cx="1737360" cy="457200"/>
          </a:xfrm>
          <a:prstGeom prst="rect">
            <a:avLst/>
          </a:prstGeom>
          <a:noFill/>
          <a:ln/>
        </p:spPr>
        <p:txBody>
          <a:bodyPr wrap="square" lIns="0" tIns="0" rIns="0" bIns="0" rtlCol="0" anchor="ctr"/>
          <a:lstStyle/>
          <a:p>
            <a:pPr indent="0" marL="0">
              <a:buNone/>
            </a:pPr>
            <a:r>
              <a:rPr lang="en-US" sz="2400" b="1" dirty="0">
                <a:solidFill>
                  <a:srgbClr val="E23636"/>
                </a:solidFill>
                <a:latin typeface="Arial" pitchFamily="34" charset="0"/>
                <a:ea typeface="Arial" pitchFamily="34" charset="-122"/>
                <a:cs typeface="Arial" pitchFamily="34" charset="-120"/>
              </a:rPr>
              <a:t>&gt; 50 %</a:t>
            </a:r>
            <a:endParaRPr lang="en-US" sz="2400" dirty="0"/>
          </a:p>
        </p:txBody>
      </p:sp>
      <p:sp>
        <p:nvSpPr>
          <p:cNvPr id="15" name="Text 13"/>
          <p:cNvSpPr txBox="1"/>
          <p:nvPr/>
        </p:nvSpPr>
        <p:spPr>
          <a:xfrm>
            <a:off x="6876288" y="1691640"/>
            <a:ext cx="1737360" cy="640080"/>
          </a:xfrm>
          <a:prstGeom prst="rect">
            <a:avLst/>
          </a:prstGeom>
          <a:noFill/>
          <a:ln/>
        </p:spPr>
        <p:txBody>
          <a:bodyPr wrap="square" lIns="0" tIns="0" rIns="0" bIns="0" rtlCol="0" anchor="t"/>
          <a:lstStyle/>
          <a:p>
            <a:pPr indent="0" marL="0">
              <a:buNone/>
            </a:pPr>
            <a:r>
              <a:rPr lang="en-US" sz="950" dirty="0">
                <a:solidFill>
                  <a:srgbClr val="FFFFFF"/>
                </a:solidFill>
                <a:latin typeface="Calibri" pitchFamily="34" charset="0"/>
                <a:ea typeface="Calibri" pitchFamily="34" charset="-122"/>
                <a:cs typeface="Calibri" pitchFamily="34" charset="-120"/>
              </a:rPr>
              <a:t>des premiers matchs en partie rapide : on la corrige en premier</a:t>
            </a:r>
            <a:endParaRPr lang="en-US" sz="950" dirty="0"/>
          </a:p>
        </p:txBody>
      </p:sp>
      <p:sp>
        <p:nvSpPr>
          <p:cNvPr id="16" name="Shape 14"/>
          <p:cNvSpPr/>
          <p:nvPr/>
        </p:nvSpPr>
        <p:spPr>
          <a:xfrm>
            <a:off x="457200" y="2569464"/>
            <a:ext cx="365760" cy="365760"/>
          </a:xfrm>
          <a:prstGeom prst="ellipse">
            <a:avLst/>
          </a:prstGeom>
          <a:solidFill>
            <a:srgbClr val="E23636"/>
          </a:solidFill>
          <a:ln w="12700">
            <a:solidFill>
              <a:srgbClr val="E23636"/>
            </a:solidFill>
            <a:prstDash val="solid"/>
          </a:ln>
        </p:spPr>
      </p:sp>
      <p:pic>
        <p:nvPicPr>
          <p:cNvPr id="17" name="Image 0" descr="preencoded.png">    </p:cNvPr>
          <p:cNvPicPr>
            <a:picLocks noChangeAspect="1"/>
          </p:cNvPicPr>
          <p:nvPr/>
        </p:nvPicPr>
        <p:blipFill>
          <a:blip r:embed="rId1"/>
          <a:stretch>
            <a:fillRect/>
          </a:stretch>
        </p:blipFill>
        <p:spPr>
          <a:xfrm>
            <a:off x="548640" y="2660904"/>
            <a:ext cx="182880" cy="182880"/>
          </a:xfrm>
          <a:prstGeom prst="rect">
            <a:avLst/>
          </a:prstGeom>
        </p:spPr>
      </p:pic>
      <p:sp>
        <p:nvSpPr>
          <p:cNvPr id="18" name="Text 15"/>
          <p:cNvSpPr txBox="1"/>
          <p:nvPr/>
        </p:nvSpPr>
        <p:spPr>
          <a:xfrm>
            <a:off x="960120" y="2514600"/>
            <a:ext cx="7726680" cy="502920"/>
          </a:xfrm>
          <a:prstGeom prst="rect">
            <a:avLst/>
          </a:prstGeom>
          <a:noFill/>
          <a:ln/>
        </p:spPr>
        <p:txBody>
          <a:bodyPr wrap="square" lIns="0" tIns="0" rIns="0" bIns="0" rtlCol="0" anchor="ctr"/>
          <a:lstStyle/>
          <a:p>
            <a:pPr indent="0" marL="0">
              <a:buNone/>
            </a:pPr>
            <a:r>
              <a:rPr lang="en-US" sz="1050" b="1" dirty="0">
                <a:solidFill>
                  <a:srgbClr val="1F2233"/>
                </a:solidFill>
                <a:latin typeface="Calibri" pitchFamily="34" charset="0"/>
                <a:ea typeface="Calibri" pitchFamily="34" charset="-122"/>
                <a:cs typeface="Calibri" pitchFamily="34" charset="-120"/>
              </a:rPr>
              <a:t>Base légale : </a:t>
            </a:r>
            <a:pPr indent="0" marL="0">
              <a:buNone/>
            </a:pPr>
            <a:r>
              <a:rPr lang="en-US" sz="1050" dirty="0">
                <a:solidFill>
                  <a:srgbClr val="1F2233"/>
                </a:solidFill>
                <a:latin typeface="Calibri" pitchFamily="34" charset="0"/>
                <a:ea typeface="Calibri" pitchFamily="34" charset="-122"/>
                <a:cs typeface="Calibri" pitchFamily="34" charset="-120"/>
              </a:rPr>
              <a:t>Contrat pour le matchmaking lui-même ; intérêt légitime documenté (test de mise en balance) pour l'audit ; consentement pour les sondages.</a:t>
            </a:r>
            <a:endParaRPr lang="en-US" sz="1050" dirty="0"/>
          </a:p>
        </p:txBody>
      </p:sp>
      <p:sp>
        <p:nvSpPr>
          <p:cNvPr id="19" name="Shape 16"/>
          <p:cNvSpPr/>
          <p:nvPr/>
        </p:nvSpPr>
        <p:spPr>
          <a:xfrm>
            <a:off x="457200" y="3118104"/>
            <a:ext cx="365760" cy="365760"/>
          </a:xfrm>
          <a:prstGeom prst="ellipse">
            <a:avLst/>
          </a:prstGeom>
          <a:solidFill>
            <a:srgbClr val="E23636"/>
          </a:solidFill>
          <a:ln w="12700">
            <a:solidFill>
              <a:srgbClr val="E23636"/>
            </a:solidFill>
            <a:prstDash val="solid"/>
          </a:ln>
        </p:spPr>
      </p:sp>
      <p:pic>
        <p:nvPicPr>
          <p:cNvPr id="20" name="Image 1" descr="preencoded.png">    </p:cNvPr>
          <p:cNvPicPr>
            <a:picLocks noChangeAspect="1"/>
          </p:cNvPicPr>
          <p:nvPr/>
        </p:nvPicPr>
        <p:blipFill>
          <a:blip r:embed="rId2"/>
          <a:stretch>
            <a:fillRect/>
          </a:stretch>
        </p:blipFill>
        <p:spPr>
          <a:xfrm>
            <a:off x="548640" y="3209544"/>
            <a:ext cx="182880" cy="182880"/>
          </a:xfrm>
          <a:prstGeom prst="rect">
            <a:avLst/>
          </a:prstGeom>
        </p:spPr>
      </p:pic>
      <p:sp>
        <p:nvSpPr>
          <p:cNvPr id="21" name="Text 17"/>
          <p:cNvSpPr txBox="1"/>
          <p:nvPr/>
        </p:nvSpPr>
        <p:spPr>
          <a:xfrm>
            <a:off x="960120" y="3063240"/>
            <a:ext cx="7726680" cy="502920"/>
          </a:xfrm>
          <a:prstGeom prst="rect">
            <a:avLst/>
          </a:prstGeom>
          <a:noFill/>
          <a:ln/>
        </p:spPr>
        <p:txBody>
          <a:bodyPr wrap="square" lIns="0" tIns="0" rIns="0" bIns="0" rtlCol="0" anchor="ctr"/>
          <a:lstStyle/>
          <a:p>
            <a:pPr indent="0" marL="0">
              <a:buNone/>
            </a:pPr>
            <a:r>
              <a:rPr lang="en-US" sz="1050" b="1" dirty="0">
                <a:solidFill>
                  <a:srgbClr val="1F2233"/>
                </a:solidFill>
                <a:latin typeface="Calibri" pitchFamily="34" charset="0"/>
                <a:ea typeface="Calibri" pitchFamily="34" charset="-122"/>
                <a:cs typeface="Calibri" pitchFamily="34" charset="-120"/>
              </a:rPr>
              <a:t>RGPD : </a:t>
            </a:r>
            <a:pPr indent="0" marL="0">
              <a:buNone/>
            </a:pPr>
            <a:r>
              <a:rPr lang="en-US" sz="1050" dirty="0">
                <a:solidFill>
                  <a:srgbClr val="1F2233"/>
                </a:solidFill>
                <a:latin typeface="Calibri" pitchFamily="34" charset="0"/>
                <a:ea typeface="Calibri" pitchFamily="34" charset="-122"/>
                <a:cs typeface="Calibri" pitchFamily="34" charset="-120"/>
              </a:rPr>
              <a:t>Accord de sous-traitance avant tout accès, identifiants hachés par NetEase, mineurs exclus ou traités à part.</a:t>
            </a:r>
            <a:endParaRPr lang="en-US" sz="1050" dirty="0"/>
          </a:p>
        </p:txBody>
      </p:sp>
      <p:sp>
        <p:nvSpPr>
          <p:cNvPr id="22" name="Shape 18"/>
          <p:cNvSpPr/>
          <p:nvPr/>
        </p:nvSpPr>
        <p:spPr>
          <a:xfrm>
            <a:off x="457200" y="3666744"/>
            <a:ext cx="365760" cy="365760"/>
          </a:xfrm>
          <a:prstGeom prst="ellipse">
            <a:avLst/>
          </a:prstGeom>
          <a:solidFill>
            <a:srgbClr val="E23636"/>
          </a:solidFill>
          <a:ln w="12700">
            <a:solidFill>
              <a:srgbClr val="E23636"/>
            </a:solidFill>
            <a:prstDash val="solid"/>
          </a:ln>
        </p:spPr>
      </p:sp>
      <p:pic>
        <p:nvPicPr>
          <p:cNvPr id="23" name="Image 2" descr="preencoded.png">    </p:cNvPr>
          <p:cNvPicPr>
            <a:picLocks noChangeAspect="1"/>
          </p:cNvPicPr>
          <p:nvPr/>
        </p:nvPicPr>
        <p:blipFill>
          <a:blip r:embed="rId3"/>
          <a:stretch>
            <a:fillRect/>
          </a:stretch>
        </p:blipFill>
        <p:spPr>
          <a:xfrm>
            <a:off x="548640" y="3758184"/>
            <a:ext cx="182880" cy="182880"/>
          </a:xfrm>
          <a:prstGeom prst="rect">
            <a:avLst/>
          </a:prstGeom>
        </p:spPr>
      </p:pic>
      <p:sp>
        <p:nvSpPr>
          <p:cNvPr id="24" name="Text 19"/>
          <p:cNvSpPr txBox="1"/>
          <p:nvPr/>
        </p:nvSpPr>
        <p:spPr>
          <a:xfrm>
            <a:off x="960120" y="3611880"/>
            <a:ext cx="7726680" cy="502920"/>
          </a:xfrm>
          <a:prstGeom prst="rect">
            <a:avLst/>
          </a:prstGeom>
          <a:noFill/>
          <a:ln/>
        </p:spPr>
        <p:txBody>
          <a:bodyPr wrap="square" lIns="0" tIns="0" rIns="0" bIns="0" rtlCol="0" anchor="ctr"/>
          <a:lstStyle/>
          <a:p>
            <a:pPr indent="0" marL="0">
              <a:buNone/>
            </a:pPr>
            <a:r>
              <a:rPr lang="en-US" sz="1050" b="1" dirty="0">
                <a:solidFill>
                  <a:srgbClr val="1F2233"/>
                </a:solidFill>
                <a:latin typeface="Calibri" pitchFamily="34" charset="0"/>
                <a:ea typeface="Calibri" pitchFamily="34" charset="-122"/>
                <a:cs typeface="Calibri" pitchFamily="34" charset="-120"/>
              </a:rPr>
              <a:t>AI Act : </a:t>
            </a:r>
            <a:pPr indent="0" marL="0">
              <a:buNone/>
            </a:pPr>
            <a:r>
              <a:rPr lang="en-US" sz="1050" dirty="0">
                <a:solidFill>
                  <a:srgbClr val="1F2233"/>
                </a:solidFill>
                <a:latin typeface="Calibri" pitchFamily="34" charset="0"/>
                <a:ea typeface="Calibri" pitchFamily="34" charset="-122"/>
                <a:cs typeface="Calibri" pitchFamily="34" charset="-120"/>
              </a:rPr>
              <a:t>Aucun profilage individuel des « perdants » : les leviers s'appliquent à tous ; bots toujours annoncés.</a:t>
            </a:r>
            <a:endParaRPr lang="en-US" sz="1050" dirty="0"/>
          </a:p>
        </p:txBody>
      </p:sp>
      <p:sp>
        <p:nvSpPr>
          <p:cNvPr id="25" name="Shape 20"/>
          <p:cNvSpPr/>
          <p:nvPr/>
        </p:nvSpPr>
        <p:spPr>
          <a:xfrm>
            <a:off x="457200" y="4215384"/>
            <a:ext cx="365760" cy="365760"/>
          </a:xfrm>
          <a:prstGeom prst="ellipse">
            <a:avLst/>
          </a:prstGeom>
          <a:solidFill>
            <a:srgbClr val="E23636"/>
          </a:solidFill>
          <a:ln w="12700">
            <a:solidFill>
              <a:srgbClr val="E23636"/>
            </a:solidFill>
            <a:prstDash val="solid"/>
          </a:ln>
        </p:spPr>
      </p:sp>
      <p:pic>
        <p:nvPicPr>
          <p:cNvPr id="26" name="Image 3" descr="preencoded.png">    </p:cNvPr>
          <p:cNvPicPr>
            <a:picLocks noChangeAspect="1"/>
          </p:cNvPicPr>
          <p:nvPr/>
        </p:nvPicPr>
        <p:blipFill>
          <a:blip r:embed="rId4"/>
          <a:stretch>
            <a:fillRect/>
          </a:stretch>
        </p:blipFill>
        <p:spPr>
          <a:xfrm>
            <a:off x="548640" y="4306824"/>
            <a:ext cx="182880" cy="182880"/>
          </a:xfrm>
          <a:prstGeom prst="rect">
            <a:avLst/>
          </a:prstGeom>
        </p:spPr>
      </p:pic>
      <p:sp>
        <p:nvSpPr>
          <p:cNvPr id="27" name="Text 21"/>
          <p:cNvSpPr txBox="1"/>
          <p:nvPr/>
        </p:nvSpPr>
        <p:spPr>
          <a:xfrm>
            <a:off x="960120" y="4160520"/>
            <a:ext cx="7726680" cy="502920"/>
          </a:xfrm>
          <a:prstGeom prst="rect">
            <a:avLst/>
          </a:prstGeom>
          <a:noFill/>
          <a:ln/>
        </p:spPr>
        <p:txBody>
          <a:bodyPr wrap="square" lIns="0" tIns="0" rIns="0" bIns="0" rtlCol="0" anchor="ctr"/>
          <a:lstStyle/>
          <a:p>
            <a:pPr indent="0" marL="0">
              <a:buNone/>
            </a:pPr>
            <a:r>
              <a:rPr lang="en-US" sz="1050" b="1" dirty="0">
                <a:solidFill>
                  <a:srgbClr val="1F2233"/>
                </a:solidFill>
                <a:latin typeface="Calibri" pitchFamily="34" charset="0"/>
                <a:ea typeface="Calibri" pitchFamily="34" charset="-122"/>
                <a:cs typeface="Calibri" pitchFamily="34" charset="-120"/>
              </a:rPr>
              <a:t>Plan B : </a:t>
            </a:r>
            <a:pPr indent="0" marL="0">
              <a:buNone/>
            </a:pPr>
            <a:r>
              <a:rPr lang="en-US" sz="1050" dirty="0">
                <a:solidFill>
                  <a:srgbClr val="1F2233"/>
                </a:solidFill>
                <a:latin typeface="Calibri" pitchFamily="34" charset="0"/>
                <a:ea typeface="Calibri" pitchFamily="34" charset="-122"/>
                <a:cs typeface="Calibri" pitchFamily="34" charset="-120"/>
              </a:rPr>
              <a:t>Ratio ≤ 1,2 sur les deux cohortes : pas d'investissement matchmaking ; les données extraites testent équilibrage et monétisation.</a:t>
            </a:r>
            <a:endParaRPr lang="en-US" sz="1050" dirty="0"/>
          </a:p>
        </p:txBody>
      </p:sp>
      <p:sp>
        <p:nvSpPr>
          <p:cNvPr id="28" name="Text 22"/>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RGPD</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AI Act</a:t>
            </a:r>
            <a:endParaRPr lang="en-US" sz="850" dirty="0"/>
          </a:p>
        </p:txBody>
      </p:sp>
      <p:sp>
        <p:nvSpPr>
          <p:cNvPr id="29" name="Text 23"/>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Sources</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Annexe · consultées du 29/09 au 01/10/2026 · liens cliquables</a:t>
            </a:r>
            <a:endParaRPr lang="en-US" sz="1200" dirty="0"/>
          </a:p>
        </p:txBody>
      </p:sp>
      <p:sp>
        <p:nvSpPr>
          <p:cNvPr id="4" name="Text 2"/>
          <p:cNvSpPr txBox="1"/>
          <p:nvPr/>
        </p:nvSpPr>
        <p:spPr>
          <a:xfrm>
            <a:off x="457200" y="1143000"/>
            <a:ext cx="8229600" cy="3566160"/>
          </a:xfrm>
          <a:prstGeom prst="rect">
            <a:avLst/>
          </a:prstGeom>
          <a:noFill/>
          <a:ln/>
        </p:spPr>
        <p:txBody>
          <a:bodyPr wrap="square" rtlCol="0" anchor="t"/>
          <a:lstStyle/>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Forbes, −85 % de joueurs en 10 mois (12/10/2025)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Steam Charts, moyennes mensuelles (PC)</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40 millions de joueurs, rapport NetEase (Game World Observer)</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API publique des avis Steam (notre collecte, 37 990 avis pondérés)</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Démenti de l'EOMM (X officiel, 12/08/2025)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Vidéo NetEase sur le matchmaking (21/08/2025)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Notes de patch Season 5, placements (14/11/2025)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Classé : Bronze III pour tous (PCGamesN)</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Dev Talk Vol.10, réinitialisation du rang (NetEase)</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Inactivité limitée aux rangs Eternity et One Above All (Timesaver, source tierce)</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45 % des joueurs ayant quitté Overwatch 2 ont joué à Marvel Rivals (Newzoo via Insider Gaming, 09/04/2025)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Overwatch 2 : baisse des joueurs moyens sur PC (VGC)</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 Plus un jeu pour le fan occasionnel » (TheGamer, 09/08/2025)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Tarifs BigQuery, requêtes à la demande (Google Cloud)</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RGPD (EUR-Lex)</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AI Act (EUR-Lex)</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7" invalidUrl="" action="" tgtFrame="" tooltip="" history="1" highlightClick="0" endSnd="0">
                  <a:extLst>
                    <a:ext uri="{A12FA001-AC4F-418D-AE19-62706E023703}">
                      <ahyp:hlinkClr xmlns:ahyp="http://schemas.microsoft.com/office/drawing/2018/hyperlinkcolor" val="tx"/>
                    </a:ext>
                  </a:extLst>
                </a:hlinkClick>
              </a:rPr>
              <a:t>Plan de collecte complet (Google Docs)</a:t>
            </a:r>
            <a:endParaRPr lang="en-US" sz="1000" dirty="0"/>
          </a:p>
        </p:txBody>
      </p:sp>
      <p:sp>
        <p:nvSpPr>
          <p:cNvPr id="5" name="Text 3"/>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5F9"/>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Questions anticipées</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Annexe · réponses courtes, à garder sous la main</a:t>
            </a:r>
            <a:endParaRPr lang="en-US" sz="1200" dirty="0"/>
          </a:p>
        </p:txBody>
      </p:sp>
      <p:sp>
        <p:nvSpPr>
          <p:cNvPr id="4" name="Shape 2"/>
          <p:cNvSpPr/>
          <p:nvPr/>
        </p:nvSpPr>
        <p:spPr>
          <a:xfrm>
            <a:off x="457200" y="1188720"/>
            <a:ext cx="4023360" cy="1051560"/>
          </a:xfrm>
          <a:prstGeom prst="roundRect">
            <a:avLst>
              <a:gd name="adj" fmla="val 5217"/>
            </a:avLst>
          </a:prstGeom>
          <a:solidFill>
            <a:srgbClr val="FFFFFF"/>
          </a:solidFill>
          <a:ln w="12700">
            <a:solidFill>
              <a:srgbClr val="E3E5EE"/>
            </a:solidFill>
            <a:prstDash val="solid"/>
          </a:ln>
        </p:spPr>
      </p:sp>
      <p:sp>
        <p:nvSpPr>
          <p:cNvPr id="5" name="Text 3"/>
          <p:cNvSpPr txBox="1"/>
          <p:nvPr/>
        </p:nvSpPr>
        <p:spPr>
          <a:xfrm>
            <a:off x="594360" y="1261872"/>
            <a:ext cx="3749040" cy="274320"/>
          </a:xfrm>
          <a:prstGeom prst="rect">
            <a:avLst/>
          </a:prstGeom>
          <a:noFill/>
          <a:ln/>
        </p:spPr>
        <p:txBody>
          <a:bodyPr wrap="square" lIns="0" tIns="0" rIns="0" bIns="0" rtlCol="0" anchor="ctr"/>
          <a:lstStyle/>
          <a:p>
            <a:pPr indent="0" marL="0">
              <a:buNone/>
            </a:pPr>
            <a:r>
              <a:rPr lang="en-US" sz="1100" b="1" dirty="0">
                <a:solidFill>
                  <a:srgbClr val="E23636"/>
                </a:solidFill>
                <a:latin typeface="Arial" pitchFamily="34" charset="0"/>
                <a:ea typeface="Arial" pitchFamily="34" charset="-122"/>
                <a:cs typeface="Arial" pitchFamily="34" charset="-120"/>
              </a:rPr>
              <a:t>Pourquoi cette donnée et pas une autre ?</a:t>
            </a:r>
            <a:endParaRPr lang="en-US" sz="1100" dirty="0"/>
          </a:p>
        </p:txBody>
      </p:sp>
      <p:sp>
        <p:nvSpPr>
          <p:cNvPr id="6" name="Text 4"/>
          <p:cNvSpPr txBox="1"/>
          <p:nvPr/>
        </p:nvSpPr>
        <p:spPr>
          <a:xfrm>
            <a:off x="594360" y="1554480"/>
            <a:ext cx="374904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Score ICE le plus haut, et elle tranche directement l'hypothèse (départ à 7 jours, cause A, B ou C).</a:t>
            </a:r>
            <a:endParaRPr lang="en-US" sz="1000" dirty="0"/>
          </a:p>
        </p:txBody>
      </p:sp>
      <p:sp>
        <p:nvSpPr>
          <p:cNvPr id="7" name="Shape 5"/>
          <p:cNvSpPr/>
          <p:nvPr/>
        </p:nvSpPr>
        <p:spPr>
          <a:xfrm>
            <a:off x="4663440" y="1188720"/>
            <a:ext cx="4023360" cy="1051560"/>
          </a:xfrm>
          <a:prstGeom prst="roundRect">
            <a:avLst>
              <a:gd name="adj" fmla="val 5217"/>
            </a:avLst>
          </a:prstGeom>
          <a:solidFill>
            <a:srgbClr val="FFFFFF"/>
          </a:solidFill>
          <a:ln w="12700">
            <a:solidFill>
              <a:srgbClr val="E3E5EE"/>
            </a:solidFill>
            <a:prstDash val="solid"/>
          </a:ln>
        </p:spPr>
      </p:sp>
      <p:sp>
        <p:nvSpPr>
          <p:cNvPr id="8" name="Text 6"/>
          <p:cNvSpPr txBox="1"/>
          <p:nvPr/>
        </p:nvSpPr>
        <p:spPr>
          <a:xfrm>
            <a:off x="4800600" y="1261872"/>
            <a:ext cx="3749040" cy="274320"/>
          </a:xfrm>
          <a:prstGeom prst="rect">
            <a:avLst/>
          </a:prstGeom>
          <a:noFill/>
          <a:ln/>
        </p:spPr>
        <p:txBody>
          <a:bodyPr wrap="square" lIns="0" tIns="0" rIns="0" bIns="0" rtlCol="0" anchor="ctr"/>
          <a:lstStyle/>
          <a:p>
            <a:pPr indent="0" marL="0">
              <a:buNone/>
            </a:pPr>
            <a:r>
              <a:rPr lang="en-US" sz="1100" b="1" dirty="0">
                <a:solidFill>
                  <a:srgbClr val="E23636"/>
                </a:solidFill>
                <a:latin typeface="Arial" pitchFamily="34" charset="0"/>
                <a:ea typeface="Arial" pitchFamily="34" charset="-122"/>
                <a:cs typeface="Arial" pitchFamily="34" charset="-120"/>
              </a:rPr>
              <a:t>Combien ça coûte ?</a:t>
            </a:r>
            <a:endParaRPr lang="en-US" sz="1100" dirty="0"/>
          </a:p>
        </p:txBody>
      </p:sp>
      <p:sp>
        <p:nvSpPr>
          <p:cNvPr id="9" name="Text 7"/>
          <p:cNvSpPr txBox="1"/>
          <p:nvPr/>
        </p:nvSpPr>
        <p:spPr>
          <a:xfrm>
            <a:off x="4800600" y="1554480"/>
            <a:ext cx="374904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 33 jours-homme pour l'audit ; aucune licence nouvelle ; requêtes ≈ 6,25 $ par To au-delà de 1 To gratuit.</a:t>
            </a:r>
            <a:endParaRPr lang="en-US" sz="1000" dirty="0"/>
          </a:p>
        </p:txBody>
      </p:sp>
      <p:sp>
        <p:nvSpPr>
          <p:cNvPr id="10" name="Shape 8"/>
          <p:cNvSpPr/>
          <p:nvPr/>
        </p:nvSpPr>
        <p:spPr>
          <a:xfrm>
            <a:off x="457200" y="2350008"/>
            <a:ext cx="4023360" cy="1051560"/>
          </a:xfrm>
          <a:prstGeom prst="roundRect">
            <a:avLst>
              <a:gd name="adj" fmla="val 5217"/>
            </a:avLst>
          </a:prstGeom>
          <a:solidFill>
            <a:srgbClr val="FFFFFF"/>
          </a:solidFill>
          <a:ln w="12700">
            <a:solidFill>
              <a:srgbClr val="E3E5EE"/>
            </a:solidFill>
            <a:prstDash val="solid"/>
          </a:ln>
        </p:spPr>
      </p:sp>
      <p:sp>
        <p:nvSpPr>
          <p:cNvPr id="11" name="Text 9"/>
          <p:cNvSpPr txBox="1"/>
          <p:nvPr/>
        </p:nvSpPr>
        <p:spPr>
          <a:xfrm>
            <a:off x="594360" y="2423160"/>
            <a:ext cx="3749040" cy="274320"/>
          </a:xfrm>
          <a:prstGeom prst="rect">
            <a:avLst/>
          </a:prstGeom>
          <a:noFill/>
          <a:ln/>
        </p:spPr>
        <p:txBody>
          <a:bodyPr wrap="square" lIns="0" tIns="0" rIns="0" bIns="0" rtlCol="0" anchor="ctr"/>
          <a:lstStyle/>
          <a:p>
            <a:pPr indent="0" marL="0">
              <a:buNone/>
            </a:pPr>
            <a:r>
              <a:rPr lang="en-US" sz="1100" b="1" dirty="0">
                <a:solidFill>
                  <a:srgbClr val="E23636"/>
                </a:solidFill>
                <a:latin typeface="Arial" pitchFamily="34" charset="0"/>
                <a:ea typeface="Arial" pitchFamily="34" charset="-122"/>
                <a:cs typeface="Arial" pitchFamily="34" charset="-120"/>
              </a:rPr>
              <a:t>Quelle base légale ?</a:t>
            </a:r>
            <a:endParaRPr lang="en-US" sz="1100" dirty="0"/>
          </a:p>
        </p:txBody>
      </p:sp>
      <p:sp>
        <p:nvSpPr>
          <p:cNvPr id="12" name="Text 10"/>
          <p:cNvSpPr txBox="1"/>
          <p:nvPr/>
        </p:nvSpPr>
        <p:spPr>
          <a:xfrm>
            <a:off x="594360" y="2715768"/>
            <a:ext cx="374904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Contrat pour le matchmaking ; intérêt légitime documenté pour l'audit ; consentement pour les sondages.</a:t>
            </a:r>
            <a:endParaRPr lang="en-US" sz="1000" dirty="0"/>
          </a:p>
        </p:txBody>
      </p:sp>
      <p:sp>
        <p:nvSpPr>
          <p:cNvPr id="13" name="Shape 11"/>
          <p:cNvSpPr/>
          <p:nvPr/>
        </p:nvSpPr>
        <p:spPr>
          <a:xfrm>
            <a:off x="4663440" y="2350008"/>
            <a:ext cx="4023360" cy="1051560"/>
          </a:xfrm>
          <a:prstGeom prst="roundRect">
            <a:avLst>
              <a:gd name="adj" fmla="val 5217"/>
            </a:avLst>
          </a:prstGeom>
          <a:solidFill>
            <a:srgbClr val="FFFFFF"/>
          </a:solidFill>
          <a:ln w="12700">
            <a:solidFill>
              <a:srgbClr val="E3E5EE"/>
            </a:solidFill>
            <a:prstDash val="solid"/>
          </a:ln>
        </p:spPr>
      </p:sp>
      <p:sp>
        <p:nvSpPr>
          <p:cNvPr id="14" name="Text 12"/>
          <p:cNvSpPr txBox="1"/>
          <p:nvPr/>
        </p:nvSpPr>
        <p:spPr>
          <a:xfrm>
            <a:off x="4800600" y="2423160"/>
            <a:ext cx="3749040" cy="274320"/>
          </a:xfrm>
          <a:prstGeom prst="rect">
            <a:avLst/>
          </a:prstGeom>
          <a:noFill/>
          <a:ln/>
        </p:spPr>
        <p:txBody>
          <a:bodyPr wrap="square" lIns="0" tIns="0" rIns="0" bIns="0" rtlCol="0" anchor="ctr"/>
          <a:lstStyle/>
          <a:p>
            <a:pPr indent="0" marL="0">
              <a:buNone/>
            </a:pPr>
            <a:r>
              <a:rPr lang="en-US" sz="1100" b="1" dirty="0">
                <a:solidFill>
                  <a:srgbClr val="E23636"/>
                </a:solidFill>
                <a:latin typeface="Arial" pitchFamily="34" charset="0"/>
                <a:ea typeface="Arial" pitchFamily="34" charset="-122"/>
                <a:cs typeface="Arial" pitchFamily="34" charset="-120"/>
              </a:rPr>
              <a:t>Comment savoir si ça marche ?</a:t>
            </a:r>
            <a:endParaRPr lang="en-US" sz="1100" dirty="0"/>
          </a:p>
        </p:txBody>
      </p:sp>
      <p:sp>
        <p:nvSpPr>
          <p:cNvPr id="15" name="Text 13"/>
          <p:cNvSpPr txBox="1"/>
          <p:nvPr/>
        </p:nvSpPr>
        <p:spPr>
          <a:xfrm>
            <a:off x="4800600" y="2715768"/>
            <a:ext cx="374904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Ratio ≤ 1,2 au 31/03/2027 sur les deux cohortes ; sinon, plan B sans nouvelle collecte.</a:t>
            </a:r>
            <a:endParaRPr lang="en-US" sz="1000" dirty="0"/>
          </a:p>
        </p:txBody>
      </p:sp>
      <p:sp>
        <p:nvSpPr>
          <p:cNvPr id="16" name="Shape 14"/>
          <p:cNvSpPr/>
          <p:nvPr/>
        </p:nvSpPr>
        <p:spPr>
          <a:xfrm>
            <a:off x="457200" y="3511296"/>
            <a:ext cx="4023360" cy="1051560"/>
          </a:xfrm>
          <a:prstGeom prst="roundRect">
            <a:avLst>
              <a:gd name="adj" fmla="val 5217"/>
            </a:avLst>
          </a:prstGeom>
          <a:solidFill>
            <a:srgbClr val="FFFFFF"/>
          </a:solidFill>
          <a:ln w="12700">
            <a:solidFill>
              <a:srgbClr val="E3E5EE"/>
            </a:solidFill>
            <a:prstDash val="solid"/>
          </a:ln>
        </p:spPr>
      </p:sp>
      <p:sp>
        <p:nvSpPr>
          <p:cNvPr id="17" name="Text 15"/>
          <p:cNvSpPr txBox="1"/>
          <p:nvPr/>
        </p:nvSpPr>
        <p:spPr>
          <a:xfrm>
            <a:off x="594360" y="3584448"/>
            <a:ext cx="3749040" cy="274320"/>
          </a:xfrm>
          <a:prstGeom prst="rect">
            <a:avLst/>
          </a:prstGeom>
          <a:noFill/>
          <a:ln/>
        </p:spPr>
        <p:txBody>
          <a:bodyPr wrap="square" lIns="0" tIns="0" rIns="0" bIns="0" rtlCol="0" anchor="ctr"/>
          <a:lstStyle/>
          <a:p>
            <a:pPr indent="0" marL="0">
              <a:buNone/>
            </a:pPr>
            <a:r>
              <a:rPr lang="en-US" sz="1100" b="1" dirty="0">
                <a:solidFill>
                  <a:srgbClr val="E23636"/>
                </a:solidFill>
                <a:latin typeface="Arial" pitchFamily="34" charset="0"/>
                <a:ea typeface="Arial" pitchFamily="34" charset="-122"/>
                <a:cs typeface="Arial" pitchFamily="34" charset="-120"/>
              </a:rPr>
              <a:t>Qu'avez-vous écarté ?</a:t>
            </a:r>
            <a:endParaRPr lang="en-US" sz="1100" dirty="0"/>
          </a:p>
        </p:txBody>
      </p:sp>
      <p:sp>
        <p:nvSpPr>
          <p:cNvPr id="18" name="Text 16"/>
          <p:cNvSpPr txBox="1"/>
          <p:nvPr/>
        </p:nvSpPr>
        <p:spPr>
          <a:xfrm>
            <a:off x="594360" y="3877056"/>
            <a:ext cx="374904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Données personnelles sans décision (chat, âge, téléphone, autres jeux), benchmark Newzoo (ICE 12), rôles imposés.</a:t>
            </a:r>
            <a:endParaRPr lang="en-US" sz="1000" dirty="0"/>
          </a:p>
        </p:txBody>
      </p:sp>
      <p:sp>
        <p:nvSpPr>
          <p:cNvPr id="19" name="Shape 17"/>
          <p:cNvSpPr/>
          <p:nvPr/>
        </p:nvSpPr>
        <p:spPr>
          <a:xfrm>
            <a:off x="4663440" y="3511296"/>
            <a:ext cx="4023360" cy="1051560"/>
          </a:xfrm>
          <a:prstGeom prst="roundRect">
            <a:avLst>
              <a:gd name="adj" fmla="val 5217"/>
            </a:avLst>
          </a:prstGeom>
          <a:solidFill>
            <a:srgbClr val="FFFFFF"/>
          </a:solidFill>
          <a:ln w="12700">
            <a:solidFill>
              <a:srgbClr val="E3E5EE"/>
            </a:solidFill>
            <a:prstDash val="solid"/>
          </a:ln>
        </p:spPr>
      </p:sp>
      <p:sp>
        <p:nvSpPr>
          <p:cNvPr id="20" name="Text 18"/>
          <p:cNvSpPr txBox="1"/>
          <p:nvPr/>
        </p:nvSpPr>
        <p:spPr>
          <a:xfrm>
            <a:off x="4800600" y="3584448"/>
            <a:ext cx="3749040" cy="274320"/>
          </a:xfrm>
          <a:prstGeom prst="rect">
            <a:avLst/>
          </a:prstGeom>
          <a:noFill/>
          <a:ln/>
        </p:spPr>
        <p:txBody>
          <a:bodyPr wrap="square" lIns="0" tIns="0" rIns="0" bIns="0" rtlCol="0" anchor="ctr"/>
          <a:lstStyle/>
          <a:p>
            <a:pPr indent="0" marL="0">
              <a:buNone/>
            </a:pPr>
            <a:r>
              <a:rPr lang="en-US" sz="1100" b="1" dirty="0">
                <a:solidFill>
                  <a:srgbClr val="E23636"/>
                </a:solidFill>
                <a:latin typeface="Arial" pitchFamily="34" charset="0"/>
                <a:ea typeface="Arial" pitchFamily="34" charset="-122"/>
                <a:cs typeface="Arial" pitchFamily="34" charset="-120"/>
              </a:rPr>
              <a:t>Où avez-vous utilisé l'IA ?</a:t>
            </a:r>
            <a:endParaRPr lang="en-US" sz="1100" dirty="0"/>
          </a:p>
        </p:txBody>
      </p:sp>
      <p:sp>
        <p:nvSpPr>
          <p:cNvPr id="21" name="Text 19"/>
          <p:cNvSpPr txBox="1"/>
          <p:nvPr/>
        </p:nvSpPr>
        <p:spPr>
          <a:xfrm>
            <a:off x="4800600" y="3877056"/>
            <a:ext cx="374904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9 usages tracés en annexe du rapport : outil, prompt, réponse, analyse critique (retenu, rejeté, à vérifier).</a:t>
            </a:r>
            <a:endParaRPr lang="en-US" sz="1000" dirty="0"/>
          </a:p>
        </p:txBody>
      </p:sp>
      <p:sp>
        <p:nvSpPr>
          <p:cNvPr id="22" name="Text 20"/>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Marvel Rivals : pourquoi les joueurs ne restent pas</dc:title>
  <dc:subject>PptxGenJS Presentation</dc:subject>
  <dc:creator>Noé</dc:creator>
  <cp:lastModifiedBy>Noé</cp:lastModifiedBy>
  <cp:revision>1</cp:revision>
  <dcterms:created xsi:type="dcterms:W3CDTF">2026-10-01T15:44:36Z</dcterms:created>
  <dcterms:modified xsi:type="dcterms:W3CDTF">2026-10-01T15:44:36Z</dcterms:modified>
</cp:coreProperties>
</file>