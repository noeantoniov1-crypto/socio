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2233"/>
                </a:solidFill>
                <a:latin typeface="Calibri"/>
              </a:defRPr>
            </a:pPr>
            <a:r>
              <a:rPr sz="1100" b="0" i="0" u="none" strike="noStrike">
                <a:solidFill>
                  <a:srgbClr val="1F2233"/>
                </a:solidFill>
                <a:latin typeface="Calibri"/>
              </a:rPr>
              <a:t>Joueurs simultanés, moyenne mensuelle (milliers)</a:t>
            </a:r>
          </a:p>
        </c:rich>
      </c:tx>
      <c:layout/>
      <c:overlay val="0"/>
    </c:title>
    <c:autoTitleDeleted val="0"/>
    <c:plotArea>
      <c:layout/>
      <c:lineChart>
        <c:varyColors val="0"/>
        <c:ser>
          <c:idx val="0"/>
          <c:order val="0"/>
          <c:tx>
            <c:strRef>
              <c:f>Sheet1!$B$1</c:f>
              <c:strCache>
                <c:ptCount val="1"/>
                <c:pt idx="0">
                  <c:v>Joueurs simultanés (milliers)</c:v>
                </c:pt>
              </c:strCache>
            </c:strRef>
          </c:tx>
          <c:spPr>
            <a:solidFill>
              <a:srgbClr val="E23636"/>
            </a:solidFill>
            <a:ln w="31750" cap="flat">
              <a:solidFill>
                <a:srgbClr val="E2363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E23636"/>
              </a:solidFill>
              <a:ln w="9525" cap="flat">
                <a:solidFill>
                  <a:srgbClr val="E23636"/>
                </a:solidFill>
                <a:prstDash val="solid"/>
                <a:round/>
              </a:ln>
              <a:effectLst/>
            </c:spPr>
          </c:marker>
          <c:cat>
            <c:multiLvlStrRef>
              <c:f>Sheet1!$A$2:$A$23</c:f>
              <c:multiLvlStrCache>
                <c:ptCount val="22"/>
                <c:lvl>
                  <c:pt idx="0">
                    <c:v>Déc. 24</c:v>
                  </c:pt>
                  <c:pt idx="1">
                    <c:v>Janv.</c:v>
                  </c:pt>
                  <c:pt idx="2">
                    <c:v>Févr.</c:v>
                  </c:pt>
                  <c:pt idx="3">
                    <c:v>Mars</c:v>
                  </c:pt>
                  <c:pt idx="4">
                    <c:v>Avr.</c:v>
                  </c:pt>
                  <c:pt idx="5">
                    <c:v>Mai</c:v>
                  </c:pt>
                  <c:pt idx="6">
                    <c:v>Juin</c:v>
                  </c:pt>
                  <c:pt idx="7">
                    <c:v>Juil.</c:v>
                  </c:pt>
                  <c:pt idx="8">
                    <c:v>Août</c:v>
                  </c:pt>
                  <c:pt idx="9">
                    <c:v>Sept.</c:v>
                  </c:pt>
                  <c:pt idx="10">
                    <c:v>Oct.</c:v>
                  </c:pt>
                  <c:pt idx="11">
                    <c:v>Nov.</c:v>
                  </c:pt>
                  <c:pt idx="12">
                    <c:v>Déc.</c:v>
                  </c:pt>
                  <c:pt idx="13">
                    <c:v>Janv. 26</c:v>
                  </c:pt>
                  <c:pt idx="14">
                    <c:v>Févr.</c:v>
                  </c:pt>
                  <c:pt idx="15">
                    <c:v>Mars</c:v>
                  </c:pt>
                  <c:pt idx="16">
                    <c:v>Avr.</c:v>
                  </c:pt>
                  <c:pt idx="17">
                    <c:v>Mai</c:v>
                  </c:pt>
                  <c:pt idx="18">
                    <c:v>Juin</c:v>
                  </c:pt>
                  <c:pt idx="19">
                    <c:v>Juil.</c:v>
                  </c:pt>
                  <c:pt idx="20">
                    <c:v>Août</c:v>
                  </c:pt>
                  <c:pt idx="21">
                    <c:v>Sept.*</c:v>
                  </c:pt>
                </c:lvl>
              </c:multiLvlStrCache>
            </c:multiLvlStrRef>
          </c:cat>
          <c:val>
            <c:numRef>
              <c:f>Sheet1!$B$2:$B$23</c:f>
              <c:numCache>
                <c:formatCode>General</c:formatCode>
                <c:ptCount val="22"/>
                <c:pt idx="0">
                  <c:v>279</c:v>
                </c:pt>
                <c:pt idx="1">
                  <c:v>306</c:v>
                </c:pt>
                <c:pt idx="2">
                  <c:v>228</c:v>
                </c:pt>
                <c:pt idx="3">
                  <c:v>144</c:v>
                </c:pt>
                <c:pt idx="4">
                  <c:v>134</c:v>
                </c:pt>
                <c:pt idx="5">
                  <c:v>102</c:v>
                </c:pt>
                <c:pt idx="6">
                  <c:v>80</c:v>
                </c:pt>
                <c:pt idx="7">
                  <c:v>83</c:v>
                </c:pt>
                <c:pt idx="8">
                  <c:v>78</c:v>
                </c:pt>
                <c:pt idx="9">
                  <c:v>64</c:v>
                </c:pt>
                <c:pt idx="10">
                  <c:v>64</c:v>
                </c:pt>
                <c:pt idx="11">
                  <c:v>65</c:v>
                </c:pt>
                <c:pt idx="12">
                  <c:v>75</c:v>
                </c:pt>
                <c:pt idx="13">
                  <c:v>89</c:v>
                </c:pt>
                <c:pt idx="14">
                  <c:v>81</c:v>
                </c:pt>
                <c:pt idx="15">
                  <c:v>65</c:v>
                </c:pt>
                <c:pt idx="16">
                  <c:v>70</c:v>
                </c:pt>
                <c:pt idx="17">
                  <c:v>68</c:v>
                </c:pt>
                <c:pt idx="18">
                  <c:v>70</c:v>
                </c:pt>
                <c:pt idx="19">
                  <c:v>84</c:v>
                </c:pt>
                <c:pt idx="20">
                  <c:v>80</c:v>
                </c:pt>
                <c:pt idx="21">
                  <c:v>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5E6378"/>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5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E63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F2233"/>
                </a:solidFill>
                <a:latin typeface="Calibri"/>
              </a:defRPr>
            </a:pPr>
            <a:r>
              <a:rPr sz="1100" b="0" i="0" u="none" strike="noStrike">
                <a:solidFill>
                  <a:srgbClr val="1F2233"/>
                </a:solidFill>
                <a:latin typeface="Calibri"/>
              </a:rPr>
              <a:t>% des avis Steam négatifs qui citent le matchmaking</a:t>
            </a:r>
          </a:p>
        </c:rich>
      </c:tx>
      <c:layout/>
      <c:overlay val="0"/>
    </c:title>
    <c:autoTitleDeleted val="0"/>
    <c:plotArea>
      <c:layout/>
      <c:lineChart>
        <c:varyColors val="0"/>
        <c:ser>
          <c:idx val="0"/>
          <c:order val="0"/>
          <c:tx>
            <c:strRef>
              <c:f>Sheet1!$B$1</c:f>
              <c:strCache>
                <c:ptCount val="1"/>
                <c:pt idx="0">
                  <c:v>% des avis négatifs citant le matchmaking</c:v>
                </c:pt>
              </c:strCache>
            </c:strRef>
          </c:tx>
          <c:spPr>
            <a:solidFill>
              <a:srgbClr val="161A33"/>
            </a:solidFill>
            <a:ln w="31750" cap="flat">
              <a:solidFill>
                <a:srgbClr val="161A3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161A33"/>
              </a:solidFill>
              <a:ln w="9525" cap="flat">
                <a:solidFill>
                  <a:srgbClr val="161A33"/>
                </a:solidFill>
                <a:prstDash val="solid"/>
                <a:round/>
              </a:ln>
              <a:effectLst/>
            </c:spPr>
          </c:marker>
          <c:cat>
            <c:multiLvlStrRef>
              <c:f>Sheet1!$A$2:$A$23</c:f>
              <c:multiLvlStrCache>
                <c:ptCount val="22"/>
                <c:lvl>
                  <c:pt idx="0">
                    <c:v>Déc. 24</c:v>
                  </c:pt>
                  <c:pt idx="1">
                    <c:v>Janv.</c:v>
                  </c:pt>
                  <c:pt idx="2">
                    <c:v>Févr.</c:v>
                  </c:pt>
                  <c:pt idx="3">
                    <c:v>Mars</c:v>
                  </c:pt>
                  <c:pt idx="4">
                    <c:v>Avr.</c:v>
                  </c:pt>
                  <c:pt idx="5">
                    <c:v>Mai</c:v>
                  </c:pt>
                  <c:pt idx="6">
                    <c:v>Juin</c:v>
                  </c:pt>
                  <c:pt idx="7">
                    <c:v>Juil.</c:v>
                  </c:pt>
                  <c:pt idx="8">
                    <c:v>Août</c:v>
                  </c:pt>
                  <c:pt idx="9">
                    <c:v>Sept.</c:v>
                  </c:pt>
                  <c:pt idx="10">
                    <c:v>Oct.</c:v>
                  </c:pt>
                  <c:pt idx="11">
                    <c:v>Nov.</c:v>
                  </c:pt>
                  <c:pt idx="12">
                    <c:v>Déc.</c:v>
                  </c:pt>
                  <c:pt idx="13">
                    <c:v>Janv. 26</c:v>
                  </c:pt>
                  <c:pt idx="14">
                    <c:v>Févr.</c:v>
                  </c:pt>
                  <c:pt idx="15">
                    <c:v>Mars</c:v>
                  </c:pt>
                  <c:pt idx="16">
                    <c:v>Avr.</c:v>
                  </c:pt>
                  <c:pt idx="17">
                    <c:v>Mai</c:v>
                  </c:pt>
                  <c:pt idx="18">
                    <c:v>Juin</c:v>
                  </c:pt>
                  <c:pt idx="19">
                    <c:v>Juil.</c:v>
                  </c:pt>
                  <c:pt idx="20">
                    <c:v>Août</c:v>
                  </c:pt>
                  <c:pt idx="21">
                    <c:v>Sept.*</c:v>
                  </c:pt>
                </c:lvl>
              </c:multiLvlStrCache>
            </c:multiLvlStrRef>
          </c:cat>
          <c:val>
            <c:numRef>
              <c:f>Sheet1!$B$2:$B$23</c:f>
              <c:numCache>
                <c:formatCode>General</c:formatCode>
                <c:ptCount val="22"/>
                <c:pt idx="0">
                  <c:v>7.4</c:v>
                </c:pt>
                <c:pt idx="1">
                  <c:v>10.9</c:v>
                </c:pt>
                <c:pt idx="2">
                  <c:v>12.1</c:v>
                </c:pt>
                <c:pt idx="3">
                  <c:v>20.3</c:v>
                </c:pt>
                <c:pt idx="4">
                  <c:v>21.1</c:v>
                </c:pt>
                <c:pt idx="5">
                  <c:v>29.1</c:v>
                </c:pt>
                <c:pt idx="6">
                  <c:v>27.6</c:v>
                </c:pt>
                <c:pt idx="7">
                  <c:v>37</c:v>
                </c:pt>
                <c:pt idx="8">
                  <c:v>41</c:v>
                </c:pt>
                <c:pt idx="9">
                  <c:v>33.9</c:v>
                </c:pt>
                <c:pt idx="10">
                  <c:v>25.9</c:v>
                </c:pt>
                <c:pt idx="11">
                  <c:v>17.3</c:v>
                </c:pt>
                <c:pt idx="12">
                  <c:v>18.2</c:v>
                </c:pt>
                <c:pt idx="13">
                  <c:v>15.4</c:v>
                </c:pt>
                <c:pt idx="14">
                  <c:v>15.6</c:v>
                </c:pt>
                <c:pt idx="15">
                  <c:v>13.4</c:v>
                </c:pt>
                <c:pt idx="16">
                  <c:v>14.4</c:v>
                </c:pt>
                <c:pt idx="17">
                  <c:v>14.7</c:v>
                </c:pt>
                <c:pt idx="18">
                  <c:v>14.2</c:v>
                </c:pt>
                <c:pt idx="19">
                  <c:v>8.8</c:v>
                </c:pt>
                <c:pt idx="20">
                  <c:v>13.4</c:v>
                </c:pt>
                <c:pt idx="21">
                  <c:v>10.5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5E6378"/>
                </a:solidFill>
                <a:latin typeface="Arial"/>
              </a:defRPr>
            </a:pPr>
            <a:endParaRPr lang="en-US"/>
          </a:p>
        </c:txPr>
        <c:crossAx val="2094734552"/>
        <c:crosses val="autoZero"/>
        <c:auto val="1"/>
        <c:lblAlgn val="ctr"/>
        <c:noMultiLvlLbl val="1"/>
      </c:catAx>
      <c:valAx>
        <c:axId val="2094734552"/>
        <c:scaling>
          <c:orientation val="minMax"/>
          <c:max val="45"/>
        </c:scaling>
        <c:delete val="0"/>
        <c:axPos val="l"/>
        <c:majorGridlines>
          <c:spPr>
            <a:ln w="6350" cap="flat">
              <a:solidFill>
                <a:srgbClr val="E3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E63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644 000 joueurs en janvier 2025, 98 000 dix mois plus tard. Votre comité m'a demandé pourquoi les joueurs ne restent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Le problème business : Marvel Rivals perd ses joueurs et ne parvient plus à en regagner. Les preuves : moins 85 % de pic à pic. Chaque saison ramène des joueurs, repartis en deux mois. Et ceux qui partent accusent le matchmaking : de 7 à 41 % des avis négatifs, au point que NetEase a dû démentir un matchmaking truqué.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Pourquoi ? Notre hypothèse : nouveaux et revenants subissent des écarts de niveau non compensés, et partent. En partie rapide, faute de joueurs, le jeu accepte des écarts plus grands, NetEase l'a reconnu. En classé, un joueur qui revient retrouve un rang à peine abaissé, perd et repart. L'origine probable : au lancement, des vétérans d'Overwatch face à un grand public venu pour Marvel. Plausible, mais invérifiable : aucune décision n'en dépend.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D'abord mesurer. L'objectif : d'ici fin mars 2027, un joueur qui perd au début ne doit pas partir plus de 1,2 fois plus souvent que les autres, nouveau ou de retour. Sept données d'abord : la première mesure l'objectif, la deuxième dit où jouent les nouveaux, quatre testent les causes, dont deux pour les joueurs de retour, en classé et hors classé, car un revenant ne rejoue pas forcément en classé. La dernière exploite une expérience déjà faite en saison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Chaque donnée est notée sur l'impact, la confiance et la facilité ; le score est leur produit. Quinze dépassent 80, toutes déjà dans votre télémétrie. Le chat ou le téléphone tombent sous 30 : risque RGPD sans décision.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On ne teste que si le ratio dépasse 1,2, et seulement les causes que l'audit confirme : une, deux ou les trois, chacune avec son levier. Démarrage à froid : niveau de départ plus prudent. Manque de joueurs : écart resserré aux heures creuses, arrêté si l'attente dépasse 3 minutes. Niveau périmé : recalibrage au retour, en classé comme en partie rapide. Toujours avec un groupe témoin.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Nous avons volontairement écarté les données personnelles qu'aucune décision n'exige, le benchmark Newzoo, trop biaisé, et les rôles imposés, contraires à l'identité du jeu.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Phase 1 : trente jours d'audit par un data analyst et un data engineer ; rien ne change pour les joueurs. Si un ratio dépasse 1,2, phase 2 : votre équipe matchmaking teste le réglage de chaque cause confirmée sur des joueurs tirés au sort. Un réglage n'est gardé que s'il réduit les départs sans dépasser 3 minutes d'attente. Phase 3 : les gagnants passent à tous, annoncés dans les notes de patch.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Seuls 19 000 euros sont engagés aujourd'hui. Si les tests sont lancés, 45 000 euros d'analyse et moins de 4 000 dollars d'outils. Nous n'achetons ni SDK, ni CDP, ni CRM : votre stack suffit.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Chaque KPI dit comment il se calcule et ce qu'il déclenche. Le principal : la part des nouveaux qui perdent au début et ne reviennent pas sous 7 jours, comparée aux autres ; au-delà de 1,2, on teste. Même calcul pour les revenants. 3 minutes d'attente arrêtent le resserrement : au-delà, un hero shooter paraît mort. Base légale : contrat et intérêt légitime documenté. Pour démarrer : signer l'accord de sous-traitance et lancer l'audit. Merci.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à montrer seulement si on vous demande une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pour les questions. Question imposée du jury, sans carte à l'écran : « Où avez-vous utilisé l'IA ? ». Réponse : 10 usages tracés en annexe du rapport (outil, prompt, réponse, analyse critique), plus à l'oral un élément critique que vous avez fait sans IA (par exemple le choix final de l'hypothèse ou la vérification des chiffres), si c'est le 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www.forbes.com/sites/paultassi/2025/10/12/marvel-rivals-has-lost-85-of-its-players-in-10-months/" TargetMode="External"/><Relationship Id="rId1" Type="http://schemas.openxmlformats.org/officeDocument/2006/relationships/image" Target="../media/image-1-1.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www.forbes.com/sites/paultassi/2025/10/12/marvel-rivals-has-lost-85-of-its-players-in-10-months/" TargetMode="External"/><Relationship Id="rId4" Type="http://schemas.openxmlformats.org/officeDocument/2006/relationships/hyperlink" Target="https://steamcharts.com/app/2767030" TargetMode="External"/><Relationship Id="rId5" Type="http://schemas.openxmlformats.org/officeDocument/2006/relationships/hyperlink" Target="https://store.steampowered.com/appreviews/2767030?json=1" TargetMode="External"/><Relationship Id="rId6" Type="http://schemas.openxmlformats.org/officeDocument/2006/relationships/hyperlink" Target="https://x.com/MarvelRivals/status/1955117077561593877" TargetMode="External"/><Relationship Id="rId1" Type="http://schemas.openxmlformats.org/officeDocument/2006/relationships/chart" Target="/ppt/charts/chart1.xml"/><Relationship Id="rId2" Type="http://schemas.openxmlformats.org/officeDocument/2006/relationships/chart" Target="/ppt/charts/chart2.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x.com/MarvelRivals/status/1958627668536311945" TargetMode="External"/><Relationship Id="rId4" Type="http://schemas.openxmlformats.org/officeDocument/2006/relationships/hyperlink" Target="https://www.marvelrivals.com/devdiaries/20250210/40954_1210988.html" TargetMode="External"/><Relationship Id="rId5" Type="http://schemas.openxmlformats.org/officeDocument/2006/relationships/hyperlink" Target="https://timesaver.gg/blog/marvel-rivals-season-10-rank-reset" TargetMode="External"/><Relationship Id="rId6" Type="http://schemas.openxmlformats.org/officeDocument/2006/relationships/hyperlink" Target="https://steamcharts.com/app/2767030" TargetMode="External"/><Relationship Id="rId1" Type="http://schemas.openxmlformats.org/officeDocument/2006/relationships/image" Target="../media/image-3-1.png"/><Relationship Id="rId2" Type="http://schemas.openxmlformats.org/officeDocument/2006/relationships/image" Target="../media/image-3-2.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cs.google.com/document/d/1nOhcAL2wfeAHOK6x6UZH-Hg5yh9Ofxxko7FY47r5Vzc/edit" TargetMode="External"/><Relationship Id="rId2" Type="http://schemas.openxmlformats.org/officeDocument/2006/relationships/hyperlink" Target="https://www.marvelrivals.com/20251114/41525_1270590.html"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cs.google.com/document/d/1nOhcAL2wfeAHOK6x6UZH-Hg5yh9Ofxxko7FY47r5Vzc/edit"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4" Type="http://schemas.openxmlformats.org/officeDocument/2006/relationships/hyperlink" Target="https://x.com/MarvelRivals/status/1958627668536311945" TargetMode="External"/><Relationship Id="rId5" Type="http://schemas.openxmlformats.org/officeDocument/2006/relationships/hyperlink" Target="https://www.marvelrivals.com/devdiaries/20250210/40954_1210988.html" TargetMode="External"/><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6" Type="http://schemas.openxmlformats.org/officeDocument/2006/relationships/hyperlink" Target="https://eur-lex.europa.eu/eli/reg/2016/679/oj" TargetMode="External"/><Relationship Id="rId7" Type="http://schemas.openxmlformats.org/officeDocument/2006/relationships/hyperlink" Target="https://docs.google.com/document/d/1nOhcAL2wfeAHOK6x6UZH-Hg5yh9Ofxxko7FY47r5Vzc/edit" TargetMode="Externa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cs.google.com/document/d/1nOhcAL2wfeAHOK6x6UZH-Hg5yh9Ofxxko7FY47r5Vzc/edit" TargetMode="Externa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tjmetre.fr/barometre/data" TargetMode="External"/><Relationship Id="rId2" Type="http://schemas.openxmlformats.org/officeDocument/2006/relationships/hyperlink" Target="https://cloud.google.com/bigquery/pricing" TargetMode="External"/><Relationship Id="rId3" Type="http://schemas.openxmlformats.org/officeDocument/2006/relationships/hyperlink" Target="https://www.microsoft.com/en-us/power-platform/products/power-bi/pricing" TargetMode="External"/><Relationship Id="rId4" Type="http://schemas.openxmlformats.org/officeDocument/2006/relationships/hyperlink" Target="https://docs.google.com/document/d/1nOhcAL2wfeAHOK6x6UZH-Hg5yh9Ofxxko7FY47r5Vzc/edit" TargetMode="External"/><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eur-lex.europa.eu/eli/reg/2016/679/oj" TargetMode="External"/><Relationship Id="rId2" Type="http://schemas.openxmlformats.org/officeDocument/2006/relationships/hyperlink" Target="https://eur-lex.europa.eu/eli/reg/2024/1689/oj" TargetMode="External"/><Relationship Id="rId3" Type="http://schemas.openxmlformats.org/officeDocument/2006/relationships/hyperlink" Target="https://docs.google.com/document/d/1nOhcAL2wfeAHOK6x6UZH-Hg5yh9Ofxxko7FY47r5Vzc/edit" TargetMode="External"/><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www.forbes.com/sites/paultassi/2025/10/12/marvel-rivals-has-lost-85-of-its-players-in-10-months/" TargetMode="External"/><Relationship Id="rId2" Type="http://schemas.openxmlformats.org/officeDocument/2006/relationships/hyperlink" Target="https://steamcharts.com/app/2767030" TargetMode="External"/><Relationship Id="rId3" Type="http://schemas.openxmlformats.org/officeDocument/2006/relationships/hyperlink" Target="https://gameworldobserver.com/2025/02/20/marvel-rivals-40-million-players-netease-fy24-report" TargetMode="External"/><Relationship Id="rId4" Type="http://schemas.openxmlformats.org/officeDocument/2006/relationships/hyperlink" Target="https://store.steampowered.com/appreviews/2767030?json=1" TargetMode="External"/><Relationship Id="rId5" Type="http://schemas.openxmlformats.org/officeDocument/2006/relationships/hyperlink" Target="https://x.com/MarvelRivals/status/1955117077561593877" TargetMode="External"/><Relationship Id="rId6" Type="http://schemas.openxmlformats.org/officeDocument/2006/relationships/hyperlink" Target="https://x.com/MarvelRivals/status/1958627668536311945" TargetMode="External"/><Relationship Id="rId7" Type="http://schemas.openxmlformats.org/officeDocument/2006/relationships/hyperlink" Target="https://www.marvelrivals.com/20251114/41525_1270590.html" TargetMode="External"/><Relationship Id="rId8" Type="http://schemas.openxmlformats.org/officeDocument/2006/relationships/hyperlink" Target="https://www.pcgamesn.com/marvel-rivals/ranks-competitive" TargetMode="External"/><Relationship Id="rId9" Type="http://schemas.openxmlformats.org/officeDocument/2006/relationships/hyperlink" Target="https://www.marvelrivals.com/devdiaries/20250210/40954_1210988.html" TargetMode="External"/><Relationship Id="rId10" Type="http://schemas.openxmlformats.org/officeDocument/2006/relationships/hyperlink" Target="https://timesaver.gg/blog/marvel-rivals-season-10-rank-reset" TargetMode="External"/><Relationship Id="rId11" Type="http://schemas.openxmlformats.org/officeDocument/2006/relationships/hyperlink" Target="https://insider-gaming.com/almost-half-of-players-who-quit-overwatch-jumped-to-marvel-rivals/" TargetMode="External"/><Relationship Id="rId12" Type="http://schemas.openxmlformats.org/officeDocument/2006/relationships/hyperlink" Target="https://www.videogameschronicle.com/news/overwatch-2s-average-pc-player-count-has-dropped-39-since-marvel-rivals-was-released/" TargetMode="External"/><Relationship Id="rId13" Type="http://schemas.openxmlformats.org/officeDocument/2006/relationships/hyperlink" Target="https://www.thegamer.com/marvel-rivals-no-longer-casual-friendly-black-panther-matchmaking/" TargetMode="External"/><Relationship Id="rId14" Type="http://schemas.openxmlformats.org/officeDocument/2006/relationships/hyperlink" Target="https://cloud.google.com/bigquery/pricing" TargetMode="External"/><Relationship Id="rId15" Type="http://schemas.openxmlformats.org/officeDocument/2006/relationships/hyperlink" Target="https://www.microsoft.com/en-us/power-platform/products/power-bi/pricing" TargetMode="External"/><Relationship Id="rId16" Type="http://schemas.openxmlformats.org/officeDocument/2006/relationships/hyperlink" Target="https://tjmetre.fr/barometre/data" TargetMode="External"/><Relationship Id="rId17" Type="http://schemas.openxmlformats.org/officeDocument/2006/relationships/hyperlink" Target="https://eur-lex.europa.eu/eli/reg/2016/679/oj" TargetMode="External"/><Relationship Id="rId18" Type="http://schemas.openxmlformats.org/officeDocument/2006/relationships/hyperlink" Target="https://eur-lex.europa.eu/eli/reg/2024/1689/oj" TargetMode="External"/><Relationship Id="rId19" Type="http://schemas.openxmlformats.org/officeDocument/2006/relationships/hyperlink" Target="https://docs.google.com/document/d/1nOhcAL2wfeAHOK6x6UZH-Hg5yh9Ofxxko7FY47r5Vzc/edit" TargetMode="External"/><Relationship Id="rId20" Type="http://schemas.openxmlformats.org/officeDocument/2006/relationships/slideLayout" Target="../slideLayouts/slideLayout1.xml"/><Relationship Id="rId2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A33"/>
        </a:solidFill>
      </p:bgPr>
    </p:bg>
    <p:spTree>
      <p:nvGrpSpPr>
        <p:cNvPr id="1" name=""/>
        <p:cNvGrpSpPr/>
        <p:nvPr/>
      </p:nvGrpSpPr>
      <p:grpSpPr>
        <a:xfrm>
          <a:off x="0" y="0"/>
          <a:ext cx="0" cy="0"/>
          <a:chOff x="0" y="0"/>
          <a:chExt cx="0" cy="0"/>
        </a:xfrm>
      </p:grpSpPr>
      <p:sp>
        <p:nvSpPr>
          <p:cNvPr id="2" name="Shape 0"/>
          <p:cNvSpPr/>
          <p:nvPr/>
        </p:nvSpPr>
        <p:spPr>
          <a:xfrm>
            <a:off x="457200" y="457200"/>
            <a:ext cx="548640" cy="548640"/>
          </a:xfrm>
          <a:prstGeom prst="ellipse">
            <a:avLst/>
          </a:prstGeom>
          <a:solidFill>
            <a:srgbClr val="E23636"/>
          </a:solidFill>
          <a:ln w="12700">
            <a:solidFill>
              <a:srgbClr val="E23636"/>
            </a:solidFill>
            <a:prstDash val="solid"/>
          </a:ln>
        </p:spPr>
      </p:sp>
      <p:pic>
        <p:nvPicPr>
          <p:cNvPr id="3" name="Image 0" descr="preencoded.png">    </p:cNvPr>
          <p:cNvPicPr>
            <a:picLocks noChangeAspect="1"/>
          </p:cNvPicPr>
          <p:nvPr/>
        </p:nvPicPr>
        <p:blipFill>
          <a:blip r:embed="rId1"/>
          <a:stretch>
            <a:fillRect/>
          </a:stretch>
        </p:blipFill>
        <p:spPr>
          <a:xfrm>
            <a:off x="594360" y="594360"/>
            <a:ext cx="274320" cy="274320"/>
          </a:xfrm>
          <a:prstGeom prst="rect">
            <a:avLst/>
          </a:prstGeom>
        </p:spPr>
      </p:pic>
      <p:sp>
        <p:nvSpPr>
          <p:cNvPr id="4" name="Text 1"/>
          <p:cNvSpPr txBox="1"/>
          <p:nvPr/>
        </p:nvSpPr>
        <p:spPr>
          <a:xfrm>
            <a:off x="457200" y="1188720"/>
            <a:ext cx="8229600" cy="822960"/>
          </a:xfrm>
          <a:prstGeom prst="rect">
            <a:avLst/>
          </a:prstGeom>
          <a:noFill/>
          <a:ln/>
        </p:spPr>
        <p:txBody>
          <a:bodyPr wrap="square" lIns="0" tIns="0" rIns="0" bIns="0" rtlCol="0" anchor="ctr"/>
          <a:lstStyle/>
          <a:p>
            <a:pPr indent="0" marL="0">
              <a:buNone/>
            </a:pPr>
            <a:r>
              <a:rPr lang="en-US" sz="5400" b="1" dirty="0">
                <a:solidFill>
                  <a:srgbClr val="E23636"/>
                </a:solidFill>
                <a:latin typeface="Arial" pitchFamily="34" charset="0"/>
                <a:ea typeface="Arial" pitchFamily="34" charset="-122"/>
                <a:cs typeface="Arial" pitchFamily="34" charset="-120"/>
              </a:rPr>
              <a:t>644 000 → 98 000</a:t>
            </a:r>
            <a:endParaRPr lang="en-US" sz="5400" dirty="0"/>
          </a:p>
        </p:txBody>
      </p:sp>
      <p:sp>
        <p:nvSpPr>
          <p:cNvPr id="5" name="Text 2"/>
          <p:cNvSpPr txBox="1"/>
          <p:nvPr/>
        </p:nvSpPr>
        <p:spPr>
          <a:xfrm>
            <a:off x="457200" y="2011680"/>
            <a:ext cx="8229600" cy="365760"/>
          </a:xfrm>
          <a:prstGeom prst="rect">
            <a:avLst/>
          </a:prstGeom>
          <a:noFill/>
          <a:ln/>
        </p:spPr>
        <p:txBody>
          <a:bodyPr wrap="square" lIns="0" tIns="0" rIns="0" bIns="0" rtlCol="0" anchor="ctr"/>
          <a:lstStyle/>
          <a:p>
            <a:pPr indent="0" marL="0">
              <a:buNone/>
            </a:pPr>
            <a:r>
              <a:rPr lang="en-US" sz="1800" dirty="0">
                <a:solidFill>
                  <a:srgbClr val="C9CCDA"/>
                </a:solidFill>
                <a:latin typeface="Calibri" pitchFamily="34" charset="0"/>
                <a:ea typeface="Calibri" pitchFamily="34" charset="-122"/>
                <a:cs typeface="Calibri" pitchFamily="34" charset="-120"/>
              </a:rPr>
              <a:t>joueurs simultanés sur Steam, en dix mois</a:t>
            </a:r>
            <a:endParaRPr lang="en-US" sz="1800" dirty="0"/>
          </a:p>
        </p:txBody>
      </p:sp>
      <p:sp>
        <p:nvSpPr>
          <p:cNvPr id="6" name="Text 3"/>
          <p:cNvSpPr txBox="1"/>
          <p:nvPr/>
        </p:nvSpPr>
        <p:spPr>
          <a:xfrm>
            <a:off x="457200" y="2743200"/>
            <a:ext cx="8229600" cy="548640"/>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Marvel Rivals : pourquoi les joueurs ne restent pas</a:t>
            </a:r>
            <a:endParaRPr lang="en-US" sz="2800" dirty="0"/>
          </a:p>
        </p:txBody>
      </p:sp>
      <p:sp>
        <p:nvSpPr>
          <p:cNvPr id="7" name="Text 4"/>
          <p:cNvSpPr txBox="1"/>
          <p:nvPr/>
        </p:nvSpPr>
        <p:spPr>
          <a:xfrm>
            <a:off x="457200" y="3291840"/>
            <a:ext cx="8229600" cy="365760"/>
          </a:xfrm>
          <a:prstGeom prst="rect">
            <a:avLst/>
          </a:prstGeom>
          <a:noFill/>
          <a:ln/>
        </p:spPr>
        <p:txBody>
          <a:bodyPr wrap="square" lIns="0" tIns="0" rIns="0" bIns="0" rtlCol="0" anchor="ctr"/>
          <a:lstStyle/>
          <a:p>
            <a:pPr indent="0" marL="0">
              <a:buNone/>
            </a:pPr>
            <a:r>
              <a:rPr lang="en-US" sz="1500" dirty="0">
                <a:solidFill>
                  <a:srgbClr val="C9CCDA"/>
                </a:solidFill>
                <a:latin typeface="Calibri" pitchFamily="34" charset="0"/>
                <a:ea typeface="Calibri" pitchFamily="34" charset="-122"/>
                <a:cs typeface="Calibri" pitchFamily="34" charset="-120"/>
              </a:rPr>
              <a:t>Plan de collecte data pour le comité de direction de NetEase Games</a:t>
            </a:r>
            <a:endParaRPr lang="en-US" sz="1500" dirty="0"/>
          </a:p>
        </p:txBody>
      </p:sp>
      <p:sp>
        <p:nvSpPr>
          <p:cNvPr id="8" name="Text 5"/>
          <p:cNvSpPr txBox="1"/>
          <p:nvPr/>
        </p:nvSpPr>
        <p:spPr>
          <a:xfrm>
            <a:off x="457200" y="4297680"/>
            <a:ext cx="5486400" cy="274320"/>
          </a:xfrm>
          <a:prstGeom prst="rect">
            <a:avLst/>
          </a:prstGeom>
          <a:noFill/>
          <a:ln/>
        </p:spPr>
        <p:txBody>
          <a:bodyPr wrap="square" lIns="0" tIns="0" rIns="0" bIns="0" rtlCol="0" anchor="ctr"/>
          <a:lstStyle/>
          <a:p>
            <a:pPr indent="0" marL="0">
              <a:buNone/>
            </a:pPr>
            <a:r>
              <a:rPr lang="en-US" sz="1200" dirty="0">
                <a:solidFill>
                  <a:srgbClr val="C9CCDA"/>
                </a:solidFill>
                <a:latin typeface="Calibri" pitchFamily="34" charset="0"/>
                <a:ea typeface="Calibri" pitchFamily="34" charset="-122"/>
                <a:cs typeface="Calibri" pitchFamily="34" charset="-120"/>
              </a:rPr>
              <a:t>Noé, consultant · 2 octobre 2026</a:t>
            </a:r>
            <a:endParaRPr lang="en-US" sz="1200" dirty="0"/>
          </a:p>
        </p:txBody>
      </p:sp>
      <p:sp>
        <p:nvSpPr>
          <p:cNvPr id="9" name="Text 6"/>
          <p:cNvSpPr txBox="1"/>
          <p:nvPr/>
        </p:nvSpPr>
        <p:spPr>
          <a:xfrm>
            <a:off x="5943600" y="4297680"/>
            <a:ext cx="2743200" cy="274320"/>
          </a:xfrm>
          <a:prstGeom prst="rect">
            <a:avLst/>
          </a:prstGeom>
          <a:noFill/>
          <a:ln/>
        </p:spPr>
        <p:txBody>
          <a:bodyPr wrap="square" lIns="0" tIns="0" rIns="0" bIns="0" rtlCol="0" anchor="ctr"/>
          <a:lstStyle/>
          <a:p>
            <a:pPr algn="r" indent="0" marL="0">
              <a:buNone/>
            </a:pPr>
            <a:r>
              <a:rPr lang="en-US" sz="1000" u="sng" dirty="0">
                <a:solidFill>
                  <a:srgbClr val="9FB4FF"/>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Forbes, 12/10/2025</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Le problème business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Contexte · le B du BODAK, prouvé par les données (Steam = PC uniquement)</a:t>
            </a:r>
            <a:endParaRPr lang="en-US" sz="1200" dirty="0"/>
          </a:p>
        </p:txBody>
      </p:sp>
      <p:sp>
        <p:nvSpPr>
          <p:cNvPr id="4" name="Shape 2"/>
          <p:cNvSpPr/>
          <p:nvPr/>
        </p:nvSpPr>
        <p:spPr>
          <a:xfrm>
            <a:off x="457200" y="1143000"/>
            <a:ext cx="8229600" cy="566928"/>
          </a:xfrm>
          <a:prstGeom prst="roundRect">
            <a:avLst>
              <a:gd name="adj" fmla="val 12903"/>
            </a:avLst>
          </a:prstGeom>
          <a:solidFill>
            <a:srgbClr val="161A33"/>
          </a:solidFill>
          <a:ln w="12700">
            <a:solidFill>
              <a:srgbClr val="161A33"/>
            </a:solidFill>
            <a:prstDash val="solid"/>
          </a:ln>
        </p:spPr>
      </p:sp>
      <p:sp>
        <p:nvSpPr>
          <p:cNvPr id="5" name="Text 3"/>
          <p:cNvSpPr txBox="1"/>
          <p:nvPr/>
        </p:nvSpPr>
        <p:spPr>
          <a:xfrm>
            <a:off x="640080" y="1161288"/>
            <a:ext cx="7863840" cy="530352"/>
          </a:xfrm>
          <a:prstGeom prst="rect">
            <a:avLst/>
          </a:prstGeom>
          <a:noFill/>
          <a:ln/>
        </p:spPr>
        <p:txBody>
          <a:bodyPr wrap="square" lIns="0" tIns="0" rIns="0" bIns="0" rtlCol="0" anchor="ctr"/>
          <a:lstStyle/>
          <a:p>
            <a:pPr indent="0" marL="0">
              <a:buNone/>
            </a:pPr>
            <a:r>
              <a:rPr lang="en-US" sz="1300" b="1" dirty="0">
                <a:solidFill>
                  <a:srgbClr val="E23636"/>
                </a:solidFill>
                <a:latin typeface="Calibri" pitchFamily="34" charset="0"/>
                <a:ea typeface="Calibri" pitchFamily="34" charset="-122"/>
                <a:cs typeface="Calibri" pitchFamily="34" charset="-120"/>
              </a:rPr>
              <a:t>B : </a:t>
            </a:r>
            <a:pPr indent="0" marL="0">
              <a:buNone/>
            </a:pPr>
            <a:r>
              <a:rPr lang="en-US" sz="1300" dirty="0">
                <a:solidFill>
                  <a:srgbClr val="FFFFFF"/>
                </a:solidFill>
                <a:latin typeface="Calibri" pitchFamily="34" charset="0"/>
                <a:ea typeface="Calibri" pitchFamily="34" charset="-122"/>
                <a:cs typeface="Calibri" pitchFamily="34" charset="-120"/>
              </a:rPr>
              <a:t>Marvel Rivals perd ses joueurs et ne parvient plus à en regagner ; ceux qui partent accusent d'abord le matchmaking.</a:t>
            </a:r>
            <a:endParaRPr lang="en-US" sz="1300" dirty="0"/>
          </a:p>
        </p:txBody>
      </p:sp>
      <p:graphicFrame>
        <p:nvGraphicFramePr>
          <p:cNvPr id="6" name="Chart 0" descr=""/>
          <p:cNvGraphicFramePr/>
          <p:nvPr/>
        </p:nvGraphicFramePr>
        <p:xfrm>
          <a:off x="320040" y="1783080"/>
          <a:ext cx="4251960" cy="1965960"/>
        </p:xfrm>
        <a:graphic xmlns:a="http://schemas.openxmlformats.org/drawingml/2006/main">
          <a:graphicData uri="http://schemas.openxmlformats.org/drawingml/2006/chart">
            <c:chart xmlns:c="http://schemas.openxmlformats.org/drawingml/2006/chart" r:id="rId1"/>
          </a:graphicData>
        </a:graphic>
      </p:graphicFrame>
      <p:graphicFrame>
        <p:nvGraphicFramePr>
          <p:cNvPr id="7" name="Chart 1" descr=""/>
          <p:cNvGraphicFramePr/>
          <p:nvPr/>
        </p:nvGraphicFramePr>
        <p:xfrm>
          <a:off x="4572000" y="1783080"/>
          <a:ext cx="4251960" cy="1965960"/>
        </p:xfrm>
        <a:graphic xmlns:a="http://schemas.openxmlformats.org/drawingml/2006/main">
          <a:graphicData uri="http://schemas.openxmlformats.org/drawingml/2006/chart">
            <c:chart xmlns:c="http://schemas.openxmlformats.org/drawingml/2006/chart" r:id="rId2"/>
          </a:graphicData>
        </a:graphic>
      </p:graphicFrame>
      <p:sp>
        <p:nvSpPr>
          <p:cNvPr id="8" name="Text 4"/>
          <p:cNvSpPr txBox="1"/>
          <p:nvPr/>
        </p:nvSpPr>
        <p:spPr>
          <a:xfrm>
            <a:off x="457200" y="3794760"/>
            <a:ext cx="2651760" cy="384048"/>
          </a:xfrm>
          <a:prstGeom prst="rect">
            <a:avLst/>
          </a:prstGeom>
          <a:noFill/>
          <a:ln/>
        </p:spPr>
        <p:txBody>
          <a:bodyPr wrap="square" lIns="0" tIns="0" rIns="0" bIns="0" rtlCol="0" anchor="ctr"/>
          <a:lstStyle/>
          <a:p>
            <a:pPr indent="0" marL="0">
              <a:buNone/>
            </a:pPr>
            <a:r>
              <a:rPr lang="en-US" sz="2000" b="1" dirty="0">
                <a:solidFill>
                  <a:srgbClr val="E23636"/>
                </a:solidFill>
                <a:latin typeface="Arial" pitchFamily="34" charset="0"/>
                <a:ea typeface="Arial" pitchFamily="34" charset="-122"/>
                <a:cs typeface="Arial" pitchFamily="34" charset="-120"/>
              </a:rPr>
              <a:t>−85 %</a:t>
            </a:r>
            <a:endParaRPr lang="en-US" sz="2000" dirty="0"/>
          </a:p>
        </p:txBody>
      </p:sp>
      <p:sp>
        <p:nvSpPr>
          <p:cNvPr id="9" name="Text 5"/>
          <p:cNvSpPr txBox="1"/>
          <p:nvPr/>
        </p:nvSpPr>
        <p:spPr>
          <a:xfrm>
            <a:off x="457200" y="4178808"/>
            <a:ext cx="2651760" cy="548640"/>
          </a:xfrm>
          <a:prstGeom prst="rect">
            <a:avLst/>
          </a:prstGeom>
          <a:noFill/>
          <a:ln/>
        </p:spPr>
        <p:txBody>
          <a:bodyPr wrap="square" lIns="0" tIns="0" rIns="0" bIns="0" rtlCol="0" anchor="t"/>
          <a:lstStyle/>
          <a:p>
            <a:pPr indent="0" marL="0">
              <a:buNone/>
            </a:pPr>
            <a:r>
              <a:rPr lang="en-US" sz="950" dirty="0">
                <a:solidFill>
                  <a:srgbClr val="1F2233"/>
                </a:solidFill>
                <a:latin typeface="Calibri" pitchFamily="34" charset="0"/>
                <a:ea typeface="Calibri" pitchFamily="34" charset="-122"/>
                <a:cs typeface="Calibri" pitchFamily="34" charset="-120"/>
              </a:rPr>
              <a:t>de pic à pic (644 K → 98 K) ; −76 % en moyenne depuis la sortie</a:t>
            </a:r>
            <a:endParaRPr lang="en-US" sz="950" dirty="0"/>
          </a:p>
        </p:txBody>
      </p:sp>
      <p:sp>
        <p:nvSpPr>
          <p:cNvPr id="10" name="Text 6"/>
          <p:cNvSpPr txBox="1"/>
          <p:nvPr/>
        </p:nvSpPr>
        <p:spPr>
          <a:xfrm>
            <a:off x="3246120" y="3794760"/>
            <a:ext cx="2651760" cy="384048"/>
          </a:xfrm>
          <a:prstGeom prst="rect">
            <a:avLst/>
          </a:prstGeom>
          <a:noFill/>
          <a:ln/>
        </p:spPr>
        <p:txBody>
          <a:bodyPr wrap="square" lIns="0" tIns="0" rIns="0" bIns="0" rtlCol="0" anchor="ctr"/>
          <a:lstStyle/>
          <a:p>
            <a:pPr indent="0" marL="0">
              <a:buNone/>
            </a:pPr>
            <a:r>
              <a:rPr lang="en-US" sz="2000" b="1" dirty="0">
                <a:solidFill>
                  <a:srgbClr val="E23636"/>
                </a:solidFill>
                <a:latin typeface="Arial" pitchFamily="34" charset="0"/>
                <a:ea typeface="Arial" pitchFamily="34" charset="-122"/>
                <a:cs typeface="Arial" pitchFamily="34" charset="-120"/>
              </a:rPr>
              <a:t>2 mois</a:t>
            </a:r>
            <a:endParaRPr lang="en-US" sz="2000" dirty="0"/>
          </a:p>
        </p:txBody>
      </p:sp>
      <p:sp>
        <p:nvSpPr>
          <p:cNvPr id="11" name="Text 7"/>
          <p:cNvSpPr txBox="1"/>
          <p:nvPr/>
        </p:nvSpPr>
        <p:spPr>
          <a:xfrm>
            <a:off x="3246120" y="4178808"/>
            <a:ext cx="2651760" cy="548640"/>
          </a:xfrm>
          <a:prstGeom prst="rect">
            <a:avLst/>
          </a:prstGeom>
          <a:noFill/>
          <a:ln/>
        </p:spPr>
        <p:txBody>
          <a:bodyPr wrap="square" lIns="0" tIns="0" rIns="0" bIns="0" rtlCol="0" anchor="t"/>
          <a:lstStyle/>
          <a:p>
            <a:pPr indent="0" marL="0">
              <a:buNone/>
            </a:pPr>
            <a:r>
              <a:rPr lang="en-US" sz="950" dirty="0">
                <a:solidFill>
                  <a:srgbClr val="1F2233"/>
                </a:solidFill>
                <a:latin typeface="Calibri" pitchFamily="34" charset="0"/>
                <a:ea typeface="Calibri" pitchFamily="34" charset="-122"/>
                <a:cs typeface="Calibri" pitchFamily="34" charset="-120"/>
              </a:rPr>
              <a:t>pour perdre les joueurs ramenés par une saison (+18 % en janv. 2026, +21 % en juil.)</a:t>
            </a:r>
            <a:endParaRPr lang="en-US" sz="950" dirty="0"/>
          </a:p>
        </p:txBody>
      </p:sp>
      <p:sp>
        <p:nvSpPr>
          <p:cNvPr id="12" name="Text 8"/>
          <p:cNvSpPr txBox="1"/>
          <p:nvPr/>
        </p:nvSpPr>
        <p:spPr>
          <a:xfrm>
            <a:off x="6035040" y="3794760"/>
            <a:ext cx="2651760" cy="384048"/>
          </a:xfrm>
          <a:prstGeom prst="rect">
            <a:avLst/>
          </a:prstGeom>
          <a:noFill/>
          <a:ln/>
        </p:spPr>
        <p:txBody>
          <a:bodyPr wrap="square" lIns="0" tIns="0" rIns="0" bIns="0" rtlCol="0" anchor="ctr"/>
          <a:lstStyle/>
          <a:p>
            <a:pPr indent="0" marL="0">
              <a:buNone/>
            </a:pPr>
            <a:r>
              <a:rPr lang="en-US" sz="2000" b="1" dirty="0">
                <a:solidFill>
                  <a:srgbClr val="161A33"/>
                </a:solidFill>
                <a:latin typeface="Arial" pitchFamily="34" charset="0"/>
                <a:ea typeface="Arial" pitchFamily="34" charset="-122"/>
                <a:cs typeface="Arial" pitchFamily="34" charset="-120"/>
              </a:rPr>
              <a:t>7 → 41 %</a:t>
            </a:r>
            <a:endParaRPr lang="en-US" sz="2000" dirty="0"/>
          </a:p>
        </p:txBody>
      </p:sp>
      <p:sp>
        <p:nvSpPr>
          <p:cNvPr id="13" name="Text 9"/>
          <p:cNvSpPr txBox="1"/>
          <p:nvPr/>
        </p:nvSpPr>
        <p:spPr>
          <a:xfrm>
            <a:off x="6035040" y="4178808"/>
            <a:ext cx="2651760" cy="548640"/>
          </a:xfrm>
          <a:prstGeom prst="rect">
            <a:avLst/>
          </a:prstGeom>
          <a:noFill/>
          <a:ln/>
        </p:spPr>
        <p:txBody>
          <a:bodyPr wrap="square" lIns="0" tIns="0" rIns="0" bIns="0" rtlCol="0" anchor="t"/>
          <a:lstStyle/>
          <a:p>
            <a:pPr indent="0" marL="0">
              <a:buNone/>
            </a:pPr>
            <a:r>
              <a:rPr lang="en-US" sz="950" dirty="0">
                <a:solidFill>
                  <a:srgbClr val="1F2233"/>
                </a:solidFill>
                <a:latin typeface="Calibri" pitchFamily="34" charset="0"/>
                <a:ea typeface="Calibri" pitchFamily="34" charset="-122"/>
                <a:cs typeface="Calibri" pitchFamily="34" charset="-120"/>
              </a:rPr>
              <a:t>des avis négatifs accusent le matchmaking ; NetEase a dû démentir un matchmaking truqué</a:t>
            </a:r>
            <a:endParaRPr lang="en-US" sz="950" dirty="0"/>
          </a:p>
        </p:txBody>
      </p:sp>
      <p:sp>
        <p:nvSpPr>
          <p:cNvPr id="14" name="Text 10"/>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Forbes (12/10/2025)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Steam Charts (30/09/2026 ; * = 30 derniers jours)</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avis Steam, notre collecte</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démenti EOMM</a:t>
            </a:r>
            <a:endParaRPr lang="en-US" sz="850" dirty="0"/>
          </a:p>
        </p:txBody>
      </p:sp>
      <p:sp>
        <p:nvSpPr>
          <p:cNvPr id="15" name="Text 11"/>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Hypothèse : un écart de niveau qui fait partir</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Diagnostic · H5 : nouveaux et revenants subissent des écarts non compensés (testable)</a:t>
            </a:r>
            <a:endParaRPr lang="en-US" sz="1200" dirty="0"/>
          </a:p>
        </p:txBody>
      </p:sp>
      <p:sp>
        <p:nvSpPr>
          <p:cNvPr id="4" name="Shape 2"/>
          <p:cNvSpPr/>
          <p:nvPr/>
        </p:nvSpPr>
        <p:spPr>
          <a:xfrm>
            <a:off x="457200" y="1188720"/>
            <a:ext cx="4023360" cy="2926080"/>
          </a:xfrm>
          <a:prstGeom prst="roundRect">
            <a:avLst>
              <a:gd name="adj" fmla="val 2500"/>
            </a:avLst>
          </a:prstGeom>
          <a:solidFill>
            <a:srgbClr val="F4F5F9"/>
          </a:solidFill>
          <a:ln w="12700">
            <a:solidFill>
              <a:srgbClr val="F4F5F9"/>
            </a:solidFill>
            <a:prstDash val="solid"/>
          </a:ln>
        </p:spPr>
      </p:sp>
      <p:sp>
        <p:nvSpPr>
          <p:cNvPr id="5" name="Shape 3"/>
          <p:cNvSpPr/>
          <p:nvPr/>
        </p:nvSpPr>
        <p:spPr>
          <a:xfrm>
            <a:off x="640080" y="1298448"/>
            <a:ext cx="384048" cy="384048"/>
          </a:xfrm>
          <a:prstGeom prst="ellipse">
            <a:avLst/>
          </a:prstGeom>
          <a:solidFill>
            <a:srgbClr val="E23636"/>
          </a:solidFill>
          <a:ln w="12700">
            <a:solidFill>
              <a:srgbClr val="E23636"/>
            </a:solidFill>
            <a:prstDash val="solid"/>
          </a:ln>
        </p:spPr>
      </p:sp>
      <p:pic>
        <p:nvPicPr>
          <p:cNvPr id="6" name="Image 0" descr="preencoded.png">    </p:cNvPr>
          <p:cNvPicPr>
            <a:picLocks noChangeAspect="1"/>
          </p:cNvPicPr>
          <p:nvPr/>
        </p:nvPicPr>
        <p:blipFill>
          <a:blip r:embed="rId1"/>
          <a:stretch>
            <a:fillRect/>
          </a:stretch>
        </p:blipFill>
        <p:spPr>
          <a:xfrm>
            <a:off x="736092" y="1394460"/>
            <a:ext cx="192024" cy="192024"/>
          </a:xfrm>
          <a:prstGeom prst="rect">
            <a:avLst/>
          </a:prstGeom>
        </p:spPr>
      </p:pic>
      <p:sp>
        <p:nvSpPr>
          <p:cNvPr id="7" name="Text 4"/>
          <p:cNvSpPr txBox="1"/>
          <p:nvPr/>
        </p:nvSpPr>
        <p:spPr>
          <a:xfrm>
            <a:off x="1143000" y="1298448"/>
            <a:ext cx="3200400" cy="384048"/>
          </a:xfrm>
          <a:prstGeom prst="rect">
            <a:avLst/>
          </a:prstGeom>
          <a:noFill/>
          <a:ln/>
        </p:spPr>
        <p:txBody>
          <a:bodyPr wrap="square" lIns="0" tIns="0" rIns="0" bIns="0" rtlCol="0" anchor="ctr"/>
          <a:lstStyle/>
          <a:p>
            <a:pPr indent="0" marL="0">
              <a:buNone/>
            </a:pPr>
            <a:r>
              <a:rPr lang="en-US" sz="1300" b="1" dirty="0">
                <a:solidFill>
                  <a:srgbClr val="1F2233"/>
                </a:solidFill>
                <a:latin typeface="Arial" pitchFamily="34" charset="0"/>
                <a:ea typeface="Arial" pitchFamily="34" charset="-122"/>
                <a:cs typeface="Arial" pitchFamily="34" charset="-120"/>
              </a:rPr>
              <a:t>H5b · Les nouveaux, en partie rapide</a:t>
            </a:r>
            <a:endParaRPr lang="en-US" sz="1300" dirty="0"/>
          </a:p>
        </p:txBody>
      </p:sp>
      <p:sp>
        <p:nvSpPr>
          <p:cNvPr id="8" name="Text 5"/>
          <p:cNvSpPr txBox="1"/>
          <p:nvPr/>
        </p:nvSpPr>
        <p:spPr>
          <a:xfrm>
            <a:off x="640080" y="1783080"/>
            <a:ext cx="3657600" cy="2286000"/>
          </a:xfrm>
          <a:prstGeom prst="rect">
            <a:avLst/>
          </a:prstGeom>
          <a:noFill/>
          <a:ln/>
        </p:spPr>
        <p:txBody>
          <a:bodyPr wrap="square" lIns="0" tIns="0" rIns="0" bIns="0" rtlCol="0" anchor="t"/>
          <a:lstStyle/>
          <a:p>
            <a:pPr indent="0" marL="0">
              <a:buNone/>
            </a:pPr>
            <a:r>
              <a:rPr lang="en-US" sz="1050" b="1" dirty="0">
                <a:solidFill>
                  <a:srgbClr val="E23636"/>
                </a:solidFill>
                <a:latin typeface="Calibri" pitchFamily="34" charset="0"/>
                <a:ea typeface="Calibri" pitchFamily="34" charset="-122"/>
                <a:cs typeface="Calibri" pitchFamily="34" charset="-120"/>
              </a:rPr>
              <a:t>Mécanisme : </a:t>
            </a:r>
            <a:pPr indent="0" marL="0">
              <a:buNone/>
            </a:pPr>
            <a:r>
              <a:rPr lang="en-US" sz="1050" dirty="0">
                <a:solidFill>
                  <a:srgbClr val="1F2233"/>
                </a:solidFill>
                <a:latin typeface="Calibri" pitchFamily="34" charset="0"/>
                <a:ea typeface="Calibri" pitchFamily="34" charset="-122"/>
                <a:cs typeface="Calibri" pitchFamily="34" charset="-120"/>
              </a:rPr>
              <a:t>Faute de joueurs en file, le matchmaking accepte des écarts de niveau plus grands pour lancer la partie : NetEase le reconnaît (vidéo du 21/08/2025).</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E23636"/>
                </a:solidFill>
                <a:latin typeface="Calibri" pitchFamily="34" charset="0"/>
                <a:ea typeface="Calibri" pitchFamily="34" charset="-122"/>
                <a:cs typeface="Calibri" pitchFamily="34" charset="-120"/>
              </a:rPr>
              <a:t>Conséquence : </a:t>
            </a:r>
            <a:pPr indent="0" marL="0">
              <a:buNone/>
            </a:pPr>
            <a:r>
              <a:rPr lang="en-US" sz="1050" dirty="0">
                <a:solidFill>
                  <a:srgbClr val="1F2233"/>
                </a:solidFill>
                <a:latin typeface="Calibri" pitchFamily="34" charset="0"/>
                <a:ea typeface="Calibri" pitchFamily="34" charset="-122"/>
                <a:cs typeface="Calibri" pitchFamily="34" charset="-120"/>
              </a:rPr>
              <a:t>Le nouveau tombe sur les vétérans restants, perd et part : la base ne se renouvelle pas.</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E23636"/>
                </a:solidFill>
                <a:latin typeface="Calibri" pitchFamily="34" charset="0"/>
                <a:ea typeface="Calibri" pitchFamily="34" charset="-122"/>
                <a:cs typeface="Calibri" pitchFamily="34" charset="-120"/>
              </a:rPr>
              <a:t>Indice : </a:t>
            </a:r>
            <a:pPr indent="0" marL="0">
              <a:buNone/>
            </a:pPr>
            <a:r>
              <a:rPr lang="en-US" sz="1050" dirty="0">
                <a:solidFill>
                  <a:srgbClr val="1F2233"/>
                </a:solidFill>
                <a:latin typeface="Calibri" pitchFamily="34" charset="0"/>
                <a:ea typeface="Calibri" pitchFamily="34" charset="-122"/>
                <a:cs typeface="Calibri" pitchFamily="34" charset="-120"/>
              </a:rPr>
              <a:t>Aucune correction publiée pour la partie rapide, où passe chaque nouveau avant le niveau 15.</a:t>
            </a:r>
            <a:endParaRPr lang="en-US" sz="1050" dirty="0"/>
          </a:p>
        </p:txBody>
      </p:sp>
      <p:sp>
        <p:nvSpPr>
          <p:cNvPr id="9" name="Shape 6"/>
          <p:cNvSpPr/>
          <p:nvPr/>
        </p:nvSpPr>
        <p:spPr>
          <a:xfrm>
            <a:off x="4663440" y="1188720"/>
            <a:ext cx="4023360" cy="2926080"/>
          </a:xfrm>
          <a:prstGeom prst="roundRect">
            <a:avLst>
              <a:gd name="adj" fmla="val 2500"/>
            </a:avLst>
          </a:prstGeom>
          <a:solidFill>
            <a:srgbClr val="F4F5F9"/>
          </a:solidFill>
          <a:ln w="12700">
            <a:solidFill>
              <a:srgbClr val="F4F5F9"/>
            </a:solidFill>
            <a:prstDash val="solid"/>
          </a:ln>
        </p:spPr>
      </p:sp>
      <p:sp>
        <p:nvSpPr>
          <p:cNvPr id="10" name="Shape 7"/>
          <p:cNvSpPr/>
          <p:nvPr/>
        </p:nvSpPr>
        <p:spPr>
          <a:xfrm>
            <a:off x="4846320" y="1298448"/>
            <a:ext cx="384048" cy="384048"/>
          </a:xfrm>
          <a:prstGeom prst="ellipse">
            <a:avLst/>
          </a:prstGeom>
          <a:solidFill>
            <a:srgbClr val="161A33"/>
          </a:solidFill>
          <a:ln w="12700">
            <a:solidFill>
              <a:srgbClr val="161A33"/>
            </a:solidFill>
            <a:prstDash val="solid"/>
          </a:ln>
        </p:spPr>
      </p:sp>
      <p:pic>
        <p:nvPicPr>
          <p:cNvPr id="11" name="Image 1" descr="preencoded.png">    </p:cNvPr>
          <p:cNvPicPr>
            <a:picLocks noChangeAspect="1"/>
          </p:cNvPicPr>
          <p:nvPr/>
        </p:nvPicPr>
        <p:blipFill>
          <a:blip r:embed="rId2"/>
          <a:stretch>
            <a:fillRect/>
          </a:stretch>
        </p:blipFill>
        <p:spPr>
          <a:xfrm>
            <a:off x="4942332" y="1394460"/>
            <a:ext cx="192024" cy="192024"/>
          </a:xfrm>
          <a:prstGeom prst="rect">
            <a:avLst/>
          </a:prstGeom>
        </p:spPr>
      </p:pic>
      <p:sp>
        <p:nvSpPr>
          <p:cNvPr id="12" name="Text 8"/>
          <p:cNvSpPr txBox="1"/>
          <p:nvPr/>
        </p:nvSpPr>
        <p:spPr>
          <a:xfrm>
            <a:off x="5349240" y="1298448"/>
            <a:ext cx="3200400" cy="384048"/>
          </a:xfrm>
          <a:prstGeom prst="rect">
            <a:avLst/>
          </a:prstGeom>
          <a:noFill/>
          <a:ln/>
        </p:spPr>
        <p:txBody>
          <a:bodyPr wrap="square" lIns="0" tIns="0" rIns="0" bIns="0" rtlCol="0" anchor="ctr"/>
          <a:lstStyle/>
          <a:p>
            <a:pPr indent="0" marL="0">
              <a:buNone/>
            </a:pPr>
            <a:r>
              <a:rPr lang="en-US" sz="1300" b="1" dirty="0">
                <a:solidFill>
                  <a:srgbClr val="1F2233"/>
                </a:solidFill>
                <a:latin typeface="Arial" pitchFamily="34" charset="0"/>
                <a:ea typeface="Arial" pitchFamily="34" charset="-122"/>
                <a:cs typeface="Arial" pitchFamily="34" charset="-120"/>
              </a:rPr>
              <a:t>H5c · Les joueurs de retour</a:t>
            </a:r>
            <a:endParaRPr lang="en-US" sz="1300" dirty="0"/>
          </a:p>
        </p:txBody>
      </p:sp>
      <p:sp>
        <p:nvSpPr>
          <p:cNvPr id="13" name="Text 9"/>
          <p:cNvSpPr txBox="1"/>
          <p:nvPr/>
        </p:nvSpPr>
        <p:spPr>
          <a:xfrm>
            <a:off x="4846320" y="1783080"/>
            <a:ext cx="3657600" cy="2286000"/>
          </a:xfrm>
          <a:prstGeom prst="rect">
            <a:avLst/>
          </a:prstGeom>
          <a:noFill/>
          <a:ln/>
        </p:spPr>
        <p:txBody>
          <a:bodyPr wrap="square" lIns="0" tIns="0" rIns="0" bIns="0" rtlCol="0" anchor="t"/>
          <a:lstStyle/>
          <a:p>
            <a:pPr indent="0" marL="0">
              <a:buNone/>
            </a:pPr>
            <a:r>
              <a:rPr lang="en-US" sz="1050" b="1" dirty="0">
                <a:solidFill>
                  <a:srgbClr val="161A33"/>
                </a:solidFill>
                <a:latin typeface="Calibri" pitchFamily="34" charset="0"/>
                <a:ea typeface="Calibri" pitchFamily="34" charset="-122"/>
                <a:cs typeface="Calibri" pitchFamily="34" charset="-120"/>
              </a:rPr>
              <a:t>Mécanisme : </a:t>
            </a:r>
            <a:pPr indent="0" marL="0">
              <a:buNone/>
            </a:pPr>
            <a:r>
              <a:rPr lang="en-US" sz="1050" dirty="0">
                <a:solidFill>
                  <a:srgbClr val="1F2233"/>
                </a:solidFill>
                <a:latin typeface="Calibri" pitchFamily="34" charset="0"/>
                <a:ea typeface="Calibri" pitchFamily="34" charset="-122"/>
                <a:cs typeface="Calibri" pitchFamily="34" charset="-120"/>
              </a:rPr>
              <a:t>En classé, le rang n'est abaissé que de 6 divisions par saison, quelle que soit l'absence (Dev Talk Vol.10). En partie rapide, rien n'indique que le niveau caché baisse (à vérifier).</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161A33"/>
                </a:solidFill>
                <a:latin typeface="Calibri" pitchFamily="34" charset="0"/>
                <a:ea typeface="Calibri" pitchFamily="34" charset="-122"/>
                <a:cs typeface="Calibri" pitchFamily="34" charset="-120"/>
              </a:rPr>
              <a:t>Conséquence : </a:t>
            </a:r>
            <a:pPr indent="0" marL="0">
              <a:buNone/>
            </a:pPr>
            <a:r>
              <a:rPr lang="en-US" sz="1050" dirty="0">
                <a:solidFill>
                  <a:srgbClr val="1F2233"/>
                </a:solidFill>
                <a:latin typeface="Calibri" pitchFamily="34" charset="0"/>
                <a:ea typeface="Calibri" pitchFamily="34" charset="-122"/>
                <a:cs typeface="Calibri" pitchFamily="34" charset="-120"/>
              </a:rPr>
              <a:t>Un joueur absent plusieurs mois affronte des joueurs restés actifs, plus en forme : il perd et repart.</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161A33"/>
                </a:solidFill>
                <a:latin typeface="Calibri" pitchFamily="34" charset="0"/>
                <a:ea typeface="Calibri" pitchFamily="34" charset="-122"/>
                <a:cs typeface="Calibri" pitchFamily="34" charset="-120"/>
              </a:rPr>
              <a:t>Indice : </a:t>
            </a:r>
            <a:pPr indent="0" marL="0">
              <a:buNone/>
            </a:pPr>
            <a:r>
              <a:rPr lang="en-US" sz="1050" dirty="0">
                <a:solidFill>
                  <a:srgbClr val="1F2233"/>
                </a:solidFill>
                <a:latin typeface="Calibri" pitchFamily="34" charset="0"/>
                <a:ea typeface="Calibri" pitchFamily="34" charset="-122"/>
                <a:cs typeface="Calibri" pitchFamily="34" charset="-120"/>
              </a:rPr>
              <a:t>Les saisons ramènent des joueurs (+18 %, +21 %), qui repartent en deux mois.</a:t>
            </a:r>
            <a:endParaRPr lang="en-US" sz="1050" dirty="0"/>
          </a:p>
        </p:txBody>
      </p:sp>
      <p:sp>
        <p:nvSpPr>
          <p:cNvPr id="14" name="Text 10"/>
          <p:cNvSpPr txBox="1"/>
          <p:nvPr/>
        </p:nvSpPr>
        <p:spPr>
          <a:xfrm>
            <a:off x="457200" y="4206240"/>
            <a:ext cx="8229600" cy="502920"/>
          </a:xfrm>
          <a:prstGeom prst="rect">
            <a:avLst/>
          </a:prstGeom>
          <a:noFill/>
          <a:ln/>
        </p:spPr>
        <p:txBody>
          <a:bodyPr wrap="square" lIns="0" tIns="0" rIns="0" bIns="0" rtlCol="0" anchor="ctr"/>
          <a:lstStyle/>
          <a:p>
            <a:pPr indent="0" marL="0">
              <a:buNone/>
            </a:pPr>
            <a:r>
              <a:rPr lang="en-US" sz="1100" b="1" dirty="0">
                <a:solidFill>
                  <a:srgbClr val="E23636"/>
                </a:solidFill>
                <a:latin typeface="Calibri" pitchFamily="34" charset="0"/>
                <a:ea typeface="Calibri" pitchFamily="34" charset="-122"/>
                <a:cs typeface="Calibri" pitchFamily="34" charset="-120"/>
              </a:rPr>
              <a:t>Ce qu'on teste : </a:t>
            </a:r>
            <a:pPr indent="0" marL="0">
              <a:buNone/>
            </a:pPr>
            <a:r>
              <a:rPr lang="en-US" sz="1100" dirty="0">
                <a:solidFill>
                  <a:srgbClr val="1F2233"/>
                </a:solidFill>
                <a:latin typeface="Calibri" pitchFamily="34" charset="0"/>
                <a:ea typeface="Calibri" pitchFamily="34" charset="-122"/>
                <a:cs typeface="Calibri" pitchFamily="34" charset="-120"/>
              </a:rPr>
              <a:t>l'écart de niveau subi par les nouveaux et les revenants, et s'il les fait partir dans les 7 jours. Tout se mesure dans votre télémétrie, sans savoir d'où viennent les joueurs.</a:t>
            </a:r>
            <a:endParaRPr lang="en-US" sz="1100" dirty="0"/>
          </a:p>
        </p:txBody>
      </p:sp>
      <p:sp>
        <p:nvSpPr>
          <p:cNvPr id="15" name="Text 11"/>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vidéo NetEase du 21/08/2025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Dev Talk Vol.10</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inactivité (source tierce)</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Steam Charts</a:t>
            </a:r>
            <a:endParaRPr lang="en-US" sz="850" dirty="0"/>
          </a:p>
        </p:txBody>
      </p:sp>
      <p:sp>
        <p:nvSpPr>
          <p:cNvPr id="16" name="Text 12"/>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D'abord mesurer : 30 jours d'audit</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Recommandation · objectif SMART et données à extraire en priorité, et pourquoi</a:t>
            </a:r>
            <a:endParaRPr lang="en-US" sz="1200" dirty="0"/>
          </a:p>
        </p:txBody>
      </p:sp>
      <p:sp>
        <p:nvSpPr>
          <p:cNvPr id="4" name="Shape 2"/>
          <p:cNvSpPr/>
          <p:nvPr/>
        </p:nvSpPr>
        <p:spPr>
          <a:xfrm>
            <a:off x="457200" y="1143000"/>
            <a:ext cx="8229600" cy="658368"/>
          </a:xfrm>
          <a:prstGeom prst="roundRect">
            <a:avLst>
              <a:gd name="adj" fmla="val 11111"/>
            </a:avLst>
          </a:prstGeom>
          <a:solidFill>
            <a:srgbClr val="161A33"/>
          </a:solidFill>
          <a:ln w="12700">
            <a:solidFill>
              <a:srgbClr val="161A33"/>
            </a:solidFill>
            <a:prstDash val="solid"/>
          </a:ln>
        </p:spPr>
      </p:sp>
      <p:sp>
        <p:nvSpPr>
          <p:cNvPr id="5" name="Text 3"/>
          <p:cNvSpPr txBox="1"/>
          <p:nvPr/>
        </p:nvSpPr>
        <p:spPr>
          <a:xfrm>
            <a:off x="640080" y="1161288"/>
            <a:ext cx="7863840" cy="621792"/>
          </a:xfrm>
          <a:prstGeom prst="rect">
            <a:avLst/>
          </a:prstGeom>
          <a:noFill/>
          <a:ln/>
        </p:spPr>
        <p:txBody>
          <a:bodyPr wrap="square" lIns="0" tIns="0" rIns="0" bIns="0" rtlCol="0" anchor="ctr"/>
          <a:lstStyle/>
          <a:p>
            <a:pPr indent="0" marL="0">
              <a:buNone/>
            </a:pPr>
            <a:r>
              <a:rPr lang="en-US" sz="1150" b="1" dirty="0">
                <a:solidFill>
                  <a:srgbClr val="E23636"/>
                </a:solidFill>
                <a:latin typeface="Calibri" pitchFamily="34" charset="0"/>
                <a:ea typeface="Calibri" pitchFamily="34" charset="-122"/>
                <a:cs typeface="Calibri" pitchFamily="34" charset="-120"/>
              </a:rPr>
              <a:t>Objectif : </a:t>
            </a:r>
            <a:pPr indent="0" marL="0">
              <a:buNone/>
            </a:pPr>
            <a:r>
              <a:rPr lang="en-US" sz="1150" dirty="0">
                <a:solidFill>
                  <a:srgbClr val="FFFFFF"/>
                </a:solidFill>
                <a:latin typeface="Calibri" pitchFamily="34" charset="0"/>
                <a:ea typeface="Calibri" pitchFamily="34" charset="-122"/>
                <a:cs typeface="Calibri" pitchFamily="34" charset="-120"/>
              </a:rPr>
              <a:t>d'ici le 31/03/2027, qu'un joueur qui perd au moins 7 de ses 10 premiers matchs ne parte pas plus de 1,2 fois plus souvent dans la semaine que les autres, chez les nouveaux comme chez les joueurs de retour.</a:t>
            </a:r>
            <a:endParaRPr lang="en-US" sz="11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901952"/>
          <a:ext cx="8229600" cy="914400"/>
        </p:xfrm>
        <a:graphic>
          <a:graphicData uri="http://schemas.openxmlformats.org/drawingml/2006/table">
            <a:tbl>
              <a:tblPr/>
              <a:tblGrid>
                <a:gridCol w="3611880"/>
                <a:gridCol w="2194560"/>
                <a:gridCol w="2423160"/>
              </a:tblGrid>
              <a:tr h="228600">
                <a:tc>
                  <a:txBody>
                    <a:bodyPr/>
                    <a:lstStyle/>
                    <a:p>
                      <a:pPr indent="0" marL="0">
                        <a:buNone/>
                      </a:pPr>
                      <a:r>
                        <a:rPr lang="en-US" sz="1000" b="1" dirty="0">
                          <a:solidFill>
                            <a:srgbClr val="FFFFFF"/>
                          </a:solidFill>
                          <a:latin typeface="Arial" pitchFamily="34" charset="0"/>
                          <a:ea typeface="Arial" pitchFamily="34" charset="-122"/>
                          <a:cs typeface="Arial" pitchFamily="34" charset="-120"/>
                        </a:rPr>
                        <a:t>Donnée à extraire</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E23636"/>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Ce qu'elle nous dit</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E23636"/>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Pourquoi en priorité</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E23636"/>
                    </a:solidFill>
                  </a:tcPr>
                </a:tc>
              </a:tr>
              <a:tr h="256032">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Résultats des 10 premiers matchs et départ à 7 jours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Si perdre au début fait partir</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C'est la mesure de l'objectif</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Mode et plateforme de ces 10 premiers matchs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Où jouent les nouveaux</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Dit quel mode corriger en premier (Steam = PC seul)</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Niveau de départ attribué / niveau réel après 50 matchs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Si le jeu place mal un nouveau</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Teste la cause A (démarrage à froid)</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Écart de niveau par match, selon les joueurs en file, l'heure, la région</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Si l'écart grandit quand la file se vide</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Teste la cause B (manque de joueurs)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Revenants en classé : absence, rang avant / après, bilan, départ à 7 jours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Si le rang au retour est périmé</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Teste la cause C en classé</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Revenants hors classé : mode rejoué ; en partie rapide, écart subi, bilan, départ</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Si un revenant est mal placé en partie rapide</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Teste C hors classé (il ne rejoue pas forcément en classé)</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Départs en classé avant / après les placements de la saison 5</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Si mieux placer les joueurs les a retenus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Expérience déjà faite : la preuve la moins chère</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457200" y="4443984"/>
            <a:ext cx="8229600" cy="301752"/>
          </a:xfrm>
          <a:prstGeom prst="rect">
            <a:avLst/>
          </a:prstGeom>
          <a:noFill/>
          <a:ln/>
        </p:spPr>
        <p:txBody>
          <a:bodyPr wrap="square" lIns="0" tIns="0" rIns="0" bIns="0" rtlCol="0" anchor="ctr"/>
          <a:lstStyle/>
          <a:p>
            <a:pPr indent="0" marL="0">
              <a:buNone/>
            </a:pPr>
            <a:r>
              <a:rPr lang="en-US" sz="900" i="1" dirty="0">
                <a:solidFill>
                  <a:srgbClr val="5E6378"/>
                </a:solidFill>
                <a:latin typeface="Calibri" pitchFamily="34" charset="0"/>
                <a:ea typeface="Calibri" pitchFamily="34" charset="-122"/>
                <a:cs typeface="Calibri" pitchFamily="34" charset="-120"/>
              </a:rPr>
              <a:t>Ensuite, pour écarter les autres explications : héros joué, parties avec bots, joueurs en groupe, comptes arrivés en 2025. Tout existe déjà dans vos serveurs.</a:t>
            </a:r>
            <a:endParaRPr lang="en-US" sz="900" dirty="0"/>
          </a:p>
        </p:txBody>
      </p:sp>
      <p:sp>
        <p:nvSpPr>
          <p:cNvPr id="8" name="Text 5"/>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plan de collecte complet (matrice ICE)</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notes de patch S5</a:t>
            </a:r>
            <a:endParaRPr lang="en-US" sz="850" dirty="0"/>
          </a:p>
        </p:txBody>
      </p:sp>
      <p:sp>
        <p:nvSpPr>
          <p:cNvPr id="9" name="Text 6"/>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Matrice ICE : 15 données indispensables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Recommandation · Impact × Confiance × Facilité, chacun sur 5 = score sur 125 · coupe sous 30</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3566160"/>
                <a:gridCol w="548640"/>
                <a:gridCol w="548640"/>
                <a:gridCol w="548640"/>
                <a:gridCol w="685800"/>
                <a:gridCol w="2331720"/>
              </a:tblGrid>
              <a:tr h="214884">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Donnée candidate</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61A33"/>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I /5</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61A33"/>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C /5</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61A33"/>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E /5</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61A33"/>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Score</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61A33"/>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Décision</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61A33"/>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Mode et plateforme des 10 premiers matchs</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125</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Écart de niveau accepté × joueurs en file (heure, région)</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125</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 · cause B</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Départ à 7 jours × bilan des 10 premiers matchs</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100</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 · mesure l'objectif</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Niveau de départ et vitesse de convergence</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100</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 · cause A</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Revenants en classé : absence × rang au retour × bilan</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100</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 · cause C</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Revenants : mode rejoué au retour</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100</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 · où agir pour C</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Revenants en partie rapide : écart subi × bilan</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100</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 · cause C hors classé</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Performance des comptes neufs (smurfs)</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64</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Utile</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B7791F"/>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Avis Steam agrégés (collecte déjà faite)</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45</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Utile · contrôle</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B7791F"/>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Sondage d'équité perçue (1 match sur 10)</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36</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Utile · après l'audit</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B7791F"/>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Benchmark Newzoo (panel biaisé)</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12</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Écartée · sous 30</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8A8FA3"/>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Chat vocal ou texte complet</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9</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Écartée · RGPD lourd</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8A8FA3"/>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Numéro de téléphone (anti-smurf)</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4</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Écartée · disproportionné</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8A8FA3"/>
                    </a:solidFill>
                  </a:tcPr>
                </a:tc>
              </a:tr>
            </a:tbl>
          </a:graphicData>
        </a:graphic>
      </p:graphicFrame>
      <p:sp>
        <p:nvSpPr>
          <p:cNvPr id="5" name="Text 2"/>
          <p:cNvSpPr txBox="1"/>
          <p:nvPr/>
        </p:nvSpPr>
        <p:spPr>
          <a:xfrm>
            <a:off x="457200" y="4270248"/>
            <a:ext cx="8229600" cy="411480"/>
          </a:xfrm>
          <a:prstGeom prst="rect">
            <a:avLst/>
          </a:prstGeom>
          <a:noFill/>
          <a:ln/>
        </p:spPr>
        <p:txBody>
          <a:bodyPr wrap="square" lIns="0" tIns="0" rIns="0" bIns="0" rtlCol="0" anchor="ctr"/>
          <a:lstStyle/>
          <a:p>
            <a:pPr indent="0" marL="0">
              <a:buNone/>
            </a:pPr>
            <a:r>
              <a:rPr lang="en-US" sz="950" b="1" dirty="0">
                <a:solidFill>
                  <a:srgbClr val="1F2233"/>
                </a:solidFill>
                <a:latin typeface="Calibri" pitchFamily="34" charset="0"/>
                <a:ea typeface="Calibri" pitchFamily="34" charset="-122"/>
                <a:cs typeface="Calibri" pitchFamily="34" charset="-120"/>
              </a:rPr>
              <a:t>Les 15 indispensables existent déjà dans votre télémétrie : </a:t>
            </a:r>
            <a:pPr indent="0" marL="0">
              <a:buNone/>
            </a:pPr>
            <a:r>
              <a:rPr lang="en-US" sz="950" dirty="0">
                <a:solidFill>
                  <a:srgbClr val="1F2233"/>
                </a:solidFill>
                <a:latin typeface="Calibri" pitchFamily="34" charset="0"/>
                <a:ea typeface="Calibri" pitchFamily="34" charset="-122"/>
                <a:cs typeface="Calibri" pitchFamily="34" charset="-120"/>
              </a:rPr>
              <a:t>aucune nouvelle collecte pour l'audit. Extrait de la matrice : 8 autres indispensables (ICE 80 à 100) et 5 autres utiles sont notés dans le plan de collecte.</a:t>
            </a:r>
            <a:endParaRPr lang="en-US" sz="950" dirty="0"/>
          </a:p>
        </p:txBody>
      </p:sp>
      <p:sp>
        <p:nvSpPr>
          <p:cNvPr id="6" name="Text 3"/>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plan de collecte complet (justification de chaque note)</a:t>
            </a:r>
            <a:endParaRPr lang="en-US" sz="850" dirty="0"/>
          </a:p>
        </p:txBody>
      </p:sp>
      <p:sp>
        <p:nvSpPr>
          <p:cNvPr id="7" name="Text 4"/>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Puis tester le levier de chaque cause confirmée</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Recommandation · tests A/B de 60 jours si le ratio dépasse 1,2 ; les causes peuvent se cumuler</a:t>
            </a:r>
            <a:endParaRPr lang="en-US" sz="1200" dirty="0"/>
          </a:p>
        </p:txBody>
      </p:sp>
      <p:sp>
        <p:nvSpPr>
          <p:cNvPr id="4" name="Shape 2"/>
          <p:cNvSpPr/>
          <p:nvPr/>
        </p:nvSpPr>
        <p:spPr>
          <a:xfrm>
            <a:off x="457200" y="1170432"/>
            <a:ext cx="2651760" cy="2926080"/>
          </a:xfrm>
          <a:prstGeom prst="roundRect">
            <a:avLst>
              <a:gd name="adj" fmla="val 2759"/>
            </a:avLst>
          </a:prstGeom>
          <a:solidFill>
            <a:srgbClr val="FFFFFF"/>
          </a:solidFill>
          <a:ln w="12700">
            <a:solidFill>
              <a:srgbClr val="E3E5EE"/>
            </a:solidFill>
            <a:prstDash val="solid"/>
          </a:ln>
        </p:spPr>
      </p:sp>
      <p:sp>
        <p:nvSpPr>
          <p:cNvPr id="5" name="Shape 3"/>
          <p:cNvSpPr/>
          <p:nvPr/>
        </p:nvSpPr>
        <p:spPr>
          <a:xfrm>
            <a:off x="594360" y="1280160"/>
            <a:ext cx="365760" cy="365760"/>
          </a:xfrm>
          <a:prstGeom prst="ellipse">
            <a:avLst/>
          </a:prstGeom>
          <a:solidFill>
            <a:srgbClr val="E23636"/>
          </a:solidFill>
          <a:ln w="12700">
            <a:solidFill>
              <a:srgbClr val="E23636"/>
            </a:solidFill>
            <a:prstDash val="solid"/>
          </a:ln>
        </p:spPr>
      </p:sp>
      <p:pic>
        <p:nvPicPr>
          <p:cNvPr id="6" name="Image 0" descr="preencoded.png">    </p:cNvPr>
          <p:cNvPicPr>
            <a:picLocks noChangeAspect="1"/>
          </p:cNvPicPr>
          <p:nvPr/>
        </p:nvPicPr>
        <p:blipFill>
          <a:blip r:embed="rId1"/>
          <a:stretch>
            <a:fillRect/>
          </a:stretch>
        </p:blipFill>
        <p:spPr>
          <a:xfrm>
            <a:off x="685800" y="1371600"/>
            <a:ext cx="182880" cy="182880"/>
          </a:xfrm>
          <a:prstGeom prst="rect">
            <a:avLst/>
          </a:prstGeom>
        </p:spPr>
      </p:pic>
      <p:sp>
        <p:nvSpPr>
          <p:cNvPr id="7" name="Text 4"/>
          <p:cNvSpPr txBox="1"/>
          <p:nvPr/>
        </p:nvSpPr>
        <p:spPr>
          <a:xfrm>
            <a:off x="1024128" y="1280160"/>
            <a:ext cx="2011680" cy="36576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A · Démarrage à froid</a:t>
            </a:r>
            <a:endParaRPr lang="en-US" sz="1200" dirty="0"/>
          </a:p>
        </p:txBody>
      </p:sp>
      <p:sp>
        <p:nvSpPr>
          <p:cNvPr id="8" name="Text 5"/>
          <p:cNvSpPr txBox="1"/>
          <p:nvPr/>
        </p:nvSpPr>
        <p:spPr>
          <a:xfrm>
            <a:off x="594360" y="1737360"/>
            <a:ext cx="2377440" cy="566928"/>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Le jeu ne connaît pas le niveau d'un nouveau compte et le place mal.</a:t>
            </a:r>
            <a:endParaRPr lang="en-US" sz="1000" dirty="0"/>
          </a:p>
        </p:txBody>
      </p:sp>
      <p:sp>
        <p:nvSpPr>
          <p:cNvPr id="9" name="Text 6"/>
          <p:cNvSpPr txBox="1"/>
          <p:nvPr/>
        </p:nvSpPr>
        <p:spPr>
          <a:xfrm>
            <a:off x="594360" y="2331720"/>
            <a:ext cx="2377440" cy="566928"/>
          </a:xfrm>
          <a:prstGeom prst="rect">
            <a:avLst/>
          </a:prstGeom>
          <a:noFill/>
          <a:ln/>
        </p:spPr>
        <p:txBody>
          <a:bodyPr wrap="square" lIns="0" tIns="0" rIns="0" bIns="0" rtlCol="0" anchor="t"/>
          <a:lstStyle/>
          <a:p>
            <a:pPr indent="0" marL="0">
              <a:buNone/>
            </a:pPr>
            <a:r>
              <a:rPr lang="en-US" sz="950" b="1" dirty="0">
                <a:solidFill>
                  <a:srgbClr val="E23636"/>
                </a:solidFill>
                <a:latin typeface="Calibri" pitchFamily="34" charset="0"/>
                <a:ea typeface="Calibri" pitchFamily="34" charset="-122"/>
                <a:cs typeface="Calibri" pitchFamily="34" charset="-120"/>
              </a:rPr>
              <a:t>Signe : </a:t>
            </a:r>
            <a:pPr indent="0" marL="0">
              <a:buNone/>
            </a:pPr>
            <a:r>
              <a:rPr lang="en-US" sz="950" i="1" dirty="0">
                <a:solidFill>
                  <a:srgbClr val="5E6378"/>
                </a:solidFill>
                <a:latin typeface="Calibri" pitchFamily="34" charset="0"/>
                <a:ea typeface="Calibri" pitchFamily="34" charset="-122"/>
                <a:cs typeface="Calibri" pitchFamily="34" charset="-120"/>
              </a:rPr>
              <a:t>Écart déjà fort aux heures pleines, quand la file est remplie.</a:t>
            </a:r>
            <a:endParaRPr lang="en-US" sz="950" dirty="0"/>
          </a:p>
        </p:txBody>
      </p:sp>
      <p:sp>
        <p:nvSpPr>
          <p:cNvPr id="10" name="Text 7"/>
          <p:cNvSpPr txBox="1"/>
          <p:nvPr/>
        </p:nvSpPr>
        <p:spPr>
          <a:xfrm>
            <a:off x="548640" y="2971800"/>
            <a:ext cx="2468880" cy="1051560"/>
          </a:xfrm>
          <a:prstGeom prst="rect">
            <a:avLst/>
          </a:prstGeom>
          <a:noFill/>
          <a:ln/>
        </p:spPr>
        <p:txBody>
          <a:bodyPr wrap="square" lIns="0" tIns="0" rIns="0" bIns="0" rtlCol="0" anchor="t"/>
          <a:lstStyle/>
          <a:p>
            <a:pPr indent="0" marL="0">
              <a:buNone/>
            </a:pPr>
            <a:r>
              <a:rPr lang="en-US" sz="1000" b="1" dirty="0">
                <a:solidFill>
                  <a:srgbClr val="E23636"/>
                </a:solidFill>
                <a:latin typeface="Calibri" pitchFamily="34" charset="0"/>
                <a:ea typeface="Calibri" pitchFamily="34" charset="-122"/>
                <a:cs typeface="Calibri" pitchFamily="34" charset="-120"/>
              </a:rPr>
              <a:t>Leviers à tester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Niveau de départ plus prudent</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File débutants jusqu'au niveau 15</a:t>
            </a:r>
            <a:endParaRPr lang="en-US" sz="1000" dirty="0"/>
          </a:p>
        </p:txBody>
      </p:sp>
      <p:sp>
        <p:nvSpPr>
          <p:cNvPr id="11" name="Shape 8"/>
          <p:cNvSpPr/>
          <p:nvPr/>
        </p:nvSpPr>
        <p:spPr>
          <a:xfrm>
            <a:off x="3246120" y="1170432"/>
            <a:ext cx="2651760" cy="2926080"/>
          </a:xfrm>
          <a:prstGeom prst="roundRect">
            <a:avLst>
              <a:gd name="adj" fmla="val 2759"/>
            </a:avLst>
          </a:prstGeom>
          <a:solidFill>
            <a:srgbClr val="FFFFFF"/>
          </a:solidFill>
          <a:ln w="12700">
            <a:solidFill>
              <a:srgbClr val="E3E5EE"/>
            </a:solidFill>
            <a:prstDash val="solid"/>
          </a:ln>
        </p:spPr>
      </p:sp>
      <p:sp>
        <p:nvSpPr>
          <p:cNvPr id="12" name="Shape 9"/>
          <p:cNvSpPr/>
          <p:nvPr/>
        </p:nvSpPr>
        <p:spPr>
          <a:xfrm>
            <a:off x="3383280" y="1280160"/>
            <a:ext cx="365760" cy="365760"/>
          </a:xfrm>
          <a:prstGeom prst="ellipse">
            <a:avLst/>
          </a:prstGeom>
          <a:solidFill>
            <a:srgbClr val="161A33"/>
          </a:solidFill>
          <a:ln w="12700">
            <a:solidFill>
              <a:srgbClr val="161A33"/>
            </a:solidFill>
            <a:prstDash val="solid"/>
          </a:ln>
        </p:spPr>
      </p:sp>
      <p:pic>
        <p:nvPicPr>
          <p:cNvPr id="13" name="Image 1" descr="preencoded.png">    </p:cNvPr>
          <p:cNvPicPr>
            <a:picLocks noChangeAspect="1"/>
          </p:cNvPicPr>
          <p:nvPr/>
        </p:nvPicPr>
        <p:blipFill>
          <a:blip r:embed="rId2"/>
          <a:stretch>
            <a:fillRect/>
          </a:stretch>
        </p:blipFill>
        <p:spPr>
          <a:xfrm>
            <a:off x="3474720" y="1371600"/>
            <a:ext cx="182880" cy="182880"/>
          </a:xfrm>
          <a:prstGeom prst="rect">
            <a:avLst/>
          </a:prstGeom>
        </p:spPr>
      </p:pic>
      <p:sp>
        <p:nvSpPr>
          <p:cNvPr id="14" name="Text 10"/>
          <p:cNvSpPr txBox="1"/>
          <p:nvPr/>
        </p:nvSpPr>
        <p:spPr>
          <a:xfrm>
            <a:off x="3813048" y="1280160"/>
            <a:ext cx="2011680" cy="36576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B · Manque de joueurs</a:t>
            </a:r>
            <a:endParaRPr lang="en-US" sz="1200" dirty="0"/>
          </a:p>
        </p:txBody>
      </p:sp>
      <p:sp>
        <p:nvSpPr>
          <p:cNvPr id="15" name="Text 11"/>
          <p:cNvSpPr txBox="1"/>
          <p:nvPr/>
        </p:nvSpPr>
        <p:spPr>
          <a:xfrm>
            <a:off x="3383280" y="1737360"/>
            <a:ext cx="2377440" cy="566928"/>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File vide : le jeu accepte des écarts plus grands pour lancer la partie.</a:t>
            </a:r>
            <a:endParaRPr lang="en-US" sz="1000" dirty="0"/>
          </a:p>
        </p:txBody>
      </p:sp>
      <p:sp>
        <p:nvSpPr>
          <p:cNvPr id="16" name="Text 12"/>
          <p:cNvSpPr txBox="1"/>
          <p:nvPr/>
        </p:nvSpPr>
        <p:spPr>
          <a:xfrm>
            <a:off x="3383280" y="2331720"/>
            <a:ext cx="2377440" cy="566928"/>
          </a:xfrm>
          <a:prstGeom prst="rect">
            <a:avLst/>
          </a:prstGeom>
          <a:noFill/>
          <a:ln/>
        </p:spPr>
        <p:txBody>
          <a:bodyPr wrap="square" lIns="0" tIns="0" rIns="0" bIns="0" rtlCol="0" anchor="t"/>
          <a:lstStyle/>
          <a:p>
            <a:pPr indent="0" marL="0">
              <a:buNone/>
            </a:pPr>
            <a:r>
              <a:rPr lang="en-US" sz="950" b="1" dirty="0">
                <a:solidFill>
                  <a:srgbClr val="161A33"/>
                </a:solidFill>
                <a:latin typeface="Calibri" pitchFamily="34" charset="0"/>
                <a:ea typeface="Calibri" pitchFamily="34" charset="-122"/>
                <a:cs typeface="Calibri" pitchFamily="34" charset="-120"/>
              </a:rPr>
              <a:t>Signe : </a:t>
            </a:r>
            <a:pPr indent="0" marL="0">
              <a:buNone/>
            </a:pPr>
            <a:r>
              <a:rPr lang="en-US" sz="950" i="1" dirty="0">
                <a:solidFill>
                  <a:srgbClr val="5E6378"/>
                </a:solidFill>
                <a:latin typeface="Calibri" pitchFamily="34" charset="0"/>
                <a:ea typeface="Calibri" pitchFamily="34" charset="-122"/>
                <a:cs typeface="Calibri" pitchFamily="34" charset="-120"/>
              </a:rPr>
              <a:t>Écart en plus aux heures creuses, quand la file se vide.</a:t>
            </a:r>
            <a:endParaRPr lang="en-US" sz="950" dirty="0"/>
          </a:p>
        </p:txBody>
      </p:sp>
      <p:sp>
        <p:nvSpPr>
          <p:cNvPr id="17" name="Text 13"/>
          <p:cNvSpPr txBox="1"/>
          <p:nvPr/>
        </p:nvSpPr>
        <p:spPr>
          <a:xfrm>
            <a:off x="3337560" y="2971800"/>
            <a:ext cx="2468880" cy="1051560"/>
          </a:xfrm>
          <a:prstGeom prst="rect">
            <a:avLst/>
          </a:prstGeom>
          <a:noFill/>
          <a:ln/>
        </p:spPr>
        <p:txBody>
          <a:bodyPr wrap="square" lIns="0" tIns="0" rIns="0" bIns="0" rtlCol="0" anchor="t"/>
          <a:lstStyle/>
          <a:p>
            <a:pPr indent="0" marL="0">
              <a:buNone/>
            </a:pPr>
            <a:r>
              <a:rPr lang="en-US" sz="1000" b="1" dirty="0">
                <a:solidFill>
                  <a:srgbClr val="161A33"/>
                </a:solidFill>
                <a:latin typeface="Calibri" pitchFamily="34" charset="0"/>
                <a:ea typeface="Calibri" pitchFamily="34" charset="-122"/>
                <a:cs typeface="Calibri" pitchFamily="34" charset="-120"/>
              </a:rPr>
              <a:t>Leviers à tester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Écart resserré aux heures creuses</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Arrêt si 10 % attendent plus de 3 min</a:t>
            </a:r>
            <a:endParaRPr lang="en-US" sz="1000" dirty="0"/>
          </a:p>
        </p:txBody>
      </p:sp>
      <p:sp>
        <p:nvSpPr>
          <p:cNvPr id="18" name="Shape 14"/>
          <p:cNvSpPr/>
          <p:nvPr/>
        </p:nvSpPr>
        <p:spPr>
          <a:xfrm>
            <a:off x="6035040" y="1170432"/>
            <a:ext cx="2651760" cy="2926080"/>
          </a:xfrm>
          <a:prstGeom prst="roundRect">
            <a:avLst>
              <a:gd name="adj" fmla="val 2759"/>
            </a:avLst>
          </a:prstGeom>
          <a:solidFill>
            <a:srgbClr val="FFFFFF"/>
          </a:solidFill>
          <a:ln w="12700">
            <a:solidFill>
              <a:srgbClr val="E3E5EE"/>
            </a:solidFill>
            <a:prstDash val="solid"/>
          </a:ln>
        </p:spPr>
      </p:sp>
      <p:sp>
        <p:nvSpPr>
          <p:cNvPr id="19" name="Shape 15"/>
          <p:cNvSpPr/>
          <p:nvPr/>
        </p:nvSpPr>
        <p:spPr>
          <a:xfrm>
            <a:off x="6172200" y="1280160"/>
            <a:ext cx="365760" cy="365760"/>
          </a:xfrm>
          <a:prstGeom prst="ellipse">
            <a:avLst/>
          </a:prstGeom>
          <a:solidFill>
            <a:srgbClr val="B7791F"/>
          </a:solidFill>
          <a:ln w="12700">
            <a:solidFill>
              <a:srgbClr val="B7791F"/>
            </a:solidFill>
            <a:prstDash val="solid"/>
          </a:ln>
        </p:spPr>
      </p:sp>
      <p:pic>
        <p:nvPicPr>
          <p:cNvPr id="20" name="Image 2" descr="preencoded.png">    </p:cNvPr>
          <p:cNvPicPr>
            <a:picLocks noChangeAspect="1"/>
          </p:cNvPicPr>
          <p:nvPr/>
        </p:nvPicPr>
        <p:blipFill>
          <a:blip r:embed="rId3"/>
          <a:stretch>
            <a:fillRect/>
          </a:stretch>
        </p:blipFill>
        <p:spPr>
          <a:xfrm>
            <a:off x="6263640" y="1371600"/>
            <a:ext cx="182880" cy="182880"/>
          </a:xfrm>
          <a:prstGeom prst="rect">
            <a:avLst/>
          </a:prstGeom>
        </p:spPr>
      </p:pic>
      <p:sp>
        <p:nvSpPr>
          <p:cNvPr id="21" name="Text 16"/>
          <p:cNvSpPr txBox="1"/>
          <p:nvPr/>
        </p:nvSpPr>
        <p:spPr>
          <a:xfrm>
            <a:off x="6601968" y="1280160"/>
            <a:ext cx="2011680" cy="36576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C · Niveau périmé au retour</a:t>
            </a:r>
            <a:endParaRPr lang="en-US" sz="1200" dirty="0"/>
          </a:p>
        </p:txBody>
      </p:sp>
      <p:sp>
        <p:nvSpPr>
          <p:cNvPr id="22" name="Text 17"/>
          <p:cNvSpPr txBox="1"/>
          <p:nvPr/>
        </p:nvSpPr>
        <p:spPr>
          <a:xfrm>
            <a:off x="6172200" y="1737360"/>
            <a:ext cx="2377440" cy="566928"/>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Le rang (classé) et le niveau caché (partie rapide) ignorent la durée d'absence.</a:t>
            </a:r>
            <a:endParaRPr lang="en-US" sz="1000" dirty="0"/>
          </a:p>
        </p:txBody>
      </p:sp>
      <p:sp>
        <p:nvSpPr>
          <p:cNvPr id="23" name="Text 18"/>
          <p:cNvSpPr txBox="1"/>
          <p:nvPr/>
        </p:nvSpPr>
        <p:spPr>
          <a:xfrm>
            <a:off x="6172200" y="2331720"/>
            <a:ext cx="2377440" cy="566928"/>
          </a:xfrm>
          <a:prstGeom prst="rect">
            <a:avLst/>
          </a:prstGeom>
          <a:noFill/>
          <a:ln/>
        </p:spPr>
        <p:txBody>
          <a:bodyPr wrap="square" lIns="0" tIns="0" rIns="0" bIns="0" rtlCol="0" anchor="t"/>
          <a:lstStyle/>
          <a:p>
            <a:pPr indent="0" marL="0">
              <a:buNone/>
            </a:pPr>
            <a:r>
              <a:rPr lang="en-US" sz="950" b="1" dirty="0">
                <a:solidFill>
                  <a:srgbClr val="B7791F"/>
                </a:solidFill>
                <a:latin typeface="Calibri" pitchFamily="34" charset="0"/>
                <a:ea typeface="Calibri" pitchFamily="34" charset="-122"/>
                <a:cs typeface="Calibri" pitchFamily="34" charset="-120"/>
              </a:rPr>
              <a:t>Signe : </a:t>
            </a:r>
            <a:pPr indent="0" marL="0">
              <a:buNone/>
            </a:pPr>
            <a:r>
              <a:rPr lang="en-US" sz="950" i="1" dirty="0">
                <a:solidFill>
                  <a:srgbClr val="5E6378"/>
                </a:solidFill>
                <a:latin typeface="Calibri" pitchFamily="34" charset="0"/>
                <a:ea typeface="Calibri" pitchFamily="34" charset="-122"/>
                <a:cs typeface="Calibri" pitchFamily="34" charset="-120"/>
              </a:rPr>
              <a:t>Les revenants perdent plus, d'autant plus que l'absence a été longue.</a:t>
            </a:r>
            <a:endParaRPr lang="en-US" sz="950" dirty="0"/>
          </a:p>
        </p:txBody>
      </p:sp>
      <p:sp>
        <p:nvSpPr>
          <p:cNvPr id="24" name="Text 19"/>
          <p:cNvSpPr txBox="1"/>
          <p:nvPr/>
        </p:nvSpPr>
        <p:spPr>
          <a:xfrm>
            <a:off x="6126480" y="2971800"/>
            <a:ext cx="2468880" cy="1051560"/>
          </a:xfrm>
          <a:prstGeom prst="rect">
            <a:avLst/>
          </a:prstGeom>
          <a:noFill/>
          <a:ln/>
        </p:spPr>
        <p:txBody>
          <a:bodyPr wrap="square" lIns="0" tIns="0" rIns="0" bIns="0" rtlCol="0" anchor="t"/>
          <a:lstStyle/>
          <a:p>
            <a:pPr indent="0" marL="0">
              <a:buNone/>
            </a:pPr>
            <a:r>
              <a:rPr lang="en-US" sz="1000" b="1" dirty="0">
                <a:solidFill>
                  <a:srgbClr val="B7791F"/>
                </a:solidFill>
                <a:latin typeface="Calibri" pitchFamily="34" charset="0"/>
                <a:ea typeface="Calibri" pitchFamily="34" charset="-122"/>
                <a:cs typeface="Calibri" pitchFamily="34" charset="-120"/>
              </a:rPr>
              <a:t>Leviers à tester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Matchs de recalibrage au retour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Niveau ajusté selon l'absence, dans les deux modes</a:t>
            </a:r>
            <a:endParaRPr lang="en-US" sz="1000" dirty="0"/>
          </a:p>
        </p:txBody>
      </p:sp>
      <p:sp>
        <p:nvSpPr>
          <p:cNvPr id="25" name="Text 20"/>
          <p:cNvSpPr txBox="1"/>
          <p:nvPr/>
        </p:nvSpPr>
        <p:spPr>
          <a:xfrm>
            <a:off x="457200" y="4206240"/>
            <a:ext cx="8229600" cy="502920"/>
          </a:xfrm>
          <a:prstGeom prst="rect">
            <a:avLst/>
          </a:prstGeom>
          <a:noFill/>
          <a:ln/>
        </p:spPr>
        <p:txBody>
          <a:bodyPr wrap="square" lIns="0" tIns="0" rIns="0" bIns="0" rtlCol="0" anchor="ctr"/>
          <a:lstStyle/>
          <a:p>
            <a:pPr indent="0" marL="0">
              <a:buNone/>
            </a:pPr>
            <a:r>
              <a:rPr lang="en-US" sz="1050" b="1" dirty="0">
                <a:solidFill>
                  <a:srgbClr val="1F2233"/>
                </a:solidFill>
                <a:latin typeface="Calibri" pitchFamily="34" charset="0"/>
                <a:ea typeface="Calibri" pitchFamily="34" charset="-122"/>
                <a:cs typeface="Calibri" pitchFamily="34" charset="-120"/>
              </a:rPr>
              <a:t>Dans tous les cas : </a:t>
            </a:r>
            <a:pPr indent="0" marL="0">
              <a:buNone/>
            </a:pPr>
            <a:r>
              <a:rPr lang="en-US" sz="1050" dirty="0">
                <a:solidFill>
                  <a:srgbClr val="1F2233"/>
                </a:solidFill>
                <a:latin typeface="Calibri" pitchFamily="34" charset="0"/>
                <a:ea typeface="Calibri" pitchFamily="34" charset="-122"/>
                <a:cs typeface="Calibri" pitchFamily="34" charset="-120"/>
              </a:rPr>
              <a:t>groupes séparés des joueurs seuls pour les nouveaux, étiquette « match d'entraînement » sur les parties avec bots, groupe témoin tiré au sort.</a:t>
            </a:r>
            <a:endParaRPr lang="en-US" sz="1050" dirty="0"/>
          </a:p>
        </p:txBody>
      </p:sp>
      <p:sp>
        <p:nvSpPr>
          <p:cNvPr id="26" name="Text 21"/>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vidéo NetEase du 21/08/2025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Dev Talk Vol.10</a:t>
            </a:r>
            <a:endParaRPr lang="en-US" sz="850" dirty="0"/>
          </a:p>
        </p:txBody>
      </p:sp>
      <p:sp>
        <p:nvSpPr>
          <p:cNvPr id="27" name="Text 22"/>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Ce que nous avons volontairement écarté</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Recommandation · arbitrages : moins de données, mieux choisies</a:t>
            </a:r>
            <a:endParaRPr lang="en-US" sz="1200" dirty="0"/>
          </a:p>
        </p:txBody>
      </p:sp>
      <p:sp>
        <p:nvSpPr>
          <p:cNvPr id="4" name="Shape 2"/>
          <p:cNvSpPr/>
          <p:nvPr/>
        </p:nvSpPr>
        <p:spPr>
          <a:xfrm>
            <a:off x="457200" y="1234440"/>
            <a:ext cx="411480" cy="411480"/>
          </a:xfrm>
          <a:prstGeom prst="ellipse">
            <a:avLst/>
          </a:prstGeom>
          <a:solidFill>
            <a:srgbClr val="8A8FA3"/>
          </a:solidFill>
          <a:ln w="12700">
            <a:solidFill>
              <a:srgbClr val="8A8FA3"/>
            </a:solidFill>
            <a:prstDash val="solid"/>
          </a:ln>
        </p:spPr>
      </p:sp>
      <p:pic>
        <p:nvPicPr>
          <p:cNvPr id="5" name="Image 0" descr="preencoded.png">    </p:cNvPr>
          <p:cNvPicPr>
            <a:picLocks noChangeAspect="1"/>
          </p:cNvPicPr>
          <p:nvPr/>
        </p:nvPicPr>
        <p:blipFill>
          <a:blip r:embed="rId1"/>
          <a:stretch>
            <a:fillRect/>
          </a:stretch>
        </p:blipFill>
        <p:spPr>
          <a:xfrm>
            <a:off x="560070" y="1337310"/>
            <a:ext cx="205740" cy="205740"/>
          </a:xfrm>
          <a:prstGeom prst="rect">
            <a:avLst/>
          </a:prstGeom>
        </p:spPr>
      </p:pic>
      <p:sp>
        <p:nvSpPr>
          <p:cNvPr id="6" name="Text 3"/>
          <p:cNvSpPr txBox="1"/>
          <p:nvPr/>
        </p:nvSpPr>
        <p:spPr>
          <a:xfrm>
            <a:off x="1005840" y="11887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Historique sur d'autres jeux, chat complet, âge exact, téléphone</a:t>
            </a:r>
            <a:endParaRPr lang="en-US" sz="1200" dirty="0"/>
          </a:p>
        </p:txBody>
      </p:sp>
      <p:sp>
        <p:nvSpPr>
          <p:cNvPr id="7" name="Text 4"/>
          <p:cNvSpPr txBox="1"/>
          <p:nvPr/>
        </p:nvSpPr>
        <p:spPr>
          <a:xfrm>
            <a:off x="1005840" y="14630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Aucune décision ne les exige ; risque RGPD élevé (minimisation, Art. 5.1.c).</a:t>
            </a:r>
            <a:endParaRPr lang="en-US" sz="1050" dirty="0"/>
          </a:p>
        </p:txBody>
      </p:sp>
      <p:sp>
        <p:nvSpPr>
          <p:cNvPr id="8" name="Shape 5"/>
          <p:cNvSpPr/>
          <p:nvPr/>
        </p:nvSpPr>
        <p:spPr>
          <a:xfrm>
            <a:off x="457200" y="1920240"/>
            <a:ext cx="411480" cy="411480"/>
          </a:xfrm>
          <a:prstGeom prst="ellipse">
            <a:avLst/>
          </a:prstGeom>
          <a:solidFill>
            <a:srgbClr val="8A8FA3"/>
          </a:solidFill>
          <a:ln w="12700">
            <a:solidFill>
              <a:srgbClr val="8A8FA3"/>
            </a:solidFill>
            <a:prstDash val="solid"/>
          </a:ln>
        </p:spPr>
      </p:sp>
      <p:pic>
        <p:nvPicPr>
          <p:cNvPr id="9" name="Image 1" descr="preencoded.png">    </p:cNvPr>
          <p:cNvPicPr>
            <a:picLocks noChangeAspect="1"/>
          </p:cNvPicPr>
          <p:nvPr/>
        </p:nvPicPr>
        <p:blipFill>
          <a:blip r:embed="rId2"/>
          <a:stretch>
            <a:fillRect/>
          </a:stretch>
        </p:blipFill>
        <p:spPr>
          <a:xfrm>
            <a:off x="560070" y="2023110"/>
            <a:ext cx="205740" cy="205740"/>
          </a:xfrm>
          <a:prstGeom prst="rect">
            <a:avLst/>
          </a:prstGeom>
        </p:spPr>
      </p:pic>
      <p:sp>
        <p:nvSpPr>
          <p:cNvPr id="10" name="Text 6"/>
          <p:cNvSpPr txBox="1"/>
          <p:nvPr/>
        </p:nvSpPr>
        <p:spPr>
          <a:xfrm>
            <a:off x="1005840" y="18745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Benchmark Newzoo des flux entre jeux</a:t>
            </a:r>
            <a:endParaRPr lang="en-US" sz="1200" dirty="0"/>
          </a:p>
        </p:txBody>
      </p:sp>
      <p:sp>
        <p:nvSpPr>
          <p:cNvPr id="11" name="Text 7"/>
          <p:cNvSpPr txBox="1"/>
          <p:nvPr/>
        </p:nvSpPr>
        <p:spPr>
          <a:xfrm>
            <a:off x="1005840" y="21488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Panel biaisé vers les joueurs engagés : inutilisable pour des débutants (ICE 12).</a:t>
            </a:r>
            <a:endParaRPr lang="en-US" sz="1050" dirty="0"/>
          </a:p>
        </p:txBody>
      </p:sp>
      <p:sp>
        <p:nvSpPr>
          <p:cNvPr id="12" name="Shape 8"/>
          <p:cNvSpPr/>
          <p:nvPr/>
        </p:nvSpPr>
        <p:spPr>
          <a:xfrm>
            <a:off x="457200" y="2606040"/>
            <a:ext cx="411480" cy="411480"/>
          </a:xfrm>
          <a:prstGeom prst="ellipse">
            <a:avLst/>
          </a:prstGeom>
          <a:solidFill>
            <a:srgbClr val="8A8FA3"/>
          </a:solidFill>
          <a:ln w="12700">
            <a:solidFill>
              <a:srgbClr val="8A8FA3"/>
            </a:solidFill>
            <a:prstDash val="solid"/>
          </a:ln>
        </p:spPr>
      </p:sp>
      <p:pic>
        <p:nvPicPr>
          <p:cNvPr id="13" name="Image 2" descr="preencoded.png">    </p:cNvPr>
          <p:cNvPicPr>
            <a:picLocks noChangeAspect="1"/>
          </p:cNvPicPr>
          <p:nvPr/>
        </p:nvPicPr>
        <p:blipFill>
          <a:blip r:embed="rId3"/>
          <a:stretch>
            <a:fillRect/>
          </a:stretch>
        </p:blipFill>
        <p:spPr>
          <a:xfrm>
            <a:off x="560070" y="2708910"/>
            <a:ext cx="205740" cy="205740"/>
          </a:xfrm>
          <a:prstGeom prst="rect">
            <a:avLst/>
          </a:prstGeom>
        </p:spPr>
      </p:pic>
      <p:sp>
        <p:nvSpPr>
          <p:cNvPr id="14" name="Text 9"/>
          <p:cNvSpPr txBox="1"/>
          <p:nvPr/>
        </p:nvSpPr>
        <p:spPr>
          <a:xfrm>
            <a:off x="1005840" y="25603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Rôles imposés (role queue)</a:t>
            </a:r>
            <a:endParaRPr lang="en-US" sz="1200" dirty="0"/>
          </a:p>
        </p:txBody>
      </p:sp>
      <p:sp>
        <p:nvSpPr>
          <p:cNvPr id="15" name="Text 10"/>
          <p:cNvSpPr txBox="1"/>
          <p:nvPr/>
        </p:nvSpPr>
        <p:spPr>
          <a:xfrm>
            <a:off x="1005840" y="28346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Contraire à l'identité du jeu, assumée par NetEase : alerte au producteur, pas de test sans son accord.</a:t>
            </a:r>
            <a:endParaRPr lang="en-US" sz="1050" dirty="0"/>
          </a:p>
        </p:txBody>
      </p:sp>
      <p:sp>
        <p:nvSpPr>
          <p:cNvPr id="16" name="Shape 11"/>
          <p:cNvSpPr/>
          <p:nvPr/>
        </p:nvSpPr>
        <p:spPr>
          <a:xfrm>
            <a:off x="457200" y="3291840"/>
            <a:ext cx="411480" cy="411480"/>
          </a:xfrm>
          <a:prstGeom prst="ellipse">
            <a:avLst/>
          </a:prstGeom>
          <a:solidFill>
            <a:srgbClr val="8A8FA3"/>
          </a:solidFill>
          <a:ln w="12700">
            <a:solidFill>
              <a:srgbClr val="8A8FA3"/>
            </a:solidFill>
            <a:prstDash val="solid"/>
          </a:ln>
        </p:spPr>
      </p:sp>
      <p:pic>
        <p:nvPicPr>
          <p:cNvPr id="17" name="Image 3" descr="preencoded.png">    </p:cNvPr>
          <p:cNvPicPr>
            <a:picLocks noChangeAspect="1"/>
          </p:cNvPicPr>
          <p:nvPr/>
        </p:nvPicPr>
        <p:blipFill>
          <a:blip r:embed="rId4"/>
          <a:stretch>
            <a:fillRect/>
          </a:stretch>
        </p:blipFill>
        <p:spPr>
          <a:xfrm>
            <a:off x="560070" y="3394710"/>
            <a:ext cx="205740" cy="205740"/>
          </a:xfrm>
          <a:prstGeom prst="rect">
            <a:avLst/>
          </a:prstGeom>
        </p:spPr>
      </p:pic>
      <p:sp>
        <p:nvSpPr>
          <p:cNvPr id="18" name="Text 12"/>
          <p:cNvSpPr txBox="1"/>
          <p:nvPr/>
        </p:nvSpPr>
        <p:spPr>
          <a:xfrm>
            <a:off x="1005840" y="32461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Toxicité</a:t>
            </a:r>
            <a:endParaRPr lang="en-US" sz="1200" dirty="0"/>
          </a:p>
        </p:txBody>
      </p:sp>
      <p:sp>
        <p:nvSpPr>
          <p:cNvPr id="19" name="Text 13"/>
          <p:cNvSpPr txBox="1"/>
          <p:nvPr/>
        </p:nvSpPr>
        <p:spPr>
          <a:xfrm>
            <a:off x="1005840" y="35204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Hors du périmètre matchmaking ; le tirage au sort des tests neutralise son effet sur la mesure.</a:t>
            </a:r>
            <a:endParaRPr lang="en-US" sz="1050" dirty="0"/>
          </a:p>
        </p:txBody>
      </p:sp>
      <p:sp>
        <p:nvSpPr>
          <p:cNvPr id="20" name="Shape 14"/>
          <p:cNvSpPr/>
          <p:nvPr/>
        </p:nvSpPr>
        <p:spPr>
          <a:xfrm>
            <a:off x="457200" y="3977640"/>
            <a:ext cx="411480" cy="411480"/>
          </a:xfrm>
          <a:prstGeom prst="ellipse">
            <a:avLst/>
          </a:prstGeom>
          <a:solidFill>
            <a:srgbClr val="8A8FA3"/>
          </a:solidFill>
          <a:ln w="12700">
            <a:solidFill>
              <a:srgbClr val="8A8FA3"/>
            </a:solidFill>
            <a:prstDash val="solid"/>
          </a:ln>
        </p:spPr>
      </p:sp>
      <p:pic>
        <p:nvPicPr>
          <p:cNvPr id="21" name="Image 4" descr="preencoded.png">    </p:cNvPr>
          <p:cNvPicPr>
            <a:picLocks noChangeAspect="1"/>
          </p:cNvPicPr>
          <p:nvPr/>
        </p:nvPicPr>
        <p:blipFill>
          <a:blip r:embed="rId5"/>
          <a:stretch>
            <a:fillRect/>
          </a:stretch>
        </p:blipFill>
        <p:spPr>
          <a:xfrm>
            <a:off x="560070" y="4080510"/>
            <a:ext cx="205740" cy="205740"/>
          </a:xfrm>
          <a:prstGeom prst="rect">
            <a:avLst/>
          </a:prstGeom>
        </p:spPr>
      </p:pic>
      <p:sp>
        <p:nvSpPr>
          <p:cNvPr id="22" name="Text 15"/>
          <p:cNvSpPr txBox="1"/>
          <p:nvPr/>
        </p:nvSpPr>
        <p:spPr>
          <a:xfrm>
            <a:off x="1005840" y="39319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Avis Steam comme preuve</a:t>
            </a:r>
            <a:endParaRPr lang="en-US" sz="1200" dirty="0"/>
          </a:p>
        </p:txBody>
      </p:sp>
      <p:sp>
        <p:nvSpPr>
          <p:cNvPr id="23" name="Text 16"/>
          <p:cNvSpPr txBox="1"/>
          <p:nvPr/>
        </p:nvSpPr>
        <p:spPr>
          <a:xfrm>
            <a:off x="1005840" y="42062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Gardés comme contrôle de perception seulement : PC, anglais, biais du survivant.</a:t>
            </a:r>
            <a:endParaRPr lang="en-US" sz="1050" dirty="0"/>
          </a:p>
        </p:txBody>
      </p:sp>
      <p:sp>
        <p:nvSpPr>
          <p:cNvPr id="24" name="Text 17"/>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RGPD Art. 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plan de collecte complet</a:t>
            </a:r>
            <a:endParaRPr lang="en-US" sz="850" dirty="0"/>
          </a:p>
        </p:txBody>
      </p:sp>
      <p:sp>
        <p:nvSpPr>
          <p:cNvPr id="25" name="Text 18"/>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Roadmap : qui agit, ce que vit le joueur</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Trois phases ; chaque résultat ouvre ou ferme la phase suivante</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115568"/>
          <a:ext cx="8229600" cy="914400"/>
        </p:xfrm>
        <a:graphic>
          <a:graphicData uri="http://schemas.openxmlformats.org/drawingml/2006/table">
            <a:tbl>
              <a:tblPr/>
              <a:tblGrid>
                <a:gridCol w="1188720"/>
                <a:gridCol w="1737360"/>
                <a:gridCol w="2514600"/>
                <a:gridCol w="2788920"/>
              </a:tblGrid>
              <a:tr h="246888">
                <a:tc>
                  <a:txBody>
                    <a:bodyPr/>
                    <a:lstStyle/>
                    <a:p>
                      <a:pPr indent="0" marL="0">
                        <a:buNone/>
                      </a:pPr>
                      <a:r>
                        <a:rPr lang="en-US" sz="950" b="1" dirty="0">
                          <a:solidFill>
                            <a:srgbClr val="FFFFFF"/>
                          </a:solidFill>
                          <a:latin typeface="Arial" pitchFamily="34" charset="0"/>
                          <a:ea typeface="Arial" pitchFamily="34" charset="-122"/>
                          <a:cs typeface="Arial" pitchFamily="34" charset="-120"/>
                        </a:rPr>
                        <a:t>Phase</a:t>
                      </a:r>
                      <a:endParaRPr lang="en-US" sz="950" dirty="0">
                        <a:latin typeface="Arial" charset="0"/>
                        <a:ea typeface="Arial" charset="0"/>
                        <a:cs typeface="Arial"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Qui s'en occupe</a:t>
                      </a:r>
                      <a:endParaRPr lang="en-US" sz="950" dirty="0">
                        <a:latin typeface="Arial" charset="0"/>
                        <a:ea typeface="Arial" charset="0"/>
                        <a:cs typeface="Arial"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Ce qui change pour le joueur</a:t>
                      </a:r>
                      <a:endParaRPr lang="en-US" sz="950" dirty="0">
                        <a:latin typeface="Arial" charset="0"/>
                        <a:ea typeface="Arial" charset="0"/>
                        <a:cs typeface="Arial"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Résultat → changement</a:t>
                      </a:r>
                      <a:endParaRPr lang="en-US" sz="950" dirty="0">
                        <a:latin typeface="Arial" charset="0"/>
                        <a:ea typeface="Arial" charset="0"/>
                        <a:cs typeface="Arial"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r>
              <a:tr h="868680">
                <a:tc>
                  <a:txBody>
                    <a:bodyPr/>
                    <a:lstStyle/>
                    <a:p>
                      <a:pPr indent="0" marL="0">
                        <a:buNone/>
                      </a:pPr>
                      <a:r>
                        <a:rPr lang="en-US" sz="1050" b="1" dirty="0">
                          <a:solidFill>
                            <a:srgbClr val="E23636"/>
                          </a:solidFill>
                          <a:latin typeface="Arial" pitchFamily="34" charset="0"/>
                          <a:ea typeface="Arial" pitchFamily="34" charset="-122"/>
                          <a:cs typeface="Arial" pitchFamily="34" charset="-120"/>
                        </a:rPr>
                        <a:t>1 · Audit</a:t>
                      </a:r>
                      <a:endParaRPr lang="en-US" sz="850" dirty="0">
                        <a:latin typeface="Calibri" charset="0"/>
                        <a:ea typeface="Calibri" charset="0"/>
                        <a:cs typeface="Calibri" charset="0"/>
                      </a:endParaRPr>
                    </a:p>
                    <a:p>
                      <a:pPr indent="0" marL="0">
                        <a:buNone/>
                      </a:pPr>
                      <a:r>
                        <a:rPr lang="en-US" sz="900" dirty="0">
                          <a:solidFill>
                            <a:srgbClr val="5E6378"/>
                          </a:solidFill>
                          <a:latin typeface="Calibri" pitchFamily="34" charset="0"/>
                          <a:ea typeface="Calibri" pitchFamily="34" charset="-122"/>
                          <a:cs typeface="Calibri" pitchFamily="34" charset="-120"/>
                        </a:rPr>
                        <a:t>0-30 j</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1 data analyst (temps plein) et 1 data engineer (mi-temps) ; DPO de NetEase : accord de sous-traitance et hachage</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Rien en jeu : on analyse les matchs déjà enregistrés, identifiants hachés.</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b="1" dirty="0">
                          <a:solidFill>
                            <a:srgbClr val="1F2233"/>
                          </a:solidFill>
                          <a:latin typeface="Calibri" pitchFamily="34" charset="0"/>
                          <a:ea typeface="Calibri" pitchFamily="34" charset="-122"/>
                          <a:cs typeface="Calibri" pitchFamily="34" charset="-120"/>
                        </a:rPr>
                        <a:t>Nouveaux &gt; 1,2 → </a:t>
                      </a:r>
                      <a:pPr indent="0" marL="0">
                        <a:buNone/>
                      </a:pPr>
                      <a:r>
                        <a:rPr lang="en-US" sz="850" dirty="0">
                          <a:solidFill>
                            <a:srgbClr val="1F2233"/>
                          </a:solidFill>
                          <a:latin typeface="Calibri" pitchFamily="34" charset="0"/>
                          <a:ea typeface="Calibri" pitchFamily="34" charset="-122"/>
                          <a:cs typeface="Calibri" pitchFamily="34" charset="-120"/>
                        </a:rPr>
                        <a:t>tests A et/ou B (écart aux heures pleines = A, surplus aux heures creuses = B)</a:t>
                      </a:r>
                      <a:endParaRPr lang="en-US" sz="850" dirty="0">
                        <a:latin typeface="Calibri" charset="0"/>
                        <a:ea typeface="Calibri" charset="0"/>
                        <a:cs typeface="Calibri" charset="0"/>
                      </a:endParaRPr>
                    </a:p>
                    <a:p>
                      <a:pPr indent="0" marL="0">
                        <a:buNone/>
                      </a:pPr>
                      <a:r>
                        <a:rPr lang="en-US" sz="850" b="1" dirty="0">
                          <a:solidFill>
                            <a:srgbClr val="1F2233"/>
                          </a:solidFill>
                          <a:latin typeface="Calibri" pitchFamily="34" charset="0"/>
                          <a:ea typeface="Calibri" pitchFamily="34" charset="-122"/>
                          <a:cs typeface="Calibri" pitchFamily="34" charset="-120"/>
                        </a:rPr>
                        <a:t>Revenants &gt; 1,2 → </a:t>
                      </a:r>
                      <a:pPr indent="0" marL="0">
                        <a:buNone/>
                      </a:pPr>
                      <a:r>
                        <a:rPr lang="en-US" sz="850" dirty="0">
                          <a:solidFill>
                            <a:srgbClr val="1F2233"/>
                          </a:solidFill>
                          <a:latin typeface="Calibri" pitchFamily="34" charset="0"/>
                          <a:ea typeface="Calibri" pitchFamily="34" charset="-122"/>
                          <a:cs typeface="Calibri" pitchFamily="34" charset="-120"/>
                        </a:rPr>
                        <a:t>test C</a:t>
                      </a:r>
                      <a:endParaRPr lang="en-US" sz="850" dirty="0">
                        <a:latin typeface="Calibri" charset="0"/>
                        <a:ea typeface="Calibri" charset="0"/>
                        <a:cs typeface="Calibri" charset="0"/>
                      </a:endParaRPr>
                    </a:p>
                    <a:p>
                      <a:pPr indent="0" marL="0">
                        <a:buNone/>
                      </a:pPr>
                      <a:r>
                        <a:rPr lang="en-US" sz="850" b="1" dirty="0">
                          <a:solidFill>
                            <a:srgbClr val="1F2233"/>
                          </a:solidFill>
                          <a:latin typeface="Calibri" pitchFamily="34" charset="0"/>
                          <a:ea typeface="Calibri" pitchFamily="34" charset="-122"/>
                          <a:cs typeface="Calibri" pitchFamily="34" charset="-120"/>
                        </a:rPr>
                        <a:t>Les deux ≤ 1,2 → </a:t>
                      </a:r>
                      <a:pPr indent="0" marL="0">
                        <a:buNone/>
                      </a:pPr>
                      <a:r>
                        <a:rPr lang="en-US" sz="850" dirty="0">
                          <a:solidFill>
                            <a:srgbClr val="1F2233"/>
                          </a:solidFill>
                          <a:latin typeface="Calibri" pitchFamily="34" charset="0"/>
                          <a:ea typeface="Calibri" pitchFamily="34" charset="-122"/>
                          <a:cs typeface="Calibri" pitchFamily="34" charset="-120"/>
                        </a:rPr>
                        <a:t>plan B, on ne touche pas au matchmaking</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1024128">
                <a:tc>
                  <a:txBody>
                    <a:bodyPr/>
                    <a:lstStyle/>
                    <a:p>
                      <a:pPr indent="0" marL="0">
                        <a:buNone/>
                      </a:pPr>
                      <a:r>
                        <a:rPr lang="en-US" sz="1050" b="1" dirty="0">
                          <a:solidFill>
                            <a:srgbClr val="E23636"/>
                          </a:solidFill>
                          <a:latin typeface="Arial" pitchFamily="34" charset="0"/>
                          <a:ea typeface="Arial" pitchFamily="34" charset="-122"/>
                          <a:cs typeface="Arial" pitchFamily="34" charset="-120"/>
                        </a:rPr>
                        <a:t>2 · Tests</a:t>
                      </a:r>
                      <a:endParaRPr lang="en-US" sz="850" dirty="0">
                        <a:latin typeface="Calibri" charset="0"/>
                        <a:ea typeface="Calibri" charset="0"/>
                        <a:cs typeface="Calibri" charset="0"/>
                      </a:endParaRPr>
                    </a:p>
                    <a:p>
                      <a:pPr indent="0" marL="0">
                        <a:buNone/>
                      </a:pPr>
                      <a:r>
                        <a:rPr lang="en-US" sz="900" dirty="0">
                          <a:solidFill>
                            <a:srgbClr val="5E6378"/>
                          </a:solidFill>
                          <a:latin typeface="Calibri" pitchFamily="34" charset="0"/>
                          <a:ea typeface="Calibri" pitchFamily="34" charset="-122"/>
                          <a:cs typeface="Calibri" pitchFamily="34" charset="-120"/>
                        </a:rPr>
                        <a:t>30-90 j, si un ratio &gt; 1,2</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Équipe matchmaking NetEase (code les réglages) ; analyste (mesure) ; live-ops (annonce)</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Une partie des joueurs, tirée au sort, reçoit le nouveau réglage, les autres servent de témoin. A : nouveaux placés plus bas, entre débutants jusqu'au niveau 15. B : matchs plus serrés aux heures creuses. C : matchs de recalibrage au retour.</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b="1" dirty="0">
                          <a:solidFill>
                            <a:srgbClr val="1F2233"/>
                          </a:solidFill>
                          <a:latin typeface="Calibri" pitchFamily="34" charset="0"/>
                          <a:ea typeface="Calibri" pitchFamily="34" charset="-122"/>
                          <a:cs typeface="Calibri" pitchFamily="34" charset="-120"/>
                        </a:rPr>
                        <a:t>Départs en baisse face au témoin → </a:t>
                      </a:r>
                      <a:pPr indent="0" marL="0">
                        <a:buNone/>
                      </a:pPr>
                      <a:r>
                        <a:rPr lang="en-US" sz="850" dirty="0">
                          <a:solidFill>
                            <a:srgbClr val="1F2233"/>
                          </a:solidFill>
                          <a:latin typeface="Calibri" pitchFamily="34" charset="0"/>
                          <a:ea typeface="Calibri" pitchFamily="34" charset="-122"/>
                          <a:cs typeface="Calibri" pitchFamily="34" charset="-120"/>
                        </a:rPr>
                        <a:t>réglage gardé</a:t>
                      </a:r>
                      <a:endParaRPr lang="en-US" sz="850" dirty="0">
                        <a:latin typeface="Calibri" charset="0"/>
                        <a:ea typeface="Calibri" charset="0"/>
                        <a:cs typeface="Calibri" charset="0"/>
                      </a:endParaRPr>
                    </a:p>
                    <a:p>
                      <a:pPr indent="0" marL="0">
                        <a:buNone/>
                      </a:pPr>
                      <a:r>
                        <a:rPr lang="en-US" sz="850" b="1" dirty="0">
                          <a:solidFill>
                            <a:srgbClr val="1F2233"/>
                          </a:solidFill>
                          <a:latin typeface="Calibri" pitchFamily="34" charset="0"/>
                          <a:ea typeface="Calibri" pitchFamily="34" charset="-122"/>
                          <a:cs typeface="Calibri" pitchFamily="34" charset="-120"/>
                        </a:rPr>
                        <a:t>Attente p90 &gt; 3 min → </a:t>
                      </a:r>
                      <a:pPr indent="0" marL="0">
                        <a:buNone/>
                      </a:pPr>
                      <a:r>
                        <a:rPr lang="en-US" sz="850" dirty="0">
                          <a:solidFill>
                            <a:srgbClr val="1F2233"/>
                          </a:solidFill>
                          <a:latin typeface="Calibri" pitchFamily="34" charset="0"/>
                          <a:ea typeface="Calibri" pitchFamily="34" charset="-122"/>
                          <a:cs typeface="Calibri" pitchFamily="34" charset="-120"/>
                        </a:rPr>
                        <a:t>arrêt immédiat du réglage B</a:t>
                      </a:r>
                      <a:endParaRPr lang="en-US" sz="850" dirty="0">
                        <a:latin typeface="Calibri" charset="0"/>
                        <a:ea typeface="Calibri" charset="0"/>
                        <a:cs typeface="Calibri" charset="0"/>
                      </a:endParaRPr>
                    </a:p>
                    <a:p>
                      <a:pPr indent="0" marL="0">
                        <a:buNone/>
                      </a:pPr>
                      <a:r>
                        <a:rPr lang="en-US" sz="850" b="1" dirty="0">
                          <a:solidFill>
                            <a:srgbClr val="1F2233"/>
                          </a:solidFill>
                          <a:latin typeface="Calibri" pitchFamily="34" charset="0"/>
                          <a:ea typeface="Calibri" pitchFamily="34" charset="-122"/>
                          <a:cs typeface="Calibri" pitchFamily="34" charset="-120"/>
                        </a:rPr>
                        <a:t>Aucune baisse → </a:t>
                      </a:r>
                      <a:pPr indent="0" marL="0">
                        <a:buNone/>
                      </a:pPr>
                      <a:r>
                        <a:rPr lang="en-US" sz="850" dirty="0">
                          <a:solidFill>
                            <a:srgbClr val="1F2233"/>
                          </a:solidFill>
                          <a:latin typeface="Calibri" pitchFamily="34" charset="0"/>
                          <a:ea typeface="Calibri" pitchFamily="34" charset="-122"/>
                          <a:cs typeface="Calibri" pitchFamily="34" charset="-120"/>
                        </a:rPr>
                        <a:t>réglage abandonné</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868680">
                <a:tc>
                  <a:txBody>
                    <a:bodyPr/>
                    <a:lstStyle/>
                    <a:p>
                      <a:pPr indent="0" marL="0">
                        <a:buNone/>
                      </a:pPr>
                      <a:r>
                        <a:rPr lang="en-US" sz="1050" b="1" dirty="0">
                          <a:solidFill>
                            <a:srgbClr val="E23636"/>
                          </a:solidFill>
                          <a:latin typeface="Arial" pitchFamily="34" charset="0"/>
                          <a:ea typeface="Arial" pitchFamily="34" charset="-122"/>
                          <a:cs typeface="Arial" pitchFamily="34" charset="-120"/>
                        </a:rPr>
                        <a:t>3 · Déploiement</a:t>
                      </a:r>
                      <a:endParaRPr lang="en-US" sz="850" dirty="0">
                        <a:latin typeface="Calibri" charset="0"/>
                        <a:ea typeface="Calibri" charset="0"/>
                        <a:cs typeface="Calibri" charset="0"/>
                      </a:endParaRPr>
                    </a:p>
                    <a:p>
                      <a:pPr indent="0" marL="0">
                        <a:buNone/>
                      </a:pPr>
                      <a:r>
                        <a:rPr lang="en-US" sz="900" dirty="0">
                          <a:solidFill>
                            <a:srgbClr val="5E6378"/>
                          </a:solidFill>
                          <a:latin typeface="Calibri" pitchFamily="34" charset="0"/>
                          <a:ea typeface="Calibri" pitchFamily="34" charset="-122"/>
                          <a:cs typeface="Calibri" pitchFamily="34" charset="-120"/>
                        </a:rPr>
                        <a:t>90-180 j</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Équipe matchmaking (mise en production) ; live-ops et communication ; analyste 2 j par mois</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Les réglages gagnants passent à tous, annoncés dans les notes de patch ; page publique « comment fonctionne le matchmaking ».</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b="1" dirty="0">
                          <a:solidFill>
                            <a:srgbClr val="1F2233"/>
                          </a:solidFill>
                          <a:latin typeface="Calibri" pitchFamily="34" charset="0"/>
                          <a:ea typeface="Calibri" pitchFamily="34" charset="-122"/>
                          <a:cs typeface="Calibri" pitchFamily="34" charset="-120"/>
                        </a:rPr>
                        <a:t>31/03/2027 : ratio ≤ 1,2 et avis &lt; 8 % → </a:t>
                      </a:r>
                      <a:pPr indent="0" marL="0">
                        <a:buNone/>
                      </a:pPr>
                      <a:r>
                        <a:rPr lang="en-US" sz="850" dirty="0">
                          <a:solidFill>
                            <a:srgbClr val="1F2233"/>
                          </a:solidFill>
                          <a:latin typeface="Calibri" pitchFamily="34" charset="0"/>
                          <a:ea typeface="Calibri" pitchFamily="34" charset="-122"/>
                          <a:cs typeface="Calibri" pitchFamily="34" charset="-120"/>
                        </a:rPr>
                        <a:t>objectif atteint</a:t>
                      </a:r>
                      <a:endParaRPr lang="en-US" sz="850" dirty="0">
                        <a:latin typeface="Calibri" charset="0"/>
                        <a:ea typeface="Calibri" charset="0"/>
                        <a:cs typeface="Calibri" charset="0"/>
                      </a:endParaRPr>
                    </a:p>
                    <a:p>
                      <a:pPr indent="0" marL="0">
                        <a:buNone/>
                      </a:pPr>
                      <a:r>
                        <a:rPr lang="en-US" sz="850" b="1" dirty="0">
                          <a:solidFill>
                            <a:srgbClr val="1F2233"/>
                          </a:solidFill>
                          <a:latin typeface="Calibri" pitchFamily="34" charset="0"/>
                          <a:ea typeface="Calibri" pitchFamily="34" charset="-122"/>
                          <a:cs typeface="Calibri" pitchFamily="34" charset="-120"/>
                        </a:rPr>
                        <a:t>Ratio bon, avis &gt; 8 % → </a:t>
                      </a:r>
                      <a:pPr indent="0" marL="0">
                        <a:buNone/>
                      </a:pPr>
                      <a:r>
                        <a:rPr lang="en-US" sz="850" dirty="0">
                          <a:solidFill>
                            <a:srgbClr val="1F2233"/>
                          </a:solidFill>
                          <a:latin typeface="Calibri" pitchFamily="34" charset="0"/>
                          <a:ea typeface="Calibri" pitchFamily="34" charset="-122"/>
                          <a:cs typeface="Calibri" pitchFamily="34" charset="-120"/>
                        </a:rPr>
                        <a:t>problème de perception : plus de transparence</a:t>
                      </a:r>
                      <a:endParaRPr lang="en-US" sz="850" dirty="0">
                        <a:latin typeface="Calibri" charset="0"/>
                        <a:ea typeface="Calibri" charset="0"/>
                        <a:cs typeface="Calibri" charset="0"/>
                      </a:endParaRPr>
                    </a:p>
                    <a:p>
                      <a:pPr indent="0" marL="0">
                        <a:buNone/>
                      </a:pPr>
                      <a:r>
                        <a:rPr lang="en-US" sz="850" b="1" dirty="0">
                          <a:solidFill>
                            <a:srgbClr val="1F2233"/>
                          </a:solidFill>
                          <a:latin typeface="Calibri" pitchFamily="34" charset="0"/>
                          <a:ea typeface="Calibri" pitchFamily="34" charset="-122"/>
                          <a:cs typeface="Calibri" pitchFamily="34" charset="-120"/>
                        </a:rPr>
                        <a:t>Ratio qui remonte → </a:t>
                      </a:r>
                      <a:pPr indent="0" marL="0">
                        <a:buNone/>
                      </a:pPr>
                      <a:r>
                        <a:rPr lang="en-US" sz="850" dirty="0">
                          <a:solidFill>
                            <a:srgbClr val="1F2233"/>
                          </a:solidFill>
                          <a:latin typeface="Calibri" pitchFamily="34" charset="0"/>
                          <a:ea typeface="Calibri" pitchFamily="34" charset="-122"/>
                          <a:cs typeface="Calibri" pitchFamily="34" charset="-120"/>
                        </a:rPr>
                        <a:t>retour en phase 2</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4224528"/>
            <a:ext cx="8229600" cy="457200"/>
          </a:xfrm>
          <a:prstGeom prst="roundRect">
            <a:avLst>
              <a:gd name="adj" fmla="val 12000"/>
            </a:avLst>
          </a:prstGeom>
          <a:solidFill>
            <a:srgbClr val="161A33"/>
          </a:solidFill>
          <a:ln w="12700">
            <a:solidFill>
              <a:srgbClr val="161A33"/>
            </a:solidFill>
            <a:prstDash val="solid"/>
          </a:ln>
        </p:spPr>
      </p:sp>
      <p:sp>
        <p:nvSpPr>
          <p:cNvPr id="6" name="Text 3"/>
          <p:cNvSpPr txBox="1"/>
          <p:nvPr/>
        </p:nvSpPr>
        <p:spPr>
          <a:xfrm>
            <a:off x="640080" y="4224528"/>
            <a:ext cx="786384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Budget : ≈ 19 K€ engagés (audit) · ≈ 45 K€ si les tests sont lancés</a:t>
            </a:r>
            <a:pPr indent="0" marL="0">
              <a:buNone/>
            </a:pPr>
            <a:r>
              <a:rPr lang="en-US" sz="1000" dirty="0">
                <a:solidFill>
                  <a:srgbClr val="C9CCDA"/>
                </a:solidFill>
                <a:latin typeface="Calibri" pitchFamily="34" charset="0"/>
                <a:ea typeface="Calibri" pitchFamily="34" charset="-122"/>
                <a:cs typeface="Calibri" pitchFamily="34" charset="-120"/>
              </a:rPr>
              <a:t>  ·  détail du calcul slide suivante</a:t>
            </a:r>
            <a:endParaRPr lang="en-US" sz="1200" dirty="0"/>
          </a:p>
        </p:txBody>
      </p:sp>
      <p:sp>
        <p:nvSpPr>
          <p:cNvPr id="7" name="Text 4"/>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plan de collecte complet (§7)</a:t>
            </a:r>
            <a:endParaRPr lang="en-US" sz="850" dirty="0"/>
          </a:p>
        </p:txBody>
      </p:sp>
      <p:sp>
        <p:nvSpPr>
          <p:cNvPr id="8" name="Text 5"/>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Combien : 19 K€ engagés, 45 K€ au total</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Roadmap · personnes aux TJM médians du marché, outils aux tarifs publics</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115568"/>
          <a:ext cx="8229600" cy="914400"/>
        </p:xfrm>
        <a:graphic>
          <a:graphicData uri="http://schemas.openxmlformats.org/drawingml/2006/table">
            <a:tbl>
              <a:tblPr/>
              <a:tblGrid>
                <a:gridCol w="2377440"/>
                <a:gridCol w="3291840"/>
                <a:gridCol w="1234440"/>
                <a:gridCol w="1325880"/>
              </a:tblGrid>
              <a:tr h="237744">
                <a:tc>
                  <a:txBody>
                    <a:bodyPr/>
                    <a:lstStyle/>
                    <a:p>
                      <a:pPr indent="0" marL="0">
                        <a:buNone/>
                      </a:pPr>
                      <a:r>
                        <a:rPr lang="en-US" sz="950" b="1" dirty="0">
                          <a:solidFill>
                            <a:srgbClr val="FFFFFF"/>
                          </a:solidFill>
                          <a:latin typeface="Arial" pitchFamily="34" charset="0"/>
                          <a:ea typeface="Arial" pitchFamily="34" charset="-122"/>
                          <a:cs typeface="Arial" pitchFamily="34" charset="-120"/>
                        </a:rPr>
                        <a:t>Poste</a:t>
                      </a:r>
                      <a:endParaRPr lang="en-US" sz="95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Calcul</a:t>
                      </a:r>
                      <a:endParaRPr lang="en-US" sz="95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Montant</a:t>
                      </a:r>
                      <a:endParaRPr lang="en-US" sz="95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Source</a:t>
                      </a:r>
                      <a:endParaRPr lang="en-US" sz="95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r>
              <a:tr h="274320">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Audit, 0-30 j : analyste et ingénieur</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22 j × 540 € + 11 j × 650 €</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E23636"/>
                          </a:solidFill>
                          <a:latin typeface="Arial" pitchFamily="34" charset="0"/>
                          <a:ea typeface="Arial" pitchFamily="34" charset="-122"/>
                          <a:cs typeface="Arial" pitchFamily="34" charset="-120"/>
                        </a:rPr>
                        <a:t>19 K€</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TJM médians 2026, tjmetre.fr</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Tests, 30-90 j : analyste</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43 j × 540 €</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F2233"/>
                          </a:solidFill>
                          <a:latin typeface="Arial" pitchFamily="34" charset="0"/>
                          <a:ea typeface="Arial" pitchFamily="34" charset="-122"/>
                          <a:cs typeface="Arial" pitchFamily="34" charset="-120"/>
                        </a:rPr>
                        <a:t>23 K€</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idem</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Déploiement, 90-180 j : pilotage</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6 j × 540 €</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F2233"/>
                          </a:solidFill>
                          <a:latin typeface="Arial" pitchFamily="34" charset="0"/>
                          <a:ea typeface="Arial" pitchFamily="34" charset="-122"/>
                          <a:cs typeface="Arial" pitchFamily="34" charset="-120"/>
                        </a:rPr>
                        <a:t>3 K€</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idem</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65760">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Entrepôt (BigQuery à la demande)</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6,25 $ par To au-delà de 1 To gratuit ; plafond prudent : 100 To par mois pendant 6 mois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F2233"/>
                          </a:solidFill>
                          <a:latin typeface="Arial" pitchFamily="34" charset="0"/>
                          <a:ea typeface="Arial" pitchFamily="34" charset="-122"/>
                          <a:cs typeface="Arial" pitchFamily="34" charset="-120"/>
                        </a:rPr>
                        <a:t>≤ 3,7 K$</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Google Cloud</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65760">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Tableaux de bord</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Outil BI existant ; sinon Power BI Pro, 14 $ × 3 utilisateurs × 6 mois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F2233"/>
                          </a:solidFill>
                          <a:latin typeface="Arial" pitchFamily="34" charset="0"/>
                          <a:ea typeface="Arial" pitchFamily="34" charset="-122"/>
                          <a:cs typeface="Arial" pitchFamily="34" charset="-120"/>
                        </a:rPr>
                        <a:t>0 à 0,3 K$</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Microsoft</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Développement des réglages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Équipe matchmaking NetEase</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F2233"/>
                          </a:solidFill>
                          <a:latin typeface="Arial" pitchFamily="34" charset="0"/>
                          <a:ea typeface="Arial" pitchFamily="34" charset="-122"/>
                          <a:cs typeface="Arial" pitchFamily="34" charset="-120"/>
                        </a:rPr>
                        <a:t>à chiffrer</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avant la phase 2</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1F2233"/>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5E6378"/>
                          </a:solidFill>
                          <a:latin typeface="Calibri" pitchFamily="34" charset="0"/>
                          <a:ea typeface="Calibri" pitchFamily="34" charset="-122"/>
                          <a:cs typeface="Calibri" pitchFamily="34" charset="-120"/>
                        </a:rPr>
                        <a:t>Fourchette des TJM bas et hauts : 39 à 51 K€</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E23636"/>
                          </a:solidFill>
                          <a:latin typeface="Arial" pitchFamily="34" charset="0"/>
                          <a:ea typeface="Arial" pitchFamily="34" charset="-122"/>
                          <a:cs typeface="Arial" pitchFamily="34" charset="-120"/>
                        </a:rPr>
                        <a:t>≈ 45 K€ + ≤ 4 K$</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3520440"/>
            <a:ext cx="8229600" cy="804672"/>
          </a:xfrm>
          <a:prstGeom prst="roundRect">
            <a:avLst>
              <a:gd name="adj" fmla="val 6818"/>
            </a:avLst>
          </a:prstGeom>
          <a:solidFill>
            <a:srgbClr val="F4F5F9"/>
          </a:solidFill>
          <a:ln w="12700">
            <a:solidFill>
              <a:srgbClr val="F4F5F9"/>
            </a:solidFill>
            <a:prstDash val="solid"/>
          </a:ln>
        </p:spPr>
      </p:sp>
      <p:sp>
        <p:nvSpPr>
          <p:cNvPr id="6" name="Text 3"/>
          <p:cNvSpPr txBox="1"/>
          <p:nvPr/>
        </p:nvSpPr>
        <p:spPr>
          <a:xfrm>
            <a:off x="640080" y="3547872"/>
            <a:ext cx="7863840" cy="749808"/>
          </a:xfrm>
          <a:prstGeom prst="rect">
            <a:avLst/>
          </a:prstGeom>
          <a:noFill/>
          <a:ln/>
        </p:spPr>
        <p:txBody>
          <a:bodyPr wrap="square" lIns="0" tIns="0" rIns="0" bIns="0" rtlCol="0" anchor="ctr"/>
          <a:lstStyle/>
          <a:p>
            <a:pPr indent="0" marL="0">
              <a:buNone/>
            </a:pPr>
            <a:r>
              <a:rPr lang="en-US" sz="900" b="1" dirty="0">
                <a:solidFill>
                  <a:srgbClr val="161A33"/>
                </a:solidFill>
                <a:latin typeface="Calibri" pitchFamily="34" charset="0"/>
                <a:ea typeface="Calibri" pitchFamily="34" charset="-122"/>
                <a:cs typeface="Calibri" pitchFamily="34" charset="-120"/>
              </a:rPr>
              <a:t>Outils volontairement non achetés (ordres de grandeur du coaching 2) : </a:t>
            </a:r>
            <a:endParaRPr lang="en-US" sz="900" dirty="0"/>
          </a:p>
          <a:p>
            <a:pPr indent="0" marL="0">
              <a:buNone/>
            </a:pPr>
            <a:r>
              <a:rPr lang="en-US" sz="900" dirty="0">
                <a:solidFill>
                  <a:srgbClr val="1F2233"/>
                </a:solidFill>
                <a:latin typeface="Calibri" pitchFamily="34" charset="0"/>
                <a:ea typeface="Calibri" pitchFamily="34" charset="-122"/>
                <a:cs typeface="Calibri" pitchFamily="34" charset="-120"/>
              </a:rPr>
              <a:t>SDK analytics (GameAnalytics, deltaDNA : 300 à 5 000 $ par mois) : votre télémétrie existe déjà · attribution (AppsFlyer, Adjust : 0,05 à 0,10 $ par installation) : utile au mobile, pas à un jeu PC et consoles · CDP (Segment, Tealium : 5 à 50 K€ par an) : profils unifiés contraires à la minimisation · CRM et push (Braze : 1 à 3 K$ par mois) : marketing, hors périmètre.</a:t>
            </a:r>
            <a:endParaRPr lang="en-US" sz="900" dirty="0"/>
          </a:p>
        </p:txBody>
      </p:sp>
      <p:sp>
        <p:nvSpPr>
          <p:cNvPr id="7" name="Text 4"/>
          <p:cNvSpPr txBox="1"/>
          <p:nvPr/>
        </p:nvSpPr>
        <p:spPr>
          <a:xfrm>
            <a:off x="457200" y="4389120"/>
            <a:ext cx="8229600" cy="320040"/>
          </a:xfrm>
          <a:prstGeom prst="rect">
            <a:avLst/>
          </a:prstGeom>
          <a:noFill/>
          <a:ln/>
        </p:spPr>
        <p:txBody>
          <a:bodyPr wrap="square" lIns="0" tIns="0" rIns="0" bIns="0" rtlCol="0" anchor="ctr"/>
          <a:lstStyle/>
          <a:p>
            <a:pPr indent="0" marL="0">
              <a:buNone/>
            </a:pPr>
            <a:r>
              <a:rPr lang="en-US" sz="900" b="1" dirty="0">
                <a:solidFill>
                  <a:srgbClr val="1F2233"/>
                </a:solidFill>
                <a:latin typeface="Calibri" pitchFamily="34" charset="0"/>
                <a:ea typeface="Calibri" pitchFamily="34" charset="-122"/>
                <a:cs typeface="Calibri" pitchFamily="34" charset="-120"/>
              </a:rPr>
              <a:t>Stack : </a:t>
            </a:r>
            <a:pPr indent="0" marL="0">
              <a:buNone/>
            </a:pPr>
            <a:r>
              <a:rPr lang="en-US" sz="900" dirty="0">
                <a:solidFill>
                  <a:srgbClr val="1F2233"/>
                </a:solidFill>
                <a:latin typeface="Calibri" pitchFamily="34" charset="0"/>
                <a:ea typeface="Calibri" pitchFamily="34" charset="-122"/>
                <a:cs typeface="Calibri" pitchFamily="34" charset="-120"/>
              </a:rPr>
              <a:t>télémétrie in-game existante → entrepôt existant (type BigQuery ou Snowflake) → BI existante (type Looker ou Power BI).</a:t>
            </a:r>
            <a:endParaRPr lang="en-US" sz="900" dirty="0"/>
          </a:p>
        </p:txBody>
      </p:sp>
      <p:sp>
        <p:nvSpPr>
          <p:cNvPr id="8" name="Text 5"/>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TJM Data 2026 (01/10/2026)</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tarifs BigQuery (01/10/2026)</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tarifs Power BI (02/10/2026)</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plan de collecte (§5)</a:t>
            </a:r>
            <a:endParaRPr lang="en-US" sz="850" dirty="0"/>
          </a:p>
        </p:txBody>
      </p:sp>
      <p:sp>
        <p:nvSpPr>
          <p:cNvPr id="9" name="Text 6"/>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KPIs de décision et garde-fous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Risques / KPIs · comment chaque KPI se calcule, et quelle décision il déclenche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554480"/>
                <a:gridCol w="3017520"/>
                <a:gridCol w="685800"/>
                <a:gridCol w="1645920"/>
                <a:gridCol w="1325880"/>
              </a:tblGrid>
              <a:tr h="237744">
                <a:tc>
                  <a:txBody>
                    <a:bodyPr/>
                    <a:lstStyle/>
                    <a:p>
                      <a:pPr indent="0" marL="0">
                        <a:buNone/>
                      </a:pPr>
                      <a:r>
                        <a:rPr lang="en-US" sz="950" b="1" dirty="0">
                          <a:solidFill>
                            <a:srgbClr val="FFFFFF"/>
                          </a:solidFill>
                          <a:latin typeface="Arial" pitchFamily="34" charset="0"/>
                          <a:ea typeface="Arial" pitchFamily="34" charset="-122"/>
                          <a:cs typeface="Arial" pitchFamily="34" charset="-120"/>
                        </a:rPr>
                        <a:t>KPI</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Comment on le calcule</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Seuil</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Si le seuil est franchi</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Sinon</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161A33"/>
                    </a:solidFill>
                  </a:tcPr>
                </a:tc>
              </a:tr>
              <a:tr h="47548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Ratio de départ des nouveaux comptes</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 des nouveaux qui perdent au moins 7 de leurs 10 premiers matchs et ne rejouent pas sous 7 jours, divisé par le même % chez les autres nouveaux</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23636"/>
                          </a:solidFill>
                          <a:latin typeface="Arial" pitchFamily="34" charset="0"/>
                          <a:ea typeface="Arial" pitchFamily="34" charset="-122"/>
                          <a:cs typeface="Arial" pitchFamily="34" charset="-120"/>
                        </a:rPr>
                        <a:t>&gt; 1,2</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H5 tient : tests des causes confirmées (A, B ou les deux)</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Pas d'investissement matchmaking : plan B</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8404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Ratio de départ des joueurs de retour</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Même calcul sur les 10 premiers matchs après au moins 60 jours d'absence, classé et partie rapide séparés</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23636"/>
                          </a:solidFill>
                          <a:latin typeface="Arial" pitchFamily="34" charset="0"/>
                          <a:ea typeface="Arial" pitchFamily="34" charset="-122"/>
                          <a:cs typeface="Arial" pitchFamily="34" charset="-120"/>
                        </a:rPr>
                        <a:t>&gt; 1,2</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H5c tient : recalibrage au retour (cause C) dans le mode concerné</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Niveau au retour inchangé</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8404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Attente p90 en partie rapide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Temps d'attente sous lequel 90 % des joueurs trouvent une partie, par rang et région</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23636"/>
                          </a:solidFill>
                          <a:latin typeface="Arial" pitchFamily="34" charset="0"/>
                          <a:ea typeface="Arial" pitchFamily="34" charset="-122"/>
                          <a:cs typeface="Arial" pitchFamily="34" charset="-120"/>
                        </a:rPr>
                        <a:t>&gt; 3 min</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Arrêt du resserrement de l'écart</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Test poursuivi</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Part de la partie rapide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Part des 10 premiers matchs des nouveaux joués en partie rapide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23636"/>
                          </a:solidFill>
                          <a:latin typeface="Arial" pitchFamily="34" charset="0"/>
                          <a:ea typeface="Arial" pitchFamily="34" charset="-122"/>
                          <a:cs typeface="Arial" pitchFamily="34" charset="-120"/>
                        </a:rPr>
                        <a:t>&gt; 50 %</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Leviers sur la partie rapide en premier</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Leviers sur le mode dominant</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8404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Avis négatifs citant le matchmaking (contrôle)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Part des avis Steam négatifs qui le citent (base : 10,5 % en septembre 2026)</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23636"/>
                          </a:solidFill>
                          <a:latin typeface="Arial" pitchFamily="34" charset="0"/>
                          <a:ea typeface="Arial" pitchFamily="34" charset="-122"/>
                          <a:cs typeface="Arial" pitchFamily="34" charset="-120"/>
                        </a:rPr>
                        <a:t>&gt; 8 %</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Au 31/03/2027 : problème de perception, plus de transparence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Corrections perçues : on généralise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3520440"/>
            <a:ext cx="8229600" cy="1188720"/>
          </a:xfrm>
          <a:prstGeom prst="roundRect">
            <a:avLst>
              <a:gd name="adj" fmla="val 4615"/>
            </a:avLst>
          </a:prstGeom>
          <a:solidFill>
            <a:srgbClr val="F4F5F9"/>
          </a:solidFill>
          <a:ln w="12700">
            <a:solidFill>
              <a:srgbClr val="F4F5F9"/>
            </a:solidFill>
            <a:prstDash val="solid"/>
          </a:ln>
        </p:spPr>
      </p:sp>
      <p:sp>
        <p:nvSpPr>
          <p:cNvPr id="6" name="Text 3"/>
          <p:cNvSpPr txBox="1"/>
          <p:nvPr/>
        </p:nvSpPr>
        <p:spPr>
          <a:xfrm>
            <a:off x="640080" y="3566160"/>
            <a:ext cx="7863840" cy="1097280"/>
          </a:xfrm>
          <a:prstGeom prst="rect">
            <a:avLst/>
          </a:prstGeom>
          <a:noFill/>
          <a:ln/>
        </p:spPr>
        <p:txBody>
          <a:bodyPr wrap="square" lIns="0" tIns="0" rIns="0" bIns="0" rtlCol="0" anchor="ctr"/>
          <a:lstStyle/>
          <a:p>
            <a:pPr indent="0" marL="0">
              <a:spcAft>
                <a:spcPts val="300"/>
              </a:spcAft>
              <a:buNone/>
            </a:pPr>
            <a:r>
              <a:rPr lang="en-US" sz="1000" b="1" dirty="0">
                <a:solidFill>
                  <a:srgbClr val="161A33"/>
                </a:solidFill>
                <a:latin typeface="Calibri" pitchFamily="34" charset="0"/>
                <a:ea typeface="Calibri" pitchFamily="34" charset="-122"/>
                <a:cs typeface="Calibri" pitchFamily="34" charset="-120"/>
              </a:rPr>
              <a:t>Base légale : </a:t>
            </a:r>
            <a:pPr indent="0" marL="0">
              <a:spcAft>
                <a:spcPts val="300"/>
              </a:spcAft>
              <a:buNone/>
            </a:pPr>
            <a:r>
              <a:rPr lang="en-US" sz="1000" dirty="0">
                <a:solidFill>
                  <a:srgbClr val="1F2233"/>
                </a:solidFill>
                <a:latin typeface="Calibri" pitchFamily="34" charset="0"/>
                <a:ea typeface="Calibri" pitchFamily="34" charset="-122"/>
                <a:cs typeface="Calibri" pitchFamily="34" charset="-120"/>
              </a:rPr>
              <a:t>contrat pour le matchmaking ; intérêt légitime documenté pour l'audit ; consentement pour les sondages.</a:t>
            </a:r>
            <a:endParaRPr lang="en-US" sz="1000" dirty="0"/>
          </a:p>
          <a:p>
            <a:pPr indent="0" marL="0">
              <a:spcAft>
                <a:spcPts val="300"/>
              </a:spcAft>
              <a:buNone/>
            </a:pPr>
            <a:r>
              <a:rPr lang="en-US" sz="1000" b="1" dirty="0">
                <a:solidFill>
                  <a:srgbClr val="161A33"/>
                </a:solidFill>
                <a:latin typeface="Calibri" pitchFamily="34" charset="0"/>
                <a:ea typeface="Calibri" pitchFamily="34" charset="-122"/>
                <a:cs typeface="Calibri" pitchFamily="34" charset="-120"/>
              </a:rPr>
              <a:t>RGPD et AI Act : </a:t>
            </a:r>
            <a:pPr indent="0" marL="0">
              <a:spcAft>
                <a:spcPts val="300"/>
              </a:spcAft>
              <a:buNone/>
            </a:pPr>
            <a:r>
              <a:rPr lang="en-US" sz="1000" dirty="0">
                <a:solidFill>
                  <a:srgbClr val="1F2233"/>
                </a:solidFill>
                <a:latin typeface="Calibri" pitchFamily="34" charset="0"/>
                <a:ea typeface="Calibri" pitchFamily="34" charset="-122"/>
                <a:cs typeface="Calibri" pitchFamily="34" charset="-120"/>
              </a:rPr>
              <a:t>accord de sous-traitance, identifiants hachés, mineurs exclus ; aucun profilage individuel, bots toujours annoncés.</a:t>
            </a:r>
            <a:endParaRPr lang="en-US" sz="1000" dirty="0"/>
          </a:p>
          <a:p>
            <a:pPr indent="0" marL="0">
              <a:spcAft>
                <a:spcPts val="300"/>
              </a:spcAft>
              <a:buNone/>
            </a:pPr>
            <a:r>
              <a:rPr lang="en-US" sz="1000" b="1" dirty="0">
                <a:solidFill>
                  <a:srgbClr val="E23636"/>
                </a:solidFill>
                <a:latin typeface="Calibri" pitchFamily="34" charset="0"/>
                <a:ea typeface="Calibri" pitchFamily="34" charset="-122"/>
                <a:cs typeface="Calibri" pitchFamily="34" charset="-120"/>
              </a:rPr>
              <a:t>Plan B : </a:t>
            </a:r>
            <a:pPr indent="0" marL="0">
              <a:spcAft>
                <a:spcPts val="300"/>
              </a:spcAft>
              <a:buNone/>
            </a:pPr>
            <a:r>
              <a:rPr lang="en-US" sz="1000" dirty="0">
                <a:solidFill>
                  <a:srgbClr val="1F2233"/>
                </a:solidFill>
                <a:latin typeface="Calibri" pitchFamily="34" charset="0"/>
                <a:ea typeface="Calibri" pitchFamily="34" charset="-122"/>
                <a:cs typeface="Calibri" pitchFamily="34" charset="-120"/>
              </a:rPr>
              <a:t>ratio ≤ 1,2 sur les deux cohortes : pas d'investissement matchmaking ; les données extraites testent équilibrage et monétisation.</a:t>
            </a:r>
            <a:endParaRPr lang="en-US" sz="1000" dirty="0"/>
          </a:p>
        </p:txBody>
      </p:sp>
      <p:sp>
        <p:nvSpPr>
          <p:cNvPr id="7" name="Text 4"/>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RGPD</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AI Act</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plan de collecte complet (§3)</a:t>
            </a:r>
            <a:endParaRPr lang="en-US" sz="850" dirty="0"/>
          </a:p>
        </p:txBody>
      </p:sp>
      <p:sp>
        <p:nvSpPr>
          <p:cNvPr id="8" name="Text 5"/>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Sources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Annexe · consultées du 29/09 au 01/10/2026 · liens cliquables</a:t>
            </a:r>
            <a:endParaRPr lang="en-US" sz="1200" dirty="0"/>
          </a:p>
        </p:txBody>
      </p:sp>
      <p:sp>
        <p:nvSpPr>
          <p:cNvPr id="4" name="Text 2"/>
          <p:cNvSpPr txBox="1"/>
          <p:nvPr/>
        </p:nvSpPr>
        <p:spPr>
          <a:xfrm>
            <a:off x="457200" y="1143000"/>
            <a:ext cx="8229600" cy="3566160"/>
          </a:xfrm>
          <a:prstGeom prst="rect">
            <a:avLst/>
          </a:prstGeom>
          <a:noFill/>
          <a:ln/>
        </p:spPr>
        <p:txBody>
          <a:bodyPr wrap="square" rtlCol="0" anchor="t"/>
          <a:lstStyle/>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Forbes, −85 % de joueurs en 10 mois (12/10/2025)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Steam Charts, moyennes mensuelles (PC)</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40 millions de joueurs, rapport NetEase (Game World Observer)</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API publique des avis Steam (notre collecte, 37 990 avis pondérés)</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Démenti de l'EOMM (X officiel, 12/08/2025)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Vidéo NetEase sur le matchmaking (21/08/2025)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Notes de patch Season 5, placements (14/11/2025)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Classé : Bronze III pour tous (PCGamesN)</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Dev Talk Vol.10, réinitialisation du rang (NetEase)</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Inactivité limitée aux rangs Eternity et One Above All (Timesaver, source tierce)</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45 % des joueurs ayant quitté Overwatch 2 ont joué à Marvel Rivals (Newzoo via Insider Gaming, 09/04/2025)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Overwatch 2 : baisse des joueurs moyens sur PC (VGC)</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 Plus un jeu pour le fan occasionnel » (TheGamer, 09/08/2025)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Tarifs BigQuery, requêtes à la demande (Google Cloud)</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Tarifs Power BI (Microsoft, 02/10/2026)</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Baromètre TJM Data 2026, médianes freelance France (tjmetre.fr, 01/10/2026)</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RGPD (EUR-Lex)</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8" invalidUrl="" action="" tgtFrame="" tooltip="" history="1" highlightClick="0" endSnd="0">
                  <a:extLst>
                    <a:ext uri="{A12FA001-AC4F-418D-AE19-62706E023703}">
                      <ahyp:hlinkClr xmlns:ahyp="http://schemas.microsoft.com/office/drawing/2018/hyperlinkcolor" val="tx"/>
                    </a:ext>
                  </a:extLst>
                </a:hlinkClick>
              </a:rPr>
              <a:t>AI Act (EUR-Lex)</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9" invalidUrl="" action="" tgtFrame="" tooltip="" history="1" highlightClick="0" endSnd="0">
                  <a:extLst>
                    <a:ext uri="{A12FA001-AC4F-418D-AE19-62706E023703}">
                      <ahyp:hlinkClr xmlns:ahyp="http://schemas.microsoft.com/office/drawing/2018/hyperlinkcolor" val="tx"/>
                    </a:ext>
                  </a:extLst>
                </a:hlinkClick>
              </a:rPr>
              <a:t>Plan de collecte complet (Google Docs)</a:t>
            </a:r>
            <a:endParaRPr lang="en-US" sz="1000" dirty="0"/>
          </a:p>
        </p:txBody>
      </p:sp>
      <p:sp>
        <p:nvSpPr>
          <p:cNvPr id="5" name="Text 3"/>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9"/>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233"/>
                </a:solidFill>
                <a:latin typeface="Arial" pitchFamily="34" charset="0"/>
                <a:ea typeface="Arial" pitchFamily="34" charset="-122"/>
                <a:cs typeface="Arial" pitchFamily="34" charset="-120"/>
              </a:rPr>
              <a:t>Questions anticipées</a:t>
            </a:r>
            <a:endParaRPr lang="en-US" sz="2600" dirty="0"/>
          </a:p>
        </p:txBody>
      </p:sp>
      <p:sp>
        <p:nvSpPr>
          <p:cNvPr id="3" name="Text 1"/>
          <p:cNvSpPr txBox="1"/>
          <p:nvPr/>
        </p:nvSpPr>
        <p:spPr>
          <a:xfrm>
            <a:off x="457200" y="804672"/>
            <a:ext cx="8229600" cy="292608"/>
          </a:xfrm>
          <a:prstGeom prst="rect">
            <a:avLst/>
          </a:prstGeom>
          <a:noFill/>
          <a:ln/>
        </p:spPr>
        <p:txBody>
          <a:bodyPr wrap="square" lIns="0" tIns="0" rIns="0" bIns="0" rtlCol="0" anchor="ctr"/>
          <a:lstStyle/>
          <a:p>
            <a:pPr indent="0" marL="0">
              <a:buNone/>
            </a:pPr>
            <a:r>
              <a:rPr lang="en-US" sz="1200" dirty="0">
                <a:solidFill>
                  <a:srgbClr val="5E6378"/>
                </a:solidFill>
                <a:latin typeface="Calibri" pitchFamily="34" charset="0"/>
                <a:ea typeface="Calibri" pitchFamily="34" charset="-122"/>
                <a:cs typeface="Calibri" pitchFamily="34" charset="-120"/>
              </a:rPr>
              <a:t>Annexe · réponses courtes, à garder sous la main</a:t>
            </a:r>
            <a:endParaRPr lang="en-US" sz="1200" dirty="0"/>
          </a:p>
        </p:txBody>
      </p:sp>
      <p:sp>
        <p:nvSpPr>
          <p:cNvPr id="4" name="Shape 2"/>
          <p:cNvSpPr/>
          <p:nvPr/>
        </p:nvSpPr>
        <p:spPr>
          <a:xfrm>
            <a:off x="457200" y="1188720"/>
            <a:ext cx="4023360" cy="1051560"/>
          </a:xfrm>
          <a:prstGeom prst="roundRect">
            <a:avLst>
              <a:gd name="adj" fmla="val 5217"/>
            </a:avLst>
          </a:prstGeom>
          <a:solidFill>
            <a:srgbClr val="FFFFFF"/>
          </a:solidFill>
          <a:ln w="12700">
            <a:solidFill>
              <a:srgbClr val="E3E5EE"/>
            </a:solidFill>
            <a:prstDash val="solid"/>
          </a:ln>
        </p:spPr>
      </p:sp>
      <p:sp>
        <p:nvSpPr>
          <p:cNvPr id="5" name="Text 3"/>
          <p:cNvSpPr txBox="1"/>
          <p:nvPr/>
        </p:nvSpPr>
        <p:spPr>
          <a:xfrm>
            <a:off x="594360" y="1261872"/>
            <a:ext cx="374904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Pourquoi cette donnée et pas une autre ?</a:t>
            </a:r>
            <a:endParaRPr lang="en-US" sz="1100" dirty="0"/>
          </a:p>
        </p:txBody>
      </p:sp>
      <p:sp>
        <p:nvSpPr>
          <p:cNvPr id="6" name="Text 4"/>
          <p:cNvSpPr txBox="1"/>
          <p:nvPr/>
        </p:nvSpPr>
        <p:spPr>
          <a:xfrm>
            <a:off x="594360" y="1554480"/>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Score ICE le plus haut, et elle tranche directement l'hypothèse (départ à 7 jours, causes A, B et C).</a:t>
            </a:r>
            <a:endParaRPr lang="en-US" sz="1000" dirty="0"/>
          </a:p>
        </p:txBody>
      </p:sp>
      <p:sp>
        <p:nvSpPr>
          <p:cNvPr id="7" name="Shape 5"/>
          <p:cNvSpPr/>
          <p:nvPr/>
        </p:nvSpPr>
        <p:spPr>
          <a:xfrm>
            <a:off x="4663440" y="1188720"/>
            <a:ext cx="4023360" cy="1051560"/>
          </a:xfrm>
          <a:prstGeom prst="roundRect">
            <a:avLst>
              <a:gd name="adj" fmla="val 5217"/>
            </a:avLst>
          </a:prstGeom>
          <a:solidFill>
            <a:srgbClr val="FFFFFF"/>
          </a:solidFill>
          <a:ln w="12700">
            <a:solidFill>
              <a:srgbClr val="E3E5EE"/>
            </a:solidFill>
            <a:prstDash val="solid"/>
          </a:ln>
        </p:spPr>
      </p:sp>
      <p:sp>
        <p:nvSpPr>
          <p:cNvPr id="8" name="Text 6"/>
          <p:cNvSpPr txBox="1"/>
          <p:nvPr/>
        </p:nvSpPr>
        <p:spPr>
          <a:xfrm>
            <a:off x="4800600" y="1261872"/>
            <a:ext cx="374904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Combien ça coûte ?</a:t>
            </a:r>
            <a:endParaRPr lang="en-US" sz="1100" dirty="0"/>
          </a:p>
        </p:txBody>
      </p:sp>
      <p:sp>
        <p:nvSpPr>
          <p:cNvPr id="9" name="Text 7"/>
          <p:cNvSpPr txBox="1"/>
          <p:nvPr/>
        </p:nvSpPr>
        <p:spPr>
          <a:xfrm>
            <a:off x="4800600" y="1554480"/>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 19 K€ pour l'audit (33 jours-homme), ≈ 45 K€ si les tests sont lancés, plus ≤ 4 K$ d'outils ; ni SDK, ni CDP, ni CRM à acheter.</a:t>
            </a:r>
            <a:endParaRPr lang="en-US" sz="1000" dirty="0"/>
          </a:p>
        </p:txBody>
      </p:sp>
      <p:sp>
        <p:nvSpPr>
          <p:cNvPr id="10" name="Shape 8"/>
          <p:cNvSpPr/>
          <p:nvPr/>
        </p:nvSpPr>
        <p:spPr>
          <a:xfrm>
            <a:off x="457200" y="2350008"/>
            <a:ext cx="4023360" cy="1051560"/>
          </a:xfrm>
          <a:prstGeom prst="roundRect">
            <a:avLst>
              <a:gd name="adj" fmla="val 5217"/>
            </a:avLst>
          </a:prstGeom>
          <a:solidFill>
            <a:srgbClr val="FFFFFF"/>
          </a:solidFill>
          <a:ln w="12700">
            <a:solidFill>
              <a:srgbClr val="E3E5EE"/>
            </a:solidFill>
            <a:prstDash val="solid"/>
          </a:ln>
        </p:spPr>
      </p:sp>
      <p:sp>
        <p:nvSpPr>
          <p:cNvPr id="11" name="Text 9"/>
          <p:cNvSpPr txBox="1"/>
          <p:nvPr/>
        </p:nvSpPr>
        <p:spPr>
          <a:xfrm>
            <a:off x="594360" y="2423160"/>
            <a:ext cx="374904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Quelle base légale ?</a:t>
            </a:r>
            <a:endParaRPr lang="en-US" sz="1100" dirty="0"/>
          </a:p>
        </p:txBody>
      </p:sp>
      <p:sp>
        <p:nvSpPr>
          <p:cNvPr id="12" name="Text 10"/>
          <p:cNvSpPr txBox="1"/>
          <p:nvPr/>
        </p:nvSpPr>
        <p:spPr>
          <a:xfrm>
            <a:off x="594360" y="2715768"/>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Contrat pour le matchmaking ; intérêt légitime documenté pour l'audit ; consentement pour les sondages.</a:t>
            </a:r>
            <a:endParaRPr lang="en-US" sz="1000" dirty="0"/>
          </a:p>
        </p:txBody>
      </p:sp>
      <p:sp>
        <p:nvSpPr>
          <p:cNvPr id="13" name="Shape 11"/>
          <p:cNvSpPr/>
          <p:nvPr/>
        </p:nvSpPr>
        <p:spPr>
          <a:xfrm>
            <a:off x="4663440" y="2350008"/>
            <a:ext cx="4023360" cy="1051560"/>
          </a:xfrm>
          <a:prstGeom prst="roundRect">
            <a:avLst>
              <a:gd name="adj" fmla="val 5217"/>
            </a:avLst>
          </a:prstGeom>
          <a:solidFill>
            <a:srgbClr val="FFFFFF"/>
          </a:solidFill>
          <a:ln w="12700">
            <a:solidFill>
              <a:srgbClr val="E3E5EE"/>
            </a:solidFill>
            <a:prstDash val="solid"/>
          </a:ln>
        </p:spPr>
      </p:sp>
      <p:sp>
        <p:nvSpPr>
          <p:cNvPr id="14" name="Text 12"/>
          <p:cNvSpPr txBox="1"/>
          <p:nvPr/>
        </p:nvSpPr>
        <p:spPr>
          <a:xfrm>
            <a:off x="4800600" y="2423160"/>
            <a:ext cx="374904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Comment savoir si ça marche ?</a:t>
            </a:r>
            <a:endParaRPr lang="en-US" sz="1100" dirty="0"/>
          </a:p>
        </p:txBody>
      </p:sp>
      <p:sp>
        <p:nvSpPr>
          <p:cNvPr id="15" name="Text 13"/>
          <p:cNvSpPr txBox="1"/>
          <p:nvPr/>
        </p:nvSpPr>
        <p:spPr>
          <a:xfrm>
            <a:off x="4800600" y="2715768"/>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Ratio ≤ 1,2 au 31/03/2027 sur les deux cohortes ; sinon, plan B sans nouvelle collecte.</a:t>
            </a:r>
            <a:endParaRPr lang="en-US" sz="1000" dirty="0"/>
          </a:p>
        </p:txBody>
      </p:sp>
      <p:sp>
        <p:nvSpPr>
          <p:cNvPr id="16" name="Shape 14"/>
          <p:cNvSpPr/>
          <p:nvPr/>
        </p:nvSpPr>
        <p:spPr>
          <a:xfrm>
            <a:off x="457200" y="3511296"/>
            <a:ext cx="8229600" cy="1051560"/>
          </a:xfrm>
          <a:prstGeom prst="roundRect">
            <a:avLst>
              <a:gd name="adj" fmla="val 5217"/>
            </a:avLst>
          </a:prstGeom>
          <a:solidFill>
            <a:srgbClr val="FFFFFF"/>
          </a:solidFill>
          <a:ln w="12700">
            <a:solidFill>
              <a:srgbClr val="E3E5EE"/>
            </a:solidFill>
            <a:prstDash val="solid"/>
          </a:ln>
        </p:spPr>
      </p:sp>
      <p:sp>
        <p:nvSpPr>
          <p:cNvPr id="17" name="Text 15"/>
          <p:cNvSpPr txBox="1"/>
          <p:nvPr/>
        </p:nvSpPr>
        <p:spPr>
          <a:xfrm>
            <a:off x="594360" y="3584448"/>
            <a:ext cx="7955280" cy="274320"/>
          </a:xfrm>
          <a:prstGeom prst="rect">
            <a:avLst/>
          </a:prstGeom>
          <a:noFill/>
          <a:ln/>
        </p:spPr>
        <p:txBody>
          <a:bodyPr wrap="square" lIns="0" tIns="0" rIns="0" bIns="0" rtlCol="0" anchor="ctr"/>
          <a:lstStyle/>
          <a:p>
            <a:pPr indent="0" marL="0">
              <a:buNone/>
            </a:pPr>
            <a:r>
              <a:rPr lang="en-US" sz="1100" b="1" dirty="0">
                <a:solidFill>
                  <a:srgbClr val="E23636"/>
                </a:solidFill>
                <a:latin typeface="Arial" pitchFamily="34" charset="0"/>
                <a:ea typeface="Arial" pitchFamily="34" charset="-122"/>
                <a:cs typeface="Arial" pitchFamily="34" charset="-120"/>
              </a:rPr>
              <a:t>Qu'avez-vous écarté ?</a:t>
            </a:r>
            <a:endParaRPr lang="en-US" sz="1100" dirty="0"/>
          </a:p>
        </p:txBody>
      </p:sp>
      <p:sp>
        <p:nvSpPr>
          <p:cNvPr id="18" name="Text 16"/>
          <p:cNvSpPr txBox="1"/>
          <p:nvPr/>
        </p:nvSpPr>
        <p:spPr>
          <a:xfrm>
            <a:off x="594360" y="3877056"/>
            <a:ext cx="795528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Données personnelles sans décision (chat, âge, téléphone, autres jeux), benchmark Newzoo (ICE 12), rôles imposés.</a:t>
            </a:r>
            <a:endParaRPr lang="en-US" sz="1000" dirty="0"/>
          </a:p>
        </p:txBody>
      </p:sp>
      <p:sp>
        <p:nvSpPr>
          <p:cNvPr id="19" name="Text 17"/>
          <p:cNvSpPr txBox="1"/>
          <p:nvPr/>
        </p:nvSpPr>
        <p:spPr>
          <a:xfrm>
            <a:off x="8412480" y="4773168"/>
            <a:ext cx="274320" cy="256032"/>
          </a:xfrm>
          <a:prstGeom prst="rect">
            <a:avLst/>
          </a:prstGeom>
          <a:noFill/>
          <a:ln/>
        </p:spPr>
        <p:txBody>
          <a:bodyPr wrap="square" lIns="0" tIns="0" rIns="0" bIns="0" rtlCol="0" anchor="ctr"/>
          <a:lstStyle/>
          <a:p>
            <a:pPr algn="r" indent="0" marL="0">
              <a:buNone/>
            </a:pPr>
            <a:r>
              <a:rPr lang="en-US" sz="900" dirty="0">
                <a:solidFill>
                  <a:srgbClr val="5E6378"/>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Marvel Rivals : pourquoi les joueurs ne restent pas</dc:title>
  <dc:subject>PptxGenJS Presentation</dc:subject>
  <dc:creator>Noé</dc:creator>
  <cp:lastModifiedBy>Noé</cp:lastModifiedBy>
  <cp:revision>1</cp:revision>
  <dcterms:created xsi:type="dcterms:W3CDTF">2026-10-02T07:43:26Z</dcterms:created>
  <dcterms:modified xsi:type="dcterms:W3CDTF">2026-10-02T07:43:26Z</dcterms:modified>
</cp:coreProperties>
</file>