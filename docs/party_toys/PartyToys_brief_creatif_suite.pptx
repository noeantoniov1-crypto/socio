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ll.fr/sites/default/files/essentiel-jeu-video/ejv_septembre_2025_def_0.pdf" TargetMode="External"/><Relationship Id="rId5" Type="http://schemas.openxmlformats.org/officeDocument/2006/relationships/hyperlink" Target="https://www.sell.fr/sites/default/files/essentiel-jeu-video/ejv_septembre_2025_def_0.pdf" TargetMode="External"/><Relationship Id="rId8" Type="http://schemas.openxmlformats.org/officeDocument/2006/relationships/hyperlink" Target="https://gameindustrylibrary.com/research/shared/6-how-has-the-friendslop-genre-evolved" TargetMode="External"/><Relationship Id="rId11" Type="http://schemas.openxmlformats.org/officeDocument/2006/relationships/hyperlink" Target="https://circana.com/intelligence/press-releases/2024/playful-profits-fandom-and-nostalgia-fuel-growth-of-teens-and-adults-e4-5bn-toy-market-in-europe" TargetMode="External"/><Relationship Id="rId14" Type="http://schemas.openxmlformats.org/officeDocument/2006/relationships/hyperlink" Target="https://howtomarketagame.com/2024/06/24/do-demos-help-earn-wishlists-steam-next-fest-june-2024/" TargetMode="Externa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6" Type="http://schemas.openxmlformats.org/officeDocument/2006/relationships/image" Target="../media/image-2-2.png"/><Relationship Id="rId7" Type="http://schemas.openxmlformats.org/officeDocument/2006/relationships/image" Target="../media/image-2-5.png"/><Relationship Id="rId9" Type="http://schemas.openxmlformats.org/officeDocument/2006/relationships/image" Target="../media/image-2-2.png"/><Relationship Id="rId10" Type="http://schemas.openxmlformats.org/officeDocument/2006/relationships/image" Target="../media/image-2-7.png"/><Relationship Id="rId12" Type="http://schemas.openxmlformats.org/officeDocument/2006/relationships/image" Target="../media/image-2-2.png"/><Relationship Id="rId13" Type="http://schemas.openxmlformats.org/officeDocument/2006/relationships/image" Target="../media/image-2-9.png"/><Relationship Id="rId15" Type="http://schemas.openxmlformats.org/officeDocument/2006/relationships/image" Target="../media/image-2-2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hyperlink" Target="https://partner.steamgames.com/doc/store/assets/standard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.org/TR/WCAG21/#contrast-minimum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équipe “Pixel Toys” - ANTONIO Noé - BEFFY Martin - CHAUVIN Lucas - ROUAY--ANTOINE Manau - REY Nathan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cette campagne 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sujet et message clé du brief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4FAF6"/>
          </a:solidFill>
          <a:ln w="12700">
            <a:solidFill>
              <a:srgbClr val="D5EE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7" name="Image 0" descr="/tmp/claude-0/-home-user-SOCIO/dd1a12ff-0491-58c5-8c13-7e8ef7d55990/scratchpad/pt/icons/FaBullseye_00B8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connaître un party game indépendant sans notoriété et transformer la curiosité en intention de jeu.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389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PROPOSÉS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46634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2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Ajouts en liste de souhaits Steam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2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 de la démo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2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du Discord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70832" y="16916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4FAF6"/>
          </a:solidFill>
          <a:ln w="12700">
            <a:solidFill>
              <a:srgbClr val="D5EE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45152" y="1920240"/>
            <a:ext cx="731520" cy="73152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4" name="Image 1" descr="/tmp/claude-0/-home-user-SOCIO/dd1a12ff-0491-58c5-8c13-7e8ef7d55990/scratchpad/pt/icons/FaBullhorn_00B8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1031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13832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645152" y="283464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 puis lancer la démo jouable de Party Toys sur Steam (PC), avant la sortie en accès anticipé.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45152" y="4389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FORTS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645152" y="46634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2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Révélation du jeu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2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jouable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2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en accès anticipé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93024" y="16916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4FAF6"/>
          </a:solidFill>
          <a:ln w="12700">
            <a:solidFill>
              <a:srgbClr val="D5EED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67344" y="1920240"/>
            <a:ext cx="731520" cy="73152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1" name="Image 2" descr="/tmp/claude-0/-home-user-SOCIO/dd1a12ff-0491-58c5-8c13-7e8ef7d55990/scratchpad/pt/icons/FaKey_00B8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1031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336024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clé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467344" y="283464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jouets d’enfance prennent vie sur le tapis de ville : jusqu’à 10 amis, des mini-jeux qui changent à chaque manche… et un enfant qui sème le chaos.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467344" y="4389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PROMESSES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467344" y="46634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2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Nostalgie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2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amis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2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&amp; fous rires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48640" y="5760720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00B85C"/>
          </a:solidFill>
          <a:ln/>
        </p:spPr>
      </p:sp>
      <p:sp>
        <p:nvSpPr>
          <p:cNvPr id="27" name="Text 22"/>
          <p:cNvSpPr/>
          <p:nvPr/>
        </p:nvSpPr>
        <p:spPr>
          <a:xfrm>
            <a:off x="77724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 </a:t>
            </a:r>
            <a:pPr indent="0" marL="0">
              <a:buNone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jalon « démo puis accès anticipé » et les indicateurs sont à valider par l’équipe : le brief GBS3 demande le but de la campagne et ce que l’on célèbre ou teasé.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équipe “Pixel Toys” - ANTONIO Noé - BEFFY Martin - CHAUVIN Lucas - ROUAY--ANTOINE Manau - REY Nathan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fait notre cible… et ce qu’on lui propose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habitudes (sourcées)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720840" y="1188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proposition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658368" cy="658368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7" name="Image 0" descr="/tmp/claude-0/-home-user-SOCIO/dd1a12ff-0491-58c5-8c13-7e8ef7d55990/scratchpad/pt/icons/FaUserGroup_00B8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202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7099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423160" y="166420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joueurs français jouent avec leurs amis ; 65 % partagent leurs sessions.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423160" y="23042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buNone/>
            </a:pPr>
            <a:r>
              <a:rPr lang="en-US" sz="90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SELL / Médiamétrie, sept. 2025</a:t>
            </a:r>
            <a:endParaRPr lang="en-US" sz="900" dirty="0"/>
          </a:p>
        </p:txBody>
      </p:sp>
      <p:pic>
        <p:nvPicPr>
          <p:cNvPr id="11" name="Image 1" descr="/tmp/claude-0/-home-user-SOCIO/dd1a12ff-0491-58c5-8c13-7e8ef7d55990/scratchpad/pt/icons/FaArrowRight_00B8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938528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720840" y="1700784"/>
            <a:ext cx="4983480" cy="786384"/>
          </a:xfrm>
          <a:prstGeom prst="roundRect">
            <a:avLst>
              <a:gd name="adj" fmla="val 9302"/>
            </a:avLst>
          </a:prstGeom>
          <a:solidFill>
            <a:srgbClr val="E6F6EC"/>
          </a:solidFill>
          <a:ln/>
        </p:spPr>
      </p:sp>
      <p:sp>
        <p:nvSpPr>
          <p:cNvPr id="13" name="Text 9"/>
          <p:cNvSpPr/>
          <p:nvPr/>
        </p:nvSpPr>
        <p:spPr>
          <a:xfrm>
            <a:off x="6903720" y="1700784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« soirée » : salon privé jusqu’à 10, code d’invitation à partager et lien Discord dans le hub.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569464"/>
            <a:ext cx="5623560" cy="0"/>
          </a:xfrm>
          <a:prstGeom prst="line">
            <a:avLst/>
          </a:prstGeom>
          <a:noFill/>
          <a:ln w="9525">
            <a:solidFill>
              <a:srgbClr val="E3E8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2706624"/>
            <a:ext cx="658368" cy="658368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6" name="Image 2" descr="/tmp/claude-0/-home-user-SOCIO/dd1a12ff-0491-58c5-8c13-7e8ef7d55990/scratchpad/pt/icons/FaDiscord_00B8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87121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26609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51 %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2423160" y="261518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16-30 ans se sont fait des amis grâce au jeu vidéo ; 56 % des 10-30 ans se disent « gamers ».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2423160" y="32552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buNone/>
            </a:pPr>
            <a:r>
              <a:rPr lang="en-US" sz="90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SELL / Médiamétrie, sept. 2025</a:t>
            </a:r>
            <a:endParaRPr lang="en-US" sz="900" dirty="0"/>
          </a:p>
        </p:txBody>
      </p:sp>
      <p:pic>
        <p:nvPicPr>
          <p:cNvPr id="20" name="Image 3" descr="/tmp/claude-0/-home-user-SOCIO/dd1a12ff-0491-58c5-8c13-7e8ef7d55990/scratchpad/pt/icons/FaArrowRight_00B85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889504"/>
            <a:ext cx="274320" cy="2743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720840" y="2651760"/>
            <a:ext cx="4983480" cy="786384"/>
          </a:xfrm>
          <a:prstGeom prst="roundRect">
            <a:avLst>
              <a:gd name="adj" fmla="val 9302"/>
            </a:avLst>
          </a:prstGeom>
          <a:solidFill>
            <a:srgbClr val="E6F6EC"/>
          </a:solidFill>
          <a:ln/>
        </p:spPr>
      </p:sp>
      <p:sp>
        <p:nvSpPr>
          <p:cNvPr id="22" name="Text 16"/>
          <p:cNvSpPr/>
          <p:nvPr/>
        </p:nvSpPr>
        <p:spPr>
          <a:xfrm>
            <a:off x="6903720" y="265176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Discord + « Toy Night » hebdomadaire : l’équipe joue avec la communauté et fait voter le prochain mini-jeu.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520440"/>
            <a:ext cx="5623560" cy="0"/>
          </a:xfrm>
          <a:prstGeom prst="line">
            <a:avLst/>
          </a:prstGeom>
          <a:noFill/>
          <a:ln w="9525">
            <a:solidFill>
              <a:srgbClr val="E3E8E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3657600"/>
            <a:ext cx="658368" cy="658368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5" name="Image 4" descr="/tmp/claude-0/-home-user-SOCIO/dd1a12ff-0491-58c5-8c13-7e8ef7d55990/scratchpad/pt/icons/FaTiktok_00B85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822192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98448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2400" dirty="0"/>
          </a:p>
        </p:txBody>
      </p:sp>
      <p:sp>
        <p:nvSpPr>
          <p:cNvPr id="27" name="Text 20"/>
          <p:cNvSpPr/>
          <p:nvPr/>
        </p:nvSpPr>
        <p:spPr>
          <a:xfrm>
            <a:off x="2423160" y="356616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meilleures ventes Steam 2025 sont des jeux « entre amis » (Peak : 15,4 M) qui vivent de clips de ratés partagés.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2423160" y="4206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buNone/>
            </a:pPr>
            <a:r>
              <a:rPr lang="en-US" sz="90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GameDev Reports via Game Industry Library, 2026</a:t>
            </a:r>
            <a:endParaRPr lang="en-US" sz="900" dirty="0"/>
          </a:p>
        </p:txBody>
      </p:sp>
      <p:pic>
        <p:nvPicPr>
          <p:cNvPr id="29" name="Image 5" descr="/tmp/claude-0/-home-user-SOCIO/dd1a12ff-0491-58c5-8c13-7e8ef7d55990/scratchpad/pt/icons/FaArrowRight_00B85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3840480"/>
            <a:ext cx="274320" cy="27432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720840" y="3602736"/>
            <a:ext cx="4983480" cy="786384"/>
          </a:xfrm>
          <a:prstGeom prst="roundRect">
            <a:avLst>
              <a:gd name="adj" fmla="val 9302"/>
            </a:avLst>
          </a:prstGeom>
          <a:solidFill>
            <a:srgbClr val="E6F6EC"/>
          </a:solidFill>
          <a:ln/>
        </p:spPr>
      </p:sp>
      <p:sp>
        <p:nvSpPr>
          <p:cNvPr id="31" name="Text 23"/>
          <p:cNvSpPr/>
          <p:nvPr/>
        </p:nvSpPr>
        <p:spPr>
          <a:xfrm>
            <a:off x="6903720" y="3602736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clip 15 s » vertical après chaque manche + mode streamer où le chat Twitch pilote l’enfant.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548640" y="4471416"/>
            <a:ext cx="5623560" cy="0"/>
          </a:xfrm>
          <a:prstGeom prst="line">
            <a:avLst/>
          </a:prstGeom>
          <a:noFill/>
          <a:ln w="9525">
            <a:solidFill>
              <a:srgbClr val="E3E8E5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548640" y="4608576"/>
            <a:ext cx="658368" cy="658368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34" name="Image 6" descr="/tmp/claude-0/-home-user-SOCIO/dd1a12ff-0491-58c5-8c13-7e8ef7d55990/scratchpad/pt/icons/FaRobot_00B85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" y="4773168"/>
            <a:ext cx="329184" cy="32918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298448" y="456285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28,5 %</a:t>
            </a:r>
            <a:endParaRPr lang="en-US" sz="2400" dirty="0"/>
          </a:p>
        </p:txBody>
      </p:sp>
      <p:sp>
        <p:nvSpPr>
          <p:cNvPr id="36" name="Text 27"/>
          <p:cNvSpPr/>
          <p:nvPr/>
        </p:nvSpPr>
        <p:spPr>
          <a:xfrm>
            <a:off x="2423160" y="451713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ventes de jouets en Europe (EU5) concernent les 12 ans et plus, portées par la nostalgie.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2423160" y="51572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buNone/>
            </a:pPr>
            <a:r>
              <a:rPr lang="en-US" sz="90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Circana, 2024 (données 2023)</a:t>
            </a:r>
            <a:endParaRPr lang="en-US" sz="900" dirty="0"/>
          </a:p>
        </p:txBody>
      </p:sp>
      <p:pic>
        <p:nvPicPr>
          <p:cNvPr id="38" name="Image 7" descr="/tmp/claude-0/-home-user-SOCIO/dd1a12ff-0491-58c5-8c13-7e8ef7d55990/scratchpad/pt/icons/FaArrowRight_00B85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1072" y="4791456"/>
            <a:ext cx="274320" cy="27432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6720840" y="4553712"/>
            <a:ext cx="4983480" cy="786384"/>
          </a:xfrm>
          <a:prstGeom prst="roundRect">
            <a:avLst>
              <a:gd name="adj" fmla="val 9302"/>
            </a:avLst>
          </a:prstGeom>
          <a:solidFill>
            <a:srgbClr val="E6F6EC"/>
          </a:solidFill>
          <a:ln/>
        </p:spPr>
      </p:sp>
      <p:sp>
        <p:nvSpPr>
          <p:cNvPr id="40" name="Text 30"/>
          <p:cNvSpPr/>
          <p:nvPr/>
        </p:nvSpPr>
        <p:spPr>
          <a:xfrm>
            <a:off x="6903720" y="4553712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Récompenses = jouets d’époque à collectionner pour sa chambre ; posts « Quel jouet étais-tu ? ».</a:t>
            </a:r>
            <a:endParaRPr lang="en-US" sz="1300" dirty="0"/>
          </a:p>
        </p:txBody>
      </p:sp>
      <p:sp>
        <p:nvSpPr>
          <p:cNvPr id="41" name="Shape 31"/>
          <p:cNvSpPr/>
          <p:nvPr/>
        </p:nvSpPr>
        <p:spPr>
          <a:xfrm>
            <a:off x="548640" y="5422392"/>
            <a:ext cx="5623560" cy="0"/>
          </a:xfrm>
          <a:prstGeom prst="line">
            <a:avLst/>
          </a:prstGeom>
          <a:noFill/>
          <a:ln w="9525">
            <a:solidFill>
              <a:srgbClr val="E3E8E5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548640" y="5559552"/>
            <a:ext cx="658368" cy="658368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43" name="Image 8" descr="/tmp/claude-0/-home-user-SOCIO/dd1a12ff-0491-58c5-8c13-7e8ef7d55990/scratchpad/pt/icons/FaGamepad_00B85C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232" y="5724144"/>
            <a:ext cx="329184" cy="32918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1298448" y="55138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20 %</a:t>
            </a:r>
            <a:endParaRPr lang="en-US" sz="2400" dirty="0"/>
          </a:p>
        </p:txBody>
      </p:sp>
      <p:sp>
        <p:nvSpPr>
          <p:cNvPr id="45" name="Text 34"/>
          <p:cNvSpPr/>
          <p:nvPr/>
        </p:nvSpPr>
        <p:spPr>
          <a:xfrm>
            <a:off x="2423160" y="546811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joueurs d’une démo du Steam Next Fest l’ajoutent ensuite à leur liste de souhaits.</a:t>
            </a:r>
            <a:endParaRPr lang="en-US" sz="1150" dirty="0"/>
          </a:p>
        </p:txBody>
      </p:sp>
      <p:sp>
        <p:nvSpPr>
          <p:cNvPr id="46" name="Text 35"/>
          <p:cNvSpPr/>
          <p:nvPr/>
        </p:nvSpPr>
        <p:spPr>
          <a:xfrm>
            <a:off x="2423160" y="6108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buNone/>
            </a:pPr>
            <a:r>
              <a:rPr lang="en-US" sz="90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Market A Game, 24/06/2024</a:t>
            </a:r>
            <a:endParaRPr lang="en-US" sz="900" dirty="0"/>
          </a:p>
        </p:txBody>
      </p:sp>
      <p:pic>
        <p:nvPicPr>
          <p:cNvPr id="47" name="Image 9" descr="/tmp/claude-0/-home-user-SOCIO/dd1a12ff-0491-58c5-8c13-7e8ef7d55990/scratchpad/pt/icons/FaArrowRight_00B85C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1072" y="5742432"/>
            <a:ext cx="274320" cy="274320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6720840" y="5504688"/>
            <a:ext cx="4983480" cy="786384"/>
          </a:xfrm>
          <a:prstGeom prst="roundRect">
            <a:avLst>
              <a:gd name="adj" fmla="val 9302"/>
            </a:avLst>
          </a:prstGeom>
          <a:solidFill>
            <a:srgbClr val="E6F6EC"/>
          </a:solidFill>
          <a:ln/>
        </p:spPr>
      </p:sp>
      <p:sp>
        <p:nvSpPr>
          <p:cNvPr id="49" name="Text 37"/>
          <p:cNvSpPr/>
          <p:nvPr/>
        </p:nvSpPr>
        <p:spPr>
          <a:xfrm>
            <a:off x="6903720" y="5504688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gratuite jouable à plusieurs, mise en avant pendant le Steam Next Fest.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F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équipe “Pixel Toys” - ANTONIO Noé - BEFFY Martin - CHAUVIN Lucas - ROUAY--ANTOINE Manau - REY Nathan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cadrage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Où, quand, combien et sous quels formats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291840" cy="1389888"/>
          </a:xfrm>
          <a:prstGeom prst="roundRect">
            <a:avLst>
              <a:gd name="adj" fmla="val 6579"/>
            </a:avLst>
          </a:prstGeom>
          <a:solidFill>
            <a:srgbClr val="1D3A2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691640"/>
            <a:ext cx="566928" cy="566928"/>
          </a:xfrm>
          <a:prstGeom prst="ellipse">
            <a:avLst/>
          </a:prstGeom>
          <a:solidFill>
            <a:srgbClr val="00B85C"/>
          </a:solidFill>
          <a:ln/>
        </p:spPr>
      </p:sp>
      <p:pic>
        <p:nvPicPr>
          <p:cNvPr id="7" name="Image 0" descr="/tmp/claude-0/-home-user-SOCIO/dd1a12ff-0491-58c5-8c13-7e8ef7d55990/scratchpad/pt/icons/FaEarthEurope_1022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83337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099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Territoires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9808" y="2258568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d’abord, puis Europe francophone et anglophone (contenus FR + EN).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069080" y="1508760"/>
            <a:ext cx="3291840" cy="1389888"/>
          </a:xfrm>
          <a:prstGeom prst="roundRect">
            <a:avLst>
              <a:gd name="adj" fmla="val 6579"/>
            </a:avLst>
          </a:prstGeom>
          <a:solidFill>
            <a:srgbClr val="1D3A2B"/>
          </a:solidFill>
          <a:ln/>
        </p:spPr>
      </p:sp>
      <p:sp>
        <p:nvSpPr>
          <p:cNvPr id="11" name="Shape 8"/>
          <p:cNvSpPr/>
          <p:nvPr/>
        </p:nvSpPr>
        <p:spPr>
          <a:xfrm>
            <a:off x="4270248" y="1691640"/>
            <a:ext cx="566928" cy="566928"/>
          </a:xfrm>
          <a:prstGeom prst="ellipse">
            <a:avLst/>
          </a:prstGeom>
          <a:solidFill>
            <a:srgbClr val="00B85C"/>
          </a:solidFill>
          <a:ln/>
        </p:spPr>
      </p:sp>
      <p:pic>
        <p:nvPicPr>
          <p:cNvPr id="12" name="Image 1" descr="/tmp/claude-0/-home-user-SOCIO/dd1a12ff-0491-58c5-8c13-7e8ef7d55990/scratchpad/pt/icons/FaDesktop_10221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83337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17099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270248" y="2258568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(PC) pour jouer · TikTok, YouTube Shorts, Instagram, X pour faire voir · Twitch et Discord pour fédérer.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035808"/>
            <a:ext cx="3291840" cy="1389888"/>
          </a:xfrm>
          <a:prstGeom prst="roundRect">
            <a:avLst>
              <a:gd name="adj" fmla="val 6579"/>
            </a:avLst>
          </a:prstGeom>
          <a:solidFill>
            <a:srgbClr val="1D3A2B"/>
          </a:solidFill>
          <a:ln/>
        </p:spPr>
      </p:sp>
      <p:sp>
        <p:nvSpPr>
          <p:cNvPr id="16" name="Shape 12"/>
          <p:cNvSpPr/>
          <p:nvPr/>
        </p:nvSpPr>
        <p:spPr>
          <a:xfrm>
            <a:off x="749808" y="3218688"/>
            <a:ext cx="566928" cy="566928"/>
          </a:xfrm>
          <a:prstGeom prst="ellipse">
            <a:avLst/>
          </a:prstGeom>
          <a:solidFill>
            <a:srgbClr val="00B85C"/>
          </a:solidFill>
          <a:ln/>
        </p:spPr>
      </p:sp>
      <p:pic>
        <p:nvPicPr>
          <p:cNvPr id="17" name="Image 2" descr="/tmp/claude-0/-home-user-SOCIO/dd1a12ff-0491-58c5-8c13-7e8ef7d55990/scratchpad/pt/icons/FaCalendarDays_10221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360420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23697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749808" y="3785616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semaines : 6 avant la démo, la semaine du Steam Next Fest, 5 après.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2560320" y="3145536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FFC62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069080" y="3035808"/>
            <a:ext cx="3291840" cy="1389888"/>
          </a:xfrm>
          <a:prstGeom prst="roundRect">
            <a:avLst>
              <a:gd name="adj" fmla="val 6579"/>
            </a:avLst>
          </a:prstGeom>
          <a:solidFill>
            <a:srgbClr val="1D3A2B"/>
          </a:solidFill>
          <a:ln/>
        </p:spPr>
      </p:sp>
      <p:sp>
        <p:nvSpPr>
          <p:cNvPr id="22" name="Shape 17"/>
          <p:cNvSpPr/>
          <p:nvPr/>
        </p:nvSpPr>
        <p:spPr>
          <a:xfrm>
            <a:off x="4270248" y="3218688"/>
            <a:ext cx="566928" cy="566928"/>
          </a:xfrm>
          <a:prstGeom prst="ellipse">
            <a:avLst/>
          </a:prstGeom>
          <a:solidFill>
            <a:srgbClr val="00B85C"/>
          </a:solidFill>
          <a:ln/>
        </p:spPr>
      </p:sp>
      <p:pic>
        <p:nvPicPr>
          <p:cNvPr id="23" name="Image 3" descr="/tmp/claude-0/-home-user-SOCIO/dd1a12ff-0491-58c5-8c13-7e8ef7d55990/scratchpad/pt/icons/FaCropSimple_10221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3360420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83480" y="323697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4270248" y="3785616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Bande-annonce 16:9 (60-90 s) · clips 9:16 (15-30 s) · affiches 2:3 · capsules Steam 920×430, 1232×706, 748×896.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4562856"/>
            <a:ext cx="3291840" cy="1389888"/>
          </a:xfrm>
          <a:prstGeom prst="roundRect">
            <a:avLst>
              <a:gd name="adj" fmla="val 6579"/>
            </a:avLst>
          </a:prstGeom>
          <a:solidFill>
            <a:srgbClr val="1D3A2B"/>
          </a:solidFill>
          <a:ln/>
        </p:spPr>
      </p:sp>
      <p:sp>
        <p:nvSpPr>
          <p:cNvPr id="27" name="Shape 21"/>
          <p:cNvSpPr/>
          <p:nvPr/>
        </p:nvSpPr>
        <p:spPr>
          <a:xfrm>
            <a:off x="749808" y="4745736"/>
            <a:ext cx="566928" cy="566928"/>
          </a:xfrm>
          <a:prstGeom prst="ellipse">
            <a:avLst/>
          </a:prstGeom>
          <a:solidFill>
            <a:srgbClr val="00B85C"/>
          </a:solidFill>
          <a:ln/>
        </p:spPr>
      </p:sp>
      <p:pic>
        <p:nvPicPr>
          <p:cNvPr id="28" name="Image 4" descr="/tmp/claude-0/-home-user-SOCIO/dd1a12ff-0491-58c5-8c13-7e8ef7d55990/scratchpad/pt/icons/FaHandshake_10221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887468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63040" y="476402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Prestataires</a:t>
            </a:r>
            <a:endParaRPr lang="en-US" sz="1900" dirty="0"/>
          </a:p>
        </p:txBody>
      </p:sp>
      <p:sp>
        <p:nvSpPr>
          <p:cNvPr id="30" name="Text 23"/>
          <p:cNvSpPr/>
          <p:nvPr/>
        </p:nvSpPr>
        <p:spPr>
          <a:xfrm>
            <a:off x="749808" y="5312664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Monteur / motion designer (bande-annonce, clips) · agence ou freelance pour le sourcing des streamers.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069080" y="4562856"/>
            <a:ext cx="3291840" cy="1389888"/>
          </a:xfrm>
          <a:prstGeom prst="roundRect">
            <a:avLst>
              <a:gd name="adj" fmla="val 6579"/>
            </a:avLst>
          </a:prstGeom>
          <a:solidFill>
            <a:srgbClr val="1D3A2B"/>
          </a:solidFill>
          <a:ln/>
        </p:spPr>
      </p:sp>
      <p:sp>
        <p:nvSpPr>
          <p:cNvPr id="32" name="Shape 25"/>
          <p:cNvSpPr/>
          <p:nvPr/>
        </p:nvSpPr>
        <p:spPr>
          <a:xfrm>
            <a:off x="4270248" y="4745736"/>
            <a:ext cx="566928" cy="566928"/>
          </a:xfrm>
          <a:prstGeom prst="ellipse">
            <a:avLst/>
          </a:prstGeom>
          <a:solidFill>
            <a:srgbClr val="00B85C"/>
          </a:solidFill>
          <a:ln/>
        </p:spPr>
      </p:sp>
      <p:pic>
        <p:nvPicPr>
          <p:cNvPr id="33" name="Image 5" descr="/tmp/claude-0/-home-user-SOCIO/dd1a12ff-0491-58c5-8c13-7e8ef7d55990/scratchpad/pt/icons/FaEuroSign_10221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1980" y="4887468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983480" y="476402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900" dirty="0"/>
          </a:p>
        </p:txBody>
      </p:sp>
      <p:sp>
        <p:nvSpPr>
          <p:cNvPr id="35" name="Text 27"/>
          <p:cNvSpPr/>
          <p:nvPr/>
        </p:nvSpPr>
        <p:spPr>
          <a:xfrm>
            <a:off x="4270248" y="5312664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de 20 k€ : 50 % streamers, 25 % production vidéo, 15 % publicité sociale, 10 % communauté.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6080760" y="4672584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FFC62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548640" y="6035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Steam : </a:t>
            </a:r>
            <a:pPr indent="0" marL="0">
              <a:buNone/>
            </a:pPr>
            <a:r>
              <a:rPr lang="en-US" sz="95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Steamworks, Graphical assets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7726680" y="1508760"/>
            <a:ext cx="3977640" cy="4443984"/>
          </a:xfrm>
          <a:prstGeom prst="roundRect">
            <a:avLst>
              <a:gd name="adj" fmla="val 2759"/>
            </a:avLst>
          </a:prstGeom>
          <a:solidFill>
            <a:srgbClr val="00B85C"/>
          </a:solidFill>
          <a:ln/>
        </p:spPr>
      </p:sp>
      <p:sp>
        <p:nvSpPr>
          <p:cNvPr id="39" name="Text 31"/>
          <p:cNvSpPr/>
          <p:nvPr/>
        </p:nvSpPr>
        <p:spPr>
          <a:xfrm>
            <a:off x="8046720" y="1737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CAMPAGNES DE RÉFÉRENCE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8046720" y="2240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(2025)</a:t>
            </a:r>
            <a:endParaRPr lang="en-US" sz="1800" dirty="0"/>
          </a:p>
        </p:txBody>
      </p:sp>
      <p:sp>
        <p:nvSpPr>
          <p:cNvPr id="41" name="Text 33"/>
          <p:cNvSpPr/>
          <p:nvPr/>
        </p:nvSpPr>
        <p:spPr>
          <a:xfrm>
            <a:off x="8046720" y="26060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« entre amis » porté par les clips de ratés sur TikTok et Discord.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8046720" y="34290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Guys (2020)</a:t>
            </a:r>
            <a:endParaRPr lang="en-US" sz="1800" dirty="0"/>
          </a:p>
        </p:txBody>
      </p:sp>
      <p:sp>
        <p:nvSpPr>
          <p:cNvPr id="43" name="Text 35"/>
          <p:cNvSpPr/>
          <p:nvPr/>
        </p:nvSpPr>
        <p:spPr>
          <a:xfrm>
            <a:off x="8046720" y="37947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streamers qui jouent ensemble dans la même partie, en direct.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8046720" y="4617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Story</a:t>
            </a:r>
            <a:endParaRPr lang="en-US" sz="1800" dirty="0"/>
          </a:p>
        </p:txBody>
      </p:sp>
      <p:sp>
        <p:nvSpPr>
          <p:cNvPr id="45" name="Text 37"/>
          <p:cNvSpPr/>
          <p:nvPr/>
        </p:nvSpPr>
        <p:spPr>
          <a:xfrm>
            <a:off x="8046720" y="49834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référence d’univers : des jouets expressifs qui vivent quand on ne les regarde pas.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équipe “Pixel Toys” - ANTONIO Noé - BEFFY Martin - CHAUVIN Lucas - ROUAY--ANTOINE Manau - REY Nathan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déroulé : avant, pendant, après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phase réutilise les livrables de la slide précédente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0B85C"/>
          </a:solidFill>
          <a:ln/>
        </p:spPr>
      </p:sp>
      <p:pic>
        <p:nvPicPr>
          <p:cNvPr id="6" name="Image 0" descr="/tmp/claude-0/-home-user-SOCIO/dd1a12ff-0491-58c5-8c13-7e8ef7d55990/scratchpad/pt/icons/FaEye_1022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8973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S-6 → S-1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4FAF6"/>
          </a:solidFill>
          <a:ln w="12700">
            <a:solidFill>
              <a:srgbClr val="D5EE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651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Éveiller la curiosité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77240" y="315468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 : « Quelque chose bouge dans la chambre… »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Steam ouverte aux listes de souhaits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clip vertical par semaine (un jouet, un mini-jeu)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ouvert, première Toy Night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streamers envoyé à S-2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5532120"/>
            <a:ext cx="3154680" cy="0"/>
          </a:xfrm>
          <a:prstGeom prst="line">
            <a:avLst/>
          </a:prstGeom>
          <a:noFill/>
          <a:ln w="9525">
            <a:solidFill>
              <a:srgbClr val="D5EE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55961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MESURE  </a:t>
            </a:r>
            <a:pPr indent="0" marL="0">
              <a:buNone/>
            </a:pPr>
            <a:r>
              <a:rPr lang="en-US" sz="11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de souhaits, abonnés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1783080"/>
            <a:ext cx="457200" cy="457200"/>
          </a:xfrm>
          <a:prstGeom prst="ellipse">
            <a:avLst/>
          </a:prstGeom>
          <a:solidFill>
            <a:srgbClr val="00B85C"/>
          </a:solidFill>
          <a:ln/>
        </p:spPr>
      </p:sp>
      <p:pic>
        <p:nvPicPr>
          <p:cNvPr id="14" name="Image 1" descr="/tmp/claude-0/-home-user-SOCIO/dd1a12ff-0491-58c5-8c13-7e8ef7d55990/scratchpad/pt/icons/FaRocket_10221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189738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9204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J</a:t>
            </a:r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Steam Next Fest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325112" y="246888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10221A"/>
          </a:solidFill>
          <a:ln w="12700">
            <a:solidFill>
              <a:srgbClr val="10221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53712" y="2651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jouer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553712" y="315468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Bande-annonce de lancement de la démo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streamers dans la même partie, en direct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Affiches Racing, KOTH et Only Up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multijoueur : « l’enfant arrive »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53712" y="5532120"/>
            <a:ext cx="3154680" cy="0"/>
          </a:xfrm>
          <a:prstGeom prst="line">
            <a:avLst/>
          </a:prstGeom>
          <a:noFill/>
          <a:ln w="9525">
            <a:solidFill>
              <a:srgbClr val="2E514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53712" y="55961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MESURE  </a:t>
            </a:r>
            <a:pPr indent="0" marL="0">
              <a:buNone/>
            </a:pPr>
            <a:r>
              <a:rPr lang="en-US" sz="11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 de la démo, pics de spectateurs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01584" y="1783080"/>
            <a:ext cx="457200" cy="457200"/>
          </a:xfrm>
          <a:prstGeom prst="ellipse">
            <a:avLst/>
          </a:prstGeom>
          <a:solidFill>
            <a:srgbClr val="00B85C"/>
          </a:solidFill>
          <a:ln/>
        </p:spPr>
      </p:sp>
      <p:pic>
        <p:nvPicPr>
          <p:cNvPr id="22" name="Image 2" descr="/tmp/claude-0/-home-user-SOCIO/dd1a12ff-0491-58c5-8c13-7e8ef7d55990/scratchpad/pt/icons/FaTrophy_10221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884" y="189738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68512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S+1 → S+5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101584" y="246888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4FAF6"/>
          </a:solidFill>
          <a:ln w="12700">
            <a:solidFill>
              <a:srgbClr val="D5EED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30184" y="2651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rester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8330184" y="315468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Concours « la plus belle chambre » (captures)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de la communauté pour le prochain mini-jeu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 des clips de la semaine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de la date d’accès anticipé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330184" y="5532120"/>
            <a:ext cx="3154680" cy="0"/>
          </a:xfrm>
          <a:prstGeom prst="line">
            <a:avLst/>
          </a:prstGeom>
          <a:noFill/>
          <a:ln w="9525">
            <a:solidFill>
              <a:srgbClr val="D5EED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330184" y="55961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MESURE  </a:t>
            </a:r>
            <a:pPr indent="0" marL="0">
              <a:buNone/>
            </a:pPr>
            <a:r>
              <a:rPr lang="en-US" sz="11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Discord actifs, contenus créés par les joueurs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F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équipe “Pixel Toys” - ANTONIO Noé - BEFFY Martin - CHAUVIN Lucas - ROUAY--ANTOINE Manau - REY Nathan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streamers &amp; kit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attentes du brief : qui faire jouer, et avec quels outils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faire jouer 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760720" cy="1078992"/>
          </a:xfrm>
          <a:prstGeom prst="roundRect">
            <a:avLst>
              <a:gd name="adj" fmla="val 6780"/>
            </a:avLst>
          </a:prstGeom>
          <a:solidFill>
            <a:srgbClr val="1D3A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21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 – 50 k abonnés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2103120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d’amis qui streament déjà Fall Guys, Peak ou R.E.P.O. ensemble. Le cœur du dispositif.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57800" y="2103120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vingtaine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18688"/>
            <a:ext cx="5760720" cy="1078992"/>
          </a:xfrm>
          <a:prstGeom prst="roundRect">
            <a:avLst>
              <a:gd name="adj" fmla="val 6780"/>
            </a:avLst>
          </a:prstGeom>
          <a:solidFill>
            <a:srgbClr val="1D3A2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284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36941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k – 500 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310128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Créateurs « soirée entre potes » : ils font les clips qui circulent sur TikTok.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57800" y="3310128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à 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5760720" cy="1078992"/>
          </a:xfrm>
          <a:prstGeom prst="roundRect">
            <a:avLst>
              <a:gd name="adj" fmla="val 6780"/>
            </a:avLst>
          </a:prstGeom>
          <a:solidFill>
            <a:srgbClr val="1D3A2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354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Tête d’affiche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49011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500 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4517136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seule, pour réunir les 10 streamers dans la partie du Jour J.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57800" y="4517136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: audience 15-30 ans francophone · joue déjà en groupe · ton bienveillant (PEGI) · taux d’engagement plutôt que nombre d’abonnés.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29400" y="1508760"/>
            <a:ext cx="5074920" cy="4754880"/>
          </a:xfrm>
          <a:prstGeom prst="roundRect">
            <a:avLst>
              <a:gd name="adj" fmla="val 2308"/>
            </a:avLst>
          </a:prstGeom>
          <a:solidFill>
            <a:srgbClr val="00B85C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6916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DU KIT STREAMERS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194560"/>
            <a:ext cx="548640" cy="548640"/>
          </a:xfrm>
          <a:prstGeom prst="ellipse">
            <a:avLst/>
          </a:prstGeom>
          <a:solidFill>
            <a:srgbClr val="10221A"/>
          </a:solidFill>
          <a:ln/>
        </p:spPr>
      </p:sp>
      <p:pic>
        <p:nvPicPr>
          <p:cNvPr id="25" name="Image 0" descr="/tmp/claude-0/-home-user-SOCIO/dd1a12ff-0491-58c5-8c13-7e8ef7d55990/scratchpad/pt/icons/FaTicket_00B8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33172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680960" y="214884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clés de démo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tout son groupe d’amis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949440" y="2980944"/>
            <a:ext cx="548640" cy="548640"/>
          </a:xfrm>
          <a:prstGeom prst="ellipse">
            <a:avLst/>
          </a:prstGeom>
          <a:solidFill>
            <a:srgbClr val="10221A"/>
          </a:solidFill>
          <a:ln/>
        </p:spPr>
      </p:sp>
      <p:pic>
        <p:nvPicPr>
          <p:cNvPr id="28" name="Image 1" descr="/tmp/claude-0/-home-user-SOCIO/dd1a12ff-0491-58c5-8c13-7e8ef7d55990/scratchpad/pt/icons/FaChildReaching_00B8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118104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680960" y="293522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« l’enfant 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chat déclenche le chaos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949440" y="3767328"/>
            <a:ext cx="548640" cy="548640"/>
          </a:xfrm>
          <a:prstGeom prst="ellipse">
            <a:avLst/>
          </a:prstGeom>
          <a:solidFill>
            <a:srgbClr val="10221A"/>
          </a:solidFill>
          <a:ln/>
        </p:spPr>
      </p:sp>
      <p:pic>
        <p:nvPicPr>
          <p:cNvPr id="31" name="Image 2" descr="/tmp/claude-0/-home-user-SOCIO/dd1a12ff-0491-58c5-8c13-7e8ef7d55990/scratchpad/pt/icons/FaPalette_00B8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904488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680960" y="372160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&amp; alertes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couleurs du tapis de ville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6949440" y="4553712"/>
            <a:ext cx="548640" cy="548640"/>
          </a:xfrm>
          <a:prstGeom prst="ellipse">
            <a:avLst/>
          </a:prstGeom>
          <a:solidFill>
            <a:srgbClr val="10221A"/>
          </a:solidFill>
          <a:ln/>
        </p:spPr>
      </p:sp>
      <p:pic>
        <p:nvPicPr>
          <p:cNvPr id="34" name="Image 3" descr="/tmp/claude-0/-home-user-SOCIO/dd1a12ff-0491-58c5-8c13-7e8ef7d55990/scratchpad/pt/icons/FaImage_00B8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4690872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680960" y="450799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key art, affiches, musique libre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6949440" y="5340096"/>
            <a:ext cx="548640" cy="548640"/>
          </a:xfrm>
          <a:prstGeom prst="ellipse">
            <a:avLst/>
          </a:prstGeom>
          <a:solidFill>
            <a:srgbClr val="10221A"/>
          </a:solidFill>
          <a:ln/>
        </p:spPr>
      </p:sp>
      <p:pic>
        <p:nvPicPr>
          <p:cNvPr id="37" name="Image 4" descr="/tmp/claude-0/-home-user-SOCIO/dd1a12ff-0491-58c5-8c13-7e8ef7d55990/scratchpad/pt/icons/FaListCheck_00B85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5477256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680960" y="52943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 / à éviter, calendrier, # à utiliser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équipe “Pixel Toys” - ANTONIO Noé - BEFFY Martin - CHAUVIN Lucas - ROUAY--ANTOINE Manau - REY Nathan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 de couleur : le tapis de ville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pastilles de la palette, précisées en HEX avec un rôle chacune</a:t>
            </a:r>
            <a:endParaRPr lang="en-US" sz="1400" dirty="0"/>
          </a:p>
        </p:txBody>
      </p:sp>
      <p:pic>
        <p:nvPicPr>
          <p:cNvPr id="5" name="Image 0" descr="/tmp/claude-0/-home-user-SOCIO/dd1a12ff-0491-58c5-8c13-7e8ef7d55990/scratchpad/pt/ex/p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331720" cy="2331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l’image du tapis (moodboard), le gris des routes couvre environ un tiers de la surface et les verts environ un sixième : ils deviennent la base, les couleurs vives des jouets restent des touches.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200400" y="1600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0" y="187452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00B85C"/>
          </a:solidFill>
          <a:ln w="12700">
            <a:solidFill>
              <a:srgbClr val="00B8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19659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337560" y="30632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#00B85C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0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jouet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0" y="38404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Titres, boutons, appels à l’action, logo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45152" y="1600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SECONDAIRE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45152" y="187452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10221A"/>
          </a:solidFill>
          <a:ln w="12700">
            <a:solidFill>
              <a:srgbClr val="1022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82312" y="19659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82312" y="30632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#10221A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45152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nuit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645152" y="38404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sombres, textes sur couleur vive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089904" y="1600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SECONDAIRE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89904" y="187452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4A4F55"/>
          </a:solidFill>
          <a:ln w="12700">
            <a:solidFill>
              <a:srgbClr val="4A4F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27064" y="19659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227064" y="30632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#4A4F55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89904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asphalte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089904" y="38404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cadres, interface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534656" y="1600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534656" y="187452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E8423A"/>
          </a:solidFill>
          <a:ln w="12700">
            <a:solidFill>
              <a:srgbClr val="E842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71816" y="19659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7671816" y="30632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#E8423A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534656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Racing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534656" y="38404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Mini-jeu Racing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979408" y="1600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979408" y="187452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16568" y="19659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9116568" y="30632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#FFC629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979408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 KOTH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979408" y="38404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Mini-jeu King of the Hill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10424160" y="1600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10424160" y="187452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3C8DDE"/>
          </a:solidFill>
          <a:ln w="12700">
            <a:solidFill>
              <a:srgbClr val="3C8DD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561320" y="19659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10561320" y="30632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#3C8DDE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424160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Only Up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0424160" y="38404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Mini-jeu Only Up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3200400" y="4617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 DOSAGE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200400" y="4910328"/>
            <a:ext cx="5129784" cy="384048"/>
          </a:xfrm>
          <a:prstGeom prst="rect">
            <a:avLst/>
          </a:prstGeom>
          <a:solidFill>
            <a:srgbClr val="10221A"/>
          </a:solidFill>
          <a:ln/>
        </p:spPr>
      </p:sp>
      <p:sp>
        <p:nvSpPr>
          <p:cNvPr id="45" name="Text 42"/>
          <p:cNvSpPr/>
          <p:nvPr/>
        </p:nvSpPr>
        <p:spPr>
          <a:xfrm>
            <a:off x="3291840" y="4910328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fonds : vert nuit / blanc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330184" y="4910328"/>
            <a:ext cx="2564892" cy="384048"/>
          </a:xfrm>
          <a:prstGeom prst="rect">
            <a:avLst/>
          </a:prstGeom>
          <a:solidFill>
            <a:srgbClr val="00B85C"/>
          </a:solidFill>
          <a:ln/>
        </p:spPr>
      </p:sp>
      <p:sp>
        <p:nvSpPr>
          <p:cNvPr id="47" name="Text 44"/>
          <p:cNvSpPr/>
          <p:nvPr/>
        </p:nvSpPr>
        <p:spPr>
          <a:xfrm>
            <a:off x="8421624" y="4910328"/>
            <a:ext cx="247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 vert jouet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10895076" y="4910328"/>
            <a:ext cx="854964" cy="384048"/>
          </a:xfrm>
          <a:prstGeom prst="rect">
            <a:avLst/>
          </a:prstGeom>
          <a:solidFill>
            <a:srgbClr val="E8423A"/>
          </a:solidFill>
          <a:ln/>
        </p:spPr>
      </p:sp>
      <p:sp>
        <p:nvSpPr>
          <p:cNvPr id="49" name="Text 46"/>
          <p:cNvSpPr/>
          <p:nvPr/>
        </p:nvSpPr>
        <p:spPr>
          <a:xfrm>
            <a:off x="10986516" y="4910328"/>
            <a:ext cx="763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 accent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3200400" y="5440680"/>
            <a:ext cx="8549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couleur d’accent par mini-jeu, jamais deux sur le même visuel. </a:t>
            </a:r>
            <a:pPr indent="0" marL="0">
              <a:buNone/>
            </a:pPr>
            <a:r>
              <a:rPr lang="en-US" sz="11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foncé (#10221A) sur vert, jaune, bleu et rouge : le blanc n’y atteint pas le contraste minimal (2,6 : 1 sur le vert, 1,6 : 1 sur le jaune) ; le vert nuit y dépasse 4 : 1. </a:t>
            </a:r>
            <a:pPr indent="0" marL="0">
              <a:buNone/>
            </a:pPr>
            <a:r>
              <a:rPr lang="en-US" sz="110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WCAG 2.1, critère 1.4.3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10561320" y="45720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FFC62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F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équipe “Pixel Toys” - ANTONIO Noé - BEFFY Martin - CHAUVIN Lucas - ROUAY--ANTOINE Manau - REY Nathan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Déclinaison : une couleur par mini-jeu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grille, trois accents : on reconnaît le mini-jeu avant de lire son nom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331720" cy="3493008"/>
          </a:xfrm>
          <a:prstGeom prst="rect">
            <a:avLst/>
          </a:prstGeom>
          <a:solidFill>
            <a:srgbClr val="E8423A"/>
          </a:solidFill>
          <a:ln/>
        </p:spPr>
      </p:sp>
      <p:pic>
        <p:nvPicPr>
          <p:cNvPr id="6" name="Image 0" descr="/tmp/claude-0/-home-user-SOCIO/dd1a12ff-0491-58c5-8c13-7e8ef7d55990/scratchpad/pt/ex/p-0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91640"/>
            <a:ext cx="20574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611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TOYS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3858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2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RACING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4370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 voitures sur les routes du tapis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120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2:3 · #E8423A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54680" y="1554480"/>
            <a:ext cx="2331720" cy="3493008"/>
          </a:xfrm>
          <a:prstGeom prst="rect">
            <a:avLst/>
          </a:prstGeom>
          <a:solidFill>
            <a:srgbClr val="FFC629"/>
          </a:solidFill>
          <a:ln/>
        </p:spPr>
      </p:sp>
      <p:pic>
        <p:nvPicPr>
          <p:cNvPr id="12" name="Image 1" descr="/tmp/claude-0/-home-user-SOCIO/dd1a12ff-0491-58c5-8c13-7e8ef7d55990/scratchpad/pt/ex/p-01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691640"/>
            <a:ext cx="2057400" cy="1828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3611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TOYS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291840" y="3858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2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KING OF THE HILL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291840" y="4370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le sommet le plus longtemps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154680" y="5120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2:3 · #FFC629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760720" y="1554480"/>
            <a:ext cx="2331720" cy="3493008"/>
          </a:xfrm>
          <a:prstGeom prst="rect">
            <a:avLst/>
          </a:prstGeom>
          <a:solidFill>
            <a:srgbClr val="3C8DDE"/>
          </a:solidFill>
          <a:ln/>
        </p:spPr>
      </p:sp>
      <p:pic>
        <p:nvPicPr>
          <p:cNvPr id="18" name="Image 2" descr="/tmp/claude-0/-home-user-SOCIO/dd1a12ff-0491-58c5-8c13-7e8ef7d55990/scratchpad/pt/ex/p-01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97880" y="1691640"/>
            <a:ext cx="2057400" cy="1828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97880" y="3611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TOYS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897880" y="3858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2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ONLY UP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897880" y="4370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Grimper toujours plus haut dans la chambre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760720" y="5120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2:3 · #3C8DDE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503920" y="1554480"/>
            <a:ext cx="1600200" cy="2844800"/>
          </a:xfrm>
          <a:prstGeom prst="roundRect">
            <a:avLst>
              <a:gd name="adj" fmla="val 6857"/>
            </a:avLst>
          </a:prstGeom>
          <a:solidFill>
            <a:srgbClr val="10221A"/>
          </a:solidFill>
          <a:ln w="25400">
            <a:solidFill>
              <a:srgbClr val="00B85C"/>
            </a:solidFill>
            <a:prstDash val="solid"/>
          </a:ln>
        </p:spPr>
      </p:sp>
      <p:pic>
        <p:nvPicPr>
          <p:cNvPr id="24" name="Image 3" descr="/tmp/claude-0/-home-user-SOCIO/dd1a12ff-0491-58c5-8c13-7e8ef7d55990/scratchpad/pt/ex/p-01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77072" y="2057400"/>
            <a:ext cx="1453896" cy="1280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95360" y="16642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6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L’ENFANT ARRIVE…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595360" y="3429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joueurs, 1 tapis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668512" y="3850640"/>
            <a:ext cx="1271016" cy="329184"/>
          </a:xfrm>
          <a:prstGeom prst="roundRect">
            <a:avLst>
              <a:gd name="adj" fmla="val 22222"/>
            </a:avLst>
          </a:prstGeom>
          <a:solidFill>
            <a:srgbClr val="00B8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à ma liste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503920" y="4472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TikTok 9:16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1033272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 Steam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10332720" y="1847088"/>
            <a:ext cx="1371600" cy="641074"/>
          </a:xfrm>
          <a:prstGeom prst="rect">
            <a:avLst/>
          </a:prstGeom>
          <a:solidFill>
            <a:srgbClr val="00B85C"/>
          </a:solidFill>
          <a:ln/>
        </p:spPr>
      </p:sp>
      <p:sp>
        <p:nvSpPr>
          <p:cNvPr id="31" name="Text 25"/>
          <p:cNvSpPr/>
          <p:nvPr/>
        </p:nvSpPr>
        <p:spPr>
          <a:xfrm>
            <a:off x="10332720" y="1847088"/>
            <a:ext cx="1371600" cy="641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2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 TOYS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0332720" y="2578608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920×430 : le vert primaire, sans accent, pour rester lisible en vignette.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48640" y="5532120"/>
            <a:ext cx="11155680" cy="685800"/>
          </a:xfrm>
          <a:prstGeom prst="roundRect">
            <a:avLst>
              <a:gd name="adj" fmla="val 13333"/>
            </a:avLst>
          </a:prstGeom>
          <a:solidFill>
            <a:srgbClr val="1D3A2B"/>
          </a:solidFill>
          <a:ln/>
        </p:spPr>
      </p:sp>
      <p:sp>
        <p:nvSpPr>
          <p:cNvPr id="34" name="Text 28"/>
          <p:cNvSpPr/>
          <p:nvPr/>
        </p:nvSpPr>
        <p:spPr>
          <a:xfrm>
            <a:off x="777240" y="55321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TRANCHER EN ÉQUIPE  </a:t>
            </a:r>
            <a:pPr indent="0" marL="0">
              <a:buNone/>
            </a:pPr>
            <a:r>
              <a:rPr lang="en-US" sz="125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teintes exactes (à caler sur les textures du jeu), la typographie du style guide (Super Starfish / Poppins / Grandstander) et les visuels : captures provisoires, l’image Only Up vient du moodboard et sera remplacée par une capture du jeu.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Party Toys – Brief créatif (suite)</dc:title>
  <dc:subject>PptxGenJS Presentation</dc:subject>
  <dc:creator>PptxGenJS</dc:creator>
  <cp:lastModifiedBy>PptxGenJS</cp:lastModifiedBy>
  <cp:revision>1</cp:revision>
  <dcterms:created xsi:type="dcterms:W3CDTF">2026-10-09T09:01:42Z</dcterms:created>
  <dcterms:modified xsi:type="dcterms:W3CDTF">2026-10-09T09:01:42Z</dcterms:modified>
</cp:coreProperties>
</file>