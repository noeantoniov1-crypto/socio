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store.steampowered.com/app/1097150/" TargetMode="External"/><Relationship Id="rId9" Type="http://schemas.openxmlformats.org/officeDocument/2006/relationships/hyperlink" Target="https://store.steampowered.com/app/1677740/" TargetMode="External"/><Relationship Id="rId10" Type="http://schemas.openxmlformats.org/officeDocument/2006/relationships/hyperlink" Target="https://store.steampowered.com/app/1782210/" TargetMode="External"/><Relationship Id="rId11" Type="http://schemas.openxmlformats.org/officeDocument/2006/relationships/hyperlink" Target="https://store.steampowered.com/app/386940/" TargetMode="External"/><Relationship Id="rId12" Type="http://schemas.openxmlformats.org/officeDocument/2006/relationships/hyperlink" Target="https://store.steampowered.com/app/1260320/" TargetMode="External"/><Relationship Id="rId13" Type="http://schemas.openxmlformats.org/officeDocument/2006/relationships/hyperlink" Target="https://store.steampowered.com/app/285900/" TargetMode="External"/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2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quelles couleurs notre cible est habituée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party games qu’elle connaît, avec les couleurs dominantes mesurées sur chaque capture officielle</a:t>
            </a:r>
            <a:endParaRPr lang="en-US" sz="1400" dirty="0"/>
          </a:p>
        </p:txBody>
      </p:sp>
      <p:pic>
        <p:nvPicPr>
          <p:cNvPr id="4" name="Image 0" descr="/tmp/claude-0/-home-user-SOCIO/dd1a12ff-0491-58c5-8c13-7e8ef7d55990/scratchpad/pt/games/1097150_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2395728" cy="13475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865501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Guys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167128" y="2883789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E6F6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sat. 57 %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3194685"/>
            <a:ext cx="742676" cy="219456"/>
          </a:xfrm>
          <a:prstGeom prst="rect">
            <a:avLst/>
          </a:prstGeom>
          <a:solidFill>
            <a:srgbClr val="A7D25E"/>
          </a:solidFill>
          <a:ln/>
        </p:spPr>
      </p:sp>
      <p:sp>
        <p:nvSpPr>
          <p:cNvPr id="8" name="Shape 5"/>
          <p:cNvSpPr/>
          <p:nvPr/>
        </p:nvSpPr>
        <p:spPr>
          <a:xfrm>
            <a:off x="1291316" y="3194685"/>
            <a:ext cx="598932" cy="219456"/>
          </a:xfrm>
          <a:prstGeom prst="rect">
            <a:avLst/>
          </a:prstGeom>
          <a:solidFill>
            <a:srgbClr val="04AEEE"/>
          </a:solidFill>
          <a:ln/>
        </p:spPr>
      </p:sp>
      <p:sp>
        <p:nvSpPr>
          <p:cNvPr id="9" name="Shape 6"/>
          <p:cNvSpPr/>
          <p:nvPr/>
        </p:nvSpPr>
        <p:spPr>
          <a:xfrm>
            <a:off x="1890248" y="3194685"/>
            <a:ext cx="551017" cy="219456"/>
          </a:xfrm>
          <a:prstGeom prst="rect">
            <a:avLst/>
          </a:prstGeom>
          <a:solidFill>
            <a:srgbClr val="DBE9EC"/>
          </a:solidFill>
          <a:ln/>
        </p:spPr>
      </p:sp>
      <p:sp>
        <p:nvSpPr>
          <p:cNvPr id="10" name="Shape 7"/>
          <p:cNvSpPr/>
          <p:nvPr/>
        </p:nvSpPr>
        <p:spPr>
          <a:xfrm>
            <a:off x="2441265" y="3194685"/>
            <a:ext cx="239573" cy="219456"/>
          </a:xfrm>
          <a:prstGeom prst="rect">
            <a:avLst/>
          </a:prstGeom>
          <a:solidFill>
            <a:srgbClr val="D05282"/>
          </a:solidFill>
          <a:ln/>
        </p:spPr>
      </p:sp>
      <p:sp>
        <p:nvSpPr>
          <p:cNvPr id="11" name="Shape 8"/>
          <p:cNvSpPr/>
          <p:nvPr/>
        </p:nvSpPr>
        <p:spPr>
          <a:xfrm>
            <a:off x="2680838" y="3194685"/>
            <a:ext cx="143744" cy="219456"/>
          </a:xfrm>
          <a:prstGeom prst="rect">
            <a:avLst/>
          </a:prstGeom>
          <a:solidFill>
            <a:srgbClr val="7BABC0"/>
          </a:solidFill>
          <a:ln/>
        </p:spPr>
      </p:sp>
      <p:sp>
        <p:nvSpPr>
          <p:cNvPr id="12" name="Shape 9"/>
          <p:cNvSpPr/>
          <p:nvPr/>
        </p:nvSpPr>
        <p:spPr>
          <a:xfrm>
            <a:off x="2824582" y="3194685"/>
            <a:ext cx="119786" cy="219456"/>
          </a:xfrm>
          <a:prstGeom prst="rect">
            <a:avLst/>
          </a:prstGeom>
          <a:solidFill>
            <a:srgbClr val="195A87"/>
          </a:solidFill>
          <a:ln/>
        </p:spPr>
      </p:sp>
      <p:pic>
        <p:nvPicPr>
          <p:cNvPr id="13" name="Image 1" descr="/tmp/claude-0/-home-user-SOCIO/dd1a12ff-0491-58c5-8c13-7e8ef7d55990/scratchpad/pt/games/1677740_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08960" y="1463040"/>
            <a:ext cx="2395728" cy="134759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08960" y="2865501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Stumble Guys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27448" y="2883789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E6F6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sat. 75 %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108960" y="3194685"/>
            <a:ext cx="1137366" cy="219456"/>
          </a:xfrm>
          <a:prstGeom prst="rect">
            <a:avLst/>
          </a:prstGeom>
          <a:solidFill>
            <a:srgbClr val="F9A93C"/>
          </a:solidFill>
          <a:ln/>
        </p:spPr>
      </p:sp>
      <p:sp>
        <p:nvSpPr>
          <p:cNvPr id="17" name="Shape 13"/>
          <p:cNvSpPr/>
          <p:nvPr/>
        </p:nvSpPr>
        <p:spPr>
          <a:xfrm>
            <a:off x="4246326" y="3194685"/>
            <a:ext cx="556583" cy="219456"/>
          </a:xfrm>
          <a:prstGeom prst="rect">
            <a:avLst/>
          </a:prstGeom>
          <a:solidFill>
            <a:srgbClr val="05E8FC"/>
          </a:solidFill>
          <a:ln/>
        </p:spPr>
      </p:sp>
      <p:sp>
        <p:nvSpPr>
          <p:cNvPr id="18" name="Shape 14"/>
          <p:cNvSpPr/>
          <p:nvPr/>
        </p:nvSpPr>
        <p:spPr>
          <a:xfrm>
            <a:off x="4802909" y="3194685"/>
            <a:ext cx="290391" cy="219456"/>
          </a:xfrm>
          <a:prstGeom prst="rect">
            <a:avLst/>
          </a:prstGeom>
          <a:solidFill>
            <a:srgbClr val="C76D1F"/>
          </a:solidFill>
          <a:ln/>
        </p:spPr>
      </p:sp>
      <p:sp>
        <p:nvSpPr>
          <p:cNvPr id="19" name="Shape 15"/>
          <p:cNvSpPr/>
          <p:nvPr/>
        </p:nvSpPr>
        <p:spPr>
          <a:xfrm>
            <a:off x="5093300" y="3194685"/>
            <a:ext cx="145196" cy="219456"/>
          </a:xfrm>
          <a:prstGeom prst="rect">
            <a:avLst/>
          </a:prstGeom>
          <a:solidFill>
            <a:srgbClr val="919B78"/>
          </a:solidFill>
          <a:ln/>
        </p:spPr>
      </p:sp>
      <p:sp>
        <p:nvSpPr>
          <p:cNvPr id="20" name="Shape 16"/>
          <p:cNvSpPr/>
          <p:nvPr/>
        </p:nvSpPr>
        <p:spPr>
          <a:xfrm>
            <a:off x="5238496" y="3194685"/>
            <a:ext cx="145196" cy="219456"/>
          </a:xfrm>
          <a:prstGeom prst="rect">
            <a:avLst/>
          </a:prstGeom>
          <a:solidFill>
            <a:srgbClr val="52D1D6"/>
          </a:solidFill>
          <a:ln/>
        </p:spPr>
      </p:sp>
      <p:sp>
        <p:nvSpPr>
          <p:cNvPr id="21" name="Shape 17"/>
          <p:cNvSpPr/>
          <p:nvPr/>
        </p:nvSpPr>
        <p:spPr>
          <a:xfrm>
            <a:off x="5383692" y="3194685"/>
            <a:ext cx="120996" cy="219456"/>
          </a:xfrm>
          <a:prstGeom prst="rect">
            <a:avLst/>
          </a:prstGeom>
          <a:solidFill>
            <a:srgbClr val="DAE4E7"/>
          </a:solidFill>
          <a:ln/>
        </p:spPr>
      </p:sp>
      <p:pic>
        <p:nvPicPr>
          <p:cNvPr id="22" name="Image 2" descr="/tmp/claude-0/-home-user-SOCIO/dd1a12ff-0491-58c5-8c13-7e8ef7d55990/scratchpad/pt/games/1782210_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0" y="1463040"/>
            <a:ext cx="2395728" cy="134759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669280" y="2865501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Crab Game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287768" y="2883789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E6F6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sat. 66 %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669280" y="3194685"/>
            <a:ext cx="503103" cy="219456"/>
          </a:xfrm>
          <a:prstGeom prst="rect">
            <a:avLst/>
          </a:prstGeom>
          <a:solidFill>
            <a:srgbClr val="537AA4"/>
          </a:solidFill>
          <a:ln/>
        </p:spPr>
      </p:sp>
      <p:sp>
        <p:nvSpPr>
          <p:cNvPr id="26" name="Shape 21"/>
          <p:cNvSpPr/>
          <p:nvPr/>
        </p:nvSpPr>
        <p:spPr>
          <a:xfrm>
            <a:off x="6172383" y="3194685"/>
            <a:ext cx="479146" cy="219456"/>
          </a:xfrm>
          <a:prstGeom prst="rect">
            <a:avLst/>
          </a:prstGeom>
          <a:solidFill>
            <a:srgbClr val="859AAF"/>
          </a:solidFill>
          <a:ln/>
        </p:spPr>
      </p:sp>
      <p:sp>
        <p:nvSpPr>
          <p:cNvPr id="27" name="Shape 22"/>
          <p:cNvSpPr/>
          <p:nvPr/>
        </p:nvSpPr>
        <p:spPr>
          <a:xfrm>
            <a:off x="6651528" y="3194685"/>
            <a:ext cx="455188" cy="219456"/>
          </a:xfrm>
          <a:prstGeom prst="rect">
            <a:avLst/>
          </a:prstGeom>
          <a:solidFill>
            <a:srgbClr val="01BFC7"/>
          </a:solidFill>
          <a:ln/>
        </p:spPr>
      </p:sp>
      <p:sp>
        <p:nvSpPr>
          <p:cNvPr id="28" name="Shape 23"/>
          <p:cNvSpPr/>
          <p:nvPr/>
        </p:nvSpPr>
        <p:spPr>
          <a:xfrm>
            <a:off x="7106717" y="3194685"/>
            <a:ext cx="431231" cy="219456"/>
          </a:xfrm>
          <a:prstGeom prst="rect">
            <a:avLst/>
          </a:prstGeom>
          <a:solidFill>
            <a:srgbClr val="AF5C2B"/>
          </a:solidFill>
          <a:ln/>
        </p:spPr>
      </p:sp>
      <p:sp>
        <p:nvSpPr>
          <p:cNvPr id="29" name="Shape 24"/>
          <p:cNvSpPr/>
          <p:nvPr/>
        </p:nvSpPr>
        <p:spPr>
          <a:xfrm>
            <a:off x="7537948" y="3194685"/>
            <a:ext cx="263530" cy="219456"/>
          </a:xfrm>
          <a:prstGeom prst="rect">
            <a:avLst/>
          </a:prstGeom>
          <a:solidFill>
            <a:srgbClr val="164F68"/>
          </a:solidFill>
          <a:ln/>
        </p:spPr>
      </p:sp>
      <p:sp>
        <p:nvSpPr>
          <p:cNvPr id="30" name="Shape 25"/>
          <p:cNvSpPr/>
          <p:nvPr/>
        </p:nvSpPr>
        <p:spPr>
          <a:xfrm>
            <a:off x="7801478" y="3194685"/>
            <a:ext cx="263530" cy="219456"/>
          </a:xfrm>
          <a:prstGeom prst="rect">
            <a:avLst/>
          </a:prstGeom>
          <a:solidFill>
            <a:srgbClr val="1078A9"/>
          </a:solidFill>
          <a:ln/>
        </p:spPr>
      </p:sp>
      <p:pic>
        <p:nvPicPr>
          <p:cNvPr id="31" name="Image 3" descr="/tmp/claude-0/-home-user-SOCIO/dd1a12ff-0491-58c5-8c13-7e8ef7d55990/scratchpad/pt/games/386940_0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3675888"/>
            <a:ext cx="2395728" cy="134759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8640" y="5078349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Chicken Horse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2167128" y="5096637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0F2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sat. 52 %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548640" y="5407533"/>
            <a:ext cx="1233444" cy="219456"/>
          </a:xfrm>
          <a:prstGeom prst="rect">
            <a:avLst/>
          </a:prstGeom>
          <a:solidFill>
            <a:srgbClr val="84EFD6"/>
          </a:solidFill>
          <a:ln/>
        </p:spPr>
      </p:sp>
      <p:sp>
        <p:nvSpPr>
          <p:cNvPr id="35" name="Shape 29"/>
          <p:cNvSpPr/>
          <p:nvPr/>
        </p:nvSpPr>
        <p:spPr>
          <a:xfrm>
            <a:off x="1782084" y="5407533"/>
            <a:ext cx="308361" cy="219456"/>
          </a:xfrm>
          <a:prstGeom prst="rect">
            <a:avLst/>
          </a:prstGeom>
          <a:solidFill>
            <a:srgbClr val="7BC8FA"/>
          </a:solidFill>
          <a:ln/>
        </p:spPr>
      </p:sp>
      <p:sp>
        <p:nvSpPr>
          <p:cNvPr id="36" name="Shape 30"/>
          <p:cNvSpPr/>
          <p:nvPr/>
        </p:nvSpPr>
        <p:spPr>
          <a:xfrm>
            <a:off x="2090445" y="5407533"/>
            <a:ext cx="308361" cy="219456"/>
          </a:xfrm>
          <a:prstGeom prst="rect">
            <a:avLst/>
          </a:prstGeom>
          <a:solidFill>
            <a:srgbClr val="0986DE"/>
          </a:solidFill>
          <a:ln/>
        </p:spPr>
      </p:sp>
      <p:sp>
        <p:nvSpPr>
          <p:cNvPr id="37" name="Shape 31"/>
          <p:cNvSpPr/>
          <p:nvPr/>
        </p:nvSpPr>
        <p:spPr>
          <a:xfrm>
            <a:off x="2398806" y="5407533"/>
            <a:ext cx="237201" cy="219456"/>
          </a:xfrm>
          <a:prstGeom prst="rect">
            <a:avLst/>
          </a:prstGeom>
          <a:solidFill>
            <a:srgbClr val="989174"/>
          </a:solidFill>
          <a:ln/>
        </p:spPr>
      </p:sp>
      <p:sp>
        <p:nvSpPr>
          <p:cNvPr id="38" name="Shape 32"/>
          <p:cNvSpPr/>
          <p:nvPr/>
        </p:nvSpPr>
        <p:spPr>
          <a:xfrm>
            <a:off x="2636007" y="5407533"/>
            <a:ext cx="213481" cy="219456"/>
          </a:xfrm>
          <a:prstGeom prst="rect">
            <a:avLst/>
          </a:prstGeom>
          <a:solidFill>
            <a:srgbClr val="3D9BE9"/>
          </a:solidFill>
          <a:ln/>
        </p:spPr>
      </p:sp>
      <p:sp>
        <p:nvSpPr>
          <p:cNvPr id="39" name="Shape 33"/>
          <p:cNvSpPr/>
          <p:nvPr/>
        </p:nvSpPr>
        <p:spPr>
          <a:xfrm>
            <a:off x="2849488" y="5407533"/>
            <a:ext cx="94880" cy="219456"/>
          </a:xfrm>
          <a:prstGeom prst="rect">
            <a:avLst/>
          </a:prstGeom>
          <a:solidFill>
            <a:srgbClr val="EBE3E5"/>
          </a:solidFill>
          <a:ln/>
        </p:spPr>
      </p:sp>
      <p:pic>
        <p:nvPicPr>
          <p:cNvPr id="40" name="Image 4" descr="/tmp/claude-0/-home-user-SOCIO/dd1a12ff-0491-58c5-8c13-7e8ef7d55990/scratchpad/pt/games/1260320_0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108960" y="3675888"/>
            <a:ext cx="2395728" cy="1347597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108960" y="5078349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Animals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4727448" y="5096637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0F2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sat. 26 %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3108960" y="5407533"/>
            <a:ext cx="790590" cy="219456"/>
          </a:xfrm>
          <a:prstGeom prst="rect">
            <a:avLst/>
          </a:prstGeom>
          <a:solidFill>
            <a:srgbClr val="656F61"/>
          </a:solidFill>
          <a:ln/>
        </p:spPr>
      </p:sp>
      <p:sp>
        <p:nvSpPr>
          <p:cNvPr id="44" name="Shape 37"/>
          <p:cNvSpPr/>
          <p:nvPr/>
        </p:nvSpPr>
        <p:spPr>
          <a:xfrm>
            <a:off x="3899550" y="5407533"/>
            <a:ext cx="431231" cy="219456"/>
          </a:xfrm>
          <a:prstGeom prst="rect">
            <a:avLst/>
          </a:prstGeom>
          <a:solidFill>
            <a:srgbClr val="474E40"/>
          </a:solidFill>
          <a:ln/>
        </p:spPr>
      </p:sp>
      <p:sp>
        <p:nvSpPr>
          <p:cNvPr id="45" name="Shape 38"/>
          <p:cNvSpPr/>
          <p:nvPr/>
        </p:nvSpPr>
        <p:spPr>
          <a:xfrm>
            <a:off x="4330781" y="5407533"/>
            <a:ext cx="407274" cy="219456"/>
          </a:xfrm>
          <a:prstGeom prst="rect">
            <a:avLst/>
          </a:prstGeom>
          <a:solidFill>
            <a:srgbClr val="7F8488"/>
          </a:solidFill>
          <a:ln/>
        </p:spPr>
      </p:sp>
      <p:sp>
        <p:nvSpPr>
          <p:cNvPr id="46" name="Shape 39"/>
          <p:cNvSpPr/>
          <p:nvPr/>
        </p:nvSpPr>
        <p:spPr>
          <a:xfrm>
            <a:off x="4738055" y="5407533"/>
            <a:ext cx="335402" cy="219456"/>
          </a:xfrm>
          <a:prstGeom prst="rect">
            <a:avLst/>
          </a:prstGeom>
          <a:solidFill>
            <a:srgbClr val="BEBBB0"/>
          </a:solidFill>
          <a:ln/>
        </p:spPr>
      </p:sp>
      <p:sp>
        <p:nvSpPr>
          <p:cNvPr id="47" name="Shape 40"/>
          <p:cNvSpPr/>
          <p:nvPr/>
        </p:nvSpPr>
        <p:spPr>
          <a:xfrm>
            <a:off x="5073457" y="5407533"/>
            <a:ext cx="311445" cy="219456"/>
          </a:xfrm>
          <a:prstGeom prst="rect">
            <a:avLst/>
          </a:prstGeom>
          <a:solidFill>
            <a:srgbClr val="B19454"/>
          </a:solidFill>
          <a:ln/>
        </p:spPr>
      </p:sp>
      <p:sp>
        <p:nvSpPr>
          <p:cNvPr id="48" name="Shape 41"/>
          <p:cNvSpPr/>
          <p:nvPr/>
        </p:nvSpPr>
        <p:spPr>
          <a:xfrm>
            <a:off x="5384902" y="5407533"/>
            <a:ext cx="119786" cy="219456"/>
          </a:xfrm>
          <a:prstGeom prst="rect">
            <a:avLst/>
          </a:prstGeom>
          <a:solidFill>
            <a:srgbClr val="77B8EA"/>
          </a:solidFill>
          <a:ln/>
        </p:spPr>
      </p:sp>
      <p:pic>
        <p:nvPicPr>
          <p:cNvPr id="49" name="Image 5" descr="/tmp/claude-0/-home-user-SOCIO/dd1a12ff-0491-58c5-8c13-7e8ef7d55990/scratchpad/pt/games/285900_3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669280" y="3675888"/>
            <a:ext cx="2395728" cy="1347597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669280" y="5078349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 Beasts</a:t>
            </a:r>
            <a:endParaRPr lang="en-US" sz="1200" dirty="0"/>
          </a:p>
        </p:txBody>
      </p:sp>
      <p:sp>
        <p:nvSpPr>
          <p:cNvPr id="51" name="Text 43"/>
          <p:cNvSpPr/>
          <p:nvPr/>
        </p:nvSpPr>
        <p:spPr>
          <a:xfrm>
            <a:off x="7287768" y="5096637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F0F2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sat. 44 %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5669280" y="5407533"/>
            <a:ext cx="822775" cy="219456"/>
          </a:xfrm>
          <a:prstGeom prst="rect">
            <a:avLst/>
          </a:prstGeom>
          <a:solidFill>
            <a:srgbClr val="775E51"/>
          </a:solidFill>
          <a:ln/>
        </p:spPr>
      </p:sp>
      <p:sp>
        <p:nvSpPr>
          <p:cNvPr id="53" name="Shape 45"/>
          <p:cNvSpPr/>
          <p:nvPr/>
        </p:nvSpPr>
        <p:spPr>
          <a:xfrm>
            <a:off x="6492055" y="5407533"/>
            <a:ext cx="387188" cy="219456"/>
          </a:xfrm>
          <a:prstGeom prst="rect">
            <a:avLst/>
          </a:prstGeom>
          <a:solidFill>
            <a:srgbClr val="2D1E33"/>
          </a:solidFill>
          <a:ln/>
        </p:spPr>
      </p:sp>
      <p:sp>
        <p:nvSpPr>
          <p:cNvPr id="54" name="Shape 46"/>
          <p:cNvSpPr/>
          <p:nvPr/>
        </p:nvSpPr>
        <p:spPr>
          <a:xfrm>
            <a:off x="6879244" y="5407533"/>
            <a:ext cx="387188" cy="219456"/>
          </a:xfrm>
          <a:prstGeom prst="rect">
            <a:avLst/>
          </a:prstGeom>
          <a:solidFill>
            <a:srgbClr val="E2D1CD"/>
          </a:solidFill>
          <a:ln/>
        </p:spPr>
      </p:sp>
      <p:sp>
        <p:nvSpPr>
          <p:cNvPr id="55" name="Shape 47"/>
          <p:cNvSpPr/>
          <p:nvPr/>
        </p:nvSpPr>
        <p:spPr>
          <a:xfrm>
            <a:off x="7266432" y="5407533"/>
            <a:ext cx="290391" cy="219456"/>
          </a:xfrm>
          <a:prstGeom prst="rect">
            <a:avLst/>
          </a:prstGeom>
          <a:solidFill>
            <a:srgbClr val="BB825D"/>
          </a:solidFill>
          <a:ln/>
        </p:spPr>
      </p:sp>
      <p:sp>
        <p:nvSpPr>
          <p:cNvPr id="56" name="Shape 48"/>
          <p:cNvSpPr/>
          <p:nvPr/>
        </p:nvSpPr>
        <p:spPr>
          <a:xfrm>
            <a:off x="7556823" y="5407533"/>
            <a:ext cx="290391" cy="219456"/>
          </a:xfrm>
          <a:prstGeom prst="rect">
            <a:avLst/>
          </a:prstGeom>
          <a:solidFill>
            <a:srgbClr val="B29BA2"/>
          </a:solidFill>
          <a:ln/>
        </p:spPr>
      </p:sp>
      <p:sp>
        <p:nvSpPr>
          <p:cNvPr id="57" name="Shape 49"/>
          <p:cNvSpPr/>
          <p:nvPr/>
        </p:nvSpPr>
        <p:spPr>
          <a:xfrm>
            <a:off x="7847215" y="5407533"/>
            <a:ext cx="217793" cy="219456"/>
          </a:xfrm>
          <a:prstGeom prst="rect">
            <a:avLst/>
          </a:prstGeom>
          <a:solidFill>
            <a:srgbClr val="9D19A8"/>
          </a:solidFill>
          <a:ln/>
        </p:spPr>
      </p:sp>
      <p:sp>
        <p:nvSpPr>
          <p:cNvPr id="58" name="Shape 50"/>
          <p:cNvSpPr/>
          <p:nvPr/>
        </p:nvSpPr>
        <p:spPr>
          <a:xfrm>
            <a:off x="8229600" y="146304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10221A"/>
          </a:solidFill>
          <a:ln/>
        </p:spPr>
      </p:sp>
      <p:sp>
        <p:nvSpPr>
          <p:cNvPr id="59" name="Text 51"/>
          <p:cNvSpPr/>
          <p:nvPr/>
        </p:nvSpPr>
        <p:spPr>
          <a:xfrm>
            <a:off x="845820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 HABITUDES VISUELLES</a:t>
            </a:r>
            <a:endParaRPr lang="en-US" sz="1050" dirty="0"/>
          </a:p>
        </p:txBody>
      </p:sp>
      <p:sp>
        <p:nvSpPr>
          <p:cNvPr id="60" name="Text 52"/>
          <p:cNvSpPr/>
          <p:nvPr/>
        </p:nvSpPr>
        <p:spPr>
          <a:xfrm>
            <a:off x="8458200" y="19202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fond cyan ou bleu ciel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4 captures sur 6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couleur chaude qui ressort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orange, jaune ou rose sur les persos et obstacles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couleurs saturées : 53 % en moyenne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jusqu’à 75 % (Stumble Guys) ; les jeux « physiques » (Party Animals, Gang Beasts) restent plus doux</a:t>
            </a:r>
            <a:endParaRPr lang="en-US" sz="1200" dirty="0"/>
          </a:p>
        </p:txBody>
      </p:sp>
      <p:sp>
        <p:nvSpPr>
          <p:cNvPr id="61" name="Shape 53"/>
          <p:cNvSpPr/>
          <p:nvPr/>
        </p:nvSpPr>
        <p:spPr>
          <a:xfrm>
            <a:off x="8229600" y="43434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E6F6EC"/>
          </a:solidFill>
          <a:ln/>
        </p:spPr>
      </p:sp>
      <p:sp>
        <p:nvSpPr>
          <p:cNvPr id="62" name="Text 54"/>
          <p:cNvSpPr/>
          <p:nvPr/>
        </p:nvSpPr>
        <p:spPr>
          <a:xfrm>
            <a:off x="8458200" y="4453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PARTY TOYS ?</a:t>
            </a:r>
            <a:endParaRPr lang="en-US" sz="1050" dirty="0"/>
          </a:p>
        </p:txBody>
      </p:sp>
      <p:pic>
        <p:nvPicPr>
          <p:cNvPr id="63" name="Image 6" descr="/tmp/claude-0/-home-user-SOCIO/dd1a12ff-0491-58c5-8c13-7e8ef7d55990/scratchpad/pt/ex/p-01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4800600"/>
            <a:ext cx="1325880" cy="685383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8458200" y="5532120"/>
            <a:ext cx="132588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sat. 28 %</a:t>
            </a:r>
            <a:endParaRPr lang="en-US" sz="950" dirty="0"/>
          </a:p>
        </p:txBody>
      </p:sp>
      <p:sp>
        <p:nvSpPr>
          <p:cNvPr id="65" name="Text 56"/>
          <p:cNvSpPr/>
          <p:nvPr/>
        </p:nvSpPr>
        <p:spPr>
          <a:xfrm>
            <a:off x="9893808" y="4754880"/>
            <a:ext cx="1673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capture Racing : presque 2× moins saturée. </a:t>
            </a:r>
            <a:pPr indent="0" marL="0">
              <a:buNone/>
            </a:pPr>
            <a:r>
              <a:rPr lang="en-US" sz="10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jouets plus vifs, ciel cyan à la fenêtre, gris des routes en base.</a:t>
            </a:r>
            <a:endParaRPr lang="en-US" sz="1050" dirty="0"/>
          </a:p>
        </p:txBody>
      </p:sp>
      <p:sp>
        <p:nvSpPr>
          <p:cNvPr id="66" name="Text 57"/>
          <p:cNvSpPr/>
          <p:nvPr/>
        </p:nvSpPr>
        <p:spPr>
          <a:xfrm>
            <a:off x="10835640" y="4453128"/>
            <a:ext cx="685800" cy="219456"/>
          </a:xfrm>
          <a:prstGeom prst="roundRect">
            <a:avLst>
              <a:gd name="adj" fmla="val 25000"/>
            </a:avLst>
          </a:prstGeom>
          <a:solidFill>
            <a:srgbClr val="FFC62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</a:t>
            </a:r>
            <a:endParaRPr lang="en-US" sz="900" dirty="0"/>
          </a:p>
        </p:txBody>
      </p:sp>
      <p:sp>
        <p:nvSpPr>
          <p:cNvPr id="67" name="Text 58"/>
          <p:cNvSpPr/>
          <p:nvPr/>
        </p:nvSpPr>
        <p:spPr>
          <a:xfrm>
            <a:off x="548640" y="605332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et dates de sortie : pages Steam officielles (© leurs éditeurs), consultées le 09/10/2026 : </a:t>
            </a:r>
            <a:pPr indent="0" marL="0">
              <a:buNone/>
            </a:pPr>
            <a:r>
              <a:rPr lang="en-US" sz="850" u="sng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Fall Guys (2020), </a:t>
            </a:r>
            <a:pPr indent="0" marL="0">
              <a:buNone/>
            </a:pPr>
            <a:r>
              <a:rPr lang="en-US" sz="850" u="sng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Stumble Guys (2021), </a:t>
            </a:r>
            <a:pPr indent="0" marL="0">
              <a:buNone/>
            </a:pPr>
            <a:r>
              <a:rPr lang="en-US" sz="850" u="sng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Crab Game (2021), </a:t>
            </a:r>
            <a:pPr indent="0" marL="0">
              <a:buNone/>
            </a:pPr>
            <a:r>
              <a:rPr lang="en-US" sz="850" u="sng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Ultimate Chicken Horse (2016), </a:t>
            </a:r>
            <a:pPr indent="0" marL="0">
              <a:buNone/>
            </a:pPr>
            <a:r>
              <a:rPr lang="en-US" sz="850" u="sng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Party Animals (2023), </a:t>
            </a:r>
            <a:pPr indent="0" marL="0">
              <a:buNone/>
            </a:pPr>
            <a:r>
              <a:rPr lang="en-US" sz="850" u="sng" dirty="0">
                <a:solidFill>
                  <a:srgbClr val="00B85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Gang Beasts (2017)</a:t>
            </a:r>
            <a:pPr indent="0" marL="0">
              <a:buNone/>
            </a:pPr>
            <a:r>
              <a:rPr lang="en-US" sz="85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Couleurs : 6 teintes dominantes par capture (k-moyennes) ; « sat. » = saturation moyenne des pixels (HSV).</a:t>
            </a:r>
            <a:endParaRPr lang="en-US" sz="850" dirty="0"/>
          </a:p>
        </p:txBody>
      </p:sp>
      <p:sp>
        <p:nvSpPr>
          <p:cNvPr id="68" name="Text 59"/>
          <p:cNvSpPr/>
          <p:nvPr/>
        </p:nvSpPr>
        <p:spPr>
          <a:xfrm>
            <a:off x="457200" y="651052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3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équipe “Pixel Toys” - ANTONIO Noé - BEFFY Martin - CHAUVIN Lucas - ROUAY--ANTOINE Manau - REY Nathan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Party Toys – Les couleurs des party games</dc:title>
  <dc:subject>PptxGenJS Presentation</dc:subject>
  <dc:creator>PptxGenJS</dc:creator>
  <cp:lastModifiedBy>PptxGenJS</cp:lastModifiedBy>
  <cp:revision>1</cp:revision>
  <dcterms:created xsi:type="dcterms:W3CDTF">2026-10-09T09:07:54Z</dcterms:created>
  <dcterms:modified xsi:type="dcterms:W3CDTF">2026-10-09T09:07:54Z</dcterms:modified>
</cp:coreProperties>
</file>